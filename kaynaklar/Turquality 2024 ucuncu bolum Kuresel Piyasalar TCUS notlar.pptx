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Layouts/slideLayout7.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4.xml" ContentType="application/vnd.openxmlformats-officedocument.presentationml.notesSlide+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Layouts/slideLayout8.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Override1.xml" ContentType="application/vnd.openxmlformats-officedocument.themeOverr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Masters/notesMaster1.xml" ContentType="application/vnd.openxmlformats-officedocument.presentationml.notesMaster+xml"/>
  <Override PartName="/ppt/charts/chart12.xml" ContentType="application/vnd.openxmlformats-officedocument.drawingml.chart+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ppt/metadata" ContentType="application/binary"/>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67"/>
  </p:notesMasterIdLst>
  <p:sldIdLst>
    <p:sldId id="935" r:id="rId5"/>
    <p:sldId id="938" r:id="rId6"/>
    <p:sldId id="801" r:id="rId7"/>
    <p:sldId id="795" r:id="rId8"/>
    <p:sldId id="367" r:id="rId9"/>
    <p:sldId id="798" r:id="rId10"/>
    <p:sldId id="766" r:id="rId11"/>
    <p:sldId id="257" r:id="rId12"/>
    <p:sldId id="259" r:id="rId13"/>
    <p:sldId id="258" r:id="rId14"/>
    <p:sldId id="263" r:id="rId15"/>
    <p:sldId id="264" r:id="rId16"/>
    <p:sldId id="265" r:id="rId17"/>
    <p:sldId id="266" r:id="rId18"/>
    <p:sldId id="268" r:id="rId19"/>
    <p:sldId id="803" r:id="rId20"/>
    <p:sldId id="928" r:id="rId21"/>
    <p:sldId id="929" r:id="rId22"/>
    <p:sldId id="292" r:id="rId23"/>
    <p:sldId id="930" r:id="rId24"/>
    <p:sldId id="262" r:id="rId25"/>
    <p:sldId id="269" r:id="rId26"/>
    <p:sldId id="272" r:id="rId27"/>
    <p:sldId id="274" r:id="rId28"/>
    <p:sldId id="276" r:id="rId29"/>
    <p:sldId id="278" r:id="rId30"/>
    <p:sldId id="279" r:id="rId31"/>
    <p:sldId id="280" r:id="rId32"/>
    <p:sldId id="281" r:id="rId33"/>
    <p:sldId id="804" r:id="rId34"/>
    <p:sldId id="286" r:id="rId35"/>
    <p:sldId id="289" r:id="rId36"/>
    <p:sldId id="291" r:id="rId37"/>
    <p:sldId id="293" r:id="rId38"/>
    <p:sldId id="294" r:id="rId39"/>
    <p:sldId id="295" r:id="rId40"/>
    <p:sldId id="796" r:id="rId41"/>
    <p:sldId id="787" r:id="rId42"/>
    <p:sldId id="790" r:id="rId43"/>
    <p:sldId id="779" r:id="rId44"/>
    <p:sldId id="781" r:id="rId45"/>
    <p:sldId id="794" r:id="rId46"/>
    <p:sldId id="793" r:id="rId47"/>
    <p:sldId id="780" r:id="rId48"/>
    <p:sldId id="788" r:id="rId49"/>
    <p:sldId id="789" r:id="rId50"/>
    <p:sldId id="785" r:id="rId51"/>
    <p:sldId id="791" r:id="rId52"/>
    <p:sldId id="786" r:id="rId53"/>
    <p:sldId id="784" r:id="rId54"/>
    <p:sldId id="783" r:id="rId55"/>
    <p:sldId id="818" r:id="rId56"/>
    <p:sldId id="819" r:id="rId57"/>
    <p:sldId id="937" r:id="rId58"/>
    <p:sldId id="324" r:id="rId59"/>
    <p:sldId id="299" r:id="rId60"/>
    <p:sldId id="300" r:id="rId61"/>
    <p:sldId id="936" r:id="rId62"/>
    <p:sldId id="340" r:id="rId63"/>
    <p:sldId id="339" r:id="rId64"/>
    <p:sldId id="334" r:id="rId65"/>
    <p:sldId id="817" r:id="rId66"/>
  </p:sldIdLst>
  <p:sldSz cx="9144000" cy="6858000" type="screen4x3"/>
  <p:notesSz cx="6797675" cy="9928225"/>
  <p:embeddedFontLst>
    <p:embeddedFont>
      <p:font typeface="Cambria" panose="02040503050406030204" pitchFamily="18" charset="0"/>
      <p:regular r:id="rId68"/>
      <p:bold r:id="rId69"/>
      <p:italic r:id="rId70"/>
      <p:boldItalic r:id="rId71"/>
    </p:embeddedFont>
    <p:embeddedFont>
      <p:font typeface="Roboto" panose="02000000000000000000" pitchFamily="2" charset="0"/>
      <p:regular r:id="rId72"/>
      <p:bold r:id="rId73"/>
      <p:italic r:id="rId74"/>
      <p:boldItalic r:id="rId75"/>
    </p:embeddedFont>
    <p:embeddedFont>
      <p:font typeface="Times" panose="02020603050405020304" pitchFamily="18"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3" roundtripDataSignature="AMtx7mglSguvhHfNlhxYtuP8+bsRbkiy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567" autoAdjust="0"/>
  </p:normalViewPr>
  <p:slideViewPr>
    <p:cSldViewPr snapToGrid="0">
      <p:cViewPr varScale="1">
        <p:scale>
          <a:sx n="64" d="100"/>
          <a:sy n="64" d="100"/>
        </p:scale>
        <p:origin x="134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1.fntdata"/><Relationship Id="rId175"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5.fntdata"/><Relationship Id="rId176"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3.fntdata"/><Relationship Id="rId75" Type="http://schemas.openxmlformats.org/officeDocument/2006/relationships/font" Target="fonts/font8.fntdata"/><Relationship Id="rId17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6.fntdata"/><Relationship Id="rId78" Type="http://schemas.openxmlformats.org/officeDocument/2006/relationships/font" Target="fonts/font11.fntdata"/><Relationship Id="rId177"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9.fntdata"/><Relationship Id="rId7" Type="http://schemas.openxmlformats.org/officeDocument/2006/relationships/slide" Target="slides/slide3.xml"/><Relationship Id="rId71" Type="http://schemas.openxmlformats.org/officeDocument/2006/relationships/font" Target="fonts/font4.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178" Type="http://schemas.openxmlformats.org/officeDocument/2006/relationships/customXml" Target="../customXml/item4.xml"/><Relationship Id="rId61" Type="http://schemas.openxmlformats.org/officeDocument/2006/relationships/slide" Target="slides/slide57.xml"/><Relationship Id="rId173"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oleObject" Target="file:///C:\Users\ladenbulut\Downloads\B&#214;L&#220;M%203%20UNCTAD%20AKIM%20VE%20STOK%202000-2010_14.04.2015.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mina:Library:Containers:com.apple.mail:Data:Library:Mail%20Downloads:903221C8-92C6-49D9-A29C-5829BE1E610B:Mina%20%20B&#214;L&#220;M%203_odemelerdengesi_TCMB_&#350;ubat%202015%20(En%20Son%20Yay&#305;nlanan)_15.04.2015.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ladenbulut\Desktop\IPE\B&#214;L&#220;M%203_odemelerdengesi_TCMB_&#350;ubat%202015%20(En%20Son%20Yay&#305;nlanan)_15.04.2015%20(1).xls"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myagci\Dropbox\001_CURRENT%20RESEARCH\001_RA%20JOB\Caner%20Hoca\03.04.2016\B&#214;L&#220;M%203_s.49-58_Tablo%20ve%20&#350;ekiller_03.04.2016.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ladenbulut\Desktop\IPE\B&#214;L&#220;M%203_odemelerdengesi_TCMB_&#350;ubat%202015%20(En%20Son%20Yay&#305;nlanan)_15.04.2015%20(1).xls" TargetMode="External"/></Relationships>
</file>

<file path=ppt/charts/_rels/chart6.xml.rels><?xml version="1.0" encoding="UTF-8" standalone="yes"?>
<Relationships xmlns="http://schemas.openxmlformats.org/package/2006/relationships"><Relationship Id="rId2" Type="http://schemas.openxmlformats.org/officeDocument/2006/relationships/oleObject" Target="file:///C:\Users\cbakir\AppData\Local\Microsoft\Windows\Temporary%20Internet%20Files\Content.Outlook\YMP8EIIS\DDY%202003-2011%20Tablolar%20Grafikler.xlsx" TargetMode="External"/><Relationship Id="rId1" Type="http://schemas.openxmlformats.org/officeDocument/2006/relationships/themeOverride" Target="../theme/themeOverride1.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8.xml.rels><?xml version="1.0" encoding="UTF-8" standalone="yes"?>
<Relationships xmlns="http://schemas.openxmlformats.org/package/2006/relationships"><Relationship Id="rId1" Type="http://schemas.openxmlformats.org/officeDocument/2006/relationships/oleObject" Target="file:///C:\Users\ARAS\Desktop\BOLUM%203%202003-2011%20Tablolar%20Grafikler.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CANER%20BAKIR%2010%20December%202015\TMNCs\KU%20TCUS%20Yayinlari%20tablo%20ve%20grafikler%20final%20Aralik%20CANER%20HOCA_08.12.2015\B&#214;L&#220;M%204_s%20%2060-83%20Tablo%20ve%20&#350;ekiller_17%2001%202016.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CANER%20BAKIR%2010%20December%202015\TMNCs\KU%20TCUS%20Yayinlari%20tablo%20ve%20grafikler%20final%20Aralik%20CANER%20HOCA_08.12.2015\B&#214;L&#220;M%204_s%20%2060-83%20Tablo%20ve%20&#350;ekiller_17%2001%202016.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CANER%20BAKIR%2010%20December%202015\TMNCs\KU%20TCUS%20Yayinlari%20tablo%20ve%20grafikler%20final%20Aralik%20CANER%20HOCA_08.12.2015\B&#214;L&#220;M%204_s%20%2060-83%20Tablo%20ve%20&#350;ekiller_17%2001%202016.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CANER%20BAKIR%2010%20December%202015\TMNCs\KU%20TCUS%20Yayinlari%20tablo%20ve%20grafikler%20final%20Aralik%20CANER%20HOCA_08.12.2015\B&#214;L&#220;M%204_s%20%2060-83%20Tablo%20ve%20&#350;ekiller_17%2001%202016.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ladenbulut\Desktop\B&#214;L&#220;M%205_TMNC%20K&#304;TAP%202000-2013%20MA%2010%20MLY%20USD%20ve%20ustu%20dahil%20edilen%20vakalar_MUSTAFA_17.02.2015.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ladenbulut\Desktop\B&#214;L&#220;M%205_TMNC%20K&#304;TAP%202000-2013%20MA%2010%20MLY%20USD%20ve%20ustu%20dahil%20edilen%20vakalar_MUSTAFA_17.02.201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180472371524696E-2"/>
          <c:y val="4.6276819520403897E-2"/>
          <c:w val="0.81539572265832005"/>
          <c:h val="0.84638182848094801"/>
        </c:manualLayout>
      </c:layout>
      <c:barChart>
        <c:barDir val="col"/>
        <c:grouping val="clustered"/>
        <c:varyColors val="0"/>
        <c:ser>
          <c:idx val="0"/>
          <c:order val="0"/>
          <c:tx>
            <c:strRef>
              <c:f>'[BÖLÜM 3 UNCTAD AKIM VE STOK 2000-2010_14.04.2015.xlsx]Sheet2'!$A$3</c:f>
              <c:strCache>
                <c:ptCount val="1"/>
                <c:pt idx="0">
                  <c:v>Stok</c:v>
                </c:pt>
              </c:strCache>
            </c:strRef>
          </c:tx>
          <c:spPr>
            <a:pattFill prst="dotDmnd">
              <a:fgClr>
                <a:schemeClr val="tx1">
                  <a:lumMod val="95000"/>
                  <a:lumOff val="5000"/>
                </a:schemeClr>
              </a:fgClr>
              <a:bgClr>
                <a:schemeClr val="bg1"/>
              </a:bgClr>
            </a:pattFill>
          </c:spPr>
          <c:invertIfNegative val="0"/>
          <c:dLbls>
            <c:dLbl>
              <c:idx val="0"/>
              <c:layout>
                <c:manualLayout>
                  <c:x val="6.6117767718390404E-3"/>
                  <c:y val="-8.4126964149327799E-3"/>
                </c:manualLayout>
              </c:layout>
              <c:tx>
                <c:rich>
                  <a:bodyPr/>
                  <a:lstStyle/>
                  <a:p>
                    <a:r>
                      <a:rPr lang="en-US"/>
                      <a:t>3.668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5C3-4D98-80BF-BE2D9441D89C}"/>
                </c:ext>
              </c:extLst>
            </c:dLbl>
            <c:dLbl>
              <c:idx val="1"/>
              <c:layout>
                <c:manualLayout>
                  <c:x val="0"/>
                  <c:y val="-1.26190446223991E-2"/>
                </c:manualLayout>
              </c:layout>
              <c:tx>
                <c:rich>
                  <a:bodyPr/>
                  <a:lstStyle/>
                  <a:p>
                    <a:r>
                      <a:rPr lang="en-US"/>
                      <a:t>4.581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5C3-4D98-80BF-BE2D9441D89C}"/>
                </c:ext>
              </c:extLst>
            </c:dLbl>
            <c:dLbl>
              <c:idx val="2"/>
              <c:tx>
                <c:rich>
                  <a:bodyPr/>
                  <a:lstStyle/>
                  <a:p>
                    <a:r>
                      <a:rPr lang="en-US"/>
                      <a:t>5.847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5C3-4D98-80BF-BE2D9441D89C}"/>
                </c:ext>
              </c:extLst>
            </c:dLbl>
            <c:dLbl>
              <c:idx val="3"/>
              <c:tx>
                <c:rich>
                  <a:bodyPr/>
                  <a:lstStyle/>
                  <a:p>
                    <a:r>
                      <a:rPr lang="en-US"/>
                      <a:t>6.138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5C3-4D98-80BF-BE2D9441D89C}"/>
                </c:ext>
              </c:extLst>
            </c:dLbl>
            <c:dLbl>
              <c:idx val="4"/>
              <c:tx>
                <c:rich>
                  <a:bodyPr/>
                  <a:lstStyle/>
                  <a:p>
                    <a:r>
                      <a:rPr lang="en-US"/>
                      <a:t>7.060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5C3-4D98-80BF-BE2D9441D89C}"/>
                </c:ext>
              </c:extLst>
            </c:dLbl>
            <c:dLbl>
              <c:idx val="5"/>
              <c:layout>
                <c:manualLayout>
                  <c:x val="0"/>
                  <c:y val="1.6825392829865501E-2"/>
                </c:manualLayout>
              </c:layout>
              <c:tx>
                <c:rich>
                  <a:bodyPr/>
                  <a:lstStyle/>
                  <a:p>
                    <a:r>
                      <a:rPr lang="en-US"/>
                      <a:t>8.315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5C3-4D98-80BF-BE2D9441D89C}"/>
                </c:ext>
              </c:extLst>
            </c:dLbl>
            <c:dLbl>
              <c:idx val="6"/>
              <c:layout>
                <c:manualLayout>
                  <c:x val="0"/>
                  <c:y val="-1.2619044622399199E-2"/>
                </c:manualLayout>
              </c:layout>
              <c:tx>
                <c:rich>
                  <a:bodyPr/>
                  <a:lstStyle/>
                  <a:p>
                    <a:r>
                      <a:rPr lang="en-US"/>
                      <a:t>8.866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5C3-4D98-80BF-BE2D9441D89C}"/>
                </c:ext>
              </c:extLst>
            </c:dLbl>
            <c:dLbl>
              <c:idx val="7"/>
              <c:tx>
                <c:rich>
                  <a:bodyPr/>
                  <a:lstStyle/>
                  <a:p>
                    <a:r>
                      <a:rPr lang="en-US"/>
                      <a:t>12.210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5C3-4D98-80BF-BE2D9441D89C}"/>
                </c:ext>
              </c:extLst>
            </c:dLbl>
            <c:dLbl>
              <c:idx val="8"/>
              <c:layout>
                <c:manualLayout>
                  <c:x val="0"/>
                  <c:y val="1.6825392829865501E-2"/>
                </c:manualLayout>
              </c:layout>
              <c:tx>
                <c:rich>
                  <a:bodyPr/>
                  <a:lstStyle/>
                  <a:p>
                    <a:r>
                      <a:rPr lang="en-US"/>
                      <a:t>17.846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5C3-4D98-80BF-BE2D9441D89C}"/>
                </c:ext>
              </c:extLst>
            </c:dLbl>
            <c:dLbl>
              <c:idx val="9"/>
              <c:layout>
                <c:manualLayout>
                  <c:x val="-1.7631404724904001E-2"/>
                  <c:y val="0"/>
                </c:manualLayout>
              </c:layout>
              <c:tx>
                <c:rich>
                  <a:bodyPr/>
                  <a:lstStyle/>
                  <a:p>
                    <a:r>
                      <a:rPr lang="en-US"/>
                      <a:t>22.250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5C3-4D98-80BF-BE2D9441D89C}"/>
                </c:ext>
              </c:extLst>
            </c:dLbl>
            <c:dLbl>
              <c:idx val="10"/>
              <c:tx>
                <c:rich>
                  <a:bodyPr/>
                  <a:lstStyle/>
                  <a:p>
                    <a:r>
                      <a:rPr lang="en-US"/>
                      <a:t>22.509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25C3-4D98-80BF-BE2D9441D89C}"/>
                </c:ext>
              </c:extLst>
            </c:dLbl>
            <c:dLbl>
              <c:idx val="11"/>
              <c:tx>
                <c:rich>
                  <a:bodyPr/>
                  <a:lstStyle/>
                  <a:p>
                    <a:r>
                      <a:rPr lang="en-US"/>
                      <a:t>26.398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25C3-4D98-80BF-BE2D9441D89C}"/>
                </c:ext>
              </c:extLst>
            </c:dLbl>
            <c:dLbl>
              <c:idx val="12"/>
              <c:tx>
                <c:rich>
                  <a:bodyPr/>
                  <a:lstStyle/>
                  <a:p>
                    <a:r>
                      <a:rPr lang="en-US"/>
                      <a:t>30.471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25C3-4D98-80BF-BE2D9441D89C}"/>
                </c:ext>
              </c:extLst>
            </c:dLbl>
            <c:dLbl>
              <c:idx val="13"/>
              <c:layout>
                <c:manualLayout>
                  <c:x val="0"/>
                  <c:y val="1.6825392829865501E-2"/>
                </c:manualLayout>
              </c:layout>
              <c:tx>
                <c:rich>
                  <a:bodyPr/>
                  <a:lstStyle/>
                  <a:p>
                    <a:r>
                      <a:rPr lang="en-US"/>
                      <a:t>32.782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25C3-4D98-80BF-BE2D9441D89C}"/>
                </c:ext>
              </c:extLst>
            </c:dLbl>
            <c:spPr>
              <a:noFill/>
              <a:ln>
                <a:noFill/>
              </a:ln>
              <a:effectLst/>
            </c:spPr>
            <c:txPr>
              <a:bodyPr/>
              <a:lstStyle/>
              <a:p>
                <a:pPr>
                  <a:defRPr b="0"/>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'[BÖLÜM 3 UNCTAD AKIM VE STOK 2000-2010_14.04.2015.xlsx]Sheet2'!$B$2:$O$2</c:f>
              <c:strCache>
                <c:ptCount val="1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strCache>
            </c:strRef>
          </c:cat>
          <c:val>
            <c:numRef>
              <c:f>'[BÖLÜM 3 UNCTAD AKIM VE STOK 2000-2010_14.04.2015.xlsx]Sheet2'!$B$3:$O$3</c:f>
              <c:numCache>
                <c:formatCode>General</c:formatCode>
                <c:ptCount val="14"/>
                <c:pt idx="0">
                  <c:v>3668</c:v>
                </c:pt>
                <c:pt idx="1">
                  <c:v>4581</c:v>
                </c:pt>
                <c:pt idx="2">
                  <c:v>5847</c:v>
                </c:pt>
                <c:pt idx="3">
                  <c:v>6138</c:v>
                </c:pt>
                <c:pt idx="4">
                  <c:v>7060</c:v>
                </c:pt>
                <c:pt idx="5">
                  <c:v>8315</c:v>
                </c:pt>
                <c:pt idx="6">
                  <c:v>8866</c:v>
                </c:pt>
                <c:pt idx="7">
                  <c:v>12210</c:v>
                </c:pt>
                <c:pt idx="8">
                  <c:v>17846</c:v>
                </c:pt>
                <c:pt idx="9">
                  <c:v>22250</c:v>
                </c:pt>
                <c:pt idx="10">
                  <c:v>22509</c:v>
                </c:pt>
                <c:pt idx="11">
                  <c:v>26398</c:v>
                </c:pt>
                <c:pt idx="12">
                  <c:v>30471</c:v>
                </c:pt>
                <c:pt idx="13">
                  <c:v>32782</c:v>
                </c:pt>
              </c:numCache>
            </c:numRef>
          </c:val>
          <c:extLst>
            <c:ext xmlns:c16="http://schemas.microsoft.com/office/drawing/2014/chart" uri="{C3380CC4-5D6E-409C-BE32-E72D297353CC}">
              <c16:uniqueId val="{0000000E-25C3-4D98-80BF-BE2D9441D89C}"/>
            </c:ext>
          </c:extLst>
        </c:ser>
        <c:ser>
          <c:idx val="1"/>
          <c:order val="1"/>
          <c:tx>
            <c:strRef>
              <c:f>'[BÖLÜM 3 UNCTAD AKIM VE STOK 2000-2010_14.04.2015.xlsx]Sheet2'!$A$4</c:f>
              <c:strCache>
                <c:ptCount val="1"/>
                <c:pt idx="0">
                  <c:v>Akım</c:v>
                </c:pt>
              </c:strCache>
            </c:strRef>
          </c:tx>
          <c:spPr>
            <a:pattFill prst="pct50">
              <a:fgClr>
                <a:schemeClr val="tx1">
                  <a:lumMod val="95000"/>
                  <a:lumOff val="5000"/>
                </a:schemeClr>
              </a:fgClr>
              <a:bgClr>
                <a:schemeClr val="bg1"/>
              </a:bgClr>
            </a:pattFill>
          </c:spPr>
          <c:invertIfNegative val="0"/>
          <c:dLbls>
            <c:dLbl>
              <c:idx val="5"/>
              <c:tx>
                <c:rich>
                  <a:bodyPr/>
                  <a:lstStyle/>
                  <a:p>
                    <a:r>
                      <a:rPr lang="en-US"/>
                      <a:t>1.064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25C3-4D98-80BF-BE2D9441D89C}"/>
                </c:ext>
              </c:extLst>
            </c:dLbl>
            <c:dLbl>
              <c:idx val="6"/>
              <c:layout>
                <c:manualLayout>
                  <c:x val="-4.4078511812260246E-3"/>
                  <c:y val="4.20634820746636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5C3-4D98-80BF-BE2D9441D89C}"/>
                </c:ext>
              </c:extLst>
            </c:dLbl>
            <c:dLbl>
              <c:idx val="7"/>
              <c:layout>
                <c:manualLayout>
                  <c:x val="-8.81570236245207E-3"/>
                  <c:y val="-8.4126964149327799E-3"/>
                </c:manualLayout>
              </c:layout>
              <c:tx>
                <c:rich>
                  <a:bodyPr/>
                  <a:lstStyle/>
                  <a:p>
                    <a:r>
                      <a:rPr lang="en-US"/>
                      <a:t>2.106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25C3-4D98-80BF-BE2D9441D89C}"/>
                </c:ext>
              </c:extLst>
            </c:dLbl>
            <c:dLbl>
              <c:idx val="8"/>
              <c:tx>
                <c:rich>
                  <a:bodyPr/>
                  <a:lstStyle/>
                  <a:p>
                    <a:r>
                      <a:rPr lang="en-US"/>
                      <a:t>2.549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25C3-4D98-80BF-BE2D9441D89C}"/>
                </c:ext>
              </c:extLst>
            </c:dLbl>
            <c:dLbl>
              <c:idx val="9"/>
              <c:tx>
                <c:rich>
                  <a:bodyPr/>
                  <a:lstStyle/>
                  <a:p>
                    <a:r>
                      <a:rPr lang="en-US"/>
                      <a:t>1.553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25C3-4D98-80BF-BE2D9441D89C}"/>
                </c:ext>
              </c:extLst>
            </c:dLbl>
            <c:dLbl>
              <c:idx val="10"/>
              <c:tx>
                <c:rich>
                  <a:bodyPr/>
                  <a:lstStyle/>
                  <a:p>
                    <a:r>
                      <a:rPr lang="en-US"/>
                      <a:t>1.464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25C3-4D98-80BF-BE2D9441D89C}"/>
                </c:ext>
              </c:extLst>
            </c:dLbl>
            <c:dLbl>
              <c:idx val="11"/>
              <c:tx>
                <c:rich>
                  <a:bodyPr/>
                  <a:lstStyle/>
                  <a:p>
                    <a:r>
                      <a:rPr lang="en-US"/>
                      <a:t>2.349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25C3-4D98-80BF-BE2D9441D89C}"/>
                </c:ext>
              </c:extLst>
            </c:dLbl>
            <c:dLbl>
              <c:idx val="12"/>
              <c:tx>
                <c:rich>
                  <a:bodyPr/>
                  <a:lstStyle/>
                  <a:p>
                    <a:r>
                      <a:rPr lang="en-US"/>
                      <a:t>4.073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25C3-4D98-80BF-BE2D9441D89C}"/>
                </c:ext>
              </c:extLst>
            </c:dLbl>
            <c:dLbl>
              <c:idx val="13"/>
              <c:layout>
                <c:manualLayout>
                  <c:x val="2.2039255906130123E-2"/>
                  <c:y val="2.1031748003225971E-2"/>
                </c:manualLayout>
              </c:layout>
              <c:tx>
                <c:rich>
                  <a:bodyPr/>
                  <a:lstStyle/>
                  <a:p>
                    <a:r>
                      <a:rPr lang="en-US"/>
                      <a:t>3.114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25C3-4D98-80BF-BE2D9441D89C}"/>
                </c:ext>
              </c:extLst>
            </c:dLbl>
            <c:spPr>
              <a:noFill/>
              <a:ln>
                <a:noFill/>
              </a:ln>
              <a:effectLst/>
            </c:spPr>
            <c:txPr>
              <a:bodyPr/>
              <a:lstStyle/>
              <a:p>
                <a:pPr>
                  <a:defRPr b="1"/>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'[BÖLÜM 3 UNCTAD AKIM VE STOK 2000-2010_14.04.2015.xlsx]Sheet2'!$B$2:$O$2</c:f>
              <c:strCache>
                <c:ptCount val="1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strCache>
            </c:strRef>
          </c:cat>
          <c:val>
            <c:numRef>
              <c:f>'[BÖLÜM 3 UNCTAD AKIM VE STOK 2000-2010_14.04.2015.xlsx]Sheet2'!$B$4:$O$4</c:f>
              <c:numCache>
                <c:formatCode>General</c:formatCode>
                <c:ptCount val="14"/>
                <c:pt idx="0">
                  <c:v>870</c:v>
                </c:pt>
                <c:pt idx="1">
                  <c:v>497</c:v>
                </c:pt>
                <c:pt idx="2">
                  <c:v>143</c:v>
                </c:pt>
                <c:pt idx="3">
                  <c:v>480</c:v>
                </c:pt>
                <c:pt idx="4">
                  <c:v>780</c:v>
                </c:pt>
                <c:pt idx="5">
                  <c:v>1064</c:v>
                </c:pt>
                <c:pt idx="6">
                  <c:v>924</c:v>
                </c:pt>
                <c:pt idx="7">
                  <c:v>2106</c:v>
                </c:pt>
                <c:pt idx="8">
                  <c:v>2549</c:v>
                </c:pt>
                <c:pt idx="9">
                  <c:v>1553</c:v>
                </c:pt>
                <c:pt idx="10">
                  <c:v>1464</c:v>
                </c:pt>
                <c:pt idx="11">
                  <c:v>2349</c:v>
                </c:pt>
                <c:pt idx="12">
                  <c:v>4073</c:v>
                </c:pt>
                <c:pt idx="13">
                  <c:v>3114</c:v>
                </c:pt>
              </c:numCache>
            </c:numRef>
          </c:val>
          <c:extLst>
            <c:ext xmlns:c16="http://schemas.microsoft.com/office/drawing/2014/chart" uri="{C3380CC4-5D6E-409C-BE32-E72D297353CC}">
              <c16:uniqueId val="{00000018-25C3-4D98-80BF-BE2D9441D89C}"/>
            </c:ext>
          </c:extLst>
        </c:ser>
        <c:dLbls>
          <c:showLegendKey val="0"/>
          <c:showVal val="0"/>
          <c:showCatName val="0"/>
          <c:showSerName val="0"/>
          <c:showPercent val="0"/>
          <c:showBubbleSize val="0"/>
        </c:dLbls>
        <c:gapWidth val="150"/>
        <c:axId val="539766464"/>
        <c:axId val="565059632"/>
      </c:barChart>
      <c:catAx>
        <c:axId val="539766464"/>
        <c:scaling>
          <c:orientation val="minMax"/>
        </c:scaling>
        <c:delete val="0"/>
        <c:axPos val="b"/>
        <c:numFmt formatCode="General" sourceLinked="0"/>
        <c:majorTickMark val="out"/>
        <c:minorTickMark val="none"/>
        <c:tickLblPos val="nextTo"/>
        <c:crossAx val="565059632"/>
        <c:crosses val="autoZero"/>
        <c:auto val="1"/>
        <c:lblAlgn val="ctr"/>
        <c:lblOffset val="100"/>
        <c:noMultiLvlLbl val="0"/>
      </c:catAx>
      <c:valAx>
        <c:axId val="565059632"/>
        <c:scaling>
          <c:orientation val="minMax"/>
        </c:scaling>
        <c:delete val="0"/>
        <c:axPos val="l"/>
        <c:majorGridlines/>
        <c:numFmt formatCode="General" sourceLinked="1"/>
        <c:majorTickMark val="out"/>
        <c:minorTickMark val="none"/>
        <c:tickLblPos val="nextTo"/>
        <c:crossAx val="539766464"/>
        <c:crosses val="autoZero"/>
        <c:crossBetween val="between"/>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explosion val="25"/>
          <c:dPt>
            <c:idx val="0"/>
            <c:bubble3D val="0"/>
            <c:spPr>
              <a:pattFill prst="pct50">
                <a:fgClr>
                  <a:schemeClr val="tx1"/>
                </a:fgClr>
                <a:bgClr>
                  <a:prstClr val="white"/>
                </a:bgClr>
              </a:pattFill>
            </c:spPr>
            <c:extLst>
              <c:ext xmlns:c16="http://schemas.microsoft.com/office/drawing/2014/chart" uri="{C3380CC4-5D6E-409C-BE32-E72D297353CC}">
                <c16:uniqueId val="{00000001-9251-4B76-9B34-08CE0942BCB4}"/>
              </c:ext>
            </c:extLst>
          </c:dPt>
          <c:dPt>
            <c:idx val="1"/>
            <c:bubble3D val="0"/>
            <c:spPr>
              <a:pattFill prst="pct80">
                <a:fgClr>
                  <a:schemeClr val="tx1"/>
                </a:fgClr>
                <a:bgClr>
                  <a:prstClr val="white"/>
                </a:bgClr>
              </a:pattFill>
            </c:spPr>
            <c:extLst>
              <c:ext xmlns:c16="http://schemas.microsoft.com/office/drawing/2014/chart" uri="{C3380CC4-5D6E-409C-BE32-E72D297353CC}">
                <c16:uniqueId val="{00000003-9251-4B76-9B34-08CE0942BCB4}"/>
              </c:ext>
            </c:extLst>
          </c:dPt>
          <c:dPt>
            <c:idx val="2"/>
            <c:bubble3D val="0"/>
            <c:spPr>
              <a:pattFill prst="lgCheck">
                <a:fgClr>
                  <a:schemeClr val="tx1"/>
                </a:fgClr>
                <a:bgClr>
                  <a:prstClr val="white"/>
                </a:bgClr>
              </a:pattFill>
            </c:spPr>
            <c:extLst>
              <c:ext xmlns:c16="http://schemas.microsoft.com/office/drawing/2014/chart" uri="{C3380CC4-5D6E-409C-BE32-E72D297353CC}">
                <c16:uniqueId val="{00000005-9251-4B76-9B34-08CE0942BCB4}"/>
              </c:ext>
            </c:extLst>
          </c:dPt>
          <c:dPt>
            <c:idx val="3"/>
            <c:bubble3D val="0"/>
            <c:spPr>
              <a:pattFill prst="smGrid">
                <a:fgClr>
                  <a:schemeClr val="tx1"/>
                </a:fgClr>
                <a:bgClr>
                  <a:prstClr val="white"/>
                </a:bgClr>
              </a:pattFill>
            </c:spPr>
            <c:extLst>
              <c:ext xmlns:c16="http://schemas.microsoft.com/office/drawing/2014/chart" uri="{C3380CC4-5D6E-409C-BE32-E72D297353CC}">
                <c16:uniqueId val="{00000007-9251-4B76-9B34-08CE0942BCB4}"/>
              </c:ext>
            </c:extLst>
          </c:dPt>
          <c:dPt>
            <c:idx val="4"/>
            <c:bubble3D val="0"/>
            <c:spPr>
              <a:pattFill prst="ltUpDiag">
                <a:fgClr>
                  <a:schemeClr val="tx1"/>
                </a:fgClr>
                <a:bgClr>
                  <a:prstClr val="white"/>
                </a:bgClr>
              </a:pattFill>
            </c:spPr>
            <c:extLst>
              <c:ext xmlns:c16="http://schemas.microsoft.com/office/drawing/2014/chart" uri="{C3380CC4-5D6E-409C-BE32-E72D297353CC}">
                <c16:uniqueId val="{00000009-9251-4B76-9B34-08CE0942BCB4}"/>
              </c:ext>
            </c:extLst>
          </c:dPt>
          <c:dPt>
            <c:idx val="5"/>
            <c:bubble3D val="0"/>
            <c:spPr>
              <a:pattFill prst="pct20">
                <a:fgClr>
                  <a:schemeClr val="tx1"/>
                </a:fgClr>
                <a:bgClr>
                  <a:prstClr val="white"/>
                </a:bgClr>
              </a:pattFill>
            </c:spPr>
            <c:extLst>
              <c:ext xmlns:c16="http://schemas.microsoft.com/office/drawing/2014/chart" uri="{C3380CC4-5D6E-409C-BE32-E72D297353CC}">
                <c16:uniqueId val="{0000000B-9251-4B76-9B34-08CE0942BCB4}"/>
              </c:ext>
            </c:extLst>
          </c:dPt>
          <c:dPt>
            <c:idx val="6"/>
            <c:bubble3D val="0"/>
            <c:spPr>
              <a:pattFill prst="lgConfetti">
                <a:fgClr>
                  <a:schemeClr val="tx1"/>
                </a:fgClr>
                <a:bgClr>
                  <a:prstClr val="white"/>
                </a:bgClr>
              </a:pattFill>
            </c:spPr>
            <c:extLst>
              <c:ext xmlns:c16="http://schemas.microsoft.com/office/drawing/2014/chart" uri="{C3380CC4-5D6E-409C-BE32-E72D297353CC}">
                <c16:uniqueId val="{0000000D-9251-4B76-9B34-08CE0942BCB4}"/>
              </c:ext>
            </c:extLst>
          </c:dPt>
          <c:dPt>
            <c:idx val="7"/>
            <c:bubble3D val="0"/>
            <c:spPr>
              <a:pattFill prst="dkHorz">
                <a:fgClr>
                  <a:schemeClr val="tx1"/>
                </a:fgClr>
                <a:bgClr>
                  <a:prstClr val="white"/>
                </a:bgClr>
              </a:pattFill>
            </c:spPr>
            <c:extLst>
              <c:ext xmlns:c16="http://schemas.microsoft.com/office/drawing/2014/chart" uri="{C3380CC4-5D6E-409C-BE32-E72D297353CC}">
                <c16:uniqueId val="{0000000F-9251-4B76-9B34-08CE0942BCB4}"/>
              </c:ext>
            </c:extLst>
          </c:dPt>
          <c:dPt>
            <c:idx val="8"/>
            <c:bubble3D val="0"/>
            <c:spPr>
              <a:pattFill prst="zigZag">
                <a:fgClr>
                  <a:schemeClr val="tx1"/>
                </a:fgClr>
                <a:bgClr>
                  <a:prstClr val="white"/>
                </a:bgClr>
              </a:pattFill>
            </c:spPr>
            <c:extLst>
              <c:ext xmlns:c16="http://schemas.microsoft.com/office/drawing/2014/chart" uri="{C3380CC4-5D6E-409C-BE32-E72D297353CC}">
                <c16:uniqueId val="{00000011-9251-4B76-9B34-08CE0942BCB4}"/>
              </c:ext>
            </c:extLst>
          </c:dPt>
          <c:dPt>
            <c:idx val="9"/>
            <c:bubble3D val="0"/>
            <c:spPr>
              <a:pattFill prst="narVert">
                <a:fgClr>
                  <a:schemeClr val="tx1"/>
                </a:fgClr>
                <a:bgClr>
                  <a:prstClr val="white"/>
                </a:bgClr>
              </a:pattFill>
            </c:spPr>
            <c:extLst>
              <c:ext xmlns:c16="http://schemas.microsoft.com/office/drawing/2014/chart" uri="{C3380CC4-5D6E-409C-BE32-E72D297353CC}">
                <c16:uniqueId val="{00000013-9251-4B76-9B34-08CE0942BCB4}"/>
              </c:ext>
            </c:extLst>
          </c:dPt>
          <c:dPt>
            <c:idx val="10"/>
            <c:bubble3D val="0"/>
            <c:spPr>
              <a:pattFill prst="pct60">
                <a:fgClr>
                  <a:schemeClr val="tx1"/>
                </a:fgClr>
                <a:bgClr>
                  <a:prstClr val="white"/>
                </a:bgClr>
              </a:pattFill>
            </c:spPr>
            <c:extLst>
              <c:ext xmlns:c16="http://schemas.microsoft.com/office/drawing/2014/chart" uri="{C3380CC4-5D6E-409C-BE32-E72D297353CC}">
                <c16:uniqueId val="{00000015-9251-4B76-9B34-08CE0942BCB4}"/>
              </c:ext>
            </c:extLst>
          </c:dPt>
          <c:dPt>
            <c:idx val="11"/>
            <c:bubble3D val="0"/>
            <c:spPr>
              <a:pattFill prst="dashHorz">
                <a:fgClr>
                  <a:schemeClr val="tx1"/>
                </a:fgClr>
                <a:bgClr>
                  <a:prstClr val="white"/>
                </a:bgClr>
              </a:pattFill>
            </c:spPr>
            <c:extLst>
              <c:ext xmlns:c16="http://schemas.microsoft.com/office/drawing/2014/chart" uri="{C3380CC4-5D6E-409C-BE32-E72D297353CC}">
                <c16:uniqueId val="{00000017-9251-4B76-9B34-08CE0942BCB4}"/>
              </c:ext>
            </c:extLst>
          </c:dPt>
          <c:dLbls>
            <c:dLbl>
              <c:idx val="0"/>
              <c:layout>
                <c:manualLayout>
                  <c:x val="-2.3463898222913199E-2"/>
                  <c:y val="-6.6582442120108096E-2"/>
                </c:manualLayout>
              </c:layout>
              <c:tx>
                <c:rich>
                  <a:bodyPr/>
                  <a:lstStyle/>
                  <a:p>
                    <a:r>
                      <a:rPr lang="en-US"/>
                      <a:t>1.926;</a:t>
                    </a:r>
                    <a:r>
                      <a:rPr lang="en-US" baseline="0"/>
                      <a:t> </a:t>
                    </a:r>
                    <a:r>
                      <a:rPr lang="en-US"/>
                      <a:t>%37</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9251-4B76-9B34-08CE0942BCB4}"/>
                </c:ext>
              </c:extLst>
            </c:dLbl>
            <c:dLbl>
              <c:idx val="1"/>
              <c:layout>
                <c:manualLayout>
                  <c:x val="-1.7583379306885999E-2"/>
                  <c:y val="1.6905629333646699E-3"/>
                </c:manualLayout>
              </c:layout>
              <c:tx>
                <c:rich>
                  <a:bodyPr/>
                  <a:lstStyle/>
                  <a:p>
                    <a:r>
                      <a:rPr lang="en-US"/>
                      <a:t>776; %15</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9251-4B76-9B34-08CE0942BCB4}"/>
                </c:ext>
              </c:extLst>
            </c:dLbl>
            <c:dLbl>
              <c:idx val="2"/>
              <c:layout>
                <c:manualLayout>
                  <c:x val="-6.9980941872711698E-3"/>
                  <c:y val="-4.3048536843342299E-3"/>
                </c:manualLayout>
              </c:layout>
              <c:tx>
                <c:rich>
                  <a:bodyPr/>
                  <a:lstStyle/>
                  <a:p>
                    <a:r>
                      <a:rPr lang="en-US"/>
                      <a:t>494; %9</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9251-4B76-9B34-08CE0942BCB4}"/>
                </c:ext>
              </c:extLst>
            </c:dLbl>
            <c:dLbl>
              <c:idx val="3"/>
              <c:layout>
                <c:manualLayout>
                  <c:x val="-7.9478241971345908E-3"/>
                  <c:y val="1.8658773063814801E-2"/>
                </c:manualLayout>
              </c:layout>
              <c:tx>
                <c:rich>
                  <a:bodyPr/>
                  <a:lstStyle/>
                  <a:p>
                    <a:r>
                      <a:rPr lang="en-US"/>
                      <a:t>449; %9</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9251-4B76-9B34-08CE0942BCB4}"/>
                </c:ext>
              </c:extLst>
            </c:dLbl>
            <c:dLbl>
              <c:idx val="4"/>
              <c:tx>
                <c:rich>
                  <a:bodyPr/>
                  <a:lstStyle/>
                  <a:p>
                    <a:r>
                      <a:rPr lang="en-US"/>
                      <a:t>181; %3</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9251-4B76-9B34-08CE0942BCB4}"/>
                </c:ext>
              </c:extLst>
            </c:dLbl>
            <c:dLbl>
              <c:idx val="5"/>
              <c:tx>
                <c:rich>
                  <a:bodyPr/>
                  <a:lstStyle/>
                  <a:p>
                    <a:r>
                      <a:rPr lang="en-US"/>
                      <a:t>178; %3</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9251-4B76-9B34-08CE0942BCB4}"/>
                </c:ext>
              </c:extLst>
            </c:dLbl>
            <c:dLbl>
              <c:idx val="6"/>
              <c:tx>
                <c:rich>
                  <a:bodyPr/>
                  <a:lstStyle/>
                  <a:p>
                    <a:r>
                      <a:rPr lang="en-US"/>
                      <a:t>142; %3</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D-9251-4B76-9B34-08CE0942BCB4}"/>
                </c:ext>
              </c:extLst>
            </c:dLbl>
            <c:dLbl>
              <c:idx val="7"/>
              <c:tx>
                <c:rich>
                  <a:bodyPr/>
                  <a:lstStyle/>
                  <a:p>
                    <a:r>
                      <a:rPr lang="en-US"/>
                      <a:t>114; %2</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F-9251-4B76-9B34-08CE0942BCB4}"/>
                </c:ext>
              </c:extLst>
            </c:dLbl>
            <c:dLbl>
              <c:idx val="8"/>
              <c:tx>
                <c:rich>
                  <a:bodyPr/>
                  <a:lstStyle/>
                  <a:p>
                    <a:r>
                      <a:rPr lang="en-US"/>
                      <a:t>98; %2</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1-9251-4B76-9B34-08CE0942BCB4}"/>
                </c:ext>
              </c:extLst>
            </c:dLbl>
            <c:dLbl>
              <c:idx val="9"/>
              <c:tx>
                <c:rich>
                  <a:bodyPr/>
                  <a:lstStyle/>
                  <a:p>
                    <a:r>
                      <a:rPr lang="en-US"/>
                      <a:t>88;</a:t>
                    </a:r>
                    <a:r>
                      <a:rPr lang="en-US" baseline="0"/>
                      <a:t> </a:t>
                    </a:r>
                    <a:r>
                      <a:rPr lang="en-US"/>
                      <a:t>%2</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3-9251-4B76-9B34-08CE0942BCB4}"/>
                </c:ext>
              </c:extLst>
            </c:dLbl>
            <c:dLbl>
              <c:idx val="10"/>
              <c:tx>
                <c:rich>
                  <a:bodyPr/>
                  <a:lstStyle/>
                  <a:p>
                    <a:r>
                      <a:rPr lang="en-US"/>
                      <a:t>84; %2</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5-9251-4B76-9B34-08CE0942BCB4}"/>
                </c:ext>
              </c:extLst>
            </c:dLbl>
            <c:dLbl>
              <c:idx val="11"/>
              <c:layout>
                <c:manualLayout>
                  <c:x val="4.5847334369828003E-3"/>
                  <c:y val="4.1899753202491504E-3"/>
                </c:manualLayout>
              </c:layout>
              <c:tx>
                <c:rich>
                  <a:bodyPr/>
                  <a:lstStyle/>
                  <a:p>
                    <a:r>
                      <a:rPr lang="en-US"/>
                      <a:t>704; %13</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7-9251-4B76-9B34-08CE0942BCB4}"/>
                </c:ext>
              </c:extLst>
            </c:dLbl>
            <c:spPr>
              <a:noFill/>
              <a:ln>
                <a:noFill/>
              </a:ln>
              <a:effectLst/>
            </c:spPr>
            <c:txPr>
              <a:bodyPr/>
              <a:lstStyle/>
              <a:p>
                <a:pPr>
                  <a:defRPr b="1"/>
                </a:pPr>
                <a:endParaRPr lang="tr-TR"/>
              </a:p>
            </c:txPr>
            <c:showLegendKey val="0"/>
            <c:showVal val="1"/>
            <c:showCatName val="0"/>
            <c:showSerName val="0"/>
            <c:showPercent val="1"/>
            <c:showBubbleSize val="0"/>
            <c:showLeaderLines val="1"/>
            <c:extLst>
              <c:ext xmlns:c15="http://schemas.microsoft.com/office/drawing/2012/chart" uri="{CE6537A1-D6FC-4f65-9D91-7224C49458BB}"/>
            </c:extLst>
          </c:dLbls>
          <c:cat>
            <c:strRef>
              <c:f>Ülkeler!$E$2:$E$13</c:f>
              <c:strCache>
                <c:ptCount val="12"/>
                <c:pt idx="0">
                  <c:v>Azerbaycan</c:v>
                </c:pt>
                <c:pt idx="1">
                  <c:v>Hollanda</c:v>
                </c:pt>
                <c:pt idx="2">
                  <c:v>Britanya</c:v>
                </c:pt>
                <c:pt idx="3">
                  <c:v>ABD</c:v>
                </c:pt>
                <c:pt idx="4">
                  <c:v>Irak</c:v>
                </c:pt>
                <c:pt idx="5">
                  <c:v>Almanya</c:v>
                </c:pt>
                <c:pt idx="6">
                  <c:v>Lüksemburg</c:v>
                </c:pt>
                <c:pt idx="7">
                  <c:v>Birleşik Arap Emirlikleri</c:v>
                </c:pt>
                <c:pt idx="8">
                  <c:v>Norveç</c:v>
                </c:pt>
                <c:pt idx="9">
                  <c:v>Kazakistan</c:v>
                </c:pt>
                <c:pt idx="10">
                  <c:v>Rusya</c:v>
                </c:pt>
                <c:pt idx="11">
                  <c:v>Diğer</c:v>
                </c:pt>
              </c:strCache>
            </c:strRef>
          </c:cat>
          <c:val>
            <c:numRef>
              <c:f>Ülkeler!$F$2:$F$13</c:f>
              <c:numCache>
                <c:formatCode>General</c:formatCode>
                <c:ptCount val="12"/>
                <c:pt idx="0">
                  <c:v>1926</c:v>
                </c:pt>
                <c:pt idx="1">
                  <c:v>776</c:v>
                </c:pt>
                <c:pt idx="2">
                  <c:v>494</c:v>
                </c:pt>
                <c:pt idx="3">
                  <c:v>449</c:v>
                </c:pt>
                <c:pt idx="4">
                  <c:v>181</c:v>
                </c:pt>
                <c:pt idx="5">
                  <c:v>178</c:v>
                </c:pt>
                <c:pt idx="6">
                  <c:v>142</c:v>
                </c:pt>
                <c:pt idx="7">
                  <c:v>114</c:v>
                </c:pt>
                <c:pt idx="8">
                  <c:v>98</c:v>
                </c:pt>
                <c:pt idx="9">
                  <c:v>88</c:v>
                </c:pt>
                <c:pt idx="10">
                  <c:v>84</c:v>
                </c:pt>
                <c:pt idx="11" formatCode="#,##0">
                  <c:v>704</c:v>
                </c:pt>
              </c:numCache>
            </c:numRef>
          </c:val>
          <c:extLst>
            <c:ext xmlns:c16="http://schemas.microsoft.com/office/drawing/2014/chart" uri="{C3380CC4-5D6E-409C-BE32-E72D297353CC}">
              <c16:uniqueId val="{00000018-9251-4B76-9B34-08CE0942BCB4}"/>
            </c:ext>
          </c:extLst>
        </c:ser>
        <c:dLbls>
          <c:showLegendKey val="0"/>
          <c:showVal val="0"/>
          <c:showCatName val="0"/>
          <c:showSerName val="0"/>
          <c:showPercent val="0"/>
          <c:showBubbleSize val="0"/>
          <c:showLeaderLines val="1"/>
        </c:dLbls>
        <c:firstSliceAng val="0"/>
      </c:pieChart>
      <c:spPr>
        <a:noFill/>
        <a:ln w="25400">
          <a:noFill/>
        </a:ln>
      </c:spPr>
    </c:plotArea>
    <c:legend>
      <c:legendPos val="r"/>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Sektörler!$B$1</c:f>
              <c:strCache>
                <c:ptCount val="1"/>
                <c:pt idx="0">
                  <c:v>Sanayi</c:v>
                </c:pt>
              </c:strCache>
            </c:strRef>
          </c:tx>
          <c:spPr>
            <a:pattFill prst="wdUpDiag">
              <a:fgClr>
                <a:schemeClr val="tx1"/>
              </a:fgClr>
              <a:bgClr>
                <a:schemeClr val="bg1"/>
              </a:bgClr>
            </a:pattFill>
          </c:spPr>
          <c:invertIfNegative val="0"/>
          <c:cat>
            <c:strRef>
              <c:f>Sektörler!$A$2:$A$14</c:f>
              <c:strCach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strCache>
            </c:strRef>
          </c:cat>
          <c:val>
            <c:numRef>
              <c:f>Sektörler!$B$2:$B$14</c:f>
              <c:numCache>
                <c:formatCode>General</c:formatCode>
                <c:ptCount val="13"/>
                <c:pt idx="0">
                  <c:v>94</c:v>
                </c:pt>
                <c:pt idx="1">
                  <c:v>350</c:v>
                </c:pt>
                <c:pt idx="2">
                  <c:v>536</c:v>
                </c:pt>
                <c:pt idx="3">
                  <c:v>925</c:v>
                </c:pt>
                <c:pt idx="4">
                  <c:v>1266</c:v>
                </c:pt>
                <c:pt idx="5">
                  <c:v>573</c:v>
                </c:pt>
                <c:pt idx="6">
                  <c:v>1648</c:v>
                </c:pt>
                <c:pt idx="7">
                  <c:v>552</c:v>
                </c:pt>
                <c:pt idx="8">
                  <c:v>698</c:v>
                </c:pt>
                <c:pt idx="9">
                  <c:v>944</c:v>
                </c:pt>
                <c:pt idx="10">
                  <c:v>3265</c:v>
                </c:pt>
                <c:pt idx="11">
                  <c:v>1919</c:v>
                </c:pt>
                <c:pt idx="12">
                  <c:v>3810</c:v>
                </c:pt>
              </c:numCache>
            </c:numRef>
          </c:val>
          <c:extLst>
            <c:ext xmlns:c16="http://schemas.microsoft.com/office/drawing/2014/chart" uri="{C3380CC4-5D6E-409C-BE32-E72D297353CC}">
              <c16:uniqueId val="{00000000-685E-4AE3-ACA8-B56F1E688115}"/>
            </c:ext>
          </c:extLst>
        </c:ser>
        <c:ser>
          <c:idx val="1"/>
          <c:order val="1"/>
          <c:tx>
            <c:strRef>
              <c:f>Sektörler!$C$1</c:f>
              <c:strCache>
                <c:ptCount val="1"/>
                <c:pt idx="0">
                  <c:v>Hizmetler</c:v>
                </c:pt>
              </c:strCache>
            </c:strRef>
          </c:tx>
          <c:spPr>
            <a:pattFill prst="pct50">
              <a:fgClr>
                <a:schemeClr val="tx1"/>
              </a:fgClr>
              <a:bgClr>
                <a:schemeClr val="bg1"/>
              </a:bgClr>
            </a:pattFill>
          </c:spPr>
          <c:invertIfNegative val="0"/>
          <c:cat>
            <c:strRef>
              <c:f>Sektörler!$A$2:$A$14</c:f>
              <c:strCach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strCache>
            </c:strRef>
          </c:cat>
          <c:val>
            <c:numRef>
              <c:f>Sektörler!$C$2:$C$14</c:f>
              <c:numCache>
                <c:formatCode>General</c:formatCode>
                <c:ptCount val="13"/>
                <c:pt idx="0">
                  <c:v>157</c:v>
                </c:pt>
                <c:pt idx="1">
                  <c:v>136</c:v>
                </c:pt>
                <c:pt idx="2">
                  <c:v>279</c:v>
                </c:pt>
                <c:pt idx="3">
                  <c:v>139</c:v>
                </c:pt>
                <c:pt idx="4">
                  <c:v>411</c:v>
                </c:pt>
                <c:pt idx="5">
                  <c:v>1700</c:v>
                </c:pt>
                <c:pt idx="6">
                  <c:v>948</c:v>
                </c:pt>
                <c:pt idx="7">
                  <c:v>1485</c:v>
                </c:pt>
                <c:pt idx="8">
                  <c:v>1072</c:v>
                </c:pt>
                <c:pt idx="9">
                  <c:v>1579</c:v>
                </c:pt>
                <c:pt idx="10">
                  <c:v>1069</c:v>
                </c:pt>
                <c:pt idx="11">
                  <c:v>1305</c:v>
                </c:pt>
                <c:pt idx="12">
                  <c:v>1420</c:v>
                </c:pt>
              </c:numCache>
            </c:numRef>
          </c:val>
          <c:extLst>
            <c:ext xmlns:c16="http://schemas.microsoft.com/office/drawing/2014/chart" uri="{C3380CC4-5D6E-409C-BE32-E72D297353CC}">
              <c16:uniqueId val="{00000001-685E-4AE3-ACA8-B56F1E688115}"/>
            </c:ext>
          </c:extLst>
        </c:ser>
        <c:ser>
          <c:idx val="2"/>
          <c:order val="2"/>
          <c:tx>
            <c:strRef>
              <c:f>Sektörler!$D$1</c:f>
              <c:strCache>
                <c:ptCount val="1"/>
                <c:pt idx="0">
                  <c:v>Tarım</c:v>
                </c:pt>
              </c:strCache>
            </c:strRef>
          </c:tx>
          <c:spPr>
            <a:solidFill>
              <a:schemeClr val="tx1"/>
            </a:solidFill>
          </c:spPr>
          <c:invertIfNegative val="0"/>
          <c:cat>
            <c:strRef>
              <c:f>Sektörler!$A$2:$A$14</c:f>
              <c:strCach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strCache>
            </c:strRef>
          </c:cat>
          <c:val>
            <c:numRef>
              <c:f>Sektörler!$D$2:$D$14</c:f>
              <c:numCache>
                <c:formatCode>General</c:formatCode>
                <c:ptCount val="13"/>
                <c:pt idx="0">
                  <c:v>0</c:v>
                </c:pt>
                <c:pt idx="1">
                  <c:v>0</c:v>
                </c:pt>
                <c:pt idx="2">
                  <c:v>0</c:v>
                </c:pt>
                <c:pt idx="3">
                  <c:v>1</c:v>
                </c:pt>
                <c:pt idx="4">
                  <c:v>0</c:v>
                </c:pt>
                <c:pt idx="5">
                  <c:v>2</c:v>
                </c:pt>
                <c:pt idx="6">
                  <c:v>8</c:v>
                </c:pt>
                <c:pt idx="7">
                  <c:v>3</c:v>
                </c:pt>
                <c:pt idx="8">
                  <c:v>53</c:v>
                </c:pt>
                <c:pt idx="9">
                  <c:v>19</c:v>
                </c:pt>
                <c:pt idx="10">
                  <c:v>0</c:v>
                </c:pt>
                <c:pt idx="11">
                  <c:v>2</c:v>
                </c:pt>
                <c:pt idx="12">
                  <c:v>4</c:v>
                </c:pt>
              </c:numCache>
            </c:numRef>
          </c:val>
          <c:extLst>
            <c:ext xmlns:c16="http://schemas.microsoft.com/office/drawing/2014/chart" uri="{C3380CC4-5D6E-409C-BE32-E72D297353CC}">
              <c16:uniqueId val="{00000002-685E-4AE3-ACA8-B56F1E688115}"/>
            </c:ext>
          </c:extLst>
        </c:ser>
        <c:dLbls>
          <c:showLegendKey val="0"/>
          <c:showVal val="0"/>
          <c:showCatName val="0"/>
          <c:showSerName val="0"/>
          <c:showPercent val="0"/>
          <c:showBubbleSize val="0"/>
        </c:dLbls>
        <c:gapWidth val="150"/>
        <c:axId val="454522280"/>
        <c:axId val="454522672"/>
      </c:barChart>
      <c:catAx>
        <c:axId val="454522280"/>
        <c:scaling>
          <c:orientation val="minMax"/>
        </c:scaling>
        <c:delete val="0"/>
        <c:axPos val="b"/>
        <c:numFmt formatCode="General" sourceLinked="1"/>
        <c:majorTickMark val="out"/>
        <c:minorTickMark val="none"/>
        <c:tickLblPos val="nextTo"/>
        <c:crossAx val="454522672"/>
        <c:crosses val="autoZero"/>
        <c:auto val="1"/>
        <c:lblAlgn val="ctr"/>
        <c:lblOffset val="100"/>
        <c:noMultiLvlLbl val="0"/>
      </c:catAx>
      <c:valAx>
        <c:axId val="454522672"/>
        <c:scaling>
          <c:orientation val="minMax"/>
          <c:max val="4000"/>
        </c:scaling>
        <c:delete val="0"/>
        <c:axPos val="l"/>
        <c:majorGridlines/>
        <c:numFmt formatCode="General" sourceLinked="1"/>
        <c:majorTickMark val="out"/>
        <c:minorTickMark val="none"/>
        <c:tickLblPos val="nextTo"/>
        <c:crossAx val="454522280"/>
        <c:crosses val="autoZero"/>
        <c:crossBetween val="between"/>
        <c:minorUnit val="400"/>
      </c:valAx>
    </c:plotArea>
    <c:legend>
      <c:legendPos val="r"/>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4985341744562636E-2"/>
          <c:y val="4.583333333333333E-2"/>
          <c:w val="0.69644333931942715"/>
          <c:h val="0.85618733595800522"/>
        </c:manualLayout>
      </c:layout>
      <c:lineChart>
        <c:grouping val="standard"/>
        <c:varyColors val="0"/>
        <c:ser>
          <c:idx val="0"/>
          <c:order val="0"/>
          <c:tx>
            <c:strRef>
              <c:f>Sektörler!$T$12</c:f>
              <c:strCache>
                <c:ptCount val="1"/>
                <c:pt idx="0">
                  <c:v>İmalat</c:v>
                </c:pt>
              </c:strCache>
            </c:strRef>
          </c:tx>
          <c:spPr>
            <a:ln>
              <a:solidFill>
                <a:schemeClr val="tx1"/>
              </a:solidFill>
              <a:prstDash val="sysDash"/>
            </a:ln>
          </c:spPr>
          <c:marker>
            <c:symbol val="none"/>
          </c:marker>
          <c:cat>
            <c:numRef>
              <c:f>Sektörler!$U$17:$AG$17</c:f>
              <c:numCache>
                <c:formatCode>General</c:formatCod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numCache>
            </c:numRef>
          </c:cat>
          <c:val>
            <c:numRef>
              <c:f>Sektörler!$U$12:$AG$12</c:f>
              <c:numCache>
                <c:formatCode>0.00%</c:formatCode>
                <c:ptCount val="13"/>
                <c:pt idx="0">
                  <c:v>0.33067729083665337</c:v>
                </c:pt>
                <c:pt idx="1">
                  <c:v>0.20370370370370369</c:v>
                </c:pt>
                <c:pt idx="2">
                  <c:v>7.3619631901840496E-2</c:v>
                </c:pt>
                <c:pt idx="3">
                  <c:v>0.39342723004694835</c:v>
                </c:pt>
                <c:pt idx="4">
                  <c:v>0.48300536672629696</c:v>
                </c:pt>
                <c:pt idx="5">
                  <c:v>0.1010989010989011</c:v>
                </c:pt>
                <c:pt idx="6">
                  <c:v>0.53072196620583723</c:v>
                </c:pt>
                <c:pt idx="7">
                  <c:v>0.1377450980392157</c:v>
                </c:pt>
                <c:pt idx="8">
                  <c:v>0.24355458036204058</c:v>
                </c:pt>
                <c:pt idx="9">
                  <c:v>0.20338316286388669</c:v>
                </c:pt>
                <c:pt idx="10">
                  <c:v>0.63267189663128753</c:v>
                </c:pt>
                <c:pt idx="11">
                  <c:v>0.33663980161190327</c:v>
                </c:pt>
                <c:pt idx="12">
                  <c:v>0.12743599541459685</c:v>
                </c:pt>
              </c:numCache>
            </c:numRef>
          </c:val>
          <c:smooth val="0"/>
          <c:extLst>
            <c:ext xmlns:c16="http://schemas.microsoft.com/office/drawing/2014/chart" uri="{C3380CC4-5D6E-409C-BE32-E72D297353CC}">
              <c16:uniqueId val="{00000000-9D74-466D-8234-35688D6A70AE}"/>
            </c:ext>
          </c:extLst>
        </c:ser>
        <c:ser>
          <c:idx val="1"/>
          <c:order val="1"/>
          <c:tx>
            <c:strRef>
              <c:f>Sektörler!$T$13</c:f>
              <c:strCache>
                <c:ptCount val="1"/>
                <c:pt idx="0">
                  <c:v>Madencilik ve Taşocakçılığı</c:v>
                </c:pt>
              </c:strCache>
            </c:strRef>
          </c:tx>
          <c:spPr>
            <a:ln>
              <a:solidFill>
                <a:schemeClr val="tx1"/>
              </a:solidFill>
              <a:prstDash val="lgDash"/>
            </a:ln>
          </c:spPr>
          <c:marker>
            <c:symbol val="none"/>
          </c:marker>
          <c:cat>
            <c:numRef>
              <c:f>Sektörler!$U$17:$AG$17</c:f>
              <c:numCache>
                <c:formatCode>General</c:formatCod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numCache>
            </c:numRef>
          </c:cat>
          <c:val>
            <c:numRef>
              <c:f>Sektörler!$U$13:$AG$13</c:f>
              <c:numCache>
                <c:formatCode>0.00%</c:formatCode>
                <c:ptCount val="13"/>
                <c:pt idx="0">
                  <c:v>3.5856573705179286E-2</c:v>
                </c:pt>
                <c:pt idx="1">
                  <c:v>0.50617283950617287</c:v>
                </c:pt>
                <c:pt idx="2">
                  <c:v>0.57914110429447851</c:v>
                </c:pt>
                <c:pt idx="3">
                  <c:v>0.47511737089201878</c:v>
                </c:pt>
                <c:pt idx="4">
                  <c:v>0.27191413237924866</c:v>
                </c:pt>
                <c:pt idx="5">
                  <c:v>0.15076923076923077</c:v>
                </c:pt>
                <c:pt idx="6">
                  <c:v>0.10138248847926268</c:v>
                </c:pt>
                <c:pt idx="7">
                  <c:v>0.12450980392156863</c:v>
                </c:pt>
                <c:pt idx="8">
                  <c:v>0.12781130005485464</c:v>
                </c:pt>
                <c:pt idx="9">
                  <c:v>0.11723052714398112</c:v>
                </c:pt>
                <c:pt idx="10">
                  <c:v>0.10867558837101984</c:v>
                </c:pt>
                <c:pt idx="11">
                  <c:v>0.23248605083694979</c:v>
                </c:pt>
                <c:pt idx="12">
                  <c:v>0.57030951471150171</c:v>
                </c:pt>
              </c:numCache>
            </c:numRef>
          </c:val>
          <c:smooth val="0"/>
          <c:extLst>
            <c:ext xmlns:c16="http://schemas.microsoft.com/office/drawing/2014/chart" uri="{C3380CC4-5D6E-409C-BE32-E72D297353CC}">
              <c16:uniqueId val="{00000001-9D74-466D-8234-35688D6A70AE}"/>
            </c:ext>
          </c:extLst>
        </c:ser>
        <c:ser>
          <c:idx val="2"/>
          <c:order val="2"/>
          <c:tx>
            <c:strRef>
              <c:f>Sektörler!$T$14</c:f>
              <c:strCache>
                <c:ptCount val="1"/>
                <c:pt idx="0">
                  <c:v>Finans ve Sigorta Faaliyetleri</c:v>
                </c:pt>
              </c:strCache>
            </c:strRef>
          </c:tx>
          <c:spPr>
            <a:ln>
              <a:solidFill>
                <a:schemeClr val="tx1"/>
              </a:solidFill>
            </a:ln>
          </c:spPr>
          <c:marker>
            <c:symbol val="none"/>
          </c:marker>
          <c:cat>
            <c:numRef>
              <c:f>Sektörler!$U$17:$AG$17</c:f>
              <c:numCache>
                <c:formatCode>General</c:formatCode>
                <c:ptCount val="13"/>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numCache>
            </c:numRef>
          </c:cat>
          <c:val>
            <c:numRef>
              <c:f>Sektörler!$U$14:$AG$14</c:f>
              <c:numCache>
                <c:formatCode>0.00%</c:formatCode>
                <c:ptCount val="13"/>
                <c:pt idx="0">
                  <c:v>0.36254980079681276</c:v>
                </c:pt>
                <c:pt idx="1">
                  <c:v>0.16666666666666666</c:v>
                </c:pt>
                <c:pt idx="2">
                  <c:v>8.0981595092024544E-2</c:v>
                </c:pt>
                <c:pt idx="3">
                  <c:v>4.8826291079812206E-2</c:v>
                </c:pt>
                <c:pt idx="4">
                  <c:v>0.12045319022063208</c:v>
                </c:pt>
                <c:pt idx="5">
                  <c:v>0.59428571428571431</c:v>
                </c:pt>
                <c:pt idx="6">
                  <c:v>6.7204301075268813E-2</c:v>
                </c:pt>
                <c:pt idx="7">
                  <c:v>0.34019607843137256</c:v>
                </c:pt>
                <c:pt idx="8">
                  <c:v>0.3011519473395502</c:v>
                </c:pt>
                <c:pt idx="9">
                  <c:v>0.23210070810385522</c:v>
                </c:pt>
                <c:pt idx="10">
                  <c:v>8.6986617443470235E-2</c:v>
                </c:pt>
                <c:pt idx="11">
                  <c:v>0.15096094234345939</c:v>
                </c:pt>
                <c:pt idx="12">
                  <c:v>9.6866641192204811E-2</c:v>
                </c:pt>
              </c:numCache>
            </c:numRef>
          </c:val>
          <c:smooth val="0"/>
          <c:extLst>
            <c:ext xmlns:c16="http://schemas.microsoft.com/office/drawing/2014/chart" uri="{C3380CC4-5D6E-409C-BE32-E72D297353CC}">
              <c16:uniqueId val="{00000002-9D74-466D-8234-35688D6A70AE}"/>
            </c:ext>
          </c:extLst>
        </c:ser>
        <c:dLbls>
          <c:showLegendKey val="0"/>
          <c:showVal val="0"/>
          <c:showCatName val="0"/>
          <c:showSerName val="0"/>
          <c:showPercent val="0"/>
          <c:showBubbleSize val="0"/>
        </c:dLbls>
        <c:smooth val="0"/>
        <c:axId val="454523064"/>
        <c:axId val="554882384"/>
      </c:lineChart>
      <c:catAx>
        <c:axId val="454523064"/>
        <c:scaling>
          <c:orientation val="minMax"/>
        </c:scaling>
        <c:delete val="0"/>
        <c:axPos val="b"/>
        <c:numFmt formatCode="General" sourceLinked="1"/>
        <c:majorTickMark val="out"/>
        <c:minorTickMark val="none"/>
        <c:tickLblPos val="nextTo"/>
        <c:txPr>
          <a:bodyPr/>
          <a:lstStyle/>
          <a:p>
            <a:pPr>
              <a:defRPr>
                <a:latin typeface="Times New Roman" panose="02020603050405020304" pitchFamily="18" charset="0"/>
                <a:cs typeface="Times New Roman" panose="02020603050405020304" pitchFamily="18" charset="0"/>
              </a:defRPr>
            </a:pPr>
            <a:endParaRPr lang="tr-TR"/>
          </a:p>
        </c:txPr>
        <c:crossAx val="554882384"/>
        <c:crosses val="autoZero"/>
        <c:auto val="1"/>
        <c:lblAlgn val="ctr"/>
        <c:lblOffset val="100"/>
        <c:noMultiLvlLbl val="0"/>
      </c:catAx>
      <c:valAx>
        <c:axId val="554882384"/>
        <c:scaling>
          <c:orientation val="minMax"/>
        </c:scaling>
        <c:delete val="0"/>
        <c:axPos val="l"/>
        <c:majorGridlines/>
        <c:numFmt formatCode="%0" sourceLinked="0"/>
        <c:majorTickMark val="out"/>
        <c:minorTickMark val="none"/>
        <c:tickLblPos val="nextTo"/>
        <c:txPr>
          <a:bodyPr/>
          <a:lstStyle/>
          <a:p>
            <a:pPr>
              <a:defRPr>
                <a:latin typeface="Times New Roman" panose="02020603050405020304" pitchFamily="18" charset="0"/>
                <a:cs typeface="Times New Roman" panose="02020603050405020304" pitchFamily="18" charset="0"/>
              </a:defRPr>
            </a:pPr>
            <a:endParaRPr lang="tr-TR"/>
          </a:p>
        </c:txPr>
        <c:crossAx val="454523064"/>
        <c:crosses val="autoZero"/>
        <c:crossBetween val="between"/>
      </c:valAx>
    </c:plotArea>
    <c:legend>
      <c:legendPos val="r"/>
      <c:layout>
        <c:manualLayout>
          <c:xMode val="edge"/>
          <c:yMode val="edge"/>
          <c:x val="0.77894585702384467"/>
          <c:y val="0.20474540682414702"/>
          <c:w val="0.20940384644901844"/>
          <c:h val="0.54881989099554318"/>
        </c:manualLayout>
      </c:layout>
      <c:overlay val="0"/>
      <c:txPr>
        <a:bodyPr/>
        <a:lstStyle/>
        <a:p>
          <a:pPr>
            <a:defRPr>
              <a:latin typeface="Times New Roman" panose="02020603050405020304" pitchFamily="18" charset="0"/>
              <a:cs typeface="Times New Roman" panose="02020603050405020304" pitchFamily="18" charset="0"/>
            </a:defRPr>
          </a:pPr>
          <a:endParaRPr lang="tr-TR"/>
        </a:p>
      </c:txPr>
    </c:legend>
    <c:plotVisOnly val="1"/>
    <c:dispBlanksAs val="zero"/>
    <c:showDLblsOverMax val="0"/>
  </c:chart>
  <c:spPr>
    <a:pattFill prst="pct5">
      <a:fgClr>
        <a:schemeClr val="bg1"/>
      </a:fgClr>
      <a:bgClr>
        <a:prstClr val="white"/>
      </a:bgClr>
    </a:pattFill>
    <a:ln w="9525" cmpd="sng"/>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2968435522645942E-2"/>
          <c:y val="0.11241726059611061"/>
          <c:w val="0.38025354680735629"/>
          <c:h val="0.80404819617586254"/>
        </c:manualLayout>
      </c:layout>
      <c:pieChart>
        <c:varyColors val="1"/>
        <c:ser>
          <c:idx val="0"/>
          <c:order val="0"/>
          <c:explosion val="25"/>
          <c:dPt>
            <c:idx val="0"/>
            <c:bubble3D val="0"/>
            <c:spPr>
              <a:pattFill prst="pct50">
                <a:fgClr>
                  <a:schemeClr val="tx1"/>
                </a:fgClr>
                <a:bgClr>
                  <a:schemeClr val="bg1"/>
                </a:bgClr>
              </a:pattFill>
            </c:spPr>
            <c:extLst>
              <c:ext xmlns:c16="http://schemas.microsoft.com/office/drawing/2014/chart" uri="{C3380CC4-5D6E-409C-BE32-E72D297353CC}">
                <c16:uniqueId val="{00000001-6907-4A0C-84B1-1A3AAD99F5DC}"/>
              </c:ext>
            </c:extLst>
          </c:dPt>
          <c:dPt>
            <c:idx val="1"/>
            <c:bubble3D val="0"/>
            <c:spPr>
              <a:pattFill prst="pct80">
                <a:fgClr>
                  <a:schemeClr val="tx1"/>
                </a:fgClr>
                <a:bgClr>
                  <a:schemeClr val="bg1"/>
                </a:bgClr>
              </a:pattFill>
            </c:spPr>
            <c:extLst>
              <c:ext xmlns:c16="http://schemas.microsoft.com/office/drawing/2014/chart" uri="{C3380CC4-5D6E-409C-BE32-E72D297353CC}">
                <c16:uniqueId val="{00000003-6907-4A0C-84B1-1A3AAD99F5DC}"/>
              </c:ext>
            </c:extLst>
          </c:dPt>
          <c:dPt>
            <c:idx val="2"/>
            <c:bubble3D val="0"/>
            <c:spPr>
              <a:pattFill prst="dashHorz">
                <a:fgClr>
                  <a:schemeClr val="tx1"/>
                </a:fgClr>
                <a:bgClr>
                  <a:schemeClr val="bg1"/>
                </a:bgClr>
              </a:pattFill>
            </c:spPr>
            <c:extLst>
              <c:ext xmlns:c16="http://schemas.microsoft.com/office/drawing/2014/chart" uri="{C3380CC4-5D6E-409C-BE32-E72D297353CC}">
                <c16:uniqueId val="{00000005-6907-4A0C-84B1-1A3AAD99F5DC}"/>
              </c:ext>
            </c:extLst>
          </c:dPt>
          <c:dPt>
            <c:idx val="3"/>
            <c:bubble3D val="0"/>
            <c:spPr>
              <a:pattFill prst="lgCheck">
                <a:fgClr>
                  <a:schemeClr val="tx1"/>
                </a:fgClr>
                <a:bgClr>
                  <a:schemeClr val="bg1"/>
                </a:bgClr>
              </a:pattFill>
            </c:spPr>
            <c:extLst>
              <c:ext xmlns:c16="http://schemas.microsoft.com/office/drawing/2014/chart" uri="{C3380CC4-5D6E-409C-BE32-E72D297353CC}">
                <c16:uniqueId val="{00000007-6907-4A0C-84B1-1A3AAD99F5DC}"/>
              </c:ext>
            </c:extLst>
          </c:dPt>
          <c:dPt>
            <c:idx val="4"/>
            <c:bubble3D val="0"/>
            <c:spPr>
              <a:pattFill prst="smGrid">
                <a:fgClr>
                  <a:schemeClr val="tx1"/>
                </a:fgClr>
                <a:bgClr>
                  <a:schemeClr val="bg1"/>
                </a:bgClr>
              </a:pattFill>
            </c:spPr>
            <c:extLst>
              <c:ext xmlns:c16="http://schemas.microsoft.com/office/drawing/2014/chart" uri="{C3380CC4-5D6E-409C-BE32-E72D297353CC}">
                <c16:uniqueId val="{00000009-6907-4A0C-84B1-1A3AAD99F5DC}"/>
              </c:ext>
            </c:extLst>
          </c:dPt>
          <c:dPt>
            <c:idx val="5"/>
            <c:bubble3D val="0"/>
            <c:spPr>
              <a:pattFill prst="lgConfetti">
                <a:fgClr>
                  <a:schemeClr val="tx1"/>
                </a:fgClr>
                <a:bgClr>
                  <a:schemeClr val="bg1"/>
                </a:bgClr>
              </a:pattFill>
            </c:spPr>
            <c:extLst>
              <c:ext xmlns:c16="http://schemas.microsoft.com/office/drawing/2014/chart" uri="{C3380CC4-5D6E-409C-BE32-E72D297353CC}">
                <c16:uniqueId val="{0000000B-6907-4A0C-84B1-1A3AAD99F5DC}"/>
              </c:ext>
            </c:extLst>
          </c:dPt>
          <c:dPt>
            <c:idx val="6"/>
            <c:bubble3D val="0"/>
            <c:spPr>
              <a:pattFill prst="dkHorz">
                <a:fgClr>
                  <a:schemeClr val="tx1"/>
                </a:fgClr>
                <a:bgClr>
                  <a:schemeClr val="bg1"/>
                </a:bgClr>
              </a:pattFill>
            </c:spPr>
            <c:extLst>
              <c:ext xmlns:c16="http://schemas.microsoft.com/office/drawing/2014/chart" uri="{C3380CC4-5D6E-409C-BE32-E72D297353CC}">
                <c16:uniqueId val="{0000000D-6907-4A0C-84B1-1A3AAD99F5DC}"/>
              </c:ext>
            </c:extLst>
          </c:dPt>
          <c:dPt>
            <c:idx val="7"/>
            <c:bubble3D val="0"/>
            <c:spPr>
              <a:pattFill prst="zigZag">
                <a:fgClr>
                  <a:schemeClr val="tx1"/>
                </a:fgClr>
                <a:bgClr>
                  <a:schemeClr val="bg1"/>
                </a:bgClr>
              </a:pattFill>
            </c:spPr>
            <c:extLst>
              <c:ext xmlns:c16="http://schemas.microsoft.com/office/drawing/2014/chart" uri="{C3380CC4-5D6E-409C-BE32-E72D297353CC}">
                <c16:uniqueId val="{0000000F-6907-4A0C-84B1-1A3AAD99F5DC}"/>
              </c:ext>
            </c:extLst>
          </c:dPt>
          <c:dPt>
            <c:idx val="8"/>
            <c:bubble3D val="0"/>
            <c:spPr>
              <a:pattFill prst="ltVert">
                <a:fgClr>
                  <a:schemeClr val="tx1"/>
                </a:fgClr>
                <a:bgClr>
                  <a:schemeClr val="bg1"/>
                </a:bgClr>
              </a:pattFill>
            </c:spPr>
            <c:extLst>
              <c:ext xmlns:c16="http://schemas.microsoft.com/office/drawing/2014/chart" uri="{C3380CC4-5D6E-409C-BE32-E72D297353CC}">
                <c16:uniqueId val="{00000011-6907-4A0C-84B1-1A3AAD99F5DC}"/>
              </c:ext>
            </c:extLst>
          </c:dPt>
          <c:dLbls>
            <c:dLbl>
              <c:idx val="0"/>
              <c:layout>
                <c:manualLayout>
                  <c:x val="-2.9818956336528198E-2"/>
                  <c:y val="-2.97121634168988E-2"/>
                </c:manualLayout>
              </c:layout>
              <c:tx>
                <c:rich>
                  <a:bodyPr/>
                  <a:lstStyle/>
                  <a:p>
                    <a:r>
                      <a:rPr lang="en-US"/>
                      <a:t>155; %24</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6907-4A0C-84B1-1A3AAD99F5DC}"/>
                </c:ext>
              </c:extLst>
            </c:dLbl>
            <c:dLbl>
              <c:idx val="1"/>
              <c:layout>
                <c:manualLayout>
                  <c:x val="-1.49095124577318E-2"/>
                  <c:y val="9.3375086039317101E-2"/>
                </c:manualLayout>
              </c:layout>
              <c:tx>
                <c:rich>
                  <a:bodyPr/>
                  <a:lstStyle/>
                  <a:p>
                    <a:r>
                      <a:rPr lang="en-US"/>
                      <a:t>128; %20</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6907-4A0C-84B1-1A3AAD99F5DC}"/>
                </c:ext>
              </c:extLst>
            </c:dLbl>
            <c:dLbl>
              <c:idx val="2"/>
              <c:tx>
                <c:rich>
                  <a:bodyPr/>
                  <a:lstStyle/>
                  <a:p>
                    <a:r>
                      <a:rPr lang="en-US"/>
                      <a:t>106; %16</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6907-4A0C-84B1-1A3AAD99F5DC}"/>
                </c:ext>
              </c:extLst>
            </c:dLbl>
            <c:dLbl>
              <c:idx val="3"/>
              <c:tx>
                <c:rich>
                  <a:bodyPr/>
                  <a:lstStyle/>
                  <a:p>
                    <a:r>
                      <a:rPr lang="en-US"/>
                      <a:t>79; %12</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6907-4A0C-84B1-1A3AAD99F5DC}"/>
                </c:ext>
              </c:extLst>
            </c:dLbl>
            <c:dLbl>
              <c:idx val="4"/>
              <c:tx>
                <c:rich>
                  <a:bodyPr/>
                  <a:lstStyle/>
                  <a:p>
                    <a:r>
                      <a:rPr lang="en-US"/>
                      <a:t>54; %8</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6907-4A0C-84B1-1A3AAD99F5DC}"/>
                </c:ext>
              </c:extLst>
            </c:dLbl>
            <c:dLbl>
              <c:idx val="5"/>
              <c:layout>
                <c:manualLayout>
                  <c:x val="6.3897763578274697E-3"/>
                  <c:y val="-7.4280408542247104E-3"/>
                </c:manualLayout>
              </c:layout>
              <c:tx>
                <c:rich>
                  <a:bodyPr/>
                  <a:lstStyle/>
                  <a:p>
                    <a:r>
                      <a:rPr lang="en-US"/>
                      <a:t>42; %7</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6907-4A0C-84B1-1A3AAD99F5DC}"/>
                </c:ext>
              </c:extLst>
            </c:dLbl>
            <c:dLbl>
              <c:idx val="6"/>
              <c:layout>
                <c:manualLayout>
                  <c:x val="2.1299254526091602E-3"/>
                  <c:y val="2.2284122562674199E-2"/>
                </c:manualLayout>
              </c:layout>
              <c:tx>
                <c:rich>
                  <a:bodyPr/>
                  <a:lstStyle/>
                  <a:p>
                    <a:r>
                      <a:rPr lang="en-US"/>
                      <a:t>35; %5</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D-6907-4A0C-84B1-1A3AAD99F5DC}"/>
                </c:ext>
              </c:extLst>
            </c:dLbl>
            <c:dLbl>
              <c:idx val="7"/>
              <c:layout>
                <c:manualLayout>
                  <c:x val="1.06496272630458E-2"/>
                  <c:y val="1.1142061281337099E-2"/>
                </c:manualLayout>
              </c:layout>
              <c:tx>
                <c:rich>
                  <a:bodyPr/>
                  <a:lstStyle/>
                  <a:p>
                    <a:r>
                      <a:rPr lang="en-US"/>
                      <a:t>27; %4</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F-6907-4A0C-84B1-1A3AAD99F5DC}"/>
                </c:ext>
              </c:extLst>
            </c:dLbl>
            <c:dLbl>
              <c:idx val="8"/>
              <c:layout>
                <c:manualLayout>
                  <c:x val="3.3881019469454579E-3"/>
                  <c:y val="7.9863815356769792E-3"/>
                </c:manualLayout>
              </c:layout>
              <c:tx>
                <c:rich>
                  <a:bodyPr/>
                  <a:lstStyle/>
                  <a:p>
                    <a:r>
                      <a:rPr lang="en-US"/>
                      <a:t>25; %4</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11-6907-4A0C-84B1-1A3AAD99F5DC}"/>
                </c:ext>
              </c:extLst>
            </c:dLbl>
            <c:spPr>
              <a:noFill/>
              <a:ln>
                <a:noFill/>
              </a:ln>
              <a:effectLst/>
            </c:spPr>
            <c:txPr>
              <a:bodyPr/>
              <a:lstStyle/>
              <a:p>
                <a:pPr>
                  <a:defRPr b="1"/>
                </a:pPr>
                <a:endParaRPr lang="tr-TR"/>
              </a:p>
            </c:txPr>
            <c:dLblPos val="outEnd"/>
            <c:showLegendKey val="0"/>
            <c:showVal val="1"/>
            <c:showCatName val="0"/>
            <c:showSerName val="0"/>
            <c:showPercent val="1"/>
            <c:showBubbleSize val="0"/>
            <c:showLeaderLines val="1"/>
            <c:extLst>
              <c:ext xmlns:c15="http://schemas.microsoft.com/office/drawing/2012/chart" uri="{CE6537A1-D6FC-4f65-9D91-7224C49458BB}"/>
            </c:extLst>
          </c:dLbls>
          <c:cat>
            <c:strRef>
              <c:f>Sektörler!$T$79:$T$87</c:f>
              <c:strCache>
                <c:ptCount val="9"/>
                <c:pt idx="0">
                  <c:v>Gıda, İçecek ve Tütün Ürünleri İmalatı</c:v>
                </c:pt>
                <c:pt idx="1">
                  <c:v>Mobilya İmalatı ve Başka Yerde Sınıflandırılmamış Diğer İmalat Sanayii</c:v>
                </c:pt>
                <c:pt idx="2">
                  <c:v>Kimyasalların, Kimyasal Ürünlerin ve Temel Eczacılık Ürünleri ile Malzemelerinin İmalatı</c:v>
                </c:pt>
                <c:pt idx="3">
                  <c:v>Diğer Metalik Olmayan Mineral Ürünlerin İmalatı</c:v>
                </c:pt>
                <c:pt idx="4">
                  <c:v>Tekstil ve Giyim Eşyaları İmalatı</c:v>
                </c:pt>
                <c:pt idx="5">
                  <c:v>Kauçuk ve Plastik Ürünleri İmalatı</c:v>
                </c:pt>
                <c:pt idx="6">
                  <c:v>Ulaşım Araçları İmalatı</c:v>
                </c:pt>
                <c:pt idx="7">
                  <c:v>Ana Metal Sanayii ve Fabrikasyon Metal Ürünleri İmalatı (Makine Teçhizat Hariç)</c:v>
                </c:pt>
                <c:pt idx="8">
                  <c:v>Bilgisayarların, Elektrik-Elektronik ve Optik Ürünlerin İmalatı</c:v>
                </c:pt>
              </c:strCache>
            </c:strRef>
          </c:cat>
          <c:val>
            <c:numRef>
              <c:f>Sektörler!$U$79:$U$87</c:f>
              <c:numCache>
                <c:formatCode>General</c:formatCode>
                <c:ptCount val="9"/>
                <c:pt idx="0">
                  <c:v>155</c:v>
                </c:pt>
                <c:pt idx="1">
                  <c:v>128</c:v>
                </c:pt>
                <c:pt idx="2">
                  <c:v>106</c:v>
                </c:pt>
                <c:pt idx="3">
                  <c:v>79</c:v>
                </c:pt>
                <c:pt idx="4">
                  <c:v>54</c:v>
                </c:pt>
                <c:pt idx="5">
                  <c:v>42</c:v>
                </c:pt>
                <c:pt idx="6">
                  <c:v>35</c:v>
                </c:pt>
                <c:pt idx="7">
                  <c:v>27</c:v>
                </c:pt>
                <c:pt idx="8">
                  <c:v>25</c:v>
                </c:pt>
              </c:numCache>
            </c:numRef>
          </c:val>
          <c:extLst>
            <c:ext xmlns:c16="http://schemas.microsoft.com/office/drawing/2014/chart" uri="{C3380CC4-5D6E-409C-BE32-E72D297353CC}">
              <c16:uniqueId val="{00000012-6907-4A0C-84B1-1A3AAD99F5DC}"/>
            </c:ext>
          </c:extLst>
        </c:ser>
        <c:dLbls>
          <c:showLegendKey val="0"/>
          <c:showVal val="0"/>
          <c:showCatName val="0"/>
          <c:showSerName val="0"/>
          <c:showPercent val="0"/>
          <c:showBubbleSize val="0"/>
          <c:showLeaderLines val="1"/>
        </c:dLbls>
        <c:firstSliceAng val="0"/>
      </c:pieChart>
      <c:spPr>
        <a:noFill/>
        <a:ln w="25400">
          <a:noFill/>
        </a:ln>
      </c:spPr>
    </c:plotArea>
    <c:legend>
      <c:legendPos val="r"/>
      <c:layout>
        <c:manualLayout>
          <c:xMode val="edge"/>
          <c:yMode val="edge"/>
          <c:x val="0.56670127243269197"/>
          <c:y val="1.92664533647991E-2"/>
          <c:w val="0.42047822003900998"/>
          <c:h val="0.95442056774603501"/>
        </c:manualLayout>
      </c:layout>
      <c:overlay val="0"/>
      <c:txPr>
        <a:bodyPr/>
        <a:lstStyle/>
        <a:p>
          <a:pPr>
            <a:defRPr sz="1000" baseline="0"/>
          </a:pPr>
          <a:endParaRPr lang="tr-TR"/>
        </a:p>
      </c:txPr>
    </c:legend>
    <c:plotVisOnly val="1"/>
    <c:dispBlanksAs val="zero"/>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84286710539429"/>
          <c:y val="0.12814695199453588"/>
          <c:w val="0.80739716624086533"/>
          <c:h val="0.58959693141365466"/>
        </c:manualLayout>
      </c:layout>
      <c:barChart>
        <c:barDir val="col"/>
        <c:grouping val="clustered"/>
        <c:varyColors val="0"/>
        <c:ser>
          <c:idx val="1"/>
          <c:order val="1"/>
          <c:tx>
            <c:strRef>
              <c:f>'DDY Yıllara göre (2003-2011)'!$D$2</c:f>
              <c:strCache>
                <c:ptCount val="1"/>
                <c:pt idx="0">
                  <c:v>Toplam yatırım tutarı (milyon $)</c:v>
                </c:pt>
              </c:strCache>
            </c:strRef>
          </c:tx>
          <c:invertIfNegative val="0"/>
          <c:cat>
            <c:numLit>
              <c:formatCode>General</c:formatCode>
              <c:ptCount val="9"/>
              <c:pt idx="0">
                <c:v>2003</c:v>
              </c:pt>
              <c:pt idx="1">
                <c:v>2004</c:v>
              </c:pt>
              <c:pt idx="2">
                <c:v>2005</c:v>
              </c:pt>
              <c:pt idx="3">
                <c:v>2006</c:v>
              </c:pt>
              <c:pt idx="4">
                <c:v>2007</c:v>
              </c:pt>
              <c:pt idx="5">
                <c:v>2008</c:v>
              </c:pt>
              <c:pt idx="6">
                <c:v>2009</c:v>
              </c:pt>
              <c:pt idx="7">
                <c:v>2010</c:v>
              </c:pt>
              <c:pt idx="8">
                <c:v>2011</c:v>
              </c:pt>
            </c:numLit>
          </c:cat>
          <c:val>
            <c:numRef>
              <c:f>'DDY Yıllara göre (2003-2011)'!$D$3:$D$11</c:f>
              <c:numCache>
                <c:formatCode>General</c:formatCode>
                <c:ptCount val="9"/>
                <c:pt idx="0">
                  <c:v>7750</c:v>
                </c:pt>
                <c:pt idx="1">
                  <c:v>2374</c:v>
                </c:pt>
                <c:pt idx="2">
                  <c:v>4074</c:v>
                </c:pt>
                <c:pt idx="3">
                  <c:v>1941</c:v>
                </c:pt>
                <c:pt idx="4">
                  <c:v>2399</c:v>
                </c:pt>
                <c:pt idx="5">
                  <c:v>4464</c:v>
                </c:pt>
                <c:pt idx="6">
                  <c:v>4068</c:v>
                </c:pt>
                <c:pt idx="7">
                  <c:v>4031</c:v>
                </c:pt>
                <c:pt idx="8">
                  <c:v>4937</c:v>
                </c:pt>
              </c:numCache>
            </c:numRef>
          </c:val>
          <c:extLst>
            <c:ext xmlns:c16="http://schemas.microsoft.com/office/drawing/2014/chart" uri="{C3380CC4-5D6E-409C-BE32-E72D297353CC}">
              <c16:uniqueId val="{00000000-764E-42FD-B930-B284784B26E0}"/>
            </c:ext>
          </c:extLst>
        </c:ser>
        <c:dLbls>
          <c:showLegendKey val="0"/>
          <c:showVal val="0"/>
          <c:showCatName val="0"/>
          <c:showSerName val="0"/>
          <c:showPercent val="0"/>
          <c:showBubbleSize val="0"/>
        </c:dLbls>
        <c:gapWidth val="75"/>
        <c:axId val="445401672"/>
        <c:axId val="442963248"/>
      </c:barChart>
      <c:lineChart>
        <c:grouping val="standard"/>
        <c:varyColors val="0"/>
        <c:ser>
          <c:idx val="0"/>
          <c:order val="0"/>
          <c:tx>
            <c:strRef>
              <c:f>'DDY Yıllara göre (2003-2011)'!$B$2</c:f>
              <c:strCache>
                <c:ptCount val="1"/>
                <c:pt idx="0">
                  <c:v> Yatırım sayısı</c:v>
                </c:pt>
              </c:strCache>
            </c:strRef>
          </c:tx>
          <c:spPr>
            <a:ln>
              <a:solidFill>
                <a:schemeClr val="accent5">
                  <a:lumMod val="60000"/>
                  <a:lumOff val="40000"/>
                </a:schemeClr>
              </a:solidFill>
            </a:ln>
          </c:spPr>
          <c:marker>
            <c:symbol val="none"/>
          </c:marker>
          <c:cat>
            <c:numLit>
              <c:formatCode>General</c:formatCode>
              <c:ptCount val="9"/>
              <c:pt idx="0">
                <c:v>2003</c:v>
              </c:pt>
              <c:pt idx="1">
                <c:v>2004</c:v>
              </c:pt>
              <c:pt idx="2">
                <c:v>2005</c:v>
              </c:pt>
              <c:pt idx="3">
                <c:v>2006</c:v>
              </c:pt>
              <c:pt idx="4">
                <c:v>2007</c:v>
              </c:pt>
              <c:pt idx="5">
                <c:v>2008</c:v>
              </c:pt>
              <c:pt idx="6">
                <c:v>2009</c:v>
              </c:pt>
              <c:pt idx="7">
                <c:v>2010</c:v>
              </c:pt>
              <c:pt idx="8">
                <c:v>2011</c:v>
              </c:pt>
            </c:numLit>
          </c:cat>
          <c:val>
            <c:numRef>
              <c:f>'DDY Yıllara göre (2003-2011)'!$B$3:$B$11</c:f>
              <c:numCache>
                <c:formatCode>General</c:formatCode>
                <c:ptCount val="9"/>
                <c:pt idx="0">
                  <c:v>109</c:v>
                </c:pt>
                <c:pt idx="1">
                  <c:v>66</c:v>
                </c:pt>
                <c:pt idx="2">
                  <c:v>67</c:v>
                </c:pt>
                <c:pt idx="3">
                  <c:v>51</c:v>
                </c:pt>
                <c:pt idx="4">
                  <c:v>37</c:v>
                </c:pt>
                <c:pt idx="5">
                  <c:v>64</c:v>
                </c:pt>
                <c:pt idx="6">
                  <c:v>63</c:v>
                </c:pt>
                <c:pt idx="7">
                  <c:v>103</c:v>
                </c:pt>
                <c:pt idx="8">
                  <c:v>67</c:v>
                </c:pt>
              </c:numCache>
            </c:numRef>
          </c:val>
          <c:smooth val="0"/>
          <c:extLst>
            <c:ext xmlns:c16="http://schemas.microsoft.com/office/drawing/2014/chart" uri="{C3380CC4-5D6E-409C-BE32-E72D297353CC}">
              <c16:uniqueId val="{00000001-764E-42FD-B930-B284784B26E0}"/>
            </c:ext>
          </c:extLst>
        </c:ser>
        <c:dLbls>
          <c:showLegendKey val="0"/>
          <c:showVal val="0"/>
          <c:showCatName val="0"/>
          <c:showSerName val="0"/>
          <c:showPercent val="0"/>
          <c:showBubbleSize val="0"/>
        </c:dLbls>
        <c:marker val="1"/>
        <c:smooth val="0"/>
        <c:axId val="442964032"/>
        <c:axId val="442963640"/>
      </c:lineChart>
      <c:catAx>
        <c:axId val="445401672"/>
        <c:scaling>
          <c:orientation val="minMax"/>
        </c:scaling>
        <c:delete val="0"/>
        <c:axPos val="b"/>
        <c:numFmt formatCode="General" sourceLinked="1"/>
        <c:majorTickMark val="none"/>
        <c:minorTickMark val="none"/>
        <c:tickLblPos val="nextTo"/>
        <c:txPr>
          <a:bodyPr/>
          <a:lstStyle/>
          <a:p>
            <a:pPr>
              <a:defRPr>
                <a:latin typeface="Times New Roman" panose="02020603050405020304" pitchFamily="18" charset="0"/>
                <a:cs typeface="Times New Roman" panose="02020603050405020304" pitchFamily="18" charset="0"/>
              </a:defRPr>
            </a:pPr>
            <a:endParaRPr lang="tr-TR"/>
          </a:p>
        </c:txPr>
        <c:crossAx val="442963248"/>
        <c:crosses val="autoZero"/>
        <c:auto val="1"/>
        <c:lblAlgn val="ctr"/>
        <c:lblOffset val="100"/>
        <c:noMultiLvlLbl val="0"/>
      </c:catAx>
      <c:valAx>
        <c:axId val="442963248"/>
        <c:scaling>
          <c:orientation val="minMax"/>
        </c:scaling>
        <c:delete val="0"/>
        <c:axPos val="l"/>
        <c:majorGridlines/>
        <c:numFmt formatCode="General" sourceLinked="1"/>
        <c:majorTickMark val="none"/>
        <c:minorTickMark val="none"/>
        <c:tickLblPos val="nextTo"/>
        <c:spPr>
          <a:ln w="9525">
            <a:noFill/>
          </a:ln>
        </c:spPr>
        <c:txPr>
          <a:bodyPr/>
          <a:lstStyle/>
          <a:p>
            <a:pPr>
              <a:defRPr>
                <a:latin typeface="Times New Roman" panose="02020603050405020304" pitchFamily="18" charset="0"/>
                <a:cs typeface="Times New Roman" panose="02020603050405020304" pitchFamily="18" charset="0"/>
              </a:defRPr>
            </a:pPr>
            <a:endParaRPr lang="tr-TR"/>
          </a:p>
        </c:txPr>
        <c:crossAx val="445401672"/>
        <c:crosses val="autoZero"/>
        <c:crossBetween val="between"/>
      </c:valAx>
      <c:valAx>
        <c:axId val="442963640"/>
        <c:scaling>
          <c:orientation val="minMax"/>
        </c:scaling>
        <c:delete val="0"/>
        <c:axPos val="r"/>
        <c:numFmt formatCode="General" sourceLinked="1"/>
        <c:majorTickMark val="out"/>
        <c:minorTickMark val="none"/>
        <c:tickLblPos val="nextTo"/>
        <c:crossAx val="442964032"/>
        <c:crosses val="max"/>
        <c:crossBetween val="between"/>
      </c:valAx>
      <c:catAx>
        <c:axId val="442964032"/>
        <c:scaling>
          <c:orientation val="minMax"/>
        </c:scaling>
        <c:delete val="1"/>
        <c:axPos val="b"/>
        <c:numFmt formatCode="General" sourceLinked="1"/>
        <c:majorTickMark val="out"/>
        <c:minorTickMark val="none"/>
        <c:tickLblPos val="none"/>
        <c:crossAx val="442963640"/>
        <c:crosses val="autoZero"/>
        <c:auto val="1"/>
        <c:lblAlgn val="ctr"/>
        <c:lblOffset val="100"/>
        <c:noMultiLvlLbl val="0"/>
      </c:catAx>
    </c:plotArea>
    <c:legend>
      <c:legendPos val="b"/>
      <c:layout>
        <c:manualLayout>
          <c:xMode val="edge"/>
          <c:yMode val="edge"/>
          <c:x val="0.16555665417557069"/>
          <c:y val="0.84366460675018784"/>
          <c:w val="0.70718551520399209"/>
          <c:h val="0.11738610399766918"/>
        </c:manualLayout>
      </c:layout>
      <c:overlay val="0"/>
    </c:legend>
    <c:plotVisOnly val="1"/>
    <c:dispBlanksAs val="gap"/>
    <c:showDLblsOverMax val="0"/>
  </c:chart>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39333876368902"/>
          <c:y val="0.12637213761453467"/>
          <c:w val="0.42463439718938001"/>
          <c:h val="0.81112798025995259"/>
        </c:manualLayout>
      </c:layout>
      <c:pieChart>
        <c:varyColors val="1"/>
        <c:ser>
          <c:idx val="0"/>
          <c:order val="0"/>
          <c:tx>
            <c:strRef>
              <c:f>Sheet1!$B$1</c:f>
              <c:strCache>
                <c:ptCount val="1"/>
                <c:pt idx="0">
                  <c:v>Projects</c:v>
                </c:pt>
              </c:strCache>
            </c:strRef>
          </c:tx>
          <c:spPr>
            <a:effectLst>
              <a:outerShdw blurRad="50800" dist="38100" dir="2700000" algn="tl" rotWithShape="0">
                <a:prstClr val="black">
                  <a:alpha val="40000"/>
                </a:prstClr>
              </a:outerShdw>
            </a:effectLst>
          </c:spPr>
          <c:dPt>
            <c:idx val="0"/>
            <c:bubble3D val="0"/>
            <c:spPr>
              <a:solidFill>
                <a:srgbClr val="B74C49"/>
              </a:solidFill>
              <a:effectLst>
                <a:outerShdw blurRad="50800" dist="38100" dir="2700000" algn="tl" rotWithShape="0">
                  <a:prstClr val="black">
                    <a:alpha val="40000"/>
                  </a:prstClr>
                </a:outerShdw>
              </a:effectLst>
            </c:spPr>
            <c:extLst>
              <c:ext xmlns:c16="http://schemas.microsoft.com/office/drawing/2014/chart" uri="{C3380CC4-5D6E-409C-BE32-E72D297353CC}">
                <c16:uniqueId val="{00000001-979B-4792-BBDD-319CB2EB6390}"/>
              </c:ext>
            </c:extLst>
          </c:dPt>
          <c:dPt>
            <c:idx val="1"/>
            <c:bubble3D val="0"/>
            <c:spPr>
              <a:solidFill>
                <a:srgbClr val="C87372"/>
              </a:solidFill>
              <a:effectLst>
                <a:outerShdw blurRad="50800" dist="38100" dir="2700000" algn="tl" rotWithShape="0">
                  <a:prstClr val="black">
                    <a:alpha val="40000"/>
                  </a:prstClr>
                </a:outerShdw>
              </a:effectLst>
            </c:spPr>
            <c:extLst>
              <c:ext xmlns:c16="http://schemas.microsoft.com/office/drawing/2014/chart" uri="{C3380CC4-5D6E-409C-BE32-E72D297353CC}">
                <c16:uniqueId val="{00000003-979B-4792-BBDD-319CB2EB6390}"/>
              </c:ext>
            </c:extLst>
          </c:dPt>
          <c:dPt>
            <c:idx val="2"/>
            <c:bubble3D val="0"/>
            <c:spPr>
              <a:solidFill>
                <a:srgbClr val="D6A1A0"/>
              </a:solidFill>
              <a:effectLst>
                <a:outerShdw blurRad="50800" dist="38100" dir="2700000" algn="tl" rotWithShape="0">
                  <a:prstClr val="black">
                    <a:alpha val="40000"/>
                  </a:prstClr>
                </a:outerShdw>
              </a:effectLst>
            </c:spPr>
            <c:extLst>
              <c:ext xmlns:c16="http://schemas.microsoft.com/office/drawing/2014/chart" uri="{C3380CC4-5D6E-409C-BE32-E72D297353CC}">
                <c16:uniqueId val="{00000005-979B-4792-BBDD-319CB2EB6390}"/>
              </c:ext>
            </c:extLst>
          </c:dPt>
          <c:dLbls>
            <c:spPr>
              <a:noFill/>
              <a:ln>
                <a:noFill/>
              </a:ln>
              <a:effectLst/>
            </c:spPr>
            <c:showLegendKey val="0"/>
            <c:showVal val="1"/>
            <c:showCatName val="0"/>
            <c:showSerName val="0"/>
            <c:showPercent val="0"/>
            <c:showBubbleSize val="1"/>
            <c:showLeaderLines val="0"/>
            <c:extLst>
              <c:ext xmlns:c15="http://schemas.microsoft.com/office/drawing/2012/chart" uri="{CE6537A1-D6FC-4f65-9D91-7224C49458BB}"/>
            </c:extLst>
          </c:dLbls>
          <c:cat>
            <c:strRef>
              <c:f>Sheet1!$A$2:$A$4</c:f>
              <c:strCache>
                <c:ptCount val="3"/>
                <c:pt idx="0">
                  <c:v>New</c:v>
                </c:pt>
                <c:pt idx="1">
                  <c:v>Expansion</c:v>
                </c:pt>
                <c:pt idx="2">
                  <c:v>Co-location</c:v>
                </c:pt>
              </c:strCache>
            </c:strRef>
          </c:cat>
          <c:val>
            <c:numRef>
              <c:f>Sheet1!$B$2:$B$4</c:f>
              <c:numCache>
                <c:formatCode>General</c:formatCode>
                <c:ptCount val="3"/>
                <c:pt idx="0">
                  <c:v>755</c:v>
                </c:pt>
                <c:pt idx="1">
                  <c:v>40</c:v>
                </c:pt>
                <c:pt idx="2">
                  <c:v>1</c:v>
                </c:pt>
              </c:numCache>
            </c:numRef>
          </c:val>
          <c:extLst>
            <c:ext xmlns:c16="http://schemas.microsoft.com/office/drawing/2014/chart" uri="{C3380CC4-5D6E-409C-BE32-E72D297353CC}">
              <c16:uniqueId val="{00000006-979B-4792-BBDD-319CB2EB6390}"/>
            </c:ext>
          </c:extLst>
        </c:ser>
        <c:dLbls>
          <c:showLegendKey val="0"/>
          <c:showVal val="0"/>
          <c:showCatName val="0"/>
          <c:showSerName val="0"/>
          <c:showPercent val="0"/>
          <c:showBubbleSize val="0"/>
          <c:showLeaderLines val="0"/>
        </c:dLbls>
        <c:firstSliceAng val="90"/>
      </c:pieChart>
    </c:plotArea>
    <c:legend>
      <c:legendPos val="r"/>
      <c:overlay val="1"/>
    </c:legend>
    <c:plotVisOnly val="1"/>
    <c:dispBlanksAs val="zero"/>
    <c:showDLblsOverMax val="1"/>
  </c:chart>
  <c:txPr>
    <a:bodyPr/>
    <a:lstStyle/>
    <a:p>
      <a:pPr>
        <a:defRPr sz="1800">
          <a:latin typeface="Arial" pitchFamily="34" charset="0"/>
          <a:cs typeface="Arial" pitchFamily="34" charset="0"/>
        </a:defRPr>
      </a:pPr>
      <a:endParaRPr lang="tr-T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tr-TR" dirty="0" err="1"/>
              <a:t>Sectoral</a:t>
            </a:r>
            <a:r>
              <a:rPr lang="tr-TR" dirty="0"/>
              <a:t> Distribution of FDI </a:t>
            </a:r>
            <a:r>
              <a:rPr lang="tr-TR" dirty="0" err="1"/>
              <a:t>by</a:t>
            </a:r>
            <a:r>
              <a:rPr lang="tr-TR" dirty="0"/>
              <a:t> </a:t>
            </a:r>
            <a:r>
              <a:rPr lang="tr-TR" dirty="0" err="1"/>
              <a:t>TMNCs</a:t>
            </a:r>
            <a:r>
              <a:rPr lang="tr-TR" dirty="0"/>
              <a:t> </a:t>
            </a:r>
            <a:r>
              <a:rPr lang="tr-TR" dirty="0" err="1"/>
              <a:t>between</a:t>
            </a:r>
            <a:r>
              <a:rPr lang="tr-TR" dirty="0"/>
              <a:t> 2003-2013</a:t>
            </a:r>
          </a:p>
          <a:p>
            <a:pPr>
              <a:defRPr/>
            </a:pPr>
            <a:r>
              <a:rPr lang="tr-TR" dirty="0"/>
              <a:t>(Value of </a:t>
            </a:r>
            <a:r>
              <a:rPr lang="tr-TR" dirty="0" err="1"/>
              <a:t>Investments</a:t>
            </a:r>
            <a:r>
              <a:rPr lang="tr-TR" dirty="0"/>
              <a:t>- </a:t>
            </a:r>
            <a:r>
              <a:rPr lang="tr-TR" dirty="0" err="1"/>
              <a:t>Million</a:t>
            </a:r>
            <a:r>
              <a:rPr lang="tr-TR" dirty="0"/>
              <a:t> USD)</a:t>
            </a:r>
          </a:p>
        </c:rich>
      </c:tx>
      <c:layout>
        <c:manualLayout>
          <c:xMode val="edge"/>
          <c:yMode val="edge"/>
          <c:x val="0.12520621783387245"/>
          <c:y val="2.0108586366378443E-2"/>
        </c:manualLayout>
      </c:layout>
      <c:overlay val="0"/>
    </c:title>
    <c:autoTitleDeleted val="0"/>
    <c:plotArea>
      <c:layout>
        <c:manualLayout>
          <c:layoutTarget val="inner"/>
          <c:xMode val="edge"/>
          <c:yMode val="edge"/>
          <c:x val="0.1047940987841125"/>
          <c:y val="0.11105186499574868"/>
          <c:w val="0.47006553668310724"/>
          <c:h val="0.81566315478170859"/>
        </c:manualLayout>
      </c:layout>
      <c:pieChart>
        <c:varyColors val="1"/>
        <c:ser>
          <c:idx val="0"/>
          <c:order val="0"/>
          <c:explosion val="25"/>
          <c:dLbls>
            <c:numFmt formatCode="0.00%" sourceLinked="0"/>
            <c:spPr>
              <a:noFill/>
              <a:ln>
                <a:noFill/>
              </a:ln>
              <a:effectLst/>
            </c:spPr>
            <c:showLegendKey val="0"/>
            <c:showVal val="1"/>
            <c:showCatName val="0"/>
            <c:showSerName val="0"/>
            <c:showPercent val="1"/>
            <c:showBubbleSize val="0"/>
            <c:showLeaderLines val="1"/>
            <c:extLst>
              <c:ext xmlns:c15="http://schemas.microsoft.com/office/drawing/2012/chart" uri="{CE6537A1-D6FC-4f65-9D91-7224C49458BB}"/>
            </c:extLst>
          </c:dLbls>
          <c:cat>
            <c:strRef>
              <c:f>Sektörler!$B$4:$B$16</c:f>
              <c:strCache>
                <c:ptCount val="13"/>
                <c:pt idx="0">
                  <c:v>Real Estate</c:v>
                </c:pt>
                <c:pt idx="1">
                  <c:v>Coal, Petroleum and Natural Resources</c:v>
                </c:pt>
                <c:pt idx="2">
                  <c:v>Construction and Building Materials</c:v>
                </c:pt>
                <c:pt idx="3">
                  <c:v>Hotel Management and Tourism</c:v>
                </c:pt>
                <c:pt idx="4">
                  <c:v>Ceramics and Glass</c:v>
                </c:pt>
                <c:pt idx="5">
                  <c:v>Textiles</c:v>
                </c:pt>
                <c:pt idx="6">
                  <c:v>Financial Services</c:v>
                </c:pt>
                <c:pt idx="7">
                  <c:v>Chemicals</c:v>
                </c:pt>
                <c:pt idx="8">
                  <c:v>Telecommunication</c:v>
                </c:pt>
                <c:pt idx="9">
                  <c:v>Paper, Print and Packaging</c:v>
                </c:pt>
                <c:pt idx="10">
                  <c:v>Wood</c:v>
                </c:pt>
                <c:pt idx="11">
                  <c:v>Food and Tobacco</c:v>
                </c:pt>
                <c:pt idx="12">
                  <c:v>Other</c:v>
                </c:pt>
              </c:strCache>
            </c:strRef>
          </c:cat>
          <c:val>
            <c:numRef>
              <c:f>Sektörler!$C$4:$C$16</c:f>
              <c:numCache>
                <c:formatCode>General</c:formatCode>
                <c:ptCount val="13"/>
                <c:pt idx="0">
                  <c:v>10711</c:v>
                </c:pt>
                <c:pt idx="1">
                  <c:v>4647</c:v>
                </c:pt>
                <c:pt idx="2">
                  <c:v>2225</c:v>
                </c:pt>
                <c:pt idx="3">
                  <c:v>2015</c:v>
                </c:pt>
                <c:pt idx="4">
                  <c:v>1693</c:v>
                </c:pt>
                <c:pt idx="5">
                  <c:v>1691</c:v>
                </c:pt>
                <c:pt idx="6">
                  <c:v>1677</c:v>
                </c:pt>
                <c:pt idx="7">
                  <c:v>1624</c:v>
                </c:pt>
                <c:pt idx="8">
                  <c:v>1339</c:v>
                </c:pt>
                <c:pt idx="9">
                  <c:v>1223</c:v>
                </c:pt>
                <c:pt idx="10">
                  <c:v>1152</c:v>
                </c:pt>
                <c:pt idx="11">
                  <c:v>1109</c:v>
                </c:pt>
                <c:pt idx="12">
                  <c:v>4929</c:v>
                </c:pt>
              </c:numCache>
            </c:numRef>
          </c:val>
          <c:extLst>
            <c:ext xmlns:c16="http://schemas.microsoft.com/office/drawing/2014/chart" uri="{C3380CC4-5D6E-409C-BE32-E72D297353CC}">
              <c16:uniqueId val="{00000000-48E2-4F48-A532-163ADBA75760}"/>
            </c:ext>
          </c:extLst>
        </c:ser>
        <c:dLbls>
          <c:showLegendKey val="0"/>
          <c:showVal val="0"/>
          <c:showCatName val="0"/>
          <c:showSerName val="0"/>
          <c:showPercent val="1"/>
          <c:showBubbleSize val="0"/>
          <c:showLeaderLines val="1"/>
        </c:dLbls>
        <c:firstSliceAng val="0"/>
      </c:pieChart>
    </c:plotArea>
    <c:legend>
      <c:legendPos val="t"/>
      <c:layout>
        <c:manualLayout>
          <c:xMode val="edge"/>
          <c:yMode val="edge"/>
          <c:x val="0.64044543150055033"/>
          <c:y val="0.13887338730546017"/>
          <c:w val="0.34028405421753177"/>
          <c:h val="0.78903434253816862"/>
        </c:manualLayout>
      </c:layout>
      <c:overlay val="0"/>
    </c:legend>
    <c:plotVisOnly val="1"/>
    <c:dispBlanksAs val="gap"/>
    <c:showDLblsOverMax val="0"/>
  </c:chart>
  <c:txPr>
    <a:bodyPr/>
    <a:lstStyle/>
    <a:p>
      <a:pPr>
        <a:defRPr sz="1100"/>
      </a:pPr>
      <a:endParaRPr lang="tr-T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80793566627885E-2"/>
          <c:y val="1.5843936743036226E-2"/>
          <c:w val="0.81432022224941425"/>
          <c:h val="0.83617251964164985"/>
        </c:manualLayout>
      </c:layout>
      <c:barChart>
        <c:barDir val="col"/>
        <c:grouping val="clustered"/>
        <c:varyColors val="0"/>
        <c:ser>
          <c:idx val="1"/>
          <c:order val="1"/>
          <c:tx>
            <c:strRef>
              <c:f>'DDY Yıllara göre (2003-2013)'!$D$2</c:f>
              <c:strCache>
                <c:ptCount val="1"/>
                <c:pt idx="0">
                  <c:v>Toplam yatırım tutarı (milyon $)</c:v>
                </c:pt>
              </c:strCache>
            </c:strRef>
          </c:tx>
          <c:spPr>
            <a:pattFill prst="pct50">
              <a:fgClr>
                <a:schemeClr val="tx1"/>
              </a:fgClr>
              <a:bgClr>
                <a:prstClr val="white"/>
              </a:bgClr>
            </a:pattFill>
          </c:spPr>
          <c:invertIfNegative val="0"/>
          <c:dLbls>
            <c:dLbl>
              <c:idx val="0"/>
              <c:layout>
                <c:manualLayout>
                  <c:x val="0"/>
                  <c:y val="-3.1840796019900502E-2"/>
                </c:manualLayout>
              </c:layout>
              <c:tx>
                <c:rich>
                  <a:bodyPr/>
                  <a:lstStyle/>
                  <a:p>
                    <a:r>
                      <a:rPr lang="en-US"/>
                      <a:t>6.750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40C-4D33-8189-1A996380C2A7}"/>
                </c:ext>
              </c:extLst>
            </c:dLbl>
            <c:dLbl>
              <c:idx val="1"/>
              <c:tx>
                <c:rich>
                  <a:bodyPr/>
                  <a:lstStyle/>
                  <a:p>
                    <a:r>
                      <a:rPr lang="en-US"/>
                      <a:t>2.374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40C-4D33-8189-1A996380C2A7}"/>
                </c:ext>
              </c:extLst>
            </c:dLbl>
            <c:dLbl>
              <c:idx val="2"/>
              <c:layout>
                <c:manualLayout>
                  <c:x val="2.1750951604132679E-3"/>
                  <c:y val="7.5621890547263676E-2"/>
                </c:manualLayout>
              </c:layout>
              <c:tx>
                <c:rich>
                  <a:bodyPr/>
                  <a:lstStyle/>
                  <a:p>
                    <a:r>
                      <a:rPr lang="en-US"/>
                      <a:t>4.074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40C-4D33-8189-1A996380C2A7}"/>
                </c:ext>
              </c:extLst>
            </c:dLbl>
            <c:dLbl>
              <c:idx val="3"/>
              <c:tx>
                <c:rich>
                  <a:bodyPr/>
                  <a:lstStyle/>
                  <a:p>
                    <a:r>
                      <a:rPr lang="en-US"/>
                      <a:t>1.941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40C-4D33-8189-1A996380C2A7}"/>
                </c:ext>
              </c:extLst>
            </c:dLbl>
            <c:dLbl>
              <c:idx val="4"/>
              <c:layout>
                <c:manualLayout>
                  <c:x val="2.1750951604132679E-3"/>
                  <c:y val="5.9701492537313432E-2"/>
                </c:manualLayout>
              </c:layout>
              <c:tx>
                <c:rich>
                  <a:bodyPr/>
                  <a:lstStyle/>
                  <a:p>
                    <a:r>
                      <a:rPr lang="en-US"/>
                      <a:t>2.399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40C-4D33-8189-1A996380C2A7}"/>
                </c:ext>
              </c:extLst>
            </c:dLbl>
            <c:dLbl>
              <c:idx val="5"/>
              <c:layout>
                <c:manualLayout>
                  <c:x val="-4.3537869348713142E-3"/>
                  <c:y val="-3.9800995024875619E-3"/>
                </c:manualLayout>
              </c:layout>
              <c:tx>
                <c:rich>
                  <a:bodyPr/>
                  <a:lstStyle/>
                  <a:p>
                    <a:r>
                      <a:rPr lang="en-US"/>
                      <a:t>4.464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40C-4D33-8189-1A996380C2A7}"/>
                </c:ext>
              </c:extLst>
            </c:dLbl>
            <c:dLbl>
              <c:idx val="6"/>
              <c:layout>
                <c:manualLayout>
                  <c:x val="-4.3501903208265358E-3"/>
                  <c:y val="7.5621577153602071E-2"/>
                </c:manualLayout>
              </c:layout>
              <c:tx>
                <c:rich>
                  <a:bodyPr/>
                  <a:lstStyle/>
                  <a:p>
                    <a:r>
                      <a:rPr lang="en-US"/>
                      <a:t>4.068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40C-4D33-8189-1A996380C2A7}"/>
                </c:ext>
              </c:extLst>
            </c:dLbl>
            <c:dLbl>
              <c:idx val="7"/>
              <c:tx>
                <c:rich>
                  <a:bodyPr/>
                  <a:lstStyle/>
                  <a:p>
                    <a:r>
                      <a:rPr lang="en-US"/>
                      <a:t>3.852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40C-4D33-8189-1A996380C2A7}"/>
                </c:ext>
              </c:extLst>
            </c:dLbl>
            <c:dLbl>
              <c:idx val="8"/>
              <c:layout>
                <c:manualLayout>
                  <c:x val="4.3501903208265358E-3"/>
                  <c:y val="0.10746268656716418"/>
                </c:manualLayout>
              </c:layout>
              <c:tx>
                <c:rich>
                  <a:bodyPr/>
                  <a:lstStyle/>
                  <a:p>
                    <a:r>
                      <a:rPr lang="en-US"/>
                      <a:t>4.911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40C-4D33-8189-1A996380C2A7}"/>
                </c:ext>
              </c:extLst>
            </c:dLbl>
            <c:dLbl>
              <c:idx val="9"/>
              <c:tx>
                <c:rich>
                  <a:bodyPr/>
                  <a:lstStyle/>
                  <a:p>
                    <a:r>
                      <a:rPr lang="en-US"/>
                      <a:t>4.155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40C-4D33-8189-1A996380C2A7}"/>
                </c:ext>
              </c:extLst>
            </c:dLbl>
            <c:dLbl>
              <c:idx val="10"/>
              <c:layout>
                <c:manualLayout>
                  <c:x val="6.5252854812398045E-3"/>
                  <c:y val="0.12338308457711443"/>
                </c:manualLayout>
              </c:layout>
              <c:tx>
                <c:rich>
                  <a:bodyPr/>
                  <a:lstStyle/>
                  <a:p>
                    <a:r>
                      <a:rPr lang="en-US"/>
                      <a:t>6.164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C40C-4D33-8189-1A996380C2A7}"/>
                </c:ext>
              </c:extLst>
            </c:dLbl>
            <c:numFmt formatCode="0" sourceLinked="0"/>
            <c:spPr>
              <a:noFill/>
              <a:ln>
                <a:noFill/>
              </a:ln>
              <a:effectLst/>
            </c:spPr>
            <c:txPr>
              <a:bodyPr/>
              <a:lstStyle/>
              <a:p>
                <a:pPr>
                  <a:defRPr b="1"/>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Lit>
              <c:formatCode>General</c:formatCode>
              <c:ptCount val="11"/>
              <c:pt idx="0">
                <c:v>2003</c:v>
              </c:pt>
              <c:pt idx="1">
                <c:v>2004</c:v>
              </c:pt>
              <c:pt idx="2">
                <c:v>2005</c:v>
              </c:pt>
              <c:pt idx="3">
                <c:v>2006</c:v>
              </c:pt>
              <c:pt idx="4">
                <c:v>2007</c:v>
              </c:pt>
              <c:pt idx="5">
                <c:v>2008</c:v>
              </c:pt>
              <c:pt idx="6">
                <c:v>2009</c:v>
              </c:pt>
              <c:pt idx="7">
                <c:v>2010</c:v>
              </c:pt>
              <c:pt idx="8">
                <c:v>2011</c:v>
              </c:pt>
              <c:pt idx="9">
                <c:v>2012</c:v>
              </c:pt>
              <c:pt idx="10">
                <c:v>2013</c:v>
              </c:pt>
            </c:numLit>
          </c:cat>
          <c:val>
            <c:numRef>
              <c:f>'DDY Yıllara göre (2003-2013)'!$D$3:$D$13</c:f>
              <c:numCache>
                <c:formatCode>#,##0</c:formatCode>
                <c:ptCount val="11"/>
                <c:pt idx="0">
                  <c:v>6750</c:v>
                </c:pt>
                <c:pt idx="1">
                  <c:v>2374</c:v>
                </c:pt>
                <c:pt idx="2">
                  <c:v>4074</c:v>
                </c:pt>
                <c:pt idx="3">
                  <c:v>1941</c:v>
                </c:pt>
                <c:pt idx="4">
                  <c:v>2399</c:v>
                </c:pt>
                <c:pt idx="5">
                  <c:v>4464</c:v>
                </c:pt>
                <c:pt idx="6">
                  <c:v>4068</c:v>
                </c:pt>
                <c:pt idx="7">
                  <c:v>3852</c:v>
                </c:pt>
                <c:pt idx="8">
                  <c:v>4911</c:v>
                </c:pt>
                <c:pt idx="9">
                  <c:v>4155</c:v>
                </c:pt>
                <c:pt idx="10">
                  <c:v>6164</c:v>
                </c:pt>
              </c:numCache>
            </c:numRef>
          </c:val>
          <c:extLst>
            <c:ext xmlns:c16="http://schemas.microsoft.com/office/drawing/2014/chart" uri="{C3380CC4-5D6E-409C-BE32-E72D297353CC}">
              <c16:uniqueId val="{0000000B-C40C-4D33-8189-1A996380C2A7}"/>
            </c:ext>
          </c:extLst>
        </c:ser>
        <c:dLbls>
          <c:showLegendKey val="0"/>
          <c:showVal val="0"/>
          <c:showCatName val="0"/>
          <c:showSerName val="0"/>
          <c:showPercent val="0"/>
          <c:showBubbleSize val="0"/>
        </c:dLbls>
        <c:gapWidth val="75"/>
        <c:axId val="554883952"/>
        <c:axId val="125826392"/>
      </c:barChart>
      <c:lineChart>
        <c:grouping val="standard"/>
        <c:varyColors val="0"/>
        <c:ser>
          <c:idx val="0"/>
          <c:order val="0"/>
          <c:tx>
            <c:strRef>
              <c:f>'DDY Yıllara göre (2003-2013)'!$B$2</c:f>
              <c:strCache>
                <c:ptCount val="1"/>
                <c:pt idx="0">
                  <c:v> Yatırım sayısı</c:v>
                </c:pt>
              </c:strCache>
            </c:strRef>
          </c:tx>
          <c:spPr>
            <a:ln>
              <a:solidFill>
                <a:schemeClr val="tx1"/>
              </a:solidFill>
            </a:ln>
          </c:spPr>
          <c:marker>
            <c:symbol val="none"/>
          </c:marker>
          <c:dLbls>
            <c:dLbl>
              <c:idx val="0"/>
              <c:layout>
                <c:manualLayout>
                  <c:x val="-3.4787307377768625E-2"/>
                  <c:y val="8.35820895522388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40C-4D33-8189-1A996380C2A7}"/>
                </c:ext>
              </c:extLst>
            </c:dLbl>
            <c:dLbl>
              <c:idx val="1"/>
              <c:layout>
                <c:manualLayout>
                  <c:x val="-2.8237188132886327E-2"/>
                  <c:y val="3.58208955223880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40C-4D33-8189-1A996380C2A7}"/>
                </c:ext>
              </c:extLst>
            </c:dLbl>
            <c:dLbl>
              <c:idx val="2"/>
              <c:layout>
                <c:manualLayout>
                  <c:x val="-2.17155266015201E-2"/>
                  <c:y val="-1.990049751243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40C-4D33-8189-1A996380C2A7}"/>
                </c:ext>
              </c:extLst>
            </c:dLbl>
            <c:dLbl>
              <c:idx val="3"/>
              <c:layout>
                <c:manualLayout>
                  <c:x val="-1.5186617170406718E-2"/>
                  <c:y val="-3.18407960199004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40C-4D33-8189-1A996380C2A7}"/>
                </c:ext>
              </c:extLst>
            </c:dLbl>
            <c:dLbl>
              <c:idx val="4"/>
              <c:layout>
                <c:manualLayout>
                  <c:x val="-2.6058631921824098E-2"/>
                  <c:y val="-5.17412935323382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40C-4D33-8189-1A996380C2A7}"/>
                </c:ext>
              </c:extLst>
            </c:dLbl>
            <c:dLbl>
              <c:idx val="5"/>
              <c:layout>
                <c:manualLayout>
                  <c:x val="-2.3862335315752742E-2"/>
                  <c:y val="3.98009950248756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40C-4D33-8189-1A996380C2A7}"/>
                </c:ext>
              </c:extLst>
            </c:dLbl>
            <c:dLbl>
              <c:idx val="6"/>
              <c:layout>
                <c:manualLayout>
                  <c:x val="-3.475545165337196E-2"/>
                  <c:y val="-3.98009950248756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40C-4D33-8189-1A996380C2A7}"/>
                </c:ext>
              </c:extLst>
            </c:dLbl>
            <c:dLbl>
              <c:idx val="7"/>
              <c:layout>
                <c:manualLayout>
                  <c:x val="-3.6916395222584102E-2"/>
                  <c:y val="-1.19402985074627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40C-4D33-8189-1A996380C2A7}"/>
                </c:ext>
              </c:extLst>
            </c:dLbl>
            <c:dLbl>
              <c:idx val="8"/>
              <c:layout>
                <c:manualLayout>
                  <c:x val="-2.3890594426104566E-2"/>
                  <c:y val="-7.9601990049751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40C-4D33-8189-1A996380C2A7}"/>
                </c:ext>
              </c:extLst>
            </c:dLbl>
            <c:dLbl>
              <c:idx val="9"/>
              <c:layout>
                <c:manualLayout>
                  <c:x val="-2.8230166172132237E-2"/>
                  <c:y val="2.78606965174129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40C-4D33-8189-1A996380C2A7}"/>
                </c:ext>
              </c:extLst>
            </c:dLbl>
            <c:dLbl>
              <c:idx val="10"/>
              <c:layout>
                <c:manualLayout>
                  <c:x val="-2.3886997812059791E-2"/>
                  <c:y val="-7.96019900497512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40C-4D33-8189-1A996380C2A7}"/>
                </c:ext>
              </c:extLst>
            </c:dLbl>
            <c:spPr>
              <a:noFill/>
              <a:ln>
                <a:noFill/>
              </a:ln>
              <a:effectLst/>
            </c:spPr>
            <c:txPr>
              <a:bodyPr/>
              <a:lstStyle/>
              <a:p>
                <a:pPr>
                  <a:defRPr b="1"/>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'DDY Yıllara göre (2003-2013)'!$A$3:$A$13</c:f>
              <c:numCache>
                <c:formatCode>General</c:formatCode>
                <c:ptCount val="11"/>
                <c:pt idx="0">
                  <c:v>2003</c:v>
                </c:pt>
                <c:pt idx="1">
                  <c:v>2004</c:v>
                </c:pt>
                <c:pt idx="2">
                  <c:v>2005</c:v>
                </c:pt>
                <c:pt idx="3">
                  <c:v>2006</c:v>
                </c:pt>
                <c:pt idx="4">
                  <c:v>2007</c:v>
                </c:pt>
                <c:pt idx="5">
                  <c:v>2008</c:v>
                </c:pt>
                <c:pt idx="6">
                  <c:v>2009</c:v>
                </c:pt>
                <c:pt idx="7">
                  <c:v>2010</c:v>
                </c:pt>
                <c:pt idx="8">
                  <c:v>2011</c:v>
                </c:pt>
                <c:pt idx="9">
                  <c:v>2012</c:v>
                </c:pt>
                <c:pt idx="10">
                  <c:v>2013</c:v>
                </c:pt>
              </c:numCache>
            </c:numRef>
          </c:cat>
          <c:val>
            <c:numRef>
              <c:f>'DDY Yıllara göre (2003-2013)'!$B$3:$B$13</c:f>
              <c:numCache>
                <c:formatCode>General</c:formatCode>
                <c:ptCount val="11"/>
                <c:pt idx="0">
                  <c:v>108</c:v>
                </c:pt>
                <c:pt idx="1">
                  <c:v>66</c:v>
                </c:pt>
                <c:pt idx="2">
                  <c:v>67</c:v>
                </c:pt>
                <c:pt idx="3">
                  <c:v>51</c:v>
                </c:pt>
                <c:pt idx="4">
                  <c:v>37</c:v>
                </c:pt>
                <c:pt idx="5">
                  <c:v>64</c:v>
                </c:pt>
                <c:pt idx="6">
                  <c:v>63</c:v>
                </c:pt>
                <c:pt idx="7">
                  <c:v>100</c:v>
                </c:pt>
                <c:pt idx="8">
                  <c:v>66</c:v>
                </c:pt>
                <c:pt idx="9">
                  <c:v>86</c:v>
                </c:pt>
                <c:pt idx="10">
                  <c:v>82</c:v>
                </c:pt>
              </c:numCache>
            </c:numRef>
          </c:val>
          <c:smooth val="0"/>
          <c:extLst>
            <c:ext xmlns:c16="http://schemas.microsoft.com/office/drawing/2014/chart" uri="{C3380CC4-5D6E-409C-BE32-E72D297353CC}">
              <c16:uniqueId val="{00000017-C40C-4D33-8189-1A996380C2A7}"/>
            </c:ext>
          </c:extLst>
        </c:ser>
        <c:dLbls>
          <c:showLegendKey val="0"/>
          <c:showVal val="0"/>
          <c:showCatName val="0"/>
          <c:showSerName val="0"/>
          <c:showPercent val="0"/>
          <c:showBubbleSize val="0"/>
        </c:dLbls>
        <c:marker val="1"/>
        <c:smooth val="0"/>
        <c:axId val="125827176"/>
        <c:axId val="125826784"/>
      </c:lineChart>
      <c:catAx>
        <c:axId val="554883952"/>
        <c:scaling>
          <c:orientation val="minMax"/>
        </c:scaling>
        <c:delete val="0"/>
        <c:axPos val="b"/>
        <c:numFmt formatCode="General" sourceLinked="1"/>
        <c:majorTickMark val="none"/>
        <c:minorTickMark val="none"/>
        <c:tickLblPos val="nextTo"/>
        <c:crossAx val="125826392"/>
        <c:crosses val="autoZero"/>
        <c:auto val="1"/>
        <c:lblAlgn val="ctr"/>
        <c:lblOffset val="100"/>
        <c:noMultiLvlLbl val="0"/>
      </c:catAx>
      <c:valAx>
        <c:axId val="125826392"/>
        <c:scaling>
          <c:orientation val="minMax"/>
        </c:scaling>
        <c:delete val="0"/>
        <c:axPos val="l"/>
        <c:majorGridlines/>
        <c:title>
          <c:tx>
            <c:rich>
              <a:bodyPr rot="-5400000" vert="horz"/>
              <a:lstStyle/>
              <a:p>
                <a:pPr>
                  <a:defRPr/>
                </a:pPr>
                <a:r>
                  <a:rPr lang="en-US"/>
                  <a:t>Yatırım tutarları toplamı</a:t>
                </a:r>
              </a:p>
            </c:rich>
          </c:tx>
          <c:overlay val="0"/>
        </c:title>
        <c:numFmt formatCode="#,##0" sourceLinked="1"/>
        <c:majorTickMark val="none"/>
        <c:minorTickMark val="none"/>
        <c:tickLblPos val="nextTo"/>
        <c:spPr>
          <a:ln w="9525">
            <a:noFill/>
          </a:ln>
        </c:spPr>
        <c:crossAx val="554883952"/>
        <c:crosses val="autoZero"/>
        <c:crossBetween val="between"/>
      </c:valAx>
      <c:valAx>
        <c:axId val="125826784"/>
        <c:scaling>
          <c:orientation val="minMax"/>
        </c:scaling>
        <c:delete val="0"/>
        <c:axPos val="r"/>
        <c:title>
          <c:tx>
            <c:rich>
              <a:bodyPr rot="-5400000" vert="horz"/>
              <a:lstStyle/>
              <a:p>
                <a:pPr>
                  <a:defRPr/>
                </a:pPr>
                <a:r>
                  <a:rPr lang="en-US"/>
                  <a:t>Yatırım sayısı</a:t>
                </a:r>
              </a:p>
            </c:rich>
          </c:tx>
          <c:overlay val="0"/>
        </c:title>
        <c:numFmt formatCode="General" sourceLinked="1"/>
        <c:majorTickMark val="out"/>
        <c:minorTickMark val="none"/>
        <c:tickLblPos val="nextTo"/>
        <c:crossAx val="125827176"/>
        <c:crosses val="max"/>
        <c:crossBetween val="between"/>
      </c:valAx>
      <c:catAx>
        <c:axId val="125827176"/>
        <c:scaling>
          <c:orientation val="minMax"/>
        </c:scaling>
        <c:delete val="1"/>
        <c:axPos val="b"/>
        <c:numFmt formatCode="General" sourceLinked="1"/>
        <c:majorTickMark val="out"/>
        <c:minorTickMark val="none"/>
        <c:tickLblPos val="none"/>
        <c:crossAx val="125826784"/>
        <c:crosses val="autoZero"/>
        <c:auto val="1"/>
        <c:lblAlgn val="ctr"/>
        <c:lblOffset val="100"/>
        <c:noMultiLvlLbl val="0"/>
      </c:catAx>
    </c:plotArea>
    <c:legend>
      <c:legendPos val="b"/>
      <c:overlay val="0"/>
    </c:legend>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explosion val="25"/>
          <c:dPt>
            <c:idx val="0"/>
            <c:bubble3D val="0"/>
            <c:spPr>
              <a:pattFill prst="pct50">
                <a:fgClr>
                  <a:schemeClr val="tx1"/>
                </a:fgClr>
                <a:bgClr>
                  <a:prstClr val="white"/>
                </a:bgClr>
              </a:pattFill>
            </c:spPr>
            <c:extLst>
              <c:ext xmlns:c16="http://schemas.microsoft.com/office/drawing/2014/chart" uri="{C3380CC4-5D6E-409C-BE32-E72D297353CC}">
                <c16:uniqueId val="{00000001-06BF-41A0-AA2F-1B0624D1A682}"/>
              </c:ext>
            </c:extLst>
          </c:dPt>
          <c:dPt>
            <c:idx val="1"/>
            <c:bubble3D val="0"/>
            <c:spPr>
              <a:pattFill prst="pct80">
                <a:fgClr>
                  <a:schemeClr val="tx1"/>
                </a:fgClr>
                <a:bgClr>
                  <a:prstClr val="white"/>
                </a:bgClr>
              </a:pattFill>
            </c:spPr>
            <c:extLst>
              <c:ext xmlns:c16="http://schemas.microsoft.com/office/drawing/2014/chart" uri="{C3380CC4-5D6E-409C-BE32-E72D297353CC}">
                <c16:uniqueId val="{00000003-06BF-41A0-AA2F-1B0624D1A682}"/>
              </c:ext>
            </c:extLst>
          </c:dPt>
          <c:dPt>
            <c:idx val="2"/>
            <c:bubble3D val="0"/>
            <c:spPr>
              <a:pattFill prst="dashVert">
                <a:fgClr>
                  <a:schemeClr val="tx1"/>
                </a:fgClr>
                <a:bgClr>
                  <a:prstClr val="white"/>
                </a:bgClr>
              </a:pattFill>
            </c:spPr>
            <c:extLst>
              <c:ext xmlns:c16="http://schemas.microsoft.com/office/drawing/2014/chart" uri="{C3380CC4-5D6E-409C-BE32-E72D297353CC}">
                <c16:uniqueId val="{00000005-06BF-41A0-AA2F-1B0624D1A682}"/>
              </c:ext>
            </c:extLst>
          </c:dPt>
          <c:dPt>
            <c:idx val="3"/>
            <c:bubble3D val="0"/>
            <c:spPr>
              <a:pattFill prst="lgCheck">
                <a:fgClr>
                  <a:schemeClr val="tx1"/>
                </a:fgClr>
                <a:bgClr>
                  <a:prstClr val="white"/>
                </a:bgClr>
              </a:pattFill>
            </c:spPr>
            <c:extLst>
              <c:ext xmlns:c16="http://schemas.microsoft.com/office/drawing/2014/chart" uri="{C3380CC4-5D6E-409C-BE32-E72D297353CC}">
                <c16:uniqueId val="{00000007-06BF-41A0-AA2F-1B0624D1A682}"/>
              </c:ext>
            </c:extLst>
          </c:dPt>
          <c:dLbls>
            <c:dLbl>
              <c:idx val="0"/>
              <c:layout>
                <c:manualLayout>
                  <c:x val="-1.3025272690772E-2"/>
                  <c:y val="-0.14418600935502701"/>
                </c:manualLayout>
              </c:layout>
              <c:tx>
                <c:rich>
                  <a:bodyPr/>
                  <a:lstStyle/>
                  <a:p>
                    <a:r>
                      <a:rPr lang="en-US" b="1"/>
                      <a:t>19.738; %44</a:t>
                    </a:r>
                    <a:endParaRPr lang="en-US"/>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06BF-41A0-AA2F-1B0624D1A682}"/>
                </c:ext>
              </c:extLst>
            </c:dLbl>
            <c:dLbl>
              <c:idx val="1"/>
              <c:layout>
                <c:manualLayout>
                  <c:x val="-3.8628270616314603E-2"/>
                  <c:y val="-2.0115764691680301E-2"/>
                </c:manualLayout>
              </c:layout>
              <c:tx>
                <c:rich>
                  <a:bodyPr/>
                  <a:lstStyle/>
                  <a:p>
                    <a:r>
                      <a:rPr lang="en-US" b="1"/>
                      <a:t>13.664; %30</a:t>
                    </a:r>
                    <a:endParaRPr lang="en-US"/>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06BF-41A0-AA2F-1B0624D1A682}"/>
                </c:ext>
              </c:extLst>
            </c:dLbl>
            <c:dLbl>
              <c:idx val="2"/>
              <c:layout>
                <c:manualLayout>
                  <c:x val="1.66973745845508E-3"/>
                  <c:y val="-4.6254098261221802E-2"/>
                </c:manualLayout>
              </c:layout>
              <c:tx>
                <c:rich>
                  <a:bodyPr/>
                  <a:lstStyle/>
                  <a:p>
                    <a:r>
                      <a:rPr lang="en-US" b="1"/>
                      <a:t>10.398; %23</a:t>
                    </a:r>
                    <a:endParaRPr lang="en-US"/>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06BF-41A0-AA2F-1B0624D1A682}"/>
                </c:ext>
              </c:extLst>
            </c:dLbl>
            <c:dLbl>
              <c:idx val="3"/>
              <c:tx>
                <c:rich>
                  <a:bodyPr/>
                  <a:lstStyle/>
                  <a:p>
                    <a:r>
                      <a:rPr lang="en-US" b="1"/>
                      <a:t>1.351; %3</a:t>
                    </a:r>
                    <a:endParaRPr lang="en-US"/>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06BF-41A0-AA2F-1B0624D1A682}"/>
                </c:ext>
              </c:extLst>
            </c:dLbl>
            <c:spPr>
              <a:noFill/>
              <a:ln>
                <a:noFill/>
              </a:ln>
              <a:effectLst/>
            </c:spPr>
            <c:txPr>
              <a:bodyPr/>
              <a:lstStyle/>
              <a:p>
                <a:pPr>
                  <a:defRPr b="1"/>
                </a:pPr>
                <a:endParaRPr lang="tr-TR"/>
              </a:p>
            </c:txPr>
            <c:showLegendKey val="0"/>
            <c:showVal val="1"/>
            <c:showCatName val="0"/>
            <c:showSerName val="0"/>
            <c:showPercent val="1"/>
            <c:showBubbleSize val="0"/>
            <c:showLeaderLines val="1"/>
            <c:extLst>
              <c:ext xmlns:c15="http://schemas.microsoft.com/office/drawing/2012/chart" uri="{CE6537A1-D6FC-4f65-9D91-7224C49458BB}"/>
            </c:extLst>
          </c:dLbls>
          <c:cat>
            <c:strRef>
              <c:f>'DDY Küresel ekon böl ve coğrafi'!$B$3:$B$6</c:f>
              <c:strCache>
                <c:ptCount val="4"/>
                <c:pt idx="0">
                  <c:v>Geçiş ekonomisi</c:v>
                </c:pt>
                <c:pt idx="1">
                  <c:v>Gelişmekte olan ülke</c:v>
                </c:pt>
                <c:pt idx="2">
                  <c:v>Gelişmiş ülke</c:v>
                </c:pt>
                <c:pt idx="3">
                  <c:v>En az gelişmiş ülke</c:v>
                </c:pt>
              </c:strCache>
            </c:strRef>
          </c:cat>
          <c:val>
            <c:numRef>
              <c:f>'DDY Küresel ekon böl ve coğrafi'!$F$3:$F$6</c:f>
              <c:numCache>
                <c:formatCode>#,##0</c:formatCode>
                <c:ptCount val="4"/>
                <c:pt idx="0">
                  <c:v>19738</c:v>
                </c:pt>
                <c:pt idx="1">
                  <c:v>13664.02</c:v>
                </c:pt>
                <c:pt idx="2">
                  <c:v>10398.4</c:v>
                </c:pt>
                <c:pt idx="3">
                  <c:v>1351.1</c:v>
                </c:pt>
              </c:numCache>
            </c:numRef>
          </c:val>
          <c:extLst>
            <c:ext xmlns:c16="http://schemas.microsoft.com/office/drawing/2014/chart" uri="{C3380CC4-5D6E-409C-BE32-E72D297353CC}">
              <c16:uniqueId val="{00000008-06BF-41A0-AA2F-1B0624D1A682}"/>
            </c:ext>
          </c:extLst>
        </c:ser>
        <c:dLbls>
          <c:showLegendKey val="0"/>
          <c:showVal val="0"/>
          <c:showCatName val="0"/>
          <c:showSerName val="0"/>
          <c:showPercent val="0"/>
          <c:showBubbleSize val="0"/>
          <c:showLeaderLines val="1"/>
        </c:dLbls>
        <c:firstSliceAng val="0"/>
      </c:pieChart>
    </c:plotArea>
    <c:legend>
      <c:legendPos val="r"/>
      <c:overlay val="0"/>
      <c:txPr>
        <a:bodyPr/>
        <a:lstStyle/>
        <a:p>
          <a:pPr rtl="0">
            <a:defRPr/>
          </a:pPr>
          <a:endParaRPr lang="tr-TR"/>
        </a:p>
      </c:txPr>
    </c:legend>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452486368497"/>
          <c:y val="0.16020130511208999"/>
          <c:w val="0.41677032795142999"/>
          <c:h val="0.757069036095259"/>
        </c:manualLayout>
      </c:layout>
      <c:pieChart>
        <c:varyColors val="1"/>
        <c:ser>
          <c:idx val="0"/>
          <c:order val="0"/>
          <c:explosion val="25"/>
          <c:dPt>
            <c:idx val="0"/>
            <c:bubble3D val="0"/>
            <c:spPr>
              <a:pattFill prst="pct50">
                <a:fgClr>
                  <a:schemeClr val="tx1"/>
                </a:fgClr>
                <a:bgClr>
                  <a:prstClr val="white"/>
                </a:bgClr>
              </a:pattFill>
            </c:spPr>
            <c:extLst>
              <c:ext xmlns:c16="http://schemas.microsoft.com/office/drawing/2014/chart" uri="{C3380CC4-5D6E-409C-BE32-E72D297353CC}">
                <c16:uniqueId val="{00000001-24A1-481C-A4BF-82AD9794E33C}"/>
              </c:ext>
            </c:extLst>
          </c:dPt>
          <c:dPt>
            <c:idx val="1"/>
            <c:bubble3D val="0"/>
            <c:spPr>
              <a:pattFill prst="pct80">
                <a:fgClr>
                  <a:schemeClr val="tx1"/>
                </a:fgClr>
                <a:bgClr>
                  <a:prstClr val="white"/>
                </a:bgClr>
              </a:pattFill>
            </c:spPr>
            <c:extLst>
              <c:ext xmlns:c16="http://schemas.microsoft.com/office/drawing/2014/chart" uri="{C3380CC4-5D6E-409C-BE32-E72D297353CC}">
                <c16:uniqueId val="{00000003-24A1-481C-A4BF-82AD9794E33C}"/>
              </c:ext>
            </c:extLst>
          </c:dPt>
          <c:dPt>
            <c:idx val="2"/>
            <c:bubble3D val="0"/>
            <c:spPr>
              <a:pattFill prst="dashVert">
                <a:fgClr>
                  <a:schemeClr val="tx1"/>
                </a:fgClr>
                <a:bgClr>
                  <a:prstClr val="white"/>
                </a:bgClr>
              </a:pattFill>
            </c:spPr>
            <c:extLst>
              <c:ext xmlns:c16="http://schemas.microsoft.com/office/drawing/2014/chart" uri="{C3380CC4-5D6E-409C-BE32-E72D297353CC}">
                <c16:uniqueId val="{00000005-24A1-481C-A4BF-82AD9794E33C}"/>
              </c:ext>
            </c:extLst>
          </c:dPt>
          <c:dPt>
            <c:idx val="3"/>
            <c:bubble3D val="0"/>
            <c:spPr>
              <a:pattFill prst="lgCheck">
                <a:fgClr>
                  <a:schemeClr val="tx1"/>
                </a:fgClr>
                <a:bgClr>
                  <a:prstClr val="white"/>
                </a:bgClr>
              </a:pattFill>
            </c:spPr>
            <c:extLst>
              <c:ext xmlns:c16="http://schemas.microsoft.com/office/drawing/2014/chart" uri="{C3380CC4-5D6E-409C-BE32-E72D297353CC}">
                <c16:uniqueId val="{00000007-24A1-481C-A4BF-82AD9794E33C}"/>
              </c:ext>
            </c:extLst>
          </c:dPt>
          <c:dPt>
            <c:idx val="4"/>
            <c:bubble3D val="0"/>
            <c:spPr>
              <a:pattFill prst="openDmnd">
                <a:fgClr>
                  <a:schemeClr val="tx1"/>
                </a:fgClr>
                <a:bgClr>
                  <a:prstClr val="white"/>
                </a:bgClr>
              </a:pattFill>
            </c:spPr>
            <c:extLst>
              <c:ext xmlns:c16="http://schemas.microsoft.com/office/drawing/2014/chart" uri="{C3380CC4-5D6E-409C-BE32-E72D297353CC}">
                <c16:uniqueId val="{00000009-24A1-481C-A4BF-82AD9794E33C}"/>
              </c:ext>
            </c:extLst>
          </c:dPt>
          <c:dPt>
            <c:idx val="5"/>
            <c:bubble3D val="0"/>
            <c:spPr>
              <a:pattFill prst="lgConfetti">
                <a:fgClr>
                  <a:schemeClr val="tx1"/>
                </a:fgClr>
                <a:bgClr>
                  <a:prstClr val="white"/>
                </a:bgClr>
              </a:pattFill>
            </c:spPr>
            <c:extLst>
              <c:ext xmlns:c16="http://schemas.microsoft.com/office/drawing/2014/chart" uri="{C3380CC4-5D6E-409C-BE32-E72D297353CC}">
                <c16:uniqueId val="{0000000B-24A1-481C-A4BF-82AD9794E33C}"/>
              </c:ext>
            </c:extLst>
          </c:dPt>
          <c:dPt>
            <c:idx val="6"/>
            <c:bubble3D val="0"/>
            <c:spPr>
              <a:pattFill prst="dkUpDiag">
                <a:fgClr>
                  <a:schemeClr val="tx1"/>
                </a:fgClr>
                <a:bgClr>
                  <a:prstClr val="white"/>
                </a:bgClr>
              </a:pattFill>
            </c:spPr>
            <c:extLst>
              <c:ext xmlns:c16="http://schemas.microsoft.com/office/drawing/2014/chart" uri="{C3380CC4-5D6E-409C-BE32-E72D297353CC}">
                <c16:uniqueId val="{0000000D-24A1-481C-A4BF-82AD9794E33C}"/>
              </c:ext>
            </c:extLst>
          </c:dPt>
          <c:dLbls>
            <c:dLbl>
              <c:idx val="0"/>
              <c:layout>
                <c:manualLayout>
                  <c:x val="-1.41386340468909E-2"/>
                  <c:y val="7.1725606299212596E-2"/>
                </c:manualLayout>
              </c:layout>
              <c:tx>
                <c:rich>
                  <a:bodyPr/>
                  <a:lstStyle/>
                  <a:p>
                    <a:r>
                      <a:rPr lang="en-US"/>
                      <a:t>9.933; %59</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24A1-481C-A4BF-82AD9794E33C}"/>
                </c:ext>
              </c:extLst>
            </c:dLbl>
            <c:dLbl>
              <c:idx val="1"/>
              <c:layout>
                <c:manualLayout>
                  <c:x val="1.34286081212325E-2"/>
                  <c:y val="7.4209007874015701E-2"/>
                </c:manualLayout>
              </c:layout>
              <c:tx>
                <c:rich>
                  <a:bodyPr/>
                  <a:lstStyle/>
                  <a:p>
                    <a:r>
                      <a:rPr lang="en-US"/>
                      <a:t>2.312; %14</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24A1-481C-A4BF-82AD9794E33C}"/>
                </c:ext>
              </c:extLst>
            </c:dLbl>
            <c:dLbl>
              <c:idx val="2"/>
              <c:layout>
                <c:manualLayout>
                  <c:x val="5.518840579710145E-3"/>
                  <c:y val="2.7308855379570552E-2"/>
                </c:manualLayout>
              </c:layout>
              <c:tx>
                <c:rich>
                  <a:bodyPr/>
                  <a:lstStyle/>
                  <a:p>
                    <a:r>
                      <a:rPr lang="en-US"/>
                      <a:t>1.208; %7</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24A1-481C-A4BF-82AD9794E33C}"/>
                </c:ext>
              </c:extLst>
            </c:dLbl>
            <c:dLbl>
              <c:idx val="3"/>
              <c:tx>
                <c:rich>
                  <a:bodyPr/>
                  <a:lstStyle/>
                  <a:p>
                    <a:r>
                      <a:rPr lang="en-US"/>
                      <a:t>1.047; %6</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24A1-481C-A4BF-82AD9794E33C}"/>
                </c:ext>
              </c:extLst>
            </c:dLbl>
            <c:dLbl>
              <c:idx val="4"/>
              <c:tx>
                <c:rich>
                  <a:bodyPr/>
                  <a:lstStyle/>
                  <a:p>
                    <a:r>
                      <a:rPr lang="en-US"/>
                      <a:t>956; %6</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24A1-481C-A4BF-82AD9794E33C}"/>
                </c:ext>
              </c:extLst>
            </c:dLbl>
            <c:dLbl>
              <c:idx val="5"/>
              <c:tx>
                <c:rich>
                  <a:bodyPr/>
                  <a:lstStyle/>
                  <a:p>
                    <a:r>
                      <a:rPr lang="en-US"/>
                      <a:t>485; %3</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24A1-481C-A4BF-82AD9794E33C}"/>
                </c:ext>
              </c:extLst>
            </c:dLbl>
            <c:dLbl>
              <c:idx val="6"/>
              <c:tx>
                <c:rich>
                  <a:bodyPr/>
                  <a:lstStyle/>
                  <a:p>
                    <a:r>
                      <a:rPr lang="en-US"/>
                      <a:t>858; %5</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D-24A1-481C-A4BF-82AD9794E33C}"/>
                </c:ext>
              </c:extLst>
            </c:dLbl>
            <c:spPr>
              <a:noFill/>
              <a:ln>
                <a:noFill/>
              </a:ln>
              <a:effectLst/>
            </c:spPr>
            <c:txPr>
              <a:bodyPr/>
              <a:lstStyle/>
              <a:p>
                <a:pPr>
                  <a:defRPr b="1"/>
                </a:pPr>
                <a:endParaRPr lang="tr-TR"/>
              </a:p>
            </c:txPr>
            <c:showLegendKey val="0"/>
            <c:showVal val="1"/>
            <c:showCatName val="0"/>
            <c:showSerName val="0"/>
            <c:showPercent val="1"/>
            <c:showBubbleSize val="0"/>
            <c:showLeaderLines val="1"/>
            <c:extLst>
              <c:ext xmlns:c15="http://schemas.microsoft.com/office/drawing/2012/chart" uri="{CE6537A1-D6FC-4f65-9D91-7224C49458BB}"/>
            </c:extLst>
          </c:dLbls>
          <c:cat>
            <c:strRef>
              <c:f>'AB ve BDT ülkelere göre dağılım'!$AI$6:$AI$12</c:f>
              <c:strCache>
                <c:ptCount val="7"/>
                <c:pt idx="0">
                  <c:v>Rusya</c:v>
                </c:pt>
                <c:pt idx="1">
                  <c:v>Azerbaycan</c:v>
                </c:pt>
                <c:pt idx="2">
                  <c:v>Ukrayna</c:v>
                </c:pt>
                <c:pt idx="3">
                  <c:v>Kazakistan</c:v>
                </c:pt>
                <c:pt idx="4">
                  <c:v>Türkmenistan</c:v>
                </c:pt>
                <c:pt idx="5">
                  <c:v>Georgia</c:v>
                </c:pt>
                <c:pt idx="6">
                  <c:v>Diğer</c:v>
                </c:pt>
              </c:strCache>
            </c:strRef>
          </c:cat>
          <c:val>
            <c:numRef>
              <c:f>'AB ve BDT ülkelere göre dağılım'!$AJ$6:$AJ$12</c:f>
              <c:numCache>
                <c:formatCode>#,##0</c:formatCode>
                <c:ptCount val="7"/>
                <c:pt idx="0">
                  <c:v>9933.07</c:v>
                </c:pt>
                <c:pt idx="1">
                  <c:v>2312.1</c:v>
                </c:pt>
                <c:pt idx="2">
                  <c:v>1208.2</c:v>
                </c:pt>
                <c:pt idx="3">
                  <c:v>1047.5</c:v>
                </c:pt>
                <c:pt idx="4">
                  <c:v>956.23</c:v>
                </c:pt>
                <c:pt idx="5">
                  <c:v>485.3</c:v>
                </c:pt>
                <c:pt idx="6">
                  <c:v>858.8</c:v>
                </c:pt>
              </c:numCache>
            </c:numRef>
          </c:val>
          <c:extLst>
            <c:ext xmlns:c16="http://schemas.microsoft.com/office/drawing/2014/chart" uri="{C3380CC4-5D6E-409C-BE32-E72D297353CC}">
              <c16:uniqueId val="{0000000E-24A1-481C-A4BF-82AD9794E33C}"/>
            </c:ext>
          </c:extLst>
        </c:ser>
        <c:dLbls>
          <c:showLegendKey val="0"/>
          <c:showVal val="0"/>
          <c:showCatName val="0"/>
          <c:showSerName val="0"/>
          <c:showPercent val="1"/>
          <c:showBubbleSize val="0"/>
          <c:showLeaderLines val="1"/>
        </c:dLbls>
        <c:firstSliceAng val="0"/>
      </c:pieChart>
    </c:plotArea>
    <c:legend>
      <c:legendPos val="r"/>
      <c:overlay val="0"/>
      <c:txPr>
        <a:bodyPr/>
        <a:lstStyle/>
        <a:p>
          <a:pPr rtl="0">
            <a:defRPr/>
          </a:pPr>
          <a:endParaRPr lang="tr-TR"/>
        </a:p>
      </c:txPr>
    </c:legend>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40176181589401"/>
          <c:y val="0.23366336633663401"/>
          <c:w val="0.38297872340425498"/>
          <c:h val="0.76633663366336602"/>
        </c:manualLayout>
      </c:layout>
      <c:pieChart>
        <c:varyColors val="1"/>
        <c:ser>
          <c:idx val="0"/>
          <c:order val="0"/>
          <c:explosion val="25"/>
          <c:dPt>
            <c:idx val="0"/>
            <c:bubble3D val="0"/>
            <c:spPr>
              <a:pattFill prst="pct50">
                <a:fgClr>
                  <a:schemeClr val="tx1"/>
                </a:fgClr>
                <a:bgClr>
                  <a:prstClr val="white"/>
                </a:bgClr>
              </a:pattFill>
            </c:spPr>
            <c:extLst>
              <c:ext xmlns:c16="http://schemas.microsoft.com/office/drawing/2014/chart" uri="{C3380CC4-5D6E-409C-BE32-E72D297353CC}">
                <c16:uniqueId val="{00000001-BA00-436F-8DAE-708038B32AA3}"/>
              </c:ext>
            </c:extLst>
          </c:dPt>
          <c:dPt>
            <c:idx val="1"/>
            <c:bubble3D val="0"/>
            <c:explosion val="22"/>
            <c:spPr>
              <a:pattFill prst="pct80">
                <a:fgClr>
                  <a:schemeClr val="tx1"/>
                </a:fgClr>
                <a:bgClr>
                  <a:prstClr val="white"/>
                </a:bgClr>
              </a:pattFill>
            </c:spPr>
            <c:extLst>
              <c:ext xmlns:c16="http://schemas.microsoft.com/office/drawing/2014/chart" uri="{C3380CC4-5D6E-409C-BE32-E72D297353CC}">
                <c16:uniqueId val="{00000003-BA00-436F-8DAE-708038B32AA3}"/>
              </c:ext>
            </c:extLst>
          </c:dPt>
          <c:dPt>
            <c:idx val="2"/>
            <c:bubble3D val="0"/>
            <c:spPr>
              <a:pattFill prst="dkUpDiag">
                <a:fgClr>
                  <a:schemeClr val="tx1"/>
                </a:fgClr>
                <a:bgClr>
                  <a:prstClr val="white"/>
                </a:bgClr>
              </a:pattFill>
            </c:spPr>
            <c:extLst>
              <c:ext xmlns:c16="http://schemas.microsoft.com/office/drawing/2014/chart" uri="{C3380CC4-5D6E-409C-BE32-E72D297353CC}">
                <c16:uniqueId val="{00000005-BA00-436F-8DAE-708038B32AA3}"/>
              </c:ext>
            </c:extLst>
          </c:dPt>
          <c:dLbls>
            <c:dLbl>
              <c:idx val="0"/>
              <c:layout>
                <c:manualLayout>
                  <c:x val="0.17045829810610599"/>
                  <c:y val="-0.116831683168317"/>
                </c:manualLayout>
              </c:layout>
              <c:tx>
                <c:rich>
                  <a:bodyPr/>
                  <a:lstStyle/>
                  <a:p>
                    <a:r>
                      <a:rPr lang="en-US"/>
                      <a:t>11.312; %98</a:t>
                    </a:r>
                  </a:p>
                </c:rich>
              </c:tx>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BA00-436F-8DAE-708038B32AA3}"/>
                </c:ext>
              </c:extLst>
            </c:dLbl>
            <c:dLbl>
              <c:idx val="1"/>
              <c:layout>
                <c:manualLayout>
                  <c:x val="-5.3663618618677099E-2"/>
                  <c:y val="6.6245575738676205E-2"/>
                </c:manualLayout>
              </c:layout>
              <c:tx>
                <c:rich>
                  <a:bodyPr/>
                  <a:lstStyle/>
                  <a:p>
                    <a:fld id="{A7FBE1DF-23ED-46A5-B325-351CB407FD13}" type="VALUE">
                      <a:rPr lang="en-US"/>
                      <a:pPr/>
                      <a:t>[VALUE]</a:t>
                    </a:fld>
                    <a:r>
                      <a:rPr lang="en-US" baseline="0"/>
                      <a:t>; %2</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A00-436F-8DAE-708038B32AA3}"/>
                </c:ext>
              </c:extLst>
            </c:dLbl>
            <c:dLbl>
              <c:idx val="2"/>
              <c:layout>
                <c:manualLayout>
                  <c:x val="0.13301842465139699"/>
                  <c:y val="0.104503625165666"/>
                </c:manualLayout>
              </c:layout>
              <c:tx>
                <c:rich>
                  <a:bodyPr/>
                  <a:lstStyle/>
                  <a:p>
                    <a:fld id="{78957E81-6E99-49BB-ACFF-88F137E447DE}" type="VALUE">
                      <a:rPr lang="en-US"/>
                      <a:pPr/>
                      <a:t>[VALUE]</a:t>
                    </a:fld>
                    <a:r>
                      <a:rPr lang="en-US" baseline="0"/>
                      <a:t>; %0</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A00-436F-8DAE-708038B32AA3}"/>
                </c:ext>
              </c:extLst>
            </c:dLbl>
            <c:spPr>
              <a:noFill/>
              <a:ln>
                <a:noFill/>
              </a:ln>
              <a:effectLst/>
            </c:spPr>
            <c:txPr>
              <a:bodyPr/>
              <a:lstStyle/>
              <a:p>
                <a:pPr>
                  <a:defRPr b="1"/>
                </a:pPr>
                <a:endParaRPr lang="tr-TR"/>
              </a:p>
            </c:txPr>
            <c:showLegendKey val="0"/>
            <c:showVal val="1"/>
            <c:showCatName val="0"/>
            <c:showSerName val="0"/>
            <c:showPercent val="1"/>
            <c:showBubbleSize val="0"/>
            <c:showLeaderLines val="1"/>
            <c:extLst>
              <c:ext xmlns:c15="http://schemas.microsoft.com/office/drawing/2012/chart" uri="{CE6537A1-D6FC-4f65-9D91-7224C49458BB}"/>
            </c:extLst>
          </c:dLbls>
          <c:cat>
            <c:strRef>
              <c:f>Sektörler!$B$26:$B$28</c:f>
              <c:strCache>
                <c:ptCount val="3"/>
                <c:pt idx="0">
                  <c:v>İnşaat</c:v>
                </c:pt>
                <c:pt idx="1">
                  <c:v>Satış, Pazarlama ve Destek</c:v>
                </c:pt>
                <c:pt idx="2">
                  <c:v>Yönetim</c:v>
                </c:pt>
              </c:strCache>
            </c:strRef>
          </c:cat>
          <c:val>
            <c:numRef>
              <c:f>Sektörler!$C$26:$C$28</c:f>
              <c:numCache>
                <c:formatCode>#,##0</c:formatCode>
                <c:ptCount val="3"/>
                <c:pt idx="0">
                  <c:v>11312.36</c:v>
                </c:pt>
                <c:pt idx="1">
                  <c:v>245.13</c:v>
                </c:pt>
                <c:pt idx="2">
                  <c:v>1.84</c:v>
                </c:pt>
              </c:numCache>
            </c:numRef>
          </c:val>
          <c:extLst>
            <c:ext xmlns:c16="http://schemas.microsoft.com/office/drawing/2014/chart" uri="{C3380CC4-5D6E-409C-BE32-E72D297353CC}">
              <c16:uniqueId val="{00000006-BA00-436F-8DAE-708038B32AA3}"/>
            </c:ext>
          </c:extLst>
        </c:ser>
        <c:dLbls>
          <c:showLegendKey val="0"/>
          <c:showVal val="0"/>
          <c:showCatName val="0"/>
          <c:showSerName val="0"/>
          <c:showPercent val="1"/>
          <c:showBubbleSize val="0"/>
          <c:showLeaderLines val="1"/>
        </c:dLbls>
        <c:firstSliceAng val="0"/>
      </c:pieChart>
    </c:plotArea>
    <c:legend>
      <c:legendPos val="t"/>
      <c:layout>
        <c:manualLayout>
          <c:xMode val="edge"/>
          <c:yMode val="edge"/>
          <c:x val="0.62996026504199698"/>
          <c:y val="0.34319710315373902"/>
          <c:w val="0.31494278472402798"/>
          <c:h val="0.430511685240766"/>
        </c:manualLayout>
      </c:layout>
      <c:overlay val="0"/>
    </c:legend>
    <c:plotVisOnly val="1"/>
    <c:dispBlanksAs val="gap"/>
    <c:showDLblsOverMax val="0"/>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047332946896"/>
          <c:y val="5.7183702644746301E-2"/>
          <c:w val="0.77268072136144295"/>
          <c:h val="0.71830521184851903"/>
        </c:manualLayout>
      </c:layout>
      <c:barChart>
        <c:barDir val="col"/>
        <c:grouping val="clustered"/>
        <c:varyColors val="0"/>
        <c:ser>
          <c:idx val="1"/>
          <c:order val="0"/>
          <c:tx>
            <c:strRef>
              <c:f>'Yıllar ve sektörler'!$C$2</c:f>
              <c:strCache>
                <c:ptCount val="1"/>
                <c:pt idx="0">
                  <c:v>Toplam yatırım tutarı</c:v>
                </c:pt>
              </c:strCache>
            </c:strRef>
          </c:tx>
          <c:spPr>
            <a:pattFill prst="pct50">
              <a:fgClr>
                <a:schemeClr val="tx1"/>
              </a:fgClr>
              <a:bgClr>
                <a:schemeClr val="bg1"/>
              </a:bgClr>
            </a:pattFill>
          </c:spPr>
          <c:invertIfNegative val="0"/>
          <c:dLbls>
            <c:dLbl>
              <c:idx val="0"/>
              <c:layout>
                <c:manualLayout>
                  <c:x val="0"/>
                  <c:y val="1.2422360248447201E-2"/>
                </c:manualLayout>
              </c:layout>
              <c:tx>
                <c:rich>
                  <a:bodyPr/>
                  <a:lstStyle/>
                  <a:p>
                    <a:r>
                      <a:rPr lang="en-US" b="0"/>
                      <a:t>41,4</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5CD-4968-826B-4359BD9C7152}"/>
                </c:ext>
              </c:extLst>
            </c:dLbl>
            <c:dLbl>
              <c:idx val="2"/>
              <c:layout>
                <c:manualLayout>
                  <c:x val="0"/>
                  <c:y val="1.2422360248447201E-2"/>
                </c:manualLayout>
              </c:layout>
              <c:tx>
                <c:rich>
                  <a:bodyPr/>
                  <a:lstStyle/>
                  <a:p>
                    <a:r>
                      <a:rPr lang="en-US" b="0"/>
                      <a:t>132,5</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5CD-4968-826B-4359BD9C7152}"/>
                </c:ext>
              </c:extLst>
            </c:dLbl>
            <c:dLbl>
              <c:idx val="4"/>
              <c:layout>
                <c:manualLayout>
                  <c:x val="3.2786385572771098E-3"/>
                  <c:y val="-1.59520059992501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5CD-4968-826B-4359BD9C7152}"/>
                </c:ext>
              </c:extLst>
            </c:dLbl>
            <c:dLbl>
              <c:idx val="5"/>
              <c:layout>
                <c:manualLayout>
                  <c:x val="1.640016400164E-3"/>
                  <c:y val="2.48447204968944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5CD-4968-826B-4359BD9C7152}"/>
                </c:ext>
              </c:extLst>
            </c:dLbl>
            <c:dLbl>
              <c:idx val="6"/>
              <c:layout>
                <c:manualLayout>
                  <c:x val="-2.3145542291084599E-2"/>
                  <c:y val="1.90472440944882E-2"/>
                </c:manualLayout>
              </c:layout>
              <c:tx>
                <c:rich>
                  <a:bodyPr/>
                  <a:lstStyle/>
                  <a:p>
                    <a:r>
                      <a:rPr lang="en-US" b="0"/>
                      <a:t>714,3</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5CD-4968-826B-4359BD9C7152}"/>
                </c:ext>
              </c:extLst>
            </c:dLbl>
            <c:dLbl>
              <c:idx val="7"/>
              <c:layout>
                <c:manualLayout>
                  <c:x val="0"/>
                  <c:y val="8.2815734989648004E-3"/>
                </c:manualLayout>
              </c:layout>
              <c:tx>
                <c:rich>
                  <a:bodyPr/>
                  <a:lstStyle/>
                  <a:p>
                    <a:r>
                      <a:rPr lang="en-US" b="0"/>
                      <a:t>1.528,3</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5CD-4968-826B-4359BD9C7152}"/>
                </c:ext>
              </c:extLst>
            </c:dLbl>
            <c:dLbl>
              <c:idx val="8"/>
              <c:layout>
                <c:manualLayout>
                  <c:x val="1.640016400164E-3"/>
                  <c:y val="0"/>
                </c:manualLayout>
              </c:layout>
              <c:tx>
                <c:rich>
                  <a:bodyPr/>
                  <a:lstStyle/>
                  <a:p>
                    <a:r>
                      <a:rPr lang="en-US" b="0"/>
                      <a:t>1.315,9</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5CD-4968-826B-4359BD9C7152}"/>
                </c:ext>
              </c:extLst>
            </c:dLbl>
            <c:dLbl>
              <c:idx val="10"/>
              <c:layout>
                <c:manualLayout>
                  <c:x val="-4.2423503513673598E-2"/>
                  <c:y val="2.8985376827896502E-2"/>
                </c:manualLayout>
              </c:layout>
              <c:tx>
                <c:rich>
                  <a:bodyPr/>
                  <a:lstStyle/>
                  <a:p>
                    <a:r>
                      <a:rPr lang="en-US" b="0"/>
                      <a:t>1.111,7</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5CD-4968-826B-4359BD9C7152}"/>
                </c:ext>
              </c:extLst>
            </c:dLbl>
            <c:dLbl>
              <c:idx val="11"/>
              <c:tx>
                <c:rich>
                  <a:bodyPr/>
                  <a:lstStyle/>
                  <a:p>
                    <a:r>
                      <a:rPr lang="en-US" b="0"/>
                      <a:t>2.632,8</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5CD-4968-826B-4359BD9C7152}"/>
                </c:ext>
              </c:extLst>
            </c:dLbl>
            <c:dLbl>
              <c:idx val="12"/>
              <c:layout>
                <c:manualLayout>
                  <c:x val="0"/>
                  <c:y val="1.2422360248447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5CD-4968-826B-4359BD9C7152}"/>
                </c:ext>
              </c:extLst>
            </c:dLbl>
            <c:dLbl>
              <c:idx val="13"/>
              <c:layout>
                <c:manualLayout>
                  <c:x val="2.2194564389128799E-3"/>
                  <c:y val="-1.26779152605924E-2"/>
                </c:manualLayout>
              </c:layout>
              <c:tx>
                <c:rich>
                  <a:bodyPr/>
                  <a:lstStyle/>
                  <a:p>
                    <a:r>
                      <a:rPr lang="en-US"/>
                      <a:t>1.859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5CD-4968-826B-4359BD9C7152}"/>
                </c:ext>
              </c:extLst>
            </c:dLbl>
            <c:spPr>
              <a:noFill/>
              <a:ln>
                <a:noFill/>
              </a:ln>
              <a:effectLst/>
            </c:spPr>
            <c:txPr>
              <a:bodyPr/>
              <a:lstStyle/>
              <a:p>
                <a:pPr>
                  <a:defRPr sz="900" b="0"/>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'Yıllar ve sektörler'!$B$3:$B$16</c:f>
              <c:numCache>
                <c:formatCode>General</c:formatCode>
                <c:ptCount val="1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numCache>
            </c:numRef>
          </c:cat>
          <c:val>
            <c:numRef>
              <c:f>'Yıllar ve sektörler'!$C$3:$C$16</c:f>
              <c:numCache>
                <c:formatCode>General</c:formatCode>
                <c:ptCount val="14"/>
                <c:pt idx="0">
                  <c:v>41.4</c:v>
                </c:pt>
                <c:pt idx="1">
                  <c:v>0</c:v>
                </c:pt>
                <c:pt idx="2">
                  <c:v>132.5</c:v>
                </c:pt>
                <c:pt idx="3">
                  <c:v>0</c:v>
                </c:pt>
                <c:pt idx="4">
                  <c:v>108</c:v>
                </c:pt>
                <c:pt idx="5">
                  <c:v>129</c:v>
                </c:pt>
                <c:pt idx="6">
                  <c:v>714.3</c:v>
                </c:pt>
                <c:pt idx="7">
                  <c:v>1528.3</c:v>
                </c:pt>
                <c:pt idx="8">
                  <c:v>1315.9</c:v>
                </c:pt>
                <c:pt idx="9">
                  <c:v>0</c:v>
                </c:pt>
                <c:pt idx="10">
                  <c:v>1111.7</c:v>
                </c:pt>
                <c:pt idx="11">
                  <c:v>2632.8</c:v>
                </c:pt>
                <c:pt idx="12">
                  <c:v>307</c:v>
                </c:pt>
                <c:pt idx="13">
                  <c:v>1859</c:v>
                </c:pt>
              </c:numCache>
            </c:numRef>
          </c:val>
          <c:extLst>
            <c:ext xmlns:c16="http://schemas.microsoft.com/office/drawing/2014/chart" uri="{C3380CC4-5D6E-409C-BE32-E72D297353CC}">
              <c16:uniqueId val="{0000000B-95CD-4968-826B-4359BD9C7152}"/>
            </c:ext>
          </c:extLst>
        </c:ser>
        <c:dLbls>
          <c:showLegendKey val="0"/>
          <c:showVal val="0"/>
          <c:showCatName val="0"/>
          <c:showSerName val="0"/>
          <c:showPercent val="0"/>
          <c:showBubbleSize val="0"/>
        </c:dLbls>
        <c:gapWidth val="75"/>
        <c:overlap val="-25"/>
        <c:axId val="547484120"/>
        <c:axId val="547484512"/>
      </c:barChart>
      <c:lineChart>
        <c:grouping val="standard"/>
        <c:varyColors val="0"/>
        <c:ser>
          <c:idx val="2"/>
          <c:order val="1"/>
          <c:tx>
            <c:strRef>
              <c:f>'Yıllar ve sektörler'!$D$2</c:f>
              <c:strCache>
                <c:ptCount val="1"/>
                <c:pt idx="0">
                  <c:v>Yatırım sayısı</c:v>
                </c:pt>
              </c:strCache>
            </c:strRef>
          </c:tx>
          <c:spPr>
            <a:ln>
              <a:solidFill>
                <a:schemeClr val="tx1"/>
              </a:solidFill>
            </a:ln>
          </c:spPr>
          <c:marker>
            <c:symbol val="none"/>
          </c:marker>
          <c:dLbls>
            <c:dLbl>
              <c:idx val="0"/>
              <c:layout>
                <c:manualLayout>
                  <c:x val="-2.1694522055710801E-2"/>
                  <c:y val="-3.7962879640045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5CD-4968-826B-4359BD9C7152}"/>
                </c:ext>
              </c:extLst>
            </c:dLbl>
            <c:dLbl>
              <c:idx val="2"/>
              <c:layout>
                <c:manualLayout>
                  <c:x val="-2.1857929049191399E-2"/>
                  <c:y val="-1.42857142857142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5CD-4968-826B-4359BD9C7152}"/>
                </c:ext>
              </c:extLst>
            </c:dLbl>
            <c:dLbl>
              <c:idx val="4"/>
              <c:layout>
                <c:manualLayout>
                  <c:x val="-4.9357886715773402E-2"/>
                  <c:y val="-2.4614548181477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5CD-4968-826B-4359BD9C7152}"/>
                </c:ext>
              </c:extLst>
            </c:dLbl>
            <c:dLbl>
              <c:idx val="5"/>
              <c:layout>
                <c:manualLayout>
                  <c:x val="-2.4539165076690201E-2"/>
                  <c:y val="-4.020019236725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5CD-4968-826B-4359BD9C7152}"/>
                </c:ext>
              </c:extLst>
            </c:dLbl>
            <c:dLbl>
              <c:idx val="6"/>
              <c:layout>
                <c:manualLayout>
                  <c:x val="-2.12590929744742E-2"/>
                  <c:y val="5.78418359805549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5CD-4968-826B-4359BD9C7152}"/>
                </c:ext>
              </c:extLst>
            </c:dLbl>
            <c:dLbl>
              <c:idx val="7"/>
              <c:layout>
                <c:manualLayout>
                  <c:x val="-2.16957080568176E-2"/>
                  <c:y val="7.65013156700163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95CD-4968-826B-4359BD9C7152}"/>
                </c:ext>
              </c:extLst>
            </c:dLbl>
            <c:dLbl>
              <c:idx val="8"/>
              <c:layout>
                <c:manualLayout>
                  <c:x val="-1.7883837101007501E-2"/>
                  <c:y val="8.2044619422572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5CD-4968-826B-4359BD9C7152}"/>
                </c:ext>
              </c:extLst>
            </c:dLbl>
            <c:dLbl>
              <c:idx val="10"/>
              <c:layout>
                <c:manualLayout>
                  <c:x val="-1.0030640907049372E-2"/>
                  <c:y val="-4.12284384199510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5CD-4968-826B-4359BD9C7152}"/>
                </c:ext>
              </c:extLst>
            </c:dLbl>
            <c:dLbl>
              <c:idx val="11"/>
              <c:layout>
                <c:manualLayout>
                  <c:x val="-2.3055531342714999E-2"/>
                  <c:y val="-2.4355977241975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5CD-4968-826B-4359BD9C7152}"/>
                </c:ext>
              </c:extLst>
            </c:dLbl>
            <c:dLbl>
              <c:idx val="12"/>
              <c:layout>
                <c:manualLayout>
                  <c:x val="-2.8239692920776011E-2"/>
                  <c:y val="-5.0883434381404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5CD-4968-826B-4359BD9C7152}"/>
                </c:ext>
              </c:extLst>
            </c:dLbl>
            <c:dLbl>
              <c:idx val="13"/>
              <c:layout>
                <c:manualLayout>
                  <c:x val="-2.058623538566149E-2"/>
                  <c:y val="-1.90578875832235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5CD-4968-826B-4359BD9C7152}"/>
                </c:ext>
              </c:extLst>
            </c:dLbl>
            <c:spPr>
              <a:noFill/>
              <a:ln>
                <a:noFill/>
              </a:ln>
              <a:effectLst/>
            </c:spPr>
            <c:txPr>
              <a:bodyPr/>
              <a:lstStyle/>
              <a:p>
                <a:pPr>
                  <a:defRPr sz="900" b="1"/>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'Yıllar ve sektörler'!$B$3:$B$16</c:f>
              <c:numCache>
                <c:formatCode>General</c:formatCode>
                <c:ptCount val="1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numCache>
            </c:numRef>
          </c:cat>
          <c:val>
            <c:numRef>
              <c:f>'Yıllar ve sektörler'!$D$3:$D$16</c:f>
              <c:numCache>
                <c:formatCode>General</c:formatCode>
                <c:ptCount val="14"/>
                <c:pt idx="0">
                  <c:v>2</c:v>
                </c:pt>
                <c:pt idx="1">
                  <c:v>0</c:v>
                </c:pt>
                <c:pt idx="2">
                  <c:v>3</c:v>
                </c:pt>
                <c:pt idx="3">
                  <c:v>0</c:v>
                </c:pt>
                <c:pt idx="4">
                  <c:v>1</c:v>
                </c:pt>
                <c:pt idx="5">
                  <c:v>2</c:v>
                </c:pt>
                <c:pt idx="6">
                  <c:v>4</c:v>
                </c:pt>
                <c:pt idx="7">
                  <c:v>7</c:v>
                </c:pt>
                <c:pt idx="8">
                  <c:v>7</c:v>
                </c:pt>
                <c:pt idx="9">
                  <c:v>0</c:v>
                </c:pt>
                <c:pt idx="10">
                  <c:v>7</c:v>
                </c:pt>
                <c:pt idx="11">
                  <c:v>8</c:v>
                </c:pt>
                <c:pt idx="12">
                  <c:v>6</c:v>
                </c:pt>
                <c:pt idx="13">
                  <c:v>15</c:v>
                </c:pt>
              </c:numCache>
            </c:numRef>
          </c:val>
          <c:smooth val="0"/>
          <c:extLst>
            <c:ext xmlns:c16="http://schemas.microsoft.com/office/drawing/2014/chart" uri="{C3380CC4-5D6E-409C-BE32-E72D297353CC}">
              <c16:uniqueId val="{00000017-95CD-4968-826B-4359BD9C7152}"/>
            </c:ext>
          </c:extLst>
        </c:ser>
        <c:dLbls>
          <c:showLegendKey val="0"/>
          <c:showVal val="0"/>
          <c:showCatName val="0"/>
          <c:showSerName val="0"/>
          <c:showPercent val="0"/>
          <c:showBubbleSize val="0"/>
        </c:dLbls>
        <c:marker val="1"/>
        <c:smooth val="0"/>
        <c:axId val="547485296"/>
        <c:axId val="547484904"/>
      </c:lineChart>
      <c:catAx>
        <c:axId val="547484120"/>
        <c:scaling>
          <c:orientation val="minMax"/>
        </c:scaling>
        <c:delete val="0"/>
        <c:axPos val="b"/>
        <c:numFmt formatCode="General" sourceLinked="1"/>
        <c:majorTickMark val="none"/>
        <c:minorTickMark val="none"/>
        <c:tickLblPos val="nextTo"/>
        <c:crossAx val="547484512"/>
        <c:crosses val="autoZero"/>
        <c:auto val="1"/>
        <c:lblAlgn val="ctr"/>
        <c:lblOffset val="100"/>
        <c:noMultiLvlLbl val="0"/>
      </c:catAx>
      <c:valAx>
        <c:axId val="547484512"/>
        <c:scaling>
          <c:orientation val="minMax"/>
        </c:scaling>
        <c:delete val="0"/>
        <c:axPos val="l"/>
        <c:majorGridlines/>
        <c:title>
          <c:tx>
            <c:rich>
              <a:bodyPr rot="-5400000" vert="horz"/>
              <a:lstStyle/>
              <a:p>
                <a:pPr>
                  <a:defRPr/>
                </a:pPr>
                <a:r>
                  <a:rPr lang="en-US"/>
                  <a:t>T</a:t>
                </a:r>
                <a:r>
                  <a:rPr lang="tr-TR"/>
                  <a:t>oplam yatırım tutarı (milyon $)</a:t>
                </a:r>
                <a:endParaRPr lang="en-US"/>
              </a:p>
            </c:rich>
          </c:tx>
          <c:overlay val="0"/>
        </c:title>
        <c:numFmt formatCode="General" sourceLinked="1"/>
        <c:majorTickMark val="none"/>
        <c:minorTickMark val="none"/>
        <c:tickLblPos val="nextTo"/>
        <c:spPr>
          <a:ln w="9525">
            <a:noFill/>
          </a:ln>
        </c:spPr>
        <c:crossAx val="547484120"/>
        <c:crosses val="autoZero"/>
        <c:crossBetween val="between"/>
      </c:valAx>
      <c:valAx>
        <c:axId val="547484904"/>
        <c:scaling>
          <c:orientation val="minMax"/>
        </c:scaling>
        <c:delete val="0"/>
        <c:axPos val="r"/>
        <c:title>
          <c:tx>
            <c:rich>
              <a:bodyPr rot="-5400000" vert="horz"/>
              <a:lstStyle/>
              <a:p>
                <a:pPr>
                  <a:defRPr/>
                </a:pPr>
                <a:r>
                  <a:rPr lang="tr-TR"/>
                  <a:t>Yatırım</a:t>
                </a:r>
                <a:r>
                  <a:rPr lang="tr-TR" baseline="0"/>
                  <a:t> sayısı</a:t>
                </a:r>
                <a:endParaRPr lang="en-US"/>
              </a:p>
            </c:rich>
          </c:tx>
          <c:overlay val="0"/>
        </c:title>
        <c:numFmt formatCode="General" sourceLinked="1"/>
        <c:majorTickMark val="out"/>
        <c:minorTickMark val="none"/>
        <c:tickLblPos val="nextTo"/>
        <c:crossAx val="547485296"/>
        <c:crosses val="max"/>
        <c:crossBetween val="between"/>
      </c:valAx>
      <c:catAx>
        <c:axId val="547485296"/>
        <c:scaling>
          <c:orientation val="minMax"/>
        </c:scaling>
        <c:delete val="1"/>
        <c:axPos val="b"/>
        <c:numFmt formatCode="General" sourceLinked="1"/>
        <c:majorTickMark val="out"/>
        <c:minorTickMark val="none"/>
        <c:tickLblPos val="none"/>
        <c:crossAx val="547484904"/>
        <c:crosses val="autoZero"/>
        <c:auto val="1"/>
        <c:lblAlgn val="ctr"/>
        <c:lblOffset val="100"/>
        <c:noMultiLvlLbl val="0"/>
      </c:catAx>
    </c:plotArea>
    <c:legend>
      <c:legendPos val="b"/>
      <c:overlay val="0"/>
    </c:legend>
    <c:plotVisOnly val="1"/>
    <c:dispBlanksAs val="gap"/>
    <c:showDLblsOverMax val="0"/>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438320209974"/>
          <c:y val="0.18451407115777199"/>
          <c:w val="0.45873600174978102"/>
          <c:h val="0.764560002916302"/>
        </c:manualLayout>
      </c:layout>
      <c:pieChart>
        <c:varyColors val="1"/>
        <c:ser>
          <c:idx val="0"/>
          <c:order val="0"/>
          <c:tx>
            <c:strRef>
              <c:f>'Ülkeler ve bölgeler'!$M$52</c:f>
              <c:strCache>
                <c:ptCount val="1"/>
                <c:pt idx="0">
                  <c:v>Toplam yatırım tutarı</c:v>
                </c:pt>
              </c:strCache>
            </c:strRef>
          </c:tx>
          <c:explosion val="25"/>
          <c:dPt>
            <c:idx val="0"/>
            <c:bubble3D val="0"/>
            <c:spPr>
              <a:pattFill prst="pct50">
                <a:fgClr>
                  <a:schemeClr val="tx1"/>
                </a:fgClr>
                <a:bgClr>
                  <a:schemeClr val="bg1"/>
                </a:bgClr>
              </a:pattFill>
            </c:spPr>
            <c:extLst>
              <c:ext xmlns:c16="http://schemas.microsoft.com/office/drawing/2014/chart" uri="{C3380CC4-5D6E-409C-BE32-E72D297353CC}">
                <c16:uniqueId val="{00000001-30B2-4926-8EBB-E2B50100797E}"/>
              </c:ext>
            </c:extLst>
          </c:dPt>
          <c:dPt>
            <c:idx val="1"/>
            <c:bubble3D val="0"/>
            <c:spPr>
              <a:pattFill prst="pct80">
                <a:fgClr>
                  <a:schemeClr val="tx1"/>
                </a:fgClr>
                <a:bgClr>
                  <a:schemeClr val="bg1"/>
                </a:bgClr>
              </a:pattFill>
            </c:spPr>
            <c:extLst>
              <c:ext xmlns:c16="http://schemas.microsoft.com/office/drawing/2014/chart" uri="{C3380CC4-5D6E-409C-BE32-E72D297353CC}">
                <c16:uniqueId val="{00000003-30B2-4926-8EBB-E2B50100797E}"/>
              </c:ext>
            </c:extLst>
          </c:dPt>
          <c:dPt>
            <c:idx val="2"/>
            <c:bubble3D val="0"/>
            <c:spPr>
              <a:pattFill prst="dashHorz">
                <a:fgClr>
                  <a:schemeClr val="tx1"/>
                </a:fgClr>
                <a:bgClr>
                  <a:schemeClr val="bg1"/>
                </a:bgClr>
              </a:pattFill>
            </c:spPr>
            <c:extLst>
              <c:ext xmlns:c16="http://schemas.microsoft.com/office/drawing/2014/chart" uri="{C3380CC4-5D6E-409C-BE32-E72D297353CC}">
                <c16:uniqueId val="{00000005-30B2-4926-8EBB-E2B50100797E}"/>
              </c:ext>
            </c:extLst>
          </c:dPt>
          <c:dPt>
            <c:idx val="3"/>
            <c:bubble3D val="0"/>
            <c:spPr>
              <a:pattFill prst="lgCheck">
                <a:fgClr>
                  <a:schemeClr val="tx1"/>
                </a:fgClr>
                <a:bgClr>
                  <a:schemeClr val="bg1"/>
                </a:bgClr>
              </a:pattFill>
            </c:spPr>
            <c:extLst>
              <c:ext xmlns:c16="http://schemas.microsoft.com/office/drawing/2014/chart" uri="{C3380CC4-5D6E-409C-BE32-E72D297353CC}">
                <c16:uniqueId val="{00000007-30B2-4926-8EBB-E2B50100797E}"/>
              </c:ext>
            </c:extLst>
          </c:dPt>
          <c:dPt>
            <c:idx val="4"/>
            <c:bubble3D val="0"/>
            <c:spPr>
              <a:pattFill prst="smGrid">
                <a:fgClr>
                  <a:schemeClr val="tx1"/>
                </a:fgClr>
                <a:bgClr>
                  <a:schemeClr val="bg1"/>
                </a:bgClr>
              </a:pattFill>
            </c:spPr>
            <c:extLst>
              <c:ext xmlns:c16="http://schemas.microsoft.com/office/drawing/2014/chart" uri="{C3380CC4-5D6E-409C-BE32-E72D297353CC}">
                <c16:uniqueId val="{00000009-30B2-4926-8EBB-E2B50100797E}"/>
              </c:ext>
            </c:extLst>
          </c:dPt>
          <c:dPt>
            <c:idx val="5"/>
            <c:bubble3D val="0"/>
            <c:spPr>
              <a:pattFill prst="lgConfetti">
                <a:fgClr>
                  <a:schemeClr val="tx1"/>
                </a:fgClr>
                <a:bgClr>
                  <a:schemeClr val="bg1"/>
                </a:bgClr>
              </a:pattFill>
            </c:spPr>
            <c:extLst>
              <c:ext xmlns:c16="http://schemas.microsoft.com/office/drawing/2014/chart" uri="{C3380CC4-5D6E-409C-BE32-E72D297353CC}">
                <c16:uniqueId val="{0000000B-30B2-4926-8EBB-E2B50100797E}"/>
              </c:ext>
            </c:extLst>
          </c:dPt>
          <c:dLbls>
            <c:dLbl>
              <c:idx val="0"/>
              <c:layout>
                <c:manualLayout>
                  <c:x val="-1.55803687353934E-2"/>
                  <c:y val="-0.119612291194061"/>
                </c:manualLayout>
              </c:layout>
              <c:tx>
                <c:rich>
                  <a:bodyPr/>
                  <a:lstStyle/>
                  <a:p>
                    <a:r>
                      <a:rPr lang="en-US"/>
                      <a:t>3.623; %37</a:t>
                    </a:r>
                  </a:p>
                </c:rich>
              </c:tx>
              <c:dLblPos val="bestFit"/>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30B2-4926-8EBB-E2B50100797E}"/>
                </c:ext>
              </c:extLst>
            </c:dLbl>
            <c:dLbl>
              <c:idx val="1"/>
              <c:tx>
                <c:rich>
                  <a:bodyPr/>
                  <a:lstStyle/>
                  <a:p>
                    <a:r>
                      <a:rPr lang="en-US"/>
                      <a:t>3.150,2; %32</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30B2-4926-8EBB-E2B50100797E}"/>
                </c:ext>
              </c:extLst>
            </c:dLbl>
            <c:dLbl>
              <c:idx val="2"/>
              <c:tx>
                <c:rich>
                  <a:bodyPr/>
                  <a:lstStyle/>
                  <a:p>
                    <a:r>
                      <a:rPr lang="en-US"/>
                      <a:t>1.323; %13</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30B2-4926-8EBB-E2B50100797E}"/>
                </c:ext>
              </c:extLst>
            </c:dLbl>
            <c:dLbl>
              <c:idx val="3"/>
              <c:tx>
                <c:rich>
                  <a:bodyPr/>
                  <a:lstStyle/>
                  <a:p>
                    <a:r>
                      <a:rPr lang="en-US"/>
                      <a:t>728,9; %7</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7-30B2-4926-8EBB-E2B50100797E}"/>
                </c:ext>
              </c:extLst>
            </c:dLbl>
            <c:dLbl>
              <c:idx val="4"/>
              <c:tx>
                <c:rich>
                  <a:bodyPr/>
                  <a:lstStyle/>
                  <a:p>
                    <a:r>
                      <a:rPr lang="en-US"/>
                      <a:t>541,5; %5</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30B2-4926-8EBB-E2B50100797E}"/>
                </c:ext>
              </c:extLst>
            </c:dLbl>
            <c:dLbl>
              <c:idx val="5"/>
              <c:tx>
                <c:rich>
                  <a:bodyPr/>
                  <a:lstStyle/>
                  <a:p>
                    <a:r>
                      <a:rPr lang="en-US"/>
                      <a:t>513,3; %5</a:t>
                    </a:r>
                  </a:p>
                </c:rich>
              </c:tx>
              <c:dLblPos val="out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30B2-4926-8EBB-E2B50100797E}"/>
                </c:ext>
              </c:extLst>
            </c:dLbl>
            <c:numFmt formatCode="%0" sourceLinked="0"/>
            <c:spPr>
              <a:noFill/>
              <a:ln>
                <a:noFill/>
              </a:ln>
              <a:effectLst/>
            </c:spPr>
            <c:txPr>
              <a:bodyPr/>
              <a:lstStyle/>
              <a:p>
                <a:pPr>
                  <a:defRPr sz="900" b="1"/>
                </a:pPr>
                <a:endParaRPr lang="tr-TR"/>
              </a:p>
            </c:txPr>
            <c:dLblPos val="outEnd"/>
            <c:showLegendKey val="0"/>
            <c:showVal val="1"/>
            <c:showCatName val="0"/>
            <c:showSerName val="0"/>
            <c:showPercent val="1"/>
            <c:showBubbleSize val="0"/>
            <c:showLeaderLines val="1"/>
            <c:extLst>
              <c:ext xmlns:c15="http://schemas.microsoft.com/office/drawing/2012/chart" uri="{CE6537A1-D6FC-4f65-9D91-7224C49458BB}"/>
            </c:extLst>
          </c:dLbls>
          <c:cat>
            <c:strRef>
              <c:f>'Ülkeler ve bölgeler'!$L$53:$L$58</c:f>
              <c:strCache>
                <c:ptCount val="6"/>
                <c:pt idx="0">
                  <c:v>Avrupa Birliği</c:v>
                </c:pt>
                <c:pt idx="1">
                  <c:v>BDT</c:v>
                </c:pt>
                <c:pt idx="2">
                  <c:v>Kuzey Amerika</c:v>
                </c:pt>
                <c:pt idx="3">
                  <c:v>Orta Doğu ve Kuzey Afrika</c:v>
                </c:pt>
                <c:pt idx="4">
                  <c:v>Güneydoğu Avrupa</c:v>
                </c:pt>
                <c:pt idx="5">
                  <c:v>Diğer</c:v>
                </c:pt>
              </c:strCache>
            </c:strRef>
          </c:cat>
          <c:val>
            <c:numRef>
              <c:f>'Ülkeler ve bölgeler'!$M$53:$M$58</c:f>
              <c:numCache>
                <c:formatCode>General</c:formatCode>
                <c:ptCount val="6"/>
                <c:pt idx="0">
                  <c:v>3623</c:v>
                </c:pt>
                <c:pt idx="1">
                  <c:v>3150.2</c:v>
                </c:pt>
                <c:pt idx="2">
                  <c:v>1323</c:v>
                </c:pt>
                <c:pt idx="3">
                  <c:v>728.9</c:v>
                </c:pt>
                <c:pt idx="4">
                  <c:v>541.5</c:v>
                </c:pt>
                <c:pt idx="5">
                  <c:v>513.29999999999995</c:v>
                </c:pt>
              </c:numCache>
            </c:numRef>
          </c:val>
          <c:extLst>
            <c:ext xmlns:c16="http://schemas.microsoft.com/office/drawing/2014/chart" uri="{C3380CC4-5D6E-409C-BE32-E72D297353CC}">
              <c16:uniqueId val="{0000000C-30B2-4926-8EBB-E2B50100797E}"/>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65311253303652705"/>
          <c:y val="0.303115958735303"/>
          <c:w val="0.33130839468700601"/>
          <c:h val="0.47756254638102202"/>
        </c:manualLayout>
      </c:layout>
      <c:overlay val="0"/>
    </c:legend>
    <c:plotVisOnly val="1"/>
    <c:dispBlanksAs val="zero"/>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659" cy="49641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3852016" y="0"/>
            <a:ext cx="2945659" cy="496411"/>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06357" y="4715907"/>
            <a:ext cx="4984962" cy="446770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1pPr>
            <a:lvl2pPr marL="914400" marR="0" lvl="1"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2pPr>
            <a:lvl3pPr marL="1371600" marR="0" lvl="2"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3pPr>
            <a:lvl4pPr marL="1828800" marR="0" lvl="3"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4pPr>
            <a:lvl5pPr marL="2286000" marR="0" lvl="4"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31814"/>
            <a:ext cx="2945659" cy="49641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3852016" y="9431814"/>
            <a:ext cx="2945659" cy="49641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tr-TR" sz="1200" b="0" i="0" u="none" strike="noStrike" cap="none">
                <a:solidFill>
                  <a:schemeClr val="dk1"/>
                </a:solidFill>
                <a:latin typeface="Times"/>
                <a:ea typeface="Times"/>
                <a:cs typeface="Times"/>
                <a:sym typeface="Times"/>
              </a:rPr>
              <a:t>‹#›</a:t>
            </a:fld>
            <a:endParaRPr sz="12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1464de8fc78_0_59: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1464de8fc78_0_59: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09" name="Google Shape;909;g1464de8fc78_0_59: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tr-TR"/>
              <a:t>5</a:t>
            </a:fld>
            <a:endParaRPr/>
          </a:p>
        </p:txBody>
      </p:sp>
    </p:spTree>
    <p:extLst>
      <p:ext uri="{BB962C8B-B14F-4D97-AF65-F5344CB8AC3E}">
        <p14:creationId xmlns:p14="http://schemas.microsoft.com/office/powerpoint/2010/main" val="3342277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57975152af_0_2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 name="Google Shape;98;g157975152af_0_27:notes"/>
          <p:cNvSpPr txBox="1">
            <a:spLocks noGrp="1"/>
          </p:cNvSpPr>
          <p:nvPr>
            <p:ph type="body" idx="1"/>
          </p:nvPr>
        </p:nvSpPr>
        <p:spPr>
          <a:xfrm>
            <a:off x="906357" y="4715907"/>
            <a:ext cx="4985100" cy="4467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157975152af_0_27:notes"/>
          <p:cNvSpPr txBox="1">
            <a:spLocks noGrp="1"/>
          </p:cNvSpPr>
          <p:nvPr>
            <p:ph type="sldNum" idx="12"/>
          </p:nvPr>
        </p:nvSpPr>
        <p:spPr>
          <a:xfrm>
            <a:off x="3852016" y="9431814"/>
            <a:ext cx="29457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t>8</a:t>
            </a:fld>
            <a:endParaRPr/>
          </a:p>
        </p:txBody>
      </p:sp>
    </p:spTree>
    <p:extLst>
      <p:ext uri="{BB962C8B-B14F-4D97-AF65-F5344CB8AC3E}">
        <p14:creationId xmlns:p14="http://schemas.microsoft.com/office/powerpoint/2010/main" val="3877559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57975152af_0_27: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 name="Google Shape;98;g157975152af_0_27:notes"/>
          <p:cNvSpPr txBox="1">
            <a:spLocks noGrp="1"/>
          </p:cNvSpPr>
          <p:nvPr>
            <p:ph type="body" idx="1"/>
          </p:nvPr>
        </p:nvSpPr>
        <p:spPr>
          <a:xfrm>
            <a:off x="906357" y="4715907"/>
            <a:ext cx="4985100" cy="4467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157975152af_0_27:notes"/>
          <p:cNvSpPr txBox="1">
            <a:spLocks noGrp="1"/>
          </p:cNvSpPr>
          <p:nvPr>
            <p:ph type="sldNum" idx="12"/>
          </p:nvPr>
        </p:nvSpPr>
        <p:spPr>
          <a:xfrm>
            <a:off x="3852016" y="9431814"/>
            <a:ext cx="29457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t>10</a:t>
            </a:fld>
            <a:endParaRPr/>
          </a:p>
        </p:txBody>
      </p:sp>
    </p:spTree>
    <p:extLst>
      <p:ext uri="{BB962C8B-B14F-4D97-AF65-F5344CB8AC3E}">
        <p14:creationId xmlns:p14="http://schemas.microsoft.com/office/powerpoint/2010/main" val="20351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f826b9c4ce_0_0: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631" name="Google Shape;631;g2f826b9c4ce_0_0: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632" name="Google Shape;632;g2f826b9c4ce_0_0: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55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068eaea560_0_222: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418" name="Google Shape;418;g3068eaea560_0_222: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419" name="Google Shape;419;g3068eaea560_0_222: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56</a:t>
            </a:fld>
            <a:endParaRPr/>
          </a:p>
        </p:txBody>
      </p:sp>
    </p:spTree>
    <p:extLst>
      <p:ext uri="{BB962C8B-B14F-4D97-AF65-F5344CB8AC3E}">
        <p14:creationId xmlns:p14="http://schemas.microsoft.com/office/powerpoint/2010/main" val="118759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068eaea560_0_232: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427" name="Google Shape;427;g3068eaea560_0_232: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428" name="Google Shape;428;g3068eaea560_0_232: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57</a:t>
            </a:fld>
            <a:endParaRPr/>
          </a:p>
        </p:txBody>
      </p:sp>
    </p:spTree>
    <p:extLst>
      <p:ext uri="{BB962C8B-B14F-4D97-AF65-F5344CB8AC3E}">
        <p14:creationId xmlns:p14="http://schemas.microsoft.com/office/powerpoint/2010/main" val="606990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068eaea560_0_222: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418" name="Google Shape;418;g3068eaea560_0_222: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419" name="Google Shape;419;g3068eaea560_0_222: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58</a:t>
            </a:fld>
            <a:endParaRPr/>
          </a:p>
        </p:txBody>
      </p:sp>
    </p:spTree>
    <p:extLst>
      <p:ext uri="{BB962C8B-B14F-4D97-AF65-F5344CB8AC3E}">
        <p14:creationId xmlns:p14="http://schemas.microsoft.com/office/powerpoint/2010/main" val="290088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d3f081d3e6_0_7: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777" name="Google Shape;777;g2d3f081d3e6_0_7: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778" name="Google Shape;778;g2d3f081d3e6_0_7: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59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d3f081d3e6_0_0: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769" name="Google Shape;769;g2d3f081d3e6_0_0: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770" name="Google Shape;770;g2d3f081d3e6_0_0: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60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f5f2cc5935_0_30:notes"/>
          <p:cNvSpPr>
            <a:spLocks noGrp="1" noRot="1" noChangeAspect="1"/>
          </p:cNvSpPr>
          <p:nvPr>
            <p:ph type="sldImg" idx="2"/>
          </p:nvPr>
        </p:nvSpPr>
        <p:spPr>
          <a:xfrm>
            <a:off x="917575" y="744538"/>
            <a:ext cx="4962525" cy="3722687"/>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722" name="Google Shape;722;g2f5f2cc5935_0_30:notes"/>
          <p:cNvSpPr txBox="1">
            <a:spLocks noGrp="1"/>
          </p:cNvSpPr>
          <p:nvPr>
            <p:ph type="body" idx="1"/>
          </p:nvPr>
        </p:nvSpPr>
        <p:spPr>
          <a:xfrm>
            <a:off x="906357" y="4715907"/>
            <a:ext cx="4985100" cy="4467600"/>
          </a:xfrm>
          <a:prstGeom prst="rect">
            <a:avLst/>
          </a:prstGeom>
        </p:spPr>
        <p:txBody>
          <a:bodyPr spcFirstLastPara="1" wrap="square" lIns="91425" tIns="45700" rIns="91425" bIns="45700" anchor="t" anchorCtr="0">
            <a:noAutofit/>
          </a:bodyPr>
          <a:lstStyle/>
          <a:p>
            <a:pPr marL="0" lvl="0" indent="0" algn="l" rtl="0">
              <a:spcBef>
                <a:spcPts val="360"/>
              </a:spcBef>
              <a:spcAft>
                <a:spcPct val="0"/>
              </a:spcAft>
              <a:buNone/>
            </a:pPr>
            <a:endParaRPr/>
          </a:p>
        </p:txBody>
      </p:sp>
      <p:sp>
        <p:nvSpPr>
          <p:cNvPr id="723" name="Google Shape;723;g2f5f2cc5935_0_30:notes"/>
          <p:cNvSpPr txBox="1">
            <a:spLocks noGrp="1"/>
          </p:cNvSpPr>
          <p:nvPr>
            <p:ph type="sldNum" idx="12"/>
          </p:nvPr>
        </p:nvSpPr>
        <p:spPr>
          <a:xfrm>
            <a:off x="3852016" y="9431814"/>
            <a:ext cx="2945700" cy="496500"/>
          </a:xfrm>
          <a:prstGeom prst="rect">
            <a:avLst/>
          </a:prstGeom>
        </p:spPr>
        <p:txBody>
          <a:bodyPr spcFirstLastPara="1" wrap="square" lIns="91425" tIns="45700" rIns="91425" bIns="45700" anchor="b" anchorCtr="0">
            <a:noAutofit/>
          </a:bodyPr>
          <a:lstStyle/>
          <a:p>
            <a:pPr marL="0" lvl="0" indent="0" algn="r" rtl="0">
              <a:spcBef>
                <a:spcPct val="0"/>
              </a:spcBef>
              <a:spcAft>
                <a:spcPct val="0"/>
              </a:spcAft>
              <a:buClr>
                <a:srgbClr val="000000"/>
              </a:buClr>
              <a:buSzPts val="1200"/>
              <a:buFont typeface="Arial"/>
              <a:buNone/>
            </a:pPr>
            <a:fld id="{00000000-1234-1234-1234-123412341234}" type="slidenum">
              <a:rPr lang="tr-TR"/>
              <a:t>61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43"/>
          <p:cNvSpPr txBox="1">
            <a:spLocks noGrp="1"/>
          </p:cNvSpPr>
          <p:nvPr>
            <p:ph type="title"/>
          </p:nvPr>
        </p:nvSpPr>
        <p:spPr>
          <a:xfrm>
            <a:off x="914400" y="0"/>
            <a:ext cx="6705600" cy="990600"/>
          </a:xfrm>
          <a:prstGeom prst="rect">
            <a:avLst/>
          </a:prstGeom>
          <a:noFill/>
          <a:ln>
            <a:noFill/>
          </a:ln>
        </p:spPr>
        <p:txBody>
          <a:bodyPr spcFirstLastPara="1" wrap="square" lIns="45700" tIns="47625" rIns="91425" bIns="476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43"/>
          <p:cNvSpPr txBox="1">
            <a:spLocks noGrp="1"/>
          </p:cNvSpPr>
          <p:nvPr>
            <p:ph type="body" idx="1"/>
          </p:nvPr>
        </p:nvSpPr>
        <p:spPr>
          <a:xfrm>
            <a:off x="685800" y="1371600"/>
            <a:ext cx="7772400" cy="4724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4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3"/>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b="0" i="0" u="none" strike="noStrike" cap="none">
                <a:solidFill>
                  <a:schemeClr val="dk1"/>
                </a:solidFill>
                <a:latin typeface="Times"/>
                <a:ea typeface="Times"/>
                <a:cs typeface="Times"/>
                <a:sym typeface="Times"/>
              </a:defRPr>
            </a:lvl1pPr>
            <a:lvl2pPr marL="0" marR="0" lvl="1" indent="0" algn="r">
              <a:spcBef>
                <a:spcPts val="0"/>
              </a:spcBef>
              <a:spcAft>
                <a:spcPts val="0"/>
              </a:spcAft>
              <a:buNone/>
              <a:defRPr sz="1000" b="0" i="0" u="none" strike="noStrike" cap="none">
                <a:solidFill>
                  <a:schemeClr val="dk1"/>
                </a:solidFill>
                <a:latin typeface="Times"/>
                <a:ea typeface="Times"/>
                <a:cs typeface="Times"/>
                <a:sym typeface="Times"/>
              </a:defRPr>
            </a:lvl2pPr>
            <a:lvl3pPr marL="0" marR="0" lvl="2" indent="0" algn="r">
              <a:spcBef>
                <a:spcPts val="0"/>
              </a:spcBef>
              <a:spcAft>
                <a:spcPts val="0"/>
              </a:spcAft>
              <a:buNone/>
              <a:defRPr sz="1000" b="0" i="0" u="none" strike="noStrike" cap="none">
                <a:solidFill>
                  <a:schemeClr val="dk1"/>
                </a:solidFill>
                <a:latin typeface="Times"/>
                <a:ea typeface="Times"/>
                <a:cs typeface="Times"/>
                <a:sym typeface="Times"/>
              </a:defRPr>
            </a:lvl3pPr>
            <a:lvl4pPr marL="0" marR="0" lvl="3" indent="0" algn="r">
              <a:spcBef>
                <a:spcPts val="0"/>
              </a:spcBef>
              <a:spcAft>
                <a:spcPts val="0"/>
              </a:spcAft>
              <a:buNone/>
              <a:defRPr sz="1000" b="0" i="0" u="none" strike="noStrike" cap="none">
                <a:solidFill>
                  <a:schemeClr val="dk1"/>
                </a:solidFill>
                <a:latin typeface="Times"/>
                <a:ea typeface="Times"/>
                <a:cs typeface="Times"/>
                <a:sym typeface="Times"/>
              </a:defRPr>
            </a:lvl4pPr>
            <a:lvl5pPr marL="0" marR="0" lvl="4" indent="0" algn="r">
              <a:spcBef>
                <a:spcPts val="0"/>
              </a:spcBef>
              <a:spcAft>
                <a:spcPts val="0"/>
              </a:spcAft>
              <a:buNone/>
              <a:defRPr sz="1000" b="0" i="0" u="none" strike="noStrike" cap="none">
                <a:solidFill>
                  <a:schemeClr val="dk1"/>
                </a:solidFill>
                <a:latin typeface="Times"/>
                <a:ea typeface="Times"/>
                <a:cs typeface="Times"/>
                <a:sym typeface="Times"/>
              </a:defRPr>
            </a:lvl5pPr>
            <a:lvl6pPr marL="0" marR="0" lvl="5" indent="0" algn="r">
              <a:spcBef>
                <a:spcPts val="0"/>
              </a:spcBef>
              <a:spcAft>
                <a:spcPts val="0"/>
              </a:spcAft>
              <a:buNone/>
              <a:defRPr sz="1000" b="0" i="0" u="none" strike="noStrike" cap="none">
                <a:solidFill>
                  <a:schemeClr val="dk1"/>
                </a:solidFill>
                <a:latin typeface="Times"/>
                <a:ea typeface="Times"/>
                <a:cs typeface="Times"/>
                <a:sym typeface="Times"/>
              </a:defRPr>
            </a:lvl6pPr>
            <a:lvl7pPr marL="0" marR="0" lvl="6" indent="0" algn="r">
              <a:spcBef>
                <a:spcPts val="0"/>
              </a:spcBef>
              <a:spcAft>
                <a:spcPts val="0"/>
              </a:spcAft>
              <a:buNone/>
              <a:defRPr sz="1000" b="0" i="0" u="none" strike="noStrike" cap="none">
                <a:solidFill>
                  <a:schemeClr val="dk1"/>
                </a:solidFill>
                <a:latin typeface="Times"/>
                <a:ea typeface="Times"/>
                <a:cs typeface="Times"/>
                <a:sym typeface="Times"/>
              </a:defRPr>
            </a:lvl7pPr>
            <a:lvl8pPr marL="0" marR="0" lvl="7" indent="0" algn="r">
              <a:spcBef>
                <a:spcPts val="0"/>
              </a:spcBef>
              <a:spcAft>
                <a:spcPts val="0"/>
              </a:spcAft>
              <a:buNone/>
              <a:defRPr sz="1000" b="0" i="0" u="none" strike="noStrike" cap="none">
                <a:solidFill>
                  <a:schemeClr val="dk1"/>
                </a:solidFill>
                <a:latin typeface="Times"/>
                <a:ea typeface="Times"/>
                <a:cs typeface="Times"/>
                <a:sym typeface="Times"/>
              </a:defRPr>
            </a:lvl8pPr>
            <a:lvl9pPr marL="0" marR="0" lvl="8" indent="0" algn="r">
              <a:spcBef>
                <a:spcPts val="0"/>
              </a:spcBef>
              <a:spcAft>
                <a:spcPts val="0"/>
              </a:spcAft>
              <a:buNone/>
              <a:defRPr sz="10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7"/>
          <p:cNvSpPr txBox="1">
            <a:spLocks noGrp="1"/>
          </p:cNvSpPr>
          <p:nvPr>
            <p:ph type="title"/>
          </p:nvPr>
        </p:nvSpPr>
        <p:spPr>
          <a:xfrm>
            <a:off x="457200" y="274638"/>
            <a:ext cx="8229600" cy="1143000"/>
          </a:xfrm>
          <a:prstGeom prst="rect">
            <a:avLst/>
          </a:prstGeom>
          <a:noFill/>
          <a:ln>
            <a:noFill/>
          </a:ln>
        </p:spPr>
        <p:txBody>
          <a:bodyPr spcFirstLastPara="1" wrap="square" lIns="45700" tIns="47625" rIns="91425" bIns="476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4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7" name="Google Shape;47;p4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8" name="Google Shape;48;p4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9" name="Google Shape;49;p4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0" name="Google Shape;50;p4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7"/>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50"/>
          <p:cNvSpPr txBox="1">
            <a:spLocks noGrp="1"/>
          </p:cNvSpPr>
          <p:nvPr>
            <p:ph type="title"/>
          </p:nvPr>
        </p:nvSpPr>
        <p:spPr>
          <a:xfrm>
            <a:off x="457200" y="273050"/>
            <a:ext cx="3008313" cy="1162050"/>
          </a:xfrm>
          <a:prstGeom prst="rect">
            <a:avLst/>
          </a:prstGeom>
          <a:noFill/>
          <a:ln>
            <a:noFill/>
          </a:ln>
        </p:spPr>
        <p:txBody>
          <a:bodyPr spcFirstLastPara="1" wrap="square" lIns="45700" tIns="47625" rIns="91425" bIns="4762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5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65" name="Google Shape;65;p5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6" name="Google Shape;66;p5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0"/>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51"/>
          <p:cNvSpPr txBox="1">
            <a:spLocks noGrp="1"/>
          </p:cNvSpPr>
          <p:nvPr>
            <p:ph type="title"/>
          </p:nvPr>
        </p:nvSpPr>
        <p:spPr>
          <a:xfrm>
            <a:off x="1792288" y="4800600"/>
            <a:ext cx="5486400" cy="566738"/>
          </a:xfrm>
          <a:prstGeom prst="rect">
            <a:avLst/>
          </a:prstGeom>
          <a:noFill/>
          <a:ln>
            <a:noFill/>
          </a:ln>
        </p:spPr>
        <p:txBody>
          <a:bodyPr spcFirstLastPara="1" wrap="square" lIns="45700" tIns="47625" rIns="91425" bIns="4762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51"/>
          <p:cNvSpPr>
            <a:spLocks noGrp="1"/>
          </p:cNvSpPr>
          <p:nvPr>
            <p:ph type="pic" idx="2"/>
          </p:nvPr>
        </p:nvSpPr>
        <p:spPr>
          <a:xfrm>
            <a:off x="1792288" y="612775"/>
            <a:ext cx="5486400" cy="4114800"/>
          </a:xfrm>
          <a:prstGeom prst="rect">
            <a:avLst/>
          </a:prstGeom>
          <a:noFill/>
          <a:ln>
            <a:noFill/>
          </a:ln>
        </p:spPr>
      </p:sp>
      <p:sp>
        <p:nvSpPr>
          <p:cNvPr id="72" name="Google Shape;72;p5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73" name="Google Shape;73;p5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51"/>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52"/>
          <p:cNvSpPr txBox="1">
            <a:spLocks noGrp="1"/>
          </p:cNvSpPr>
          <p:nvPr>
            <p:ph type="title"/>
          </p:nvPr>
        </p:nvSpPr>
        <p:spPr>
          <a:xfrm>
            <a:off x="914400" y="0"/>
            <a:ext cx="6705600" cy="990600"/>
          </a:xfrm>
          <a:prstGeom prst="rect">
            <a:avLst/>
          </a:prstGeom>
          <a:noFill/>
          <a:ln>
            <a:noFill/>
          </a:ln>
        </p:spPr>
        <p:txBody>
          <a:bodyPr spcFirstLastPara="1" wrap="square" lIns="45700" tIns="47625" rIns="91425" bIns="476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52"/>
          <p:cNvSpPr txBox="1">
            <a:spLocks noGrp="1"/>
          </p:cNvSpPr>
          <p:nvPr>
            <p:ph type="body" idx="1"/>
          </p:nvPr>
        </p:nvSpPr>
        <p:spPr>
          <a:xfrm rot="5400000">
            <a:off x="2209800" y="-152400"/>
            <a:ext cx="472440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5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52"/>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53"/>
          <p:cNvSpPr txBox="1">
            <a:spLocks noGrp="1"/>
          </p:cNvSpPr>
          <p:nvPr>
            <p:ph type="title"/>
          </p:nvPr>
        </p:nvSpPr>
        <p:spPr>
          <a:xfrm rot="5400000">
            <a:off x="4438650" y="2076450"/>
            <a:ext cx="6096000" cy="1943100"/>
          </a:xfrm>
          <a:prstGeom prst="rect">
            <a:avLst/>
          </a:prstGeom>
          <a:noFill/>
          <a:ln>
            <a:noFill/>
          </a:ln>
        </p:spPr>
        <p:txBody>
          <a:bodyPr spcFirstLastPara="1" wrap="square" lIns="45700" tIns="47625" rIns="91425" bIns="476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53"/>
          <p:cNvSpPr txBox="1">
            <a:spLocks noGrp="1"/>
          </p:cNvSpPr>
          <p:nvPr>
            <p:ph type="body" idx="1"/>
          </p:nvPr>
        </p:nvSpPr>
        <p:spPr>
          <a:xfrm rot="5400000">
            <a:off x="476250" y="209550"/>
            <a:ext cx="6096000" cy="567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5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53"/>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48"/>
          <p:cNvSpPr txBox="1">
            <a:spLocks noGrp="1"/>
          </p:cNvSpPr>
          <p:nvPr>
            <p:ph type="title"/>
          </p:nvPr>
        </p:nvSpPr>
        <p:spPr>
          <a:xfrm>
            <a:off x="914400" y="0"/>
            <a:ext cx="6705600" cy="990600"/>
          </a:xfrm>
          <a:prstGeom prst="rect">
            <a:avLst/>
          </a:prstGeom>
          <a:noFill/>
          <a:ln>
            <a:noFill/>
          </a:ln>
        </p:spPr>
        <p:txBody>
          <a:bodyPr spcFirstLastPara="1" wrap="square" lIns="45700" tIns="47625" rIns="91425" bIns="476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4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8"/>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extLst>
      <p:ext uri="{BB962C8B-B14F-4D97-AF65-F5344CB8AC3E}">
        <p14:creationId xmlns:p14="http://schemas.microsoft.com/office/powerpoint/2010/main" val="521844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45"/>
          <p:cNvSpPr txBox="1">
            <a:spLocks noGrp="1"/>
          </p:cNvSpPr>
          <p:nvPr>
            <p:ph type="title"/>
          </p:nvPr>
        </p:nvSpPr>
        <p:spPr>
          <a:xfrm>
            <a:off x="722313" y="4406900"/>
            <a:ext cx="7772400" cy="1362075"/>
          </a:xfrm>
          <a:prstGeom prst="rect">
            <a:avLst/>
          </a:prstGeom>
          <a:noFill/>
          <a:ln>
            <a:noFill/>
          </a:ln>
        </p:spPr>
        <p:txBody>
          <a:bodyPr spcFirstLastPara="1" wrap="square" lIns="45700" tIns="47625" rIns="91425" bIns="47625"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4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a:lvl1pPr>
            <a:lvl2pPr marL="914400" lvl="1" indent="-228600" algn="l">
              <a:spcBef>
                <a:spcPts val="360"/>
              </a:spcBef>
              <a:spcAft>
                <a:spcPts val="0"/>
              </a:spcAft>
              <a:buClr>
                <a:schemeClr val="dk1"/>
              </a:buClr>
              <a:buSzPts val="1800"/>
              <a:buNone/>
              <a:defRPr sz="1800"/>
            </a:lvl2pPr>
            <a:lvl3pPr marL="1371600" lvl="2" indent="-228600" algn="l">
              <a:spcBef>
                <a:spcPts val="320"/>
              </a:spcBef>
              <a:spcAft>
                <a:spcPts val="0"/>
              </a:spcAft>
              <a:buClr>
                <a:schemeClr val="dk1"/>
              </a:buClr>
              <a:buSzPts val="1600"/>
              <a:buNone/>
              <a:defRPr sz="1600"/>
            </a:lvl3pPr>
            <a:lvl4pPr marL="1828800" lvl="3" indent="-228600" algn="l">
              <a:spcBef>
                <a:spcPts val="280"/>
              </a:spcBef>
              <a:spcAft>
                <a:spcPts val="0"/>
              </a:spcAft>
              <a:buClr>
                <a:schemeClr val="dk1"/>
              </a:buClr>
              <a:buSzPts val="1400"/>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34" name="Google Shape;34;p4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5"/>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extLst>
      <p:ext uri="{BB962C8B-B14F-4D97-AF65-F5344CB8AC3E}">
        <p14:creationId xmlns:p14="http://schemas.microsoft.com/office/powerpoint/2010/main" val="2772475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4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9"/>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Times"/>
                <a:ea typeface="Times"/>
                <a:cs typeface="Times"/>
                <a:sym typeface="Times"/>
              </a:defRPr>
            </a:lvl1pPr>
            <a:lvl2pPr marL="0" marR="0" lvl="1" indent="0" algn="r">
              <a:spcBef>
                <a:spcPts val="0"/>
              </a:spcBef>
              <a:spcAft>
                <a:spcPts val="0"/>
              </a:spcAft>
              <a:buNone/>
              <a:defRPr sz="1000">
                <a:solidFill>
                  <a:schemeClr val="dk1"/>
                </a:solidFill>
                <a:latin typeface="Times"/>
                <a:ea typeface="Times"/>
                <a:cs typeface="Times"/>
                <a:sym typeface="Times"/>
              </a:defRPr>
            </a:lvl2pPr>
            <a:lvl3pPr marL="0" marR="0" lvl="2" indent="0" algn="r">
              <a:spcBef>
                <a:spcPts val="0"/>
              </a:spcBef>
              <a:spcAft>
                <a:spcPts val="0"/>
              </a:spcAft>
              <a:buNone/>
              <a:defRPr sz="1000">
                <a:solidFill>
                  <a:schemeClr val="dk1"/>
                </a:solidFill>
                <a:latin typeface="Times"/>
                <a:ea typeface="Times"/>
                <a:cs typeface="Times"/>
                <a:sym typeface="Times"/>
              </a:defRPr>
            </a:lvl3pPr>
            <a:lvl4pPr marL="0" marR="0" lvl="3" indent="0" algn="r">
              <a:spcBef>
                <a:spcPts val="0"/>
              </a:spcBef>
              <a:spcAft>
                <a:spcPts val="0"/>
              </a:spcAft>
              <a:buNone/>
              <a:defRPr sz="1000">
                <a:solidFill>
                  <a:schemeClr val="dk1"/>
                </a:solidFill>
                <a:latin typeface="Times"/>
                <a:ea typeface="Times"/>
                <a:cs typeface="Times"/>
                <a:sym typeface="Times"/>
              </a:defRPr>
            </a:lvl4pPr>
            <a:lvl5pPr marL="0" marR="0" lvl="4" indent="0" algn="r">
              <a:spcBef>
                <a:spcPts val="0"/>
              </a:spcBef>
              <a:spcAft>
                <a:spcPts val="0"/>
              </a:spcAft>
              <a:buNone/>
              <a:defRPr sz="1000">
                <a:solidFill>
                  <a:schemeClr val="dk1"/>
                </a:solidFill>
                <a:latin typeface="Times"/>
                <a:ea typeface="Times"/>
                <a:cs typeface="Times"/>
                <a:sym typeface="Times"/>
              </a:defRPr>
            </a:lvl5pPr>
            <a:lvl6pPr marL="0" marR="0" lvl="5" indent="0" algn="r">
              <a:spcBef>
                <a:spcPts val="0"/>
              </a:spcBef>
              <a:spcAft>
                <a:spcPts val="0"/>
              </a:spcAft>
              <a:buNone/>
              <a:defRPr sz="1000">
                <a:solidFill>
                  <a:schemeClr val="dk1"/>
                </a:solidFill>
                <a:latin typeface="Times"/>
                <a:ea typeface="Times"/>
                <a:cs typeface="Times"/>
                <a:sym typeface="Times"/>
              </a:defRPr>
            </a:lvl6pPr>
            <a:lvl7pPr marL="0" marR="0" lvl="6" indent="0" algn="r">
              <a:spcBef>
                <a:spcPts val="0"/>
              </a:spcBef>
              <a:spcAft>
                <a:spcPts val="0"/>
              </a:spcAft>
              <a:buNone/>
              <a:defRPr sz="1000">
                <a:solidFill>
                  <a:schemeClr val="dk1"/>
                </a:solidFill>
                <a:latin typeface="Times"/>
                <a:ea typeface="Times"/>
                <a:cs typeface="Times"/>
                <a:sym typeface="Times"/>
              </a:defRPr>
            </a:lvl7pPr>
            <a:lvl8pPr marL="0" marR="0" lvl="7" indent="0" algn="r">
              <a:spcBef>
                <a:spcPts val="0"/>
              </a:spcBef>
              <a:spcAft>
                <a:spcPts val="0"/>
              </a:spcAft>
              <a:buNone/>
              <a:defRPr sz="1000">
                <a:solidFill>
                  <a:schemeClr val="dk1"/>
                </a:solidFill>
                <a:latin typeface="Times"/>
                <a:ea typeface="Times"/>
                <a:cs typeface="Times"/>
                <a:sym typeface="Times"/>
              </a:defRPr>
            </a:lvl8pPr>
            <a:lvl9pPr marL="0" marR="0" lvl="8" indent="0" algn="r">
              <a:spcBef>
                <a:spcPts val="0"/>
              </a:spcBef>
              <a:spcAft>
                <a:spcPts val="0"/>
              </a:spcAft>
              <a:buNone/>
              <a:defRPr sz="10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Tree>
    <p:extLst>
      <p:ext uri="{BB962C8B-B14F-4D97-AF65-F5344CB8AC3E}">
        <p14:creationId xmlns:p14="http://schemas.microsoft.com/office/powerpoint/2010/main" val="4265712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title"/>
          </p:nvPr>
        </p:nvSpPr>
        <p:spPr>
          <a:xfrm>
            <a:off x="914400" y="0"/>
            <a:ext cx="6705600" cy="990600"/>
          </a:xfrm>
          <a:prstGeom prst="rect">
            <a:avLst/>
          </a:prstGeom>
          <a:noFill/>
          <a:ln>
            <a:noFill/>
          </a:ln>
        </p:spPr>
        <p:txBody>
          <a:bodyPr spcFirstLastPara="1" wrap="square" lIns="45700" tIns="47625" rIns="91425" bIns="47625" anchor="ctr" anchorCtr="0">
            <a:noAutofit/>
          </a:bodyPr>
          <a:lstStyle>
            <a:lvl1pPr marR="0" lvl="0" algn="ctr" rtl="0">
              <a:spcBef>
                <a:spcPts val="0"/>
              </a:spcBef>
              <a:spcAft>
                <a:spcPts val="0"/>
              </a:spcAft>
              <a:buSzPts val="1400"/>
              <a:buNone/>
              <a:defRPr sz="32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3200" b="1"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3200" b="1"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3200" b="1"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3200" b="1"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3200" b="1"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3200" b="1"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3200" b="1"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3200" b="1" i="0" u="none" strike="noStrike" cap="none">
                <a:solidFill>
                  <a:schemeClr val="dk2"/>
                </a:solidFill>
                <a:latin typeface="Arial"/>
                <a:ea typeface="Arial"/>
                <a:cs typeface="Arial"/>
                <a:sym typeface="Arial"/>
              </a:defRPr>
            </a:lvl9pPr>
          </a:lstStyle>
          <a:p>
            <a:endParaRPr/>
          </a:p>
        </p:txBody>
      </p:sp>
      <p:sp>
        <p:nvSpPr>
          <p:cNvPr id="11" name="Google Shape;11;p42"/>
          <p:cNvSpPr txBox="1">
            <a:spLocks noGrp="1"/>
          </p:cNvSpPr>
          <p:nvPr>
            <p:ph type="body" idx="1"/>
          </p:nvPr>
        </p:nvSpPr>
        <p:spPr>
          <a:xfrm>
            <a:off x="685800" y="1371600"/>
            <a:ext cx="7772400" cy="4724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Noto Sans Symbols"/>
              <a:buChar char="▪"/>
              <a:defRPr sz="3200" b="1"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Noto Sans Symbols"/>
              <a:buChar char="▪"/>
              <a:defRPr sz="2800" b="1"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Noto Sans Symbols"/>
              <a:buChar char="▪"/>
              <a:defRPr sz="2400" b="1"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Noto Sans Symbols"/>
              <a:buChar char="▪"/>
              <a:defRPr sz="2000" b="1"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9pPr>
          </a:lstStyle>
          <a:p>
            <a:endParaRPr/>
          </a:p>
        </p:txBody>
      </p:sp>
      <p:sp>
        <p:nvSpPr>
          <p:cNvPr id="12" name="Google Shape;12;p4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13" name="Google Shape;13;p4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14" name="Google Shape;14;p42"/>
          <p:cNvSpPr txBox="1">
            <a:spLocks noGrp="1"/>
          </p:cNvSpPr>
          <p:nvPr>
            <p:ph type="sldNum" idx="12"/>
          </p:nvPr>
        </p:nvSpPr>
        <p:spPr>
          <a:xfrm>
            <a:off x="8610600" y="6629400"/>
            <a:ext cx="533400" cy="2286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000" b="0" i="0" u="none" strike="noStrike" cap="none">
                <a:solidFill>
                  <a:schemeClr val="dk1"/>
                </a:solidFill>
                <a:latin typeface="Times"/>
                <a:ea typeface="Times"/>
                <a:cs typeface="Times"/>
                <a:sym typeface="Times"/>
              </a:defRPr>
            </a:lvl1pPr>
            <a:lvl2pPr marL="0" marR="0" lvl="1" indent="0" algn="r" rtl="0">
              <a:spcBef>
                <a:spcPts val="0"/>
              </a:spcBef>
              <a:spcAft>
                <a:spcPts val="0"/>
              </a:spcAft>
              <a:buNone/>
              <a:defRPr sz="1000" b="0" i="0" u="none" strike="noStrike" cap="none">
                <a:solidFill>
                  <a:schemeClr val="dk1"/>
                </a:solidFill>
                <a:latin typeface="Times"/>
                <a:ea typeface="Times"/>
                <a:cs typeface="Times"/>
                <a:sym typeface="Times"/>
              </a:defRPr>
            </a:lvl2pPr>
            <a:lvl3pPr marL="0" marR="0" lvl="2" indent="0" algn="r" rtl="0">
              <a:spcBef>
                <a:spcPts val="0"/>
              </a:spcBef>
              <a:spcAft>
                <a:spcPts val="0"/>
              </a:spcAft>
              <a:buNone/>
              <a:defRPr sz="1000" b="0" i="0" u="none" strike="noStrike" cap="none">
                <a:solidFill>
                  <a:schemeClr val="dk1"/>
                </a:solidFill>
                <a:latin typeface="Times"/>
                <a:ea typeface="Times"/>
                <a:cs typeface="Times"/>
                <a:sym typeface="Times"/>
              </a:defRPr>
            </a:lvl3pPr>
            <a:lvl4pPr marL="0" marR="0" lvl="3" indent="0" algn="r" rtl="0">
              <a:spcBef>
                <a:spcPts val="0"/>
              </a:spcBef>
              <a:spcAft>
                <a:spcPts val="0"/>
              </a:spcAft>
              <a:buNone/>
              <a:defRPr sz="1000" b="0" i="0" u="none" strike="noStrike" cap="none">
                <a:solidFill>
                  <a:schemeClr val="dk1"/>
                </a:solidFill>
                <a:latin typeface="Times"/>
                <a:ea typeface="Times"/>
                <a:cs typeface="Times"/>
                <a:sym typeface="Times"/>
              </a:defRPr>
            </a:lvl4pPr>
            <a:lvl5pPr marL="0" marR="0" lvl="4" indent="0" algn="r" rtl="0">
              <a:spcBef>
                <a:spcPts val="0"/>
              </a:spcBef>
              <a:spcAft>
                <a:spcPts val="0"/>
              </a:spcAft>
              <a:buNone/>
              <a:defRPr sz="1000" b="0" i="0" u="none" strike="noStrike" cap="none">
                <a:solidFill>
                  <a:schemeClr val="dk1"/>
                </a:solidFill>
                <a:latin typeface="Times"/>
                <a:ea typeface="Times"/>
                <a:cs typeface="Times"/>
                <a:sym typeface="Times"/>
              </a:defRPr>
            </a:lvl5pPr>
            <a:lvl6pPr marL="0" marR="0" lvl="5" indent="0" algn="r" rtl="0">
              <a:spcBef>
                <a:spcPts val="0"/>
              </a:spcBef>
              <a:spcAft>
                <a:spcPts val="0"/>
              </a:spcAft>
              <a:buNone/>
              <a:defRPr sz="1000" b="0" i="0" u="none" strike="noStrike" cap="none">
                <a:solidFill>
                  <a:schemeClr val="dk1"/>
                </a:solidFill>
                <a:latin typeface="Times"/>
                <a:ea typeface="Times"/>
                <a:cs typeface="Times"/>
                <a:sym typeface="Times"/>
              </a:defRPr>
            </a:lvl6pPr>
            <a:lvl7pPr marL="0" marR="0" lvl="6" indent="0" algn="r" rtl="0">
              <a:spcBef>
                <a:spcPts val="0"/>
              </a:spcBef>
              <a:spcAft>
                <a:spcPts val="0"/>
              </a:spcAft>
              <a:buNone/>
              <a:defRPr sz="1000" b="0" i="0" u="none" strike="noStrike" cap="none">
                <a:solidFill>
                  <a:schemeClr val="dk1"/>
                </a:solidFill>
                <a:latin typeface="Times"/>
                <a:ea typeface="Times"/>
                <a:cs typeface="Times"/>
                <a:sym typeface="Times"/>
              </a:defRPr>
            </a:lvl7pPr>
            <a:lvl8pPr marL="0" marR="0" lvl="7" indent="0" algn="r" rtl="0">
              <a:spcBef>
                <a:spcPts val="0"/>
              </a:spcBef>
              <a:spcAft>
                <a:spcPts val="0"/>
              </a:spcAft>
              <a:buNone/>
              <a:defRPr sz="1000" b="0" i="0" u="none" strike="noStrike" cap="none">
                <a:solidFill>
                  <a:schemeClr val="dk1"/>
                </a:solidFill>
                <a:latin typeface="Times"/>
                <a:ea typeface="Times"/>
                <a:cs typeface="Times"/>
                <a:sym typeface="Times"/>
              </a:defRPr>
            </a:lvl8pPr>
            <a:lvl9pPr marL="0" marR="0" lvl="8" indent="0" algn="r" rtl="0">
              <a:spcBef>
                <a:spcPts val="0"/>
              </a:spcBef>
              <a:spcAft>
                <a:spcPts val="0"/>
              </a:spcAft>
              <a:buNone/>
              <a:defRPr sz="10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tr-TR"/>
              <a:t>‹#›</a:t>
            </a:fld>
            <a:endParaRPr/>
          </a:p>
        </p:txBody>
      </p:sp>
      <p:sp>
        <p:nvSpPr>
          <p:cNvPr id="15" name="Google Shape;15;p42"/>
          <p:cNvSpPr/>
          <p:nvPr/>
        </p:nvSpPr>
        <p:spPr>
          <a:xfrm>
            <a:off x="914400" y="1295400"/>
            <a:ext cx="7467600" cy="2286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b="0" i="0" u="none" strike="noStrike" cap="none">
              <a:solidFill>
                <a:schemeClr val="dk1"/>
              </a:solidFill>
              <a:latin typeface="Times"/>
              <a:ea typeface="Times"/>
              <a:cs typeface="Times"/>
              <a:sym typeface="Times"/>
            </a:endParaRPr>
          </a:p>
        </p:txBody>
      </p:sp>
      <p:sp>
        <p:nvSpPr>
          <p:cNvPr id="16" name="Google Shape;16;p42"/>
          <p:cNvSpPr/>
          <p:nvPr/>
        </p:nvSpPr>
        <p:spPr>
          <a:xfrm>
            <a:off x="762000" y="1295400"/>
            <a:ext cx="7620000" cy="2286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b="0" i="0" u="none" strike="noStrike" cap="none">
              <a:solidFill>
                <a:schemeClr val="dk1"/>
              </a:solidFill>
              <a:latin typeface="Times"/>
              <a:ea typeface="Times"/>
              <a:cs typeface="Times"/>
              <a:sym typeface="Times"/>
            </a:endParaRPr>
          </a:p>
        </p:txBody>
      </p:sp>
      <p:cxnSp>
        <p:nvCxnSpPr>
          <p:cNvPr id="17" name="Google Shape;17;p42"/>
          <p:cNvCxnSpPr/>
          <p:nvPr/>
        </p:nvCxnSpPr>
        <p:spPr>
          <a:xfrm rot="10800000">
            <a:off x="0" y="1052513"/>
            <a:ext cx="9144000" cy="0"/>
          </a:xfrm>
          <a:prstGeom prst="straightConnector1">
            <a:avLst/>
          </a:prstGeom>
          <a:noFill/>
          <a:ln w="82550" cap="flat" cmpd="sng">
            <a:solidFill>
              <a:srgbClr val="C10B25"/>
            </a:solidFill>
            <a:prstDash val="solid"/>
            <a:round/>
            <a:headEnd type="none" w="sm" len="sm"/>
            <a:tailEnd type="none" w="sm" len="sm"/>
          </a:ln>
        </p:spPr>
      </p:cxnSp>
      <p:pic>
        <p:nvPicPr>
          <p:cNvPr id="18" name="Google Shape;18;p42"/>
          <p:cNvPicPr preferRelativeResize="0"/>
          <p:nvPr/>
        </p:nvPicPr>
        <p:blipFill rotWithShape="1">
          <a:blip r:embed="rId11">
            <a:alphaModFix/>
          </a:blip>
          <a:srcRect/>
          <a:stretch/>
        </p:blipFill>
        <p:spPr>
          <a:xfrm>
            <a:off x="192088" y="115888"/>
            <a:ext cx="963612" cy="7921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3" r:id="rId2"/>
    <p:sldLayoutId id="2147483656" r:id="rId3"/>
    <p:sldLayoutId id="2147483657" r:id="rId4"/>
    <p:sldLayoutId id="2147483658" r:id="rId5"/>
    <p:sldLayoutId id="2147483659" r:id="rId6"/>
    <p:sldLayoutId id="2147483661" r:id="rId7"/>
    <p:sldLayoutId id="2147483662" r:id="rId8"/>
    <p:sldLayoutId id="2147483663"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witter.com/TemettuUv/status/1560869823873155073?t=YrLhYikrmOGjzRWksXameg&amp;s=0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hyperlink" Target="http://kredi.haberler.com/"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www.ft.com/content/5f3e6cdd-4497-4a05-8587-d9e4d58b55a9"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x.com/BittelJulien/status/1839011477337825526"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x.com/BittelJulien/status/1839011477337825526"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5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x.com/stats_feed/status/1842854316886892781"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A32D-964E-B867-F7DE-37AB6600F38B}"/>
              </a:ext>
            </a:extLst>
          </p:cNvPr>
          <p:cNvSpPr>
            <a:spLocks noGrp="1"/>
          </p:cNvSpPr>
          <p:nvPr>
            <p:ph type="title"/>
          </p:nvPr>
        </p:nvSpPr>
        <p:spPr>
          <a:xfrm>
            <a:off x="1362074" y="0"/>
            <a:ext cx="7419975" cy="990600"/>
          </a:xfrm>
        </p:spPr>
        <p:txBody>
          <a:bodyPr/>
          <a:lstStyle/>
          <a:p>
            <a:r>
              <a:rPr lang="tr-TR" dirty="0"/>
              <a:t>Şirketinizin </a:t>
            </a:r>
            <a:r>
              <a:rPr lang="en-US" dirty="0" err="1"/>
              <a:t>rekabet</a:t>
            </a:r>
            <a:r>
              <a:rPr lang="tr-TR" dirty="0" err="1"/>
              <a:t>çi</a:t>
            </a:r>
            <a:r>
              <a:rPr lang="en-US" dirty="0"/>
              <a:t> </a:t>
            </a:r>
            <a:r>
              <a:rPr lang="en-US" dirty="0" err="1"/>
              <a:t>avantajla</a:t>
            </a:r>
            <a:r>
              <a:rPr lang="tr-TR" dirty="0" err="1"/>
              <a:t>rı</a:t>
            </a:r>
            <a:r>
              <a:rPr lang="en-US" dirty="0"/>
              <a:t> </a:t>
            </a:r>
            <a:r>
              <a:rPr lang="en-US" dirty="0" err="1"/>
              <a:t>neler</a:t>
            </a:r>
            <a:r>
              <a:rPr lang="en-US" dirty="0"/>
              <a:t>?</a:t>
            </a:r>
            <a:endParaRPr lang="tr-TR" dirty="0"/>
          </a:p>
        </p:txBody>
      </p:sp>
      <p:sp>
        <p:nvSpPr>
          <p:cNvPr id="3" name="Text Placeholder 2">
            <a:extLst>
              <a:ext uri="{FF2B5EF4-FFF2-40B4-BE49-F238E27FC236}">
                <a16:creationId xmlns:a16="http://schemas.microsoft.com/office/drawing/2014/main" id="{19F9FE21-092B-3A4D-08E6-5EC9F8288FEF}"/>
              </a:ext>
            </a:extLst>
          </p:cNvPr>
          <p:cNvSpPr>
            <a:spLocks noGrp="1"/>
          </p:cNvSpPr>
          <p:nvPr>
            <p:ph type="body" idx="1"/>
          </p:nvPr>
        </p:nvSpPr>
        <p:spPr/>
        <p:txBody>
          <a:bodyPr/>
          <a:lstStyle/>
          <a:p>
            <a:endParaRPr lang="tr-TR" dirty="0"/>
          </a:p>
        </p:txBody>
      </p:sp>
      <p:sp>
        <p:nvSpPr>
          <p:cNvPr id="4" name="Slide Number Placeholder 3">
            <a:extLst>
              <a:ext uri="{FF2B5EF4-FFF2-40B4-BE49-F238E27FC236}">
                <a16:creationId xmlns:a16="http://schemas.microsoft.com/office/drawing/2014/main" id="{852196CD-79C9-EEC5-1CCA-C417E34E88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a:t>
            </a:fld>
            <a:endParaRPr lang="tr-TR"/>
          </a:p>
        </p:txBody>
      </p:sp>
      <p:pic>
        <p:nvPicPr>
          <p:cNvPr id="5" name="Picture 4" descr="https://www.researchgate.net/profile/In-Hyeock-Lee-2/publication/233655290/figure/fig1/AS:668269761536010@1536339335745/The-FSA-CSA-matrix-Source-Adapted-from-Rugman-1981-Chapter-8_W640.jpg">
            <a:extLst>
              <a:ext uri="{FF2B5EF4-FFF2-40B4-BE49-F238E27FC236}">
                <a16:creationId xmlns:a16="http://schemas.microsoft.com/office/drawing/2014/main" id="{ADA323E8-B93B-F5A7-A8CC-8F406632C0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131" y="1145406"/>
            <a:ext cx="8335477" cy="5156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863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9FDB3-74C1-56F3-EA96-A8A4B51683BA}"/>
              </a:ext>
            </a:extLst>
          </p:cNvPr>
          <p:cNvSpPr>
            <a:spLocks noGrp="1"/>
          </p:cNvSpPr>
          <p:nvPr>
            <p:ph type="title"/>
          </p:nvPr>
        </p:nvSpPr>
        <p:spPr/>
        <p:txBody>
          <a:bodyPr/>
          <a:lstStyle/>
          <a:p>
            <a:r>
              <a:rPr lang="tr-TR" dirty="0"/>
              <a:t>Dış Yatırım</a:t>
            </a:r>
          </a:p>
        </p:txBody>
      </p:sp>
      <p:sp>
        <p:nvSpPr>
          <p:cNvPr id="3" name="Text Placeholder 2">
            <a:extLst>
              <a:ext uri="{FF2B5EF4-FFF2-40B4-BE49-F238E27FC236}">
                <a16:creationId xmlns:a16="http://schemas.microsoft.com/office/drawing/2014/main" id="{6C759D87-3841-3543-71A2-AEC2A961A27B}"/>
              </a:ext>
            </a:extLst>
          </p:cNvPr>
          <p:cNvSpPr>
            <a:spLocks noGrp="1"/>
          </p:cNvSpPr>
          <p:nvPr>
            <p:ph type="body" idx="1"/>
          </p:nvPr>
        </p:nvSpPr>
        <p:spPr/>
        <p:txBody>
          <a:bodyPr/>
          <a:lstStyle/>
          <a:p>
            <a:pPr lvl="0"/>
            <a:r>
              <a:rPr lang="en-US" b="0" dirty="0"/>
              <a:t>D</a:t>
            </a:r>
            <a:r>
              <a:rPr lang="tr-TR" b="0" dirty="0" err="1"/>
              <a:t>ış</a:t>
            </a:r>
            <a:r>
              <a:rPr lang="tr-TR" b="0" dirty="0"/>
              <a:t> yatırım nedir?</a:t>
            </a:r>
            <a:endParaRPr lang="en-GB" b="0" dirty="0"/>
          </a:p>
          <a:p>
            <a:pPr lvl="0"/>
            <a:r>
              <a:rPr lang="tr-TR" b="0" dirty="0"/>
              <a:t>Dış yatırımın biçimleri nelerdir?</a:t>
            </a:r>
            <a:endParaRPr lang="en-GB" b="0" dirty="0"/>
          </a:p>
          <a:p>
            <a:pPr lvl="0"/>
            <a:r>
              <a:rPr lang="tr-TR" b="0" dirty="0"/>
              <a:t>Dış yatırım i çeken ve ulusal şirketlerin yurtdışına yatırıma iten faktörler nelerdir?</a:t>
            </a:r>
            <a:endParaRPr lang="en-GB" b="0" dirty="0"/>
          </a:p>
          <a:p>
            <a:pPr lvl="0"/>
            <a:r>
              <a:rPr lang="tr-TR" b="0" dirty="0"/>
              <a:t>Çokuluslu şirketler nelerdir? </a:t>
            </a:r>
            <a:endParaRPr lang="en-GB" b="0" dirty="0"/>
          </a:p>
          <a:p>
            <a:pPr lvl="0"/>
            <a:r>
              <a:rPr lang="tr-TR" b="0" dirty="0"/>
              <a:t>Şirketlerin uluslararasılaşmadaki kaynakları, motivasyonları ve stratejileri nelerdir?</a:t>
            </a:r>
            <a:endParaRPr lang="en-GB" b="0" dirty="0"/>
          </a:p>
          <a:p>
            <a:endParaRPr lang="tr-TR" dirty="0"/>
          </a:p>
        </p:txBody>
      </p:sp>
      <p:sp>
        <p:nvSpPr>
          <p:cNvPr id="4" name="Slide Number Placeholder 3">
            <a:extLst>
              <a:ext uri="{FF2B5EF4-FFF2-40B4-BE49-F238E27FC236}">
                <a16:creationId xmlns:a16="http://schemas.microsoft.com/office/drawing/2014/main" id="{AF2527F6-B0E6-C222-A70C-DE33C90014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a:t>
            </a:fld>
            <a:endParaRPr lang="tr-TR"/>
          </a:p>
        </p:txBody>
      </p:sp>
    </p:spTree>
    <p:extLst>
      <p:ext uri="{BB962C8B-B14F-4D97-AF65-F5344CB8AC3E}">
        <p14:creationId xmlns:p14="http://schemas.microsoft.com/office/powerpoint/2010/main" val="449959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0A2-C8D4-3417-F781-8D7FA22B8820}"/>
              </a:ext>
            </a:extLst>
          </p:cNvPr>
          <p:cNvSpPr>
            <a:spLocks noGrp="1"/>
          </p:cNvSpPr>
          <p:nvPr>
            <p:ph type="title"/>
          </p:nvPr>
        </p:nvSpPr>
        <p:spPr/>
        <p:txBody>
          <a:bodyPr/>
          <a:lstStyle/>
          <a:p>
            <a:endParaRPr lang="tr-TR" dirty="0"/>
          </a:p>
        </p:txBody>
      </p:sp>
      <p:sp>
        <p:nvSpPr>
          <p:cNvPr id="3" name="Text Placeholder 2">
            <a:extLst>
              <a:ext uri="{FF2B5EF4-FFF2-40B4-BE49-F238E27FC236}">
                <a16:creationId xmlns:a16="http://schemas.microsoft.com/office/drawing/2014/main" id="{2AA841B5-E14F-407E-0E65-7968AAEEE7C4}"/>
              </a:ext>
            </a:extLst>
          </p:cNvPr>
          <p:cNvSpPr>
            <a:spLocks noGrp="1"/>
          </p:cNvSpPr>
          <p:nvPr>
            <p:ph type="body" idx="1"/>
          </p:nvPr>
        </p:nvSpPr>
        <p:spPr/>
        <p:txBody>
          <a:bodyPr/>
          <a:lstStyle/>
          <a:p>
            <a:r>
              <a:rPr lang="tr-TR" dirty="0"/>
              <a:t>Dış yatırımın tanımı nedir?</a:t>
            </a:r>
          </a:p>
          <a:p>
            <a:endParaRPr lang="tr-TR" dirty="0"/>
          </a:p>
          <a:p>
            <a:r>
              <a:rPr lang="tr-TR" dirty="0"/>
              <a:t>Doğrudan dış yatırım?</a:t>
            </a:r>
          </a:p>
          <a:p>
            <a:endParaRPr lang="tr-TR" dirty="0"/>
          </a:p>
          <a:p>
            <a:r>
              <a:rPr lang="tr-TR" dirty="0"/>
              <a:t>Portföy yatırımları?</a:t>
            </a:r>
          </a:p>
          <a:p>
            <a:endParaRPr lang="tr-TR" dirty="0"/>
          </a:p>
          <a:p>
            <a:r>
              <a:rPr lang="tr-TR" dirty="0"/>
              <a:t>Çok uluslu şirket ve ulusötesi şirket farkı nedir?</a:t>
            </a:r>
          </a:p>
        </p:txBody>
      </p:sp>
      <p:sp>
        <p:nvSpPr>
          <p:cNvPr id="4" name="Slide Number Placeholder 3">
            <a:extLst>
              <a:ext uri="{FF2B5EF4-FFF2-40B4-BE49-F238E27FC236}">
                <a16:creationId xmlns:a16="http://schemas.microsoft.com/office/drawing/2014/main" id="{F69EF6AC-EC1C-E9BA-EDCE-35929D9A7A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a:t>
            </a:fld>
            <a:endParaRPr lang="tr-TR"/>
          </a:p>
        </p:txBody>
      </p:sp>
    </p:spTree>
    <p:extLst>
      <p:ext uri="{BB962C8B-B14F-4D97-AF65-F5344CB8AC3E}">
        <p14:creationId xmlns:p14="http://schemas.microsoft.com/office/powerpoint/2010/main" val="3236108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0A2-C8D4-3417-F781-8D7FA22B8820}"/>
              </a:ext>
            </a:extLst>
          </p:cNvPr>
          <p:cNvSpPr>
            <a:spLocks noGrp="1"/>
          </p:cNvSpPr>
          <p:nvPr>
            <p:ph type="title"/>
          </p:nvPr>
        </p:nvSpPr>
        <p:spPr>
          <a:xfrm>
            <a:off x="1647824" y="0"/>
            <a:ext cx="6810376" cy="990600"/>
          </a:xfrm>
        </p:spPr>
        <p:txBody>
          <a:bodyPr/>
          <a:lstStyle/>
          <a:p>
            <a:r>
              <a:rPr lang="tr-TR" dirty="0"/>
              <a:t>Pazara girme stratejileri</a:t>
            </a:r>
          </a:p>
        </p:txBody>
      </p:sp>
      <p:sp>
        <p:nvSpPr>
          <p:cNvPr id="3" name="Text Placeholder 2">
            <a:extLst>
              <a:ext uri="{FF2B5EF4-FFF2-40B4-BE49-F238E27FC236}">
                <a16:creationId xmlns:a16="http://schemas.microsoft.com/office/drawing/2014/main" id="{2AA841B5-E14F-407E-0E65-7968AAEEE7C4}"/>
              </a:ext>
            </a:extLst>
          </p:cNvPr>
          <p:cNvSpPr>
            <a:spLocks noGrp="1"/>
          </p:cNvSpPr>
          <p:nvPr>
            <p:ph type="body" idx="1"/>
          </p:nvPr>
        </p:nvSpPr>
        <p:spPr/>
        <p:txBody>
          <a:bodyPr/>
          <a:lstStyle/>
          <a:p>
            <a:r>
              <a:rPr lang="tr-TR" dirty="0"/>
              <a:t>Yeşil alan</a:t>
            </a:r>
          </a:p>
          <a:p>
            <a:endParaRPr lang="tr-TR" dirty="0"/>
          </a:p>
          <a:p>
            <a:r>
              <a:rPr lang="tr-TR" dirty="0" err="1"/>
              <a:t>Satınalma</a:t>
            </a:r>
            <a:r>
              <a:rPr lang="tr-TR" dirty="0"/>
              <a:t> ve birleşme</a:t>
            </a:r>
          </a:p>
          <a:p>
            <a:endParaRPr lang="tr-TR" dirty="0"/>
          </a:p>
          <a:p>
            <a:r>
              <a:rPr lang="tr-TR" dirty="0"/>
              <a:t>Ortaklık</a:t>
            </a:r>
          </a:p>
          <a:p>
            <a:endParaRPr lang="tr-TR" dirty="0"/>
          </a:p>
          <a:p>
            <a:r>
              <a:rPr lang="tr-TR" dirty="0"/>
              <a:t>Kahverengi alan</a:t>
            </a:r>
          </a:p>
        </p:txBody>
      </p:sp>
      <p:sp>
        <p:nvSpPr>
          <p:cNvPr id="4" name="Slide Number Placeholder 3">
            <a:extLst>
              <a:ext uri="{FF2B5EF4-FFF2-40B4-BE49-F238E27FC236}">
                <a16:creationId xmlns:a16="http://schemas.microsoft.com/office/drawing/2014/main" id="{F69EF6AC-EC1C-E9BA-EDCE-35929D9A7A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a:t>
            </a:fld>
            <a:endParaRPr lang="tr-TR"/>
          </a:p>
        </p:txBody>
      </p:sp>
    </p:spTree>
    <p:extLst>
      <p:ext uri="{BB962C8B-B14F-4D97-AF65-F5344CB8AC3E}">
        <p14:creationId xmlns:p14="http://schemas.microsoft.com/office/powerpoint/2010/main" val="1989443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1464de8fc78_0_59"/>
          <p:cNvSpPr txBox="1">
            <a:spLocks noGrp="1"/>
          </p:cNvSpPr>
          <p:nvPr>
            <p:ph type="title"/>
          </p:nvPr>
        </p:nvSpPr>
        <p:spPr>
          <a:xfrm>
            <a:off x="914400" y="0"/>
            <a:ext cx="6705600" cy="990600"/>
          </a:xfrm>
          <a:prstGeom prst="rect">
            <a:avLst/>
          </a:prstGeom>
        </p:spPr>
        <p:txBody>
          <a:bodyPr spcFirstLastPara="1" wrap="square" lIns="45700" tIns="47625" rIns="91425" bIns="47625" anchor="ctr" anchorCtr="0">
            <a:noAutofit/>
          </a:bodyPr>
          <a:lstStyle/>
          <a:p>
            <a:pPr marL="0" lvl="0" indent="0" algn="ctr" rtl="0">
              <a:spcBef>
                <a:spcPts val="0"/>
              </a:spcBef>
              <a:spcAft>
                <a:spcPts val="0"/>
              </a:spcAft>
              <a:buNone/>
            </a:pPr>
            <a:r>
              <a:rPr lang="tr-TR"/>
              <a:t>TR En Büyük Holdinglerin Bünyelerindeki Şirketler</a:t>
            </a:r>
            <a:endParaRPr/>
          </a:p>
        </p:txBody>
      </p:sp>
      <p:pic>
        <p:nvPicPr>
          <p:cNvPr id="912" name="Google Shape;912;g1464de8fc78_0_59"/>
          <p:cNvPicPr preferRelativeResize="0"/>
          <p:nvPr/>
        </p:nvPicPr>
        <p:blipFill>
          <a:blip r:embed="rId3">
            <a:alphaModFix/>
          </a:blip>
          <a:stretch>
            <a:fillRect/>
          </a:stretch>
        </p:blipFill>
        <p:spPr>
          <a:xfrm>
            <a:off x="0" y="1133475"/>
            <a:ext cx="9143999" cy="5076825"/>
          </a:xfrm>
          <a:prstGeom prst="rect">
            <a:avLst/>
          </a:prstGeom>
          <a:noFill/>
          <a:ln>
            <a:noFill/>
          </a:ln>
        </p:spPr>
      </p:pic>
      <p:sp>
        <p:nvSpPr>
          <p:cNvPr id="913" name="Google Shape;913;g1464de8fc78_0_59"/>
          <p:cNvSpPr txBox="1"/>
          <p:nvPr/>
        </p:nvSpPr>
        <p:spPr>
          <a:xfrm>
            <a:off x="530650" y="5853800"/>
            <a:ext cx="79737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br>
              <a:rPr lang="tr-TR"/>
            </a:br>
            <a:r>
              <a:rPr lang="tr-TR"/>
              <a:t>Source: </a:t>
            </a:r>
            <a:r>
              <a:rPr lang="tr-TR" sz="1100" u="sng">
                <a:solidFill>
                  <a:schemeClr val="hlink"/>
                </a:solidFill>
                <a:hlinkClick r:id="rId4"/>
              </a:rPr>
              <a:t>🎯Temettü yolcusu 🎯UV,ARGE✍🏀 on Twitter: "Türkiye ,nin en büyük holding bünyelerindeki şirketler .#KCHOL,#SAHOL,#IS,#ZORLU,#OYAK vb.🎯✍ https://t.co/EtU2WAC1eG" / Twitter</a:t>
            </a:r>
            <a:endParaRPr/>
          </a:p>
        </p:txBody>
      </p:sp>
      <p:sp>
        <p:nvSpPr>
          <p:cNvPr id="2" name="Slide Number Placeholder 1">
            <a:extLst>
              <a:ext uri="{FF2B5EF4-FFF2-40B4-BE49-F238E27FC236}">
                <a16:creationId xmlns:a16="http://schemas.microsoft.com/office/drawing/2014/main" id="{A1E68CC8-8257-4F48-8B5A-5D2D3AC269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a:t>
            </a:fld>
            <a:endParaRPr lang="tr-TR"/>
          </a:p>
        </p:txBody>
      </p:sp>
    </p:spTree>
    <p:extLst>
      <p:ext uri="{BB962C8B-B14F-4D97-AF65-F5344CB8AC3E}">
        <p14:creationId xmlns:p14="http://schemas.microsoft.com/office/powerpoint/2010/main" val="307532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0A2-C8D4-3417-F781-8D7FA22B8820}"/>
              </a:ext>
            </a:extLst>
          </p:cNvPr>
          <p:cNvSpPr>
            <a:spLocks noGrp="1"/>
          </p:cNvSpPr>
          <p:nvPr>
            <p:ph type="title"/>
          </p:nvPr>
        </p:nvSpPr>
        <p:spPr/>
        <p:txBody>
          <a:bodyPr/>
          <a:lstStyle/>
          <a:p>
            <a:endParaRPr lang="tr-TR" dirty="0"/>
          </a:p>
        </p:txBody>
      </p:sp>
      <p:sp>
        <p:nvSpPr>
          <p:cNvPr id="3" name="Text Placeholder 2">
            <a:extLst>
              <a:ext uri="{FF2B5EF4-FFF2-40B4-BE49-F238E27FC236}">
                <a16:creationId xmlns:a16="http://schemas.microsoft.com/office/drawing/2014/main" id="{2AA841B5-E14F-407E-0E65-7968AAEEE7C4}"/>
              </a:ext>
            </a:extLst>
          </p:cNvPr>
          <p:cNvSpPr>
            <a:spLocks noGrp="1"/>
          </p:cNvSpPr>
          <p:nvPr>
            <p:ph type="body" idx="1"/>
          </p:nvPr>
        </p:nvSpPr>
        <p:spPr/>
        <p:txBody>
          <a:bodyPr/>
          <a:lstStyle/>
          <a:p>
            <a:endParaRPr lang="tr-TR" dirty="0"/>
          </a:p>
          <a:p>
            <a:r>
              <a:rPr lang="tr-TR" sz="4400" dirty="0"/>
              <a:t>1. Dış yatırım eğilimleri</a:t>
            </a:r>
          </a:p>
        </p:txBody>
      </p:sp>
      <p:sp>
        <p:nvSpPr>
          <p:cNvPr id="4" name="Slide Number Placeholder 3">
            <a:extLst>
              <a:ext uri="{FF2B5EF4-FFF2-40B4-BE49-F238E27FC236}">
                <a16:creationId xmlns:a16="http://schemas.microsoft.com/office/drawing/2014/main" id="{F69EF6AC-EC1C-E9BA-EDCE-35929D9A7A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6</a:t>
            </a:fld>
            <a:endParaRPr lang="tr-TR"/>
          </a:p>
        </p:txBody>
      </p:sp>
    </p:spTree>
    <p:extLst>
      <p:ext uri="{BB962C8B-B14F-4D97-AF65-F5344CB8AC3E}">
        <p14:creationId xmlns:p14="http://schemas.microsoft.com/office/powerpoint/2010/main" val="3608010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B047A8-217B-463B-BAA6-830EF62872F5}"/>
              </a:ext>
            </a:extLst>
          </p:cNvPr>
          <p:cNvSpPr>
            <a:spLocks noGrp="1"/>
          </p:cNvSpPr>
          <p:nvPr>
            <p:ph type="title"/>
          </p:nvPr>
        </p:nvSpPr>
        <p:spPr>
          <a:xfrm>
            <a:off x="914399" y="0"/>
            <a:ext cx="7825339" cy="990600"/>
          </a:xfrm>
        </p:spPr>
        <p:txBody>
          <a:bodyPr/>
          <a:lstStyle/>
          <a:p>
            <a:r>
              <a:rPr lang="en-US" sz="2000" dirty="0"/>
              <a:t>Do</a:t>
            </a:r>
            <a:r>
              <a:rPr lang="tr-TR" sz="2000" dirty="0"/>
              <a:t>ğ</a:t>
            </a:r>
            <a:r>
              <a:rPr lang="en-US" sz="2000" dirty="0" err="1"/>
              <a:t>rudan</a:t>
            </a:r>
            <a:r>
              <a:rPr lang="en-US" sz="2000" dirty="0"/>
              <a:t> d</a:t>
            </a:r>
            <a:r>
              <a:rPr lang="tr-TR" sz="2000" dirty="0" err="1"/>
              <a:t>ış</a:t>
            </a:r>
            <a:r>
              <a:rPr lang="en-US" sz="2000" dirty="0"/>
              <a:t> </a:t>
            </a:r>
            <a:r>
              <a:rPr lang="en-US" sz="2000" dirty="0" err="1"/>
              <a:t>yat</a:t>
            </a:r>
            <a:r>
              <a:rPr lang="tr-TR" sz="2000" dirty="0" err="1"/>
              <a:t>ırım</a:t>
            </a:r>
            <a:r>
              <a:rPr lang="en-US" sz="2000" dirty="0"/>
              <a:t> (</a:t>
            </a:r>
            <a:r>
              <a:rPr lang="en-US" sz="2000" dirty="0" err="1"/>
              <a:t>mavi</a:t>
            </a:r>
            <a:r>
              <a:rPr lang="en-US" sz="2000" dirty="0"/>
              <a:t>/sol </a:t>
            </a:r>
            <a:r>
              <a:rPr lang="en-US" sz="2000" dirty="0" err="1"/>
              <a:t>eksen</a:t>
            </a:r>
            <a:r>
              <a:rPr lang="en-US" sz="2000" dirty="0"/>
              <a:t>) ve </a:t>
            </a:r>
            <a:r>
              <a:rPr lang="en-US" sz="2000" dirty="0" err="1"/>
              <a:t>yabanc</a:t>
            </a:r>
            <a:r>
              <a:rPr lang="tr-TR" sz="2000" dirty="0" err="1"/>
              <a:t>ıların</a:t>
            </a:r>
            <a:r>
              <a:rPr lang="en-US" sz="2000" dirty="0"/>
              <a:t> </a:t>
            </a:r>
            <a:r>
              <a:rPr lang="en-US" sz="2000" dirty="0" err="1"/>
              <a:t>konut</a:t>
            </a:r>
            <a:r>
              <a:rPr lang="en-US" sz="2000" dirty="0"/>
              <a:t> al</a:t>
            </a:r>
            <a:r>
              <a:rPr lang="tr-TR" sz="2000" dirty="0" err="1"/>
              <a:t>ımı</a:t>
            </a:r>
            <a:r>
              <a:rPr lang="en-US" sz="2000" dirty="0"/>
              <a:t> (k</a:t>
            </a:r>
            <a:r>
              <a:rPr lang="tr-TR" sz="2000" dirty="0" err="1"/>
              <a:t>ırmızı</a:t>
            </a:r>
            <a:r>
              <a:rPr lang="en-US" sz="2000" dirty="0"/>
              <a:t>/</a:t>
            </a:r>
            <a:r>
              <a:rPr lang="en-US" sz="2000" dirty="0" err="1"/>
              <a:t>sa</a:t>
            </a:r>
            <a:r>
              <a:rPr lang="tr-TR" sz="2000" dirty="0"/>
              <a:t>ğ</a:t>
            </a:r>
            <a:r>
              <a:rPr lang="en-US" sz="2000" dirty="0"/>
              <a:t> </a:t>
            </a:r>
            <a:r>
              <a:rPr lang="en-US" sz="2000" dirty="0" err="1"/>
              <a:t>eksen</a:t>
            </a:r>
            <a:r>
              <a:rPr lang="en-US" sz="2000" dirty="0"/>
              <a:t>)</a:t>
            </a:r>
            <a:endParaRPr lang="tr-TR" sz="2000" dirty="0"/>
          </a:p>
        </p:txBody>
      </p:sp>
      <p:sp>
        <p:nvSpPr>
          <p:cNvPr id="5" name="Slide Number Placeholder 4">
            <a:extLst>
              <a:ext uri="{FF2B5EF4-FFF2-40B4-BE49-F238E27FC236}">
                <a16:creationId xmlns:a16="http://schemas.microsoft.com/office/drawing/2014/main" id="{085E95FD-49C7-4773-8A02-EF111E0E74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7</a:t>
            </a:fld>
            <a:endParaRPr lang="tr-TR"/>
          </a:p>
        </p:txBody>
      </p:sp>
      <p:pic>
        <p:nvPicPr>
          <p:cNvPr id="10242" name="Picture 2" descr="https://1.bp.blogspot.com/-oMEdxehfYxg/YEHXL_JjEKI/AAAAAAAAdn0/uetFt28TIYQCG0yMdPG2n7VOeErQZ5UxQCLcBGAsYHQ/s608/Ekran%2BAl%25C4%25B1nt%25C4%25B1s%25C4%25B1.PNG2.PNG">
            <a:extLst>
              <a:ext uri="{FF2B5EF4-FFF2-40B4-BE49-F238E27FC236}">
                <a16:creationId xmlns:a16="http://schemas.microsoft.com/office/drawing/2014/main" id="{1AEBCC74-FD4C-4719-8C04-6197CEC18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118" y="1614187"/>
            <a:ext cx="7401763" cy="4565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27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2" name="Title 1">
            <a:extLst>
              <a:ext uri="{FF2B5EF4-FFF2-40B4-BE49-F238E27FC236}">
                <a16:creationId xmlns:a16="http://schemas.microsoft.com/office/drawing/2014/main" id="{DF16B316-7280-41EC-8CFD-CF50A6170EED}"/>
              </a:ext>
            </a:extLst>
          </p:cNvPr>
          <p:cNvSpPr>
            <a:spLocks noGrp="1"/>
          </p:cNvSpPr>
          <p:nvPr>
            <p:ph type="title"/>
          </p:nvPr>
        </p:nvSpPr>
        <p:spPr>
          <a:xfrm>
            <a:off x="914400" y="471638"/>
            <a:ext cx="6705600" cy="518962"/>
          </a:xfrm>
        </p:spPr>
        <p:txBody>
          <a:bodyPr/>
          <a:lstStyle/>
          <a:p>
            <a:r>
              <a:rPr lang="tr-TR" sz="2400" dirty="0"/>
              <a:t>Doğrudan dış yatırım stoku ve akımı, 2000-2013 (Milyon Dolar)</a:t>
            </a:r>
            <a:br>
              <a:rPr lang="en-GB" sz="2400" dirty="0"/>
            </a:br>
            <a:endParaRPr lang="en-GB" sz="2400" dirty="0"/>
          </a:p>
        </p:txBody>
      </p:sp>
      <p:sp>
        <p:nvSpPr>
          <p:cNvPr id="103" name="Google Shape;103;g157975152af_0_2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tr-TR" sz="1400">
                <a:latin typeface="Times New Roman"/>
                <a:ea typeface="Times New Roman"/>
                <a:cs typeface="Times New Roman"/>
                <a:sym typeface="Times New Roman"/>
              </a:rPr>
              <a:t>8</a:t>
            </a:fld>
            <a:endParaRPr sz="1400">
              <a:latin typeface="Times New Roman"/>
              <a:ea typeface="Times New Roman"/>
              <a:cs typeface="Times New Roman"/>
              <a:sym typeface="Times New Roman"/>
            </a:endParaRPr>
          </a:p>
        </p:txBody>
      </p:sp>
      <p:graphicFrame>
        <p:nvGraphicFramePr>
          <p:cNvPr id="5" name="Chart 4">
            <a:extLst>
              <a:ext uri="{FF2B5EF4-FFF2-40B4-BE49-F238E27FC236}">
                <a16:creationId xmlns:a16="http://schemas.microsoft.com/office/drawing/2014/main" id="{5AD7B3F4-9918-49CC-B116-2BAE00EBD7C8}"/>
              </a:ext>
            </a:extLst>
          </p:cNvPr>
          <p:cNvGraphicFramePr/>
          <p:nvPr/>
        </p:nvGraphicFramePr>
        <p:xfrm>
          <a:off x="394636" y="1357162"/>
          <a:ext cx="8373979" cy="5272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299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BFF09C-D56E-A365-6748-5315F7F93C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9</a:t>
            </a:fld>
            <a:endParaRPr lang="tr-TR"/>
          </a:p>
        </p:txBody>
      </p:sp>
      <p:pic>
        <p:nvPicPr>
          <p:cNvPr id="5" name="Picture 4">
            <a:extLst>
              <a:ext uri="{FF2B5EF4-FFF2-40B4-BE49-F238E27FC236}">
                <a16:creationId xmlns:a16="http://schemas.microsoft.com/office/drawing/2014/main" id="{BCF78E01-E23C-3510-F222-C0A014A7DFED}"/>
              </a:ext>
            </a:extLst>
          </p:cNvPr>
          <p:cNvPicPr>
            <a:picLocks noChangeAspect="1"/>
          </p:cNvPicPr>
          <p:nvPr/>
        </p:nvPicPr>
        <p:blipFill>
          <a:blip r:embed="rId2"/>
          <a:stretch>
            <a:fillRect/>
          </a:stretch>
        </p:blipFill>
        <p:spPr>
          <a:xfrm>
            <a:off x="96326" y="1099056"/>
            <a:ext cx="8951347" cy="5758944"/>
          </a:xfrm>
          <a:prstGeom prst="rect">
            <a:avLst/>
          </a:prstGeom>
        </p:spPr>
      </p:pic>
      <p:sp>
        <p:nvSpPr>
          <p:cNvPr id="6" name="TextBox 5">
            <a:extLst>
              <a:ext uri="{FF2B5EF4-FFF2-40B4-BE49-F238E27FC236}">
                <a16:creationId xmlns:a16="http://schemas.microsoft.com/office/drawing/2014/main" id="{9D8CFD24-5814-369E-C9D7-6FF270D3A0BF}"/>
              </a:ext>
            </a:extLst>
          </p:cNvPr>
          <p:cNvSpPr txBox="1"/>
          <p:nvPr/>
        </p:nvSpPr>
        <p:spPr>
          <a:xfrm>
            <a:off x="1034382" y="216310"/>
            <a:ext cx="8013291" cy="461665"/>
          </a:xfrm>
          <a:prstGeom prst="rect">
            <a:avLst/>
          </a:prstGeom>
          <a:noFill/>
        </p:spPr>
        <p:txBody>
          <a:bodyPr wrap="square" rtlCol="0">
            <a:spAutoFit/>
          </a:bodyPr>
          <a:lstStyle/>
          <a:p>
            <a:pPr algn="ctr"/>
            <a:r>
              <a:rPr lang="en-GB" sz="2400" b="1" dirty="0" err="1"/>
              <a:t>Türk</a:t>
            </a:r>
            <a:r>
              <a:rPr lang="en-GB" sz="2400" b="1" dirty="0"/>
              <a:t> </a:t>
            </a:r>
            <a:r>
              <a:rPr lang="en-GB" sz="2400" b="1" dirty="0" err="1"/>
              <a:t>ekonomisinin</a:t>
            </a:r>
            <a:r>
              <a:rPr lang="en-GB" sz="2400" b="1" dirty="0"/>
              <a:t> </a:t>
            </a:r>
            <a:r>
              <a:rPr lang="en-GB" sz="2400" b="1" dirty="0" err="1"/>
              <a:t>dış</a:t>
            </a:r>
            <a:r>
              <a:rPr lang="en-GB" sz="2400" b="1" dirty="0"/>
              <a:t> </a:t>
            </a:r>
            <a:r>
              <a:rPr lang="en-GB" sz="2400" b="1" dirty="0" err="1"/>
              <a:t>yatırım</a:t>
            </a:r>
            <a:r>
              <a:rPr lang="en-GB" sz="2400" b="1" dirty="0"/>
              <a:t> </a:t>
            </a:r>
            <a:r>
              <a:rPr lang="en-GB" sz="2400" b="1" dirty="0" err="1"/>
              <a:t>performansı</a:t>
            </a:r>
            <a:r>
              <a:rPr lang="en-GB" sz="2400" b="1" dirty="0"/>
              <a:t>, 2000-2013</a:t>
            </a:r>
          </a:p>
        </p:txBody>
      </p:sp>
    </p:spTree>
    <p:extLst>
      <p:ext uri="{BB962C8B-B14F-4D97-AF65-F5344CB8AC3E}">
        <p14:creationId xmlns:p14="http://schemas.microsoft.com/office/powerpoint/2010/main" val="239866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3" name="Google Shape;103;g157975152af_0_2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tr-TR" sz="1400">
                <a:latin typeface="Times New Roman"/>
                <a:ea typeface="Times New Roman"/>
                <a:cs typeface="Times New Roman"/>
                <a:sym typeface="Times New Roman"/>
              </a:rPr>
              <a:t>10</a:t>
            </a:fld>
            <a:endParaRPr sz="140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C5A4810-3EBA-13FF-5EC7-922E77B9B2E2}"/>
              </a:ext>
            </a:extLst>
          </p:cNvPr>
          <p:cNvPicPr>
            <a:picLocks noChangeAspect="1"/>
          </p:cNvPicPr>
          <p:nvPr/>
        </p:nvPicPr>
        <p:blipFill>
          <a:blip r:embed="rId3"/>
          <a:stretch>
            <a:fillRect/>
          </a:stretch>
        </p:blipFill>
        <p:spPr>
          <a:xfrm>
            <a:off x="1093199" y="1917839"/>
            <a:ext cx="6957601" cy="4237155"/>
          </a:xfrm>
          <a:prstGeom prst="rect">
            <a:avLst/>
          </a:prstGeom>
        </p:spPr>
      </p:pic>
      <p:sp>
        <p:nvSpPr>
          <p:cNvPr id="9" name="TextBox 8">
            <a:extLst>
              <a:ext uri="{FF2B5EF4-FFF2-40B4-BE49-F238E27FC236}">
                <a16:creationId xmlns:a16="http://schemas.microsoft.com/office/drawing/2014/main" id="{E153A5C9-5973-3BB7-E7B3-7C2EA215739B}"/>
              </a:ext>
            </a:extLst>
          </p:cNvPr>
          <p:cNvSpPr txBox="1"/>
          <p:nvPr/>
        </p:nvSpPr>
        <p:spPr>
          <a:xfrm>
            <a:off x="1211186" y="188859"/>
            <a:ext cx="8050801" cy="830997"/>
          </a:xfrm>
          <a:prstGeom prst="rect">
            <a:avLst/>
          </a:prstGeom>
          <a:noFill/>
        </p:spPr>
        <p:txBody>
          <a:bodyPr wrap="square">
            <a:spAutoFit/>
          </a:bodyPr>
          <a:lstStyle/>
          <a:p>
            <a:r>
              <a:rPr lang="en-GB" sz="2400" b="1" dirty="0" err="1"/>
              <a:t>Dış</a:t>
            </a:r>
            <a:r>
              <a:rPr lang="en-GB" sz="2400" b="1" dirty="0"/>
              <a:t> </a:t>
            </a:r>
            <a:r>
              <a:rPr lang="en-GB" sz="2400" b="1" dirty="0" err="1"/>
              <a:t>yatırımların</a:t>
            </a:r>
            <a:r>
              <a:rPr lang="en-GB" sz="2400" b="1" dirty="0"/>
              <a:t> </a:t>
            </a:r>
            <a:r>
              <a:rPr lang="en-GB" sz="2400" b="1" dirty="0" err="1"/>
              <a:t>coğrafi</a:t>
            </a:r>
            <a:r>
              <a:rPr lang="en-GB" sz="2400" b="1" dirty="0"/>
              <a:t> </a:t>
            </a:r>
            <a:r>
              <a:rPr lang="en-GB" sz="2400" b="1" dirty="0" err="1"/>
              <a:t>bölgelere</a:t>
            </a:r>
            <a:r>
              <a:rPr lang="en-GB" sz="2400" b="1" dirty="0"/>
              <a:t> </a:t>
            </a:r>
            <a:r>
              <a:rPr lang="en-GB" sz="2400" b="1" dirty="0" err="1"/>
              <a:t>göre</a:t>
            </a:r>
            <a:r>
              <a:rPr lang="en-GB" sz="2400" b="1" dirty="0"/>
              <a:t> </a:t>
            </a:r>
            <a:r>
              <a:rPr lang="en-GB" sz="2400" b="1" dirty="0" err="1"/>
              <a:t>dağılımı</a:t>
            </a:r>
            <a:r>
              <a:rPr lang="en-GB" sz="2400" b="1" dirty="0"/>
              <a:t>, 2014</a:t>
            </a:r>
          </a:p>
          <a:p>
            <a:r>
              <a:rPr lang="en-GB" sz="2400" b="1" dirty="0"/>
              <a:t>(</a:t>
            </a:r>
            <a:r>
              <a:rPr lang="en-GB" sz="2400" b="1" dirty="0" err="1"/>
              <a:t>Akım</a:t>
            </a:r>
            <a:r>
              <a:rPr lang="en-GB" sz="2400" b="1" dirty="0"/>
              <a:t>; </a:t>
            </a:r>
            <a:r>
              <a:rPr lang="en-GB" sz="2400" b="1" dirty="0" err="1"/>
              <a:t>milyon</a:t>
            </a:r>
            <a:r>
              <a:rPr lang="en-GB" sz="2400" b="1" dirty="0"/>
              <a:t> </a:t>
            </a:r>
            <a:r>
              <a:rPr lang="en-GB" sz="2400" b="1" dirty="0" err="1"/>
              <a:t>dolar</a:t>
            </a:r>
            <a:r>
              <a:rPr lang="en-GB" sz="2400" b="1" dirty="0"/>
              <a:t>, % pay)</a:t>
            </a:r>
          </a:p>
        </p:txBody>
      </p:sp>
    </p:spTree>
    <p:extLst>
      <p:ext uri="{BB962C8B-B14F-4D97-AF65-F5344CB8AC3E}">
        <p14:creationId xmlns:p14="http://schemas.microsoft.com/office/powerpoint/2010/main" val="3125686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8DB5B-05CC-1899-9573-6A9E981B0E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11</a:t>
            </a:fld>
            <a:endParaRPr lang="tr-TR"/>
          </a:p>
        </p:txBody>
      </p:sp>
      <p:sp>
        <p:nvSpPr>
          <p:cNvPr id="4" name="TextBox 3">
            <a:extLst>
              <a:ext uri="{FF2B5EF4-FFF2-40B4-BE49-F238E27FC236}">
                <a16:creationId xmlns:a16="http://schemas.microsoft.com/office/drawing/2014/main" id="{B3D34DCC-A714-174B-F514-0198A1569F3E}"/>
              </a:ext>
            </a:extLst>
          </p:cNvPr>
          <p:cNvSpPr txBox="1"/>
          <p:nvPr/>
        </p:nvSpPr>
        <p:spPr>
          <a:xfrm>
            <a:off x="624348" y="0"/>
            <a:ext cx="7398774" cy="1131848"/>
          </a:xfrm>
          <a:prstGeom prst="rect">
            <a:avLst/>
          </a:prstGeom>
          <a:noFill/>
        </p:spPr>
        <p:txBody>
          <a:bodyPr wrap="square">
            <a:spAutoFit/>
          </a:bodyPr>
          <a:lstStyle/>
          <a:p>
            <a:pPr algn="ctr">
              <a:lnSpc>
                <a:spcPct val="150000"/>
              </a:lnSpc>
            </a:pPr>
            <a:r>
              <a:rPr lang="tr-TR" sz="2400" b="1" dirty="0">
                <a:effectLst/>
                <a:latin typeface="+mj-lt"/>
                <a:ea typeface="Cambria" panose="02040503050406030204" pitchFamily="18" charset="0"/>
                <a:cs typeface="Times New Roman" panose="02020603050405020304" pitchFamily="18" charset="0"/>
              </a:rPr>
              <a:t>Dış yatırımların ülkelere göre dağılımı, 2014</a:t>
            </a:r>
            <a:endParaRPr lang="en-GB" sz="2400" b="1" dirty="0">
              <a:effectLst/>
              <a:latin typeface="+mj-lt"/>
              <a:ea typeface="Cambria" panose="02040503050406030204" pitchFamily="18" charset="0"/>
              <a:cs typeface="Arial" panose="020B0604020202020204" pitchFamily="34" charset="0"/>
            </a:endParaRPr>
          </a:p>
          <a:p>
            <a:pPr indent="449580" algn="ctr">
              <a:lnSpc>
                <a:spcPct val="150000"/>
              </a:lnSpc>
              <a:spcAft>
                <a:spcPts val="1000"/>
              </a:spcAft>
            </a:pPr>
            <a:r>
              <a:rPr lang="tr-TR" sz="2400" b="1" dirty="0">
                <a:effectLst/>
                <a:latin typeface="+mj-lt"/>
                <a:ea typeface="Cambria" panose="02040503050406030204" pitchFamily="18" charset="0"/>
                <a:cs typeface="Times New Roman" panose="02020603050405020304" pitchFamily="18" charset="0"/>
              </a:rPr>
              <a:t>(Milyon Dolar, % pay) </a:t>
            </a:r>
            <a:endParaRPr lang="en-GB" sz="2400" b="1" dirty="0">
              <a:effectLst/>
              <a:latin typeface="+mj-lt"/>
              <a:ea typeface="Cambria" panose="02040503050406030204" pitchFamily="18" charset="0"/>
              <a:cs typeface="Arial" panose="020B0604020202020204" pitchFamily="34" charset="0"/>
            </a:endParaRPr>
          </a:p>
        </p:txBody>
      </p:sp>
      <p:graphicFrame>
        <p:nvGraphicFramePr>
          <p:cNvPr id="5" name="Chart 4">
            <a:extLst>
              <a:ext uri="{FF2B5EF4-FFF2-40B4-BE49-F238E27FC236}">
                <a16:creationId xmlns:a16="http://schemas.microsoft.com/office/drawing/2014/main" id="{4FFB8FD0-F464-1656-6FE5-5F75037CC593}"/>
              </a:ext>
            </a:extLst>
          </p:cNvPr>
          <p:cNvGraphicFramePr/>
          <p:nvPr/>
        </p:nvGraphicFramePr>
        <p:xfrm>
          <a:off x="1543664" y="1730517"/>
          <a:ext cx="6479458" cy="4198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4520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F87B60-EB7B-22D4-231E-7D5B13916B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12</a:t>
            </a:fld>
            <a:endParaRPr lang="tr-TR"/>
          </a:p>
        </p:txBody>
      </p:sp>
      <p:sp>
        <p:nvSpPr>
          <p:cNvPr id="4" name="TextBox 3">
            <a:extLst>
              <a:ext uri="{FF2B5EF4-FFF2-40B4-BE49-F238E27FC236}">
                <a16:creationId xmlns:a16="http://schemas.microsoft.com/office/drawing/2014/main" id="{27C5F235-B380-71B6-60CD-2F143A72F748}"/>
              </a:ext>
            </a:extLst>
          </p:cNvPr>
          <p:cNvSpPr txBox="1"/>
          <p:nvPr/>
        </p:nvSpPr>
        <p:spPr>
          <a:xfrm>
            <a:off x="1071716" y="240267"/>
            <a:ext cx="8406581" cy="830997"/>
          </a:xfrm>
          <a:prstGeom prst="rect">
            <a:avLst/>
          </a:prstGeom>
          <a:noFill/>
        </p:spPr>
        <p:txBody>
          <a:bodyPr wrap="square">
            <a:spAutoFit/>
          </a:bodyPr>
          <a:lstStyle/>
          <a:p>
            <a:r>
              <a:rPr lang="en-GB" sz="2400" b="1" dirty="0" err="1"/>
              <a:t>Doğrudan</a:t>
            </a:r>
            <a:r>
              <a:rPr lang="en-GB" sz="2400" b="1" dirty="0"/>
              <a:t> </a:t>
            </a:r>
            <a:r>
              <a:rPr lang="en-GB" sz="2400" b="1" dirty="0" err="1"/>
              <a:t>dış</a:t>
            </a:r>
            <a:r>
              <a:rPr lang="en-GB" sz="2400" b="1" dirty="0"/>
              <a:t> </a:t>
            </a:r>
            <a:r>
              <a:rPr lang="en-GB" sz="2400" b="1" dirty="0" err="1"/>
              <a:t>yatırım</a:t>
            </a:r>
            <a:r>
              <a:rPr lang="en-GB" sz="2400" b="1" dirty="0"/>
              <a:t> </a:t>
            </a:r>
            <a:r>
              <a:rPr lang="en-GB" sz="2400" b="1" dirty="0" err="1"/>
              <a:t>akımındaki</a:t>
            </a:r>
            <a:r>
              <a:rPr lang="en-GB" sz="2400" b="1" dirty="0"/>
              <a:t> </a:t>
            </a:r>
            <a:r>
              <a:rPr lang="en-GB" sz="2400" b="1" dirty="0" err="1"/>
              <a:t>değişimin</a:t>
            </a:r>
            <a:r>
              <a:rPr lang="en-GB" sz="2400" b="1" dirty="0"/>
              <a:t> </a:t>
            </a:r>
            <a:r>
              <a:rPr lang="en-GB" sz="2400" b="1" dirty="0" err="1"/>
              <a:t>endüstriyel</a:t>
            </a:r>
            <a:r>
              <a:rPr lang="en-GB" sz="2400" b="1" dirty="0"/>
              <a:t> </a:t>
            </a:r>
            <a:r>
              <a:rPr lang="en-GB" sz="2400" b="1" dirty="0" err="1"/>
              <a:t>dağılımı</a:t>
            </a:r>
            <a:r>
              <a:rPr lang="en-GB" sz="2400" b="1" dirty="0"/>
              <a:t>, 2002-2014 (</a:t>
            </a:r>
            <a:r>
              <a:rPr lang="en-GB" sz="2400" b="1" dirty="0" err="1"/>
              <a:t>Milyon</a:t>
            </a:r>
            <a:r>
              <a:rPr lang="en-GB" sz="2400" b="1" dirty="0"/>
              <a:t> </a:t>
            </a:r>
            <a:r>
              <a:rPr lang="en-GB" sz="2400" b="1" dirty="0" err="1"/>
              <a:t>Dolar</a:t>
            </a:r>
            <a:r>
              <a:rPr lang="en-GB" sz="2400" b="1" dirty="0"/>
              <a:t>)</a:t>
            </a:r>
          </a:p>
        </p:txBody>
      </p:sp>
      <p:graphicFrame>
        <p:nvGraphicFramePr>
          <p:cNvPr id="5" name="Chart 4">
            <a:extLst>
              <a:ext uri="{FF2B5EF4-FFF2-40B4-BE49-F238E27FC236}">
                <a16:creationId xmlns:a16="http://schemas.microsoft.com/office/drawing/2014/main" id="{8434DC7A-F936-6D6D-3C9C-4366B6BFBFCF}"/>
              </a:ext>
            </a:extLst>
          </p:cNvPr>
          <p:cNvGraphicFramePr/>
          <p:nvPr/>
        </p:nvGraphicFramePr>
        <p:xfrm>
          <a:off x="1090612" y="1736253"/>
          <a:ext cx="6962775" cy="44482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27190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62EEF8-5468-FB3A-8B6C-4D6AE3AD0C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13</a:t>
            </a:fld>
            <a:endParaRPr lang="tr-TR"/>
          </a:p>
        </p:txBody>
      </p:sp>
      <p:sp>
        <p:nvSpPr>
          <p:cNvPr id="4" name="TextBox 3">
            <a:extLst>
              <a:ext uri="{FF2B5EF4-FFF2-40B4-BE49-F238E27FC236}">
                <a16:creationId xmlns:a16="http://schemas.microsoft.com/office/drawing/2014/main" id="{9E043E15-8AB5-0F9F-E7E0-F155D886EF9E}"/>
              </a:ext>
            </a:extLst>
          </p:cNvPr>
          <p:cNvSpPr txBox="1"/>
          <p:nvPr/>
        </p:nvSpPr>
        <p:spPr>
          <a:xfrm>
            <a:off x="1224115" y="180841"/>
            <a:ext cx="6504039" cy="830997"/>
          </a:xfrm>
          <a:prstGeom prst="rect">
            <a:avLst/>
          </a:prstGeom>
          <a:noFill/>
        </p:spPr>
        <p:txBody>
          <a:bodyPr wrap="square">
            <a:spAutoFit/>
          </a:bodyPr>
          <a:lstStyle/>
          <a:p>
            <a:r>
              <a:rPr lang="en-GB" sz="2400" b="1" dirty="0" err="1"/>
              <a:t>Doğrudan</a:t>
            </a:r>
            <a:r>
              <a:rPr lang="en-GB" sz="2400" b="1" dirty="0"/>
              <a:t> </a:t>
            </a:r>
            <a:r>
              <a:rPr lang="en-GB" sz="2400" b="1" dirty="0" err="1"/>
              <a:t>dış</a:t>
            </a:r>
            <a:r>
              <a:rPr lang="en-GB" sz="2400" b="1" dirty="0"/>
              <a:t> </a:t>
            </a:r>
            <a:r>
              <a:rPr lang="en-GB" sz="2400" b="1" dirty="0" err="1"/>
              <a:t>yatırım</a:t>
            </a:r>
            <a:r>
              <a:rPr lang="en-GB" sz="2400" b="1" dirty="0"/>
              <a:t> </a:t>
            </a:r>
            <a:r>
              <a:rPr lang="en-GB" sz="2400" b="1" dirty="0" err="1"/>
              <a:t>stokundaki</a:t>
            </a:r>
            <a:r>
              <a:rPr lang="en-GB" sz="2400" b="1" dirty="0"/>
              <a:t> </a:t>
            </a:r>
            <a:r>
              <a:rPr lang="en-GB" sz="2400" b="1" dirty="0" err="1"/>
              <a:t>değişimin</a:t>
            </a:r>
            <a:r>
              <a:rPr lang="en-GB" sz="2400" b="1" dirty="0"/>
              <a:t> </a:t>
            </a:r>
            <a:r>
              <a:rPr lang="en-GB" sz="2400" b="1" dirty="0" err="1"/>
              <a:t>endüstriyel</a:t>
            </a:r>
            <a:r>
              <a:rPr lang="en-GB" sz="2400" b="1" dirty="0"/>
              <a:t> </a:t>
            </a:r>
            <a:r>
              <a:rPr lang="en-GB" sz="2400" b="1" dirty="0" err="1"/>
              <a:t>dağılımı</a:t>
            </a:r>
            <a:r>
              <a:rPr lang="en-GB" sz="2400" b="1" dirty="0"/>
              <a:t>, 2002-2012</a:t>
            </a:r>
          </a:p>
        </p:txBody>
      </p:sp>
      <p:grpSp>
        <p:nvGrpSpPr>
          <p:cNvPr id="7" name="Canvas 145">
            <a:extLst>
              <a:ext uri="{FF2B5EF4-FFF2-40B4-BE49-F238E27FC236}">
                <a16:creationId xmlns:a16="http://schemas.microsoft.com/office/drawing/2014/main" id="{F660491D-3784-E624-7668-AF241C213CEE}"/>
              </a:ext>
            </a:extLst>
          </p:cNvPr>
          <p:cNvGrpSpPr/>
          <p:nvPr/>
        </p:nvGrpSpPr>
        <p:grpSpPr>
          <a:xfrm>
            <a:off x="973394" y="2025445"/>
            <a:ext cx="8898194" cy="6913133"/>
            <a:chOff x="29074" y="36440"/>
            <a:chExt cx="6532381" cy="4325375"/>
          </a:xfrm>
        </p:grpSpPr>
        <p:sp>
          <p:nvSpPr>
            <p:cNvPr id="8" name="Rectangle 7">
              <a:extLst>
                <a:ext uri="{FF2B5EF4-FFF2-40B4-BE49-F238E27FC236}">
                  <a16:creationId xmlns:a16="http://schemas.microsoft.com/office/drawing/2014/main" id="{0D887105-D746-5671-6054-52F6CA8595B1}"/>
                </a:ext>
              </a:extLst>
            </p:cNvPr>
            <p:cNvSpPr/>
            <p:nvPr/>
          </p:nvSpPr>
          <p:spPr>
            <a:xfrm>
              <a:off x="1125220" y="1911985"/>
              <a:ext cx="5436235" cy="2449830"/>
            </a:xfrm>
            <a:prstGeom prst="rect">
              <a:avLst/>
            </a:prstGeom>
            <a:noFill/>
            <a:ln>
              <a:noFill/>
            </a:ln>
          </p:spPr>
          <p:txBody>
            <a:bodyPr/>
            <a:lstStyle/>
            <a:p>
              <a:endParaRPr lang="tr-TR"/>
            </a:p>
          </p:txBody>
        </p:sp>
        <p:sp>
          <p:nvSpPr>
            <p:cNvPr id="9" name="Rectangle 8">
              <a:extLst>
                <a:ext uri="{FF2B5EF4-FFF2-40B4-BE49-F238E27FC236}">
                  <a16:creationId xmlns:a16="http://schemas.microsoft.com/office/drawing/2014/main" id="{41BA489A-B027-278B-C020-C2804295BA4D}"/>
                </a:ext>
              </a:extLst>
            </p:cNvPr>
            <p:cNvSpPr>
              <a:spLocks noChangeArrowheads="1"/>
            </p:cNvSpPr>
            <p:nvPr/>
          </p:nvSpPr>
          <p:spPr bwMode="auto">
            <a:xfrm>
              <a:off x="685029" y="509270"/>
              <a:ext cx="3444875" cy="19405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0" name="Freeform 7">
              <a:extLst>
                <a:ext uri="{FF2B5EF4-FFF2-40B4-BE49-F238E27FC236}">
                  <a16:creationId xmlns:a16="http://schemas.microsoft.com/office/drawing/2014/main" id="{0865E351-88E3-C8C1-4E17-A2FA0E2D003C}"/>
                </a:ext>
              </a:extLst>
            </p:cNvPr>
            <p:cNvSpPr>
              <a:spLocks noEditPoints="1"/>
            </p:cNvSpPr>
            <p:nvPr/>
          </p:nvSpPr>
          <p:spPr bwMode="auto">
            <a:xfrm>
              <a:off x="937124" y="119625"/>
              <a:ext cx="3453765" cy="1678940"/>
            </a:xfrm>
            <a:custGeom>
              <a:avLst/>
              <a:gdLst>
                <a:gd name="T0" fmla="*/ 0 w 5439"/>
                <a:gd name="T1" fmla="*/ 2631 h 2644"/>
                <a:gd name="T2" fmla="*/ 5439 w 5439"/>
                <a:gd name="T3" fmla="*/ 2631 h 2644"/>
                <a:gd name="T4" fmla="*/ 5439 w 5439"/>
                <a:gd name="T5" fmla="*/ 2644 h 2644"/>
                <a:gd name="T6" fmla="*/ 0 w 5439"/>
                <a:gd name="T7" fmla="*/ 2644 h 2644"/>
                <a:gd name="T8" fmla="*/ 0 w 5439"/>
                <a:gd name="T9" fmla="*/ 2631 h 2644"/>
                <a:gd name="T10" fmla="*/ 0 w 5439"/>
                <a:gd name="T11" fmla="*/ 2195 h 2644"/>
                <a:gd name="T12" fmla="*/ 5439 w 5439"/>
                <a:gd name="T13" fmla="*/ 2195 h 2644"/>
                <a:gd name="T14" fmla="*/ 5439 w 5439"/>
                <a:gd name="T15" fmla="*/ 2208 h 2644"/>
                <a:gd name="T16" fmla="*/ 0 w 5439"/>
                <a:gd name="T17" fmla="*/ 2208 h 2644"/>
                <a:gd name="T18" fmla="*/ 0 w 5439"/>
                <a:gd name="T19" fmla="*/ 2195 h 2644"/>
                <a:gd name="T20" fmla="*/ 0 w 5439"/>
                <a:gd name="T21" fmla="*/ 1745 h 2644"/>
                <a:gd name="T22" fmla="*/ 5439 w 5439"/>
                <a:gd name="T23" fmla="*/ 1745 h 2644"/>
                <a:gd name="T24" fmla="*/ 5439 w 5439"/>
                <a:gd name="T25" fmla="*/ 1758 h 2644"/>
                <a:gd name="T26" fmla="*/ 0 w 5439"/>
                <a:gd name="T27" fmla="*/ 1758 h 2644"/>
                <a:gd name="T28" fmla="*/ 0 w 5439"/>
                <a:gd name="T29" fmla="*/ 1745 h 2644"/>
                <a:gd name="T30" fmla="*/ 0 w 5439"/>
                <a:gd name="T31" fmla="*/ 1309 h 2644"/>
                <a:gd name="T32" fmla="*/ 5439 w 5439"/>
                <a:gd name="T33" fmla="*/ 1309 h 2644"/>
                <a:gd name="T34" fmla="*/ 5439 w 5439"/>
                <a:gd name="T35" fmla="*/ 1322 h 2644"/>
                <a:gd name="T36" fmla="*/ 0 w 5439"/>
                <a:gd name="T37" fmla="*/ 1322 h 2644"/>
                <a:gd name="T38" fmla="*/ 0 w 5439"/>
                <a:gd name="T39" fmla="*/ 1309 h 2644"/>
                <a:gd name="T40" fmla="*/ 0 w 5439"/>
                <a:gd name="T41" fmla="*/ 872 h 2644"/>
                <a:gd name="T42" fmla="*/ 5439 w 5439"/>
                <a:gd name="T43" fmla="*/ 872 h 2644"/>
                <a:gd name="T44" fmla="*/ 5439 w 5439"/>
                <a:gd name="T45" fmla="*/ 885 h 2644"/>
                <a:gd name="T46" fmla="*/ 0 w 5439"/>
                <a:gd name="T47" fmla="*/ 885 h 2644"/>
                <a:gd name="T48" fmla="*/ 0 w 5439"/>
                <a:gd name="T49" fmla="*/ 872 h 2644"/>
                <a:gd name="T50" fmla="*/ 0 w 5439"/>
                <a:gd name="T51" fmla="*/ 436 h 2644"/>
                <a:gd name="T52" fmla="*/ 5439 w 5439"/>
                <a:gd name="T53" fmla="*/ 436 h 2644"/>
                <a:gd name="T54" fmla="*/ 5439 w 5439"/>
                <a:gd name="T55" fmla="*/ 449 h 2644"/>
                <a:gd name="T56" fmla="*/ 0 w 5439"/>
                <a:gd name="T57" fmla="*/ 449 h 2644"/>
                <a:gd name="T58" fmla="*/ 0 w 5439"/>
                <a:gd name="T59" fmla="*/ 436 h 2644"/>
                <a:gd name="T60" fmla="*/ 0 w 5439"/>
                <a:gd name="T61" fmla="*/ 0 h 2644"/>
                <a:gd name="T62" fmla="*/ 5439 w 5439"/>
                <a:gd name="T63" fmla="*/ 0 h 2644"/>
                <a:gd name="T64" fmla="*/ 5439 w 5439"/>
                <a:gd name="T65" fmla="*/ 12 h 2644"/>
                <a:gd name="T66" fmla="*/ 0 w 5439"/>
                <a:gd name="T67" fmla="*/ 12 h 2644"/>
                <a:gd name="T68" fmla="*/ 0 w 5439"/>
                <a:gd name="T69" fmla="*/ 0 h 2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439" h="2644">
                  <a:moveTo>
                    <a:pt x="0" y="2631"/>
                  </a:moveTo>
                  <a:lnTo>
                    <a:pt x="5439" y="2631"/>
                  </a:lnTo>
                  <a:lnTo>
                    <a:pt x="5439" y="2644"/>
                  </a:lnTo>
                  <a:lnTo>
                    <a:pt x="0" y="2644"/>
                  </a:lnTo>
                  <a:lnTo>
                    <a:pt x="0" y="2631"/>
                  </a:lnTo>
                  <a:close/>
                  <a:moveTo>
                    <a:pt x="0" y="2195"/>
                  </a:moveTo>
                  <a:lnTo>
                    <a:pt x="5439" y="2195"/>
                  </a:lnTo>
                  <a:lnTo>
                    <a:pt x="5439" y="2208"/>
                  </a:lnTo>
                  <a:lnTo>
                    <a:pt x="0" y="2208"/>
                  </a:lnTo>
                  <a:lnTo>
                    <a:pt x="0" y="2195"/>
                  </a:lnTo>
                  <a:close/>
                  <a:moveTo>
                    <a:pt x="0" y="1745"/>
                  </a:moveTo>
                  <a:lnTo>
                    <a:pt x="5439" y="1745"/>
                  </a:lnTo>
                  <a:lnTo>
                    <a:pt x="5439" y="1758"/>
                  </a:lnTo>
                  <a:lnTo>
                    <a:pt x="0" y="1758"/>
                  </a:lnTo>
                  <a:lnTo>
                    <a:pt x="0" y="1745"/>
                  </a:lnTo>
                  <a:close/>
                  <a:moveTo>
                    <a:pt x="0" y="1309"/>
                  </a:moveTo>
                  <a:lnTo>
                    <a:pt x="5439" y="1309"/>
                  </a:lnTo>
                  <a:lnTo>
                    <a:pt x="5439" y="1322"/>
                  </a:lnTo>
                  <a:lnTo>
                    <a:pt x="0" y="1322"/>
                  </a:lnTo>
                  <a:lnTo>
                    <a:pt x="0" y="1309"/>
                  </a:lnTo>
                  <a:close/>
                  <a:moveTo>
                    <a:pt x="0" y="872"/>
                  </a:moveTo>
                  <a:lnTo>
                    <a:pt x="5439" y="872"/>
                  </a:lnTo>
                  <a:lnTo>
                    <a:pt x="5439" y="885"/>
                  </a:lnTo>
                  <a:lnTo>
                    <a:pt x="0" y="885"/>
                  </a:lnTo>
                  <a:lnTo>
                    <a:pt x="0" y="872"/>
                  </a:lnTo>
                  <a:close/>
                  <a:moveTo>
                    <a:pt x="0" y="436"/>
                  </a:moveTo>
                  <a:lnTo>
                    <a:pt x="5439" y="436"/>
                  </a:lnTo>
                  <a:lnTo>
                    <a:pt x="5439" y="449"/>
                  </a:lnTo>
                  <a:lnTo>
                    <a:pt x="0" y="449"/>
                  </a:lnTo>
                  <a:lnTo>
                    <a:pt x="0" y="436"/>
                  </a:lnTo>
                  <a:close/>
                  <a:moveTo>
                    <a:pt x="0" y="0"/>
                  </a:moveTo>
                  <a:lnTo>
                    <a:pt x="5439" y="0"/>
                  </a:lnTo>
                  <a:lnTo>
                    <a:pt x="5439" y="12"/>
                  </a:lnTo>
                  <a:lnTo>
                    <a:pt x="0" y="12"/>
                  </a:lnTo>
                  <a:lnTo>
                    <a:pt x="0" y="0"/>
                  </a:lnTo>
                  <a:close/>
                </a:path>
              </a:pathLst>
            </a:custGeom>
            <a:solidFill>
              <a:srgbClr val="868686"/>
            </a:solidFill>
            <a:ln w="9525" cap="flat">
              <a:solidFill>
                <a:srgbClr val="868686"/>
              </a:solidFill>
              <a:prstDash val="solid"/>
              <a:bevel/>
              <a:headEnd/>
              <a:tailEnd/>
            </a:ln>
          </p:spPr>
          <p:txBody>
            <a:bodyPr rot="0" vert="horz" wrap="square" lIns="91440" tIns="45720" rIns="91440" bIns="45720" anchor="t" anchorCtr="0" upright="1">
              <a:noAutofit/>
            </a:bodyPr>
            <a:lstStyle/>
            <a:p>
              <a:endParaRPr lang="en-GB"/>
            </a:p>
          </p:txBody>
        </p:sp>
        <p:sp>
          <p:nvSpPr>
            <p:cNvPr id="11" name="Rectangle 10">
              <a:extLst>
                <a:ext uri="{FF2B5EF4-FFF2-40B4-BE49-F238E27FC236}">
                  <a16:creationId xmlns:a16="http://schemas.microsoft.com/office/drawing/2014/main" id="{D3651B40-9A37-9F91-CC4D-9FA0E20742A7}"/>
                </a:ext>
              </a:extLst>
            </p:cNvPr>
            <p:cNvSpPr>
              <a:spLocks noChangeArrowheads="1"/>
            </p:cNvSpPr>
            <p:nvPr/>
          </p:nvSpPr>
          <p:spPr bwMode="auto">
            <a:xfrm>
              <a:off x="921249" y="119625"/>
              <a:ext cx="8890" cy="1948180"/>
            </a:xfrm>
            <a:prstGeom prst="rect">
              <a:avLst/>
            </a:prstGeom>
            <a:solidFill>
              <a:srgbClr val="868686"/>
            </a:solidFill>
            <a:ln w="9525" cap="flat">
              <a:solidFill>
                <a:srgbClr val="868686"/>
              </a:solidFill>
              <a:prstDash val="solid"/>
              <a:bevel/>
              <a:headEnd/>
              <a:tailEnd/>
            </a:ln>
          </p:spPr>
          <p:txBody>
            <a:bodyPr rot="0" vert="horz" wrap="square" lIns="91440" tIns="45720" rIns="91440" bIns="45720" anchor="t" anchorCtr="0" upright="1">
              <a:noAutofit/>
            </a:bodyPr>
            <a:lstStyle/>
            <a:p>
              <a:endParaRPr lang="en-GB"/>
            </a:p>
          </p:txBody>
        </p:sp>
        <p:sp>
          <p:nvSpPr>
            <p:cNvPr id="12" name="Freeform 9">
              <a:extLst>
                <a:ext uri="{FF2B5EF4-FFF2-40B4-BE49-F238E27FC236}">
                  <a16:creationId xmlns:a16="http://schemas.microsoft.com/office/drawing/2014/main" id="{2E30B90F-9DB7-E28E-D9B6-AE9ABF879B4A}"/>
                </a:ext>
              </a:extLst>
            </p:cNvPr>
            <p:cNvSpPr>
              <a:spLocks noEditPoints="1"/>
            </p:cNvSpPr>
            <p:nvPr/>
          </p:nvSpPr>
          <p:spPr bwMode="auto">
            <a:xfrm>
              <a:off x="893309" y="115180"/>
              <a:ext cx="36830" cy="1956435"/>
            </a:xfrm>
            <a:custGeom>
              <a:avLst/>
              <a:gdLst>
                <a:gd name="T0" fmla="*/ 0 w 58"/>
                <a:gd name="T1" fmla="*/ 3068 h 3081"/>
                <a:gd name="T2" fmla="*/ 58 w 58"/>
                <a:gd name="T3" fmla="*/ 3068 h 3081"/>
                <a:gd name="T4" fmla="*/ 58 w 58"/>
                <a:gd name="T5" fmla="*/ 3081 h 3081"/>
                <a:gd name="T6" fmla="*/ 0 w 58"/>
                <a:gd name="T7" fmla="*/ 3081 h 3081"/>
                <a:gd name="T8" fmla="*/ 0 w 58"/>
                <a:gd name="T9" fmla="*/ 3068 h 3081"/>
                <a:gd name="T10" fmla="*/ 0 w 58"/>
                <a:gd name="T11" fmla="*/ 2631 h 3081"/>
                <a:gd name="T12" fmla="*/ 58 w 58"/>
                <a:gd name="T13" fmla="*/ 2631 h 3081"/>
                <a:gd name="T14" fmla="*/ 58 w 58"/>
                <a:gd name="T15" fmla="*/ 2644 h 3081"/>
                <a:gd name="T16" fmla="*/ 0 w 58"/>
                <a:gd name="T17" fmla="*/ 2644 h 3081"/>
                <a:gd name="T18" fmla="*/ 0 w 58"/>
                <a:gd name="T19" fmla="*/ 2631 h 3081"/>
                <a:gd name="T20" fmla="*/ 0 w 58"/>
                <a:gd name="T21" fmla="*/ 2195 h 3081"/>
                <a:gd name="T22" fmla="*/ 58 w 58"/>
                <a:gd name="T23" fmla="*/ 2195 h 3081"/>
                <a:gd name="T24" fmla="*/ 58 w 58"/>
                <a:gd name="T25" fmla="*/ 2208 h 3081"/>
                <a:gd name="T26" fmla="*/ 0 w 58"/>
                <a:gd name="T27" fmla="*/ 2208 h 3081"/>
                <a:gd name="T28" fmla="*/ 0 w 58"/>
                <a:gd name="T29" fmla="*/ 2195 h 3081"/>
                <a:gd name="T30" fmla="*/ 0 w 58"/>
                <a:gd name="T31" fmla="*/ 1745 h 3081"/>
                <a:gd name="T32" fmla="*/ 58 w 58"/>
                <a:gd name="T33" fmla="*/ 1745 h 3081"/>
                <a:gd name="T34" fmla="*/ 58 w 58"/>
                <a:gd name="T35" fmla="*/ 1758 h 3081"/>
                <a:gd name="T36" fmla="*/ 0 w 58"/>
                <a:gd name="T37" fmla="*/ 1758 h 3081"/>
                <a:gd name="T38" fmla="*/ 0 w 58"/>
                <a:gd name="T39" fmla="*/ 1745 h 3081"/>
                <a:gd name="T40" fmla="*/ 0 w 58"/>
                <a:gd name="T41" fmla="*/ 1309 h 3081"/>
                <a:gd name="T42" fmla="*/ 58 w 58"/>
                <a:gd name="T43" fmla="*/ 1309 h 3081"/>
                <a:gd name="T44" fmla="*/ 58 w 58"/>
                <a:gd name="T45" fmla="*/ 1322 h 3081"/>
                <a:gd name="T46" fmla="*/ 0 w 58"/>
                <a:gd name="T47" fmla="*/ 1322 h 3081"/>
                <a:gd name="T48" fmla="*/ 0 w 58"/>
                <a:gd name="T49" fmla="*/ 1309 h 3081"/>
                <a:gd name="T50" fmla="*/ 0 w 58"/>
                <a:gd name="T51" fmla="*/ 872 h 3081"/>
                <a:gd name="T52" fmla="*/ 58 w 58"/>
                <a:gd name="T53" fmla="*/ 872 h 3081"/>
                <a:gd name="T54" fmla="*/ 58 w 58"/>
                <a:gd name="T55" fmla="*/ 885 h 3081"/>
                <a:gd name="T56" fmla="*/ 0 w 58"/>
                <a:gd name="T57" fmla="*/ 885 h 3081"/>
                <a:gd name="T58" fmla="*/ 0 w 58"/>
                <a:gd name="T59" fmla="*/ 872 h 3081"/>
                <a:gd name="T60" fmla="*/ 0 w 58"/>
                <a:gd name="T61" fmla="*/ 436 h 3081"/>
                <a:gd name="T62" fmla="*/ 58 w 58"/>
                <a:gd name="T63" fmla="*/ 436 h 3081"/>
                <a:gd name="T64" fmla="*/ 58 w 58"/>
                <a:gd name="T65" fmla="*/ 449 h 3081"/>
                <a:gd name="T66" fmla="*/ 0 w 58"/>
                <a:gd name="T67" fmla="*/ 449 h 3081"/>
                <a:gd name="T68" fmla="*/ 0 w 58"/>
                <a:gd name="T69" fmla="*/ 436 h 3081"/>
                <a:gd name="T70" fmla="*/ 0 w 58"/>
                <a:gd name="T71" fmla="*/ 0 h 3081"/>
                <a:gd name="T72" fmla="*/ 58 w 58"/>
                <a:gd name="T73" fmla="*/ 0 h 3081"/>
                <a:gd name="T74" fmla="*/ 58 w 58"/>
                <a:gd name="T75" fmla="*/ 12 h 3081"/>
                <a:gd name="T76" fmla="*/ 0 w 58"/>
                <a:gd name="T77" fmla="*/ 12 h 3081"/>
                <a:gd name="T78" fmla="*/ 0 w 58"/>
                <a:gd name="T79" fmla="*/ 0 h 3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8" h="3081">
                  <a:moveTo>
                    <a:pt x="0" y="3068"/>
                  </a:moveTo>
                  <a:lnTo>
                    <a:pt x="58" y="3068"/>
                  </a:lnTo>
                  <a:lnTo>
                    <a:pt x="58" y="3081"/>
                  </a:lnTo>
                  <a:lnTo>
                    <a:pt x="0" y="3081"/>
                  </a:lnTo>
                  <a:lnTo>
                    <a:pt x="0" y="3068"/>
                  </a:lnTo>
                  <a:close/>
                  <a:moveTo>
                    <a:pt x="0" y="2631"/>
                  </a:moveTo>
                  <a:lnTo>
                    <a:pt x="58" y="2631"/>
                  </a:lnTo>
                  <a:lnTo>
                    <a:pt x="58" y="2644"/>
                  </a:lnTo>
                  <a:lnTo>
                    <a:pt x="0" y="2644"/>
                  </a:lnTo>
                  <a:lnTo>
                    <a:pt x="0" y="2631"/>
                  </a:lnTo>
                  <a:close/>
                  <a:moveTo>
                    <a:pt x="0" y="2195"/>
                  </a:moveTo>
                  <a:lnTo>
                    <a:pt x="58" y="2195"/>
                  </a:lnTo>
                  <a:lnTo>
                    <a:pt x="58" y="2208"/>
                  </a:lnTo>
                  <a:lnTo>
                    <a:pt x="0" y="2208"/>
                  </a:lnTo>
                  <a:lnTo>
                    <a:pt x="0" y="2195"/>
                  </a:lnTo>
                  <a:close/>
                  <a:moveTo>
                    <a:pt x="0" y="1745"/>
                  </a:moveTo>
                  <a:lnTo>
                    <a:pt x="58" y="1745"/>
                  </a:lnTo>
                  <a:lnTo>
                    <a:pt x="58" y="1758"/>
                  </a:lnTo>
                  <a:lnTo>
                    <a:pt x="0" y="1758"/>
                  </a:lnTo>
                  <a:lnTo>
                    <a:pt x="0" y="1745"/>
                  </a:lnTo>
                  <a:close/>
                  <a:moveTo>
                    <a:pt x="0" y="1309"/>
                  </a:moveTo>
                  <a:lnTo>
                    <a:pt x="58" y="1309"/>
                  </a:lnTo>
                  <a:lnTo>
                    <a:pt x="58" y="1322"/>
                  </a:lnTo>
                  <a:lnTo>
                    <a:pt x="0" y="1322"/>
                  </a:lnTo>
                  <a:lnTo>
                    <a:pt x="0" y="1309"/>
                  </a:lnTo>
                  <a:close/>
                  <a:moveTo>
                    <a:pt x="0" y="872"/>
                  </a:moveTo>
                  <a:lnTo>
                    <a:pt x="58" y="872"/>
                  </a:lnTo>
                  <a:lnTo>
                    <a:pt x="58" y="885"/>
                  </a:lnTo>
                  <a:lnTo>
                    <a:pt x="0" y="885"/>
                  </a:lnTo>
                  <a:lnTo>
                    <a:pt x="0" y="872"/>
                  </a:lnTo>
                  <a:close/>
                  <a:moveTo>
                    <a:pt x="0" y="436"/>
                  </a:moveTo>
                  <a:lnTo>
                    <a:pt x="58" y="436"/>
                  </a:lnTo>
                  <a:lnTo>
                    <a:pt x="58" y="449"/>
                  </a:lnTo>
                  <a:lnTo>
                    <a:pt x="0" y="449"/>
                  </a:lnTo>
                  <a:lnTo>
                    <a:pt x="0" y="436"/>
                  </a:lnTo>
                  <a:close/>
                  <a:moveTo>
                    <a:pt x="0" y="0"/>
                  </a:moveTo>
                  <a:lnTo>
                    <a:pt x="58" y="0"/>
                  </a:lnTo>
                  <a:lnTo>
                    <a:pt x="58" y="12"/>
                  </a:lnTo>
                  <a:lnTo>
                    <a:pt x="0" y="12"/>
                  </a:lnTo>
                  <a:lnTo>
                    <a:pt x="0" y="0"/>
                  </a:lnTo>
                  <a:close/>
                </a:path>
              </a:pathLst>
            </a:custGeom>
            <a:solidFill>
              <a:srgbClr val="868686"/>
            </a:solidFill>
            <a:ln w="9525" cap="flat">
              <a:solidFill>
                <a:srgbClr val="868686"/>
              </a:solidFill>
              <a:prstDash val="solid"/>
              <a:bevel/>
              <a:headEnd/>
              <a:tailEnd/>
            </a:ln>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FBA0E150-5802-97BC-6BAC-AEC759824058}"/>
                </a:ext>
              </a:extLst>
            </p:cNvPr>
            <p:cNvSpPr>
              <a:spLocks noChangeArrowheads="1"/>
            </p:cNvSpPr>
            <p:nvPr/>
          </p:nvSpPr>
          <p:spPr bwMode="auto">
            <a:xfrm>
              <a:off x="944109" y="2063360"/>
              <a:ext cx="3453765" cy="8255"/>
            </a:xfrm>
            <a:prstGeom prst="rect">
              <a:avLst/>
            </a:prstGeom>
            <a:solidFill>
              <a:srgbClr val="868686"/>
            </a:solidFill>
            <a:ln w="9525" cap="flat">
              <a:solidFill>
                <a:srgbClr val="868686"/>
              </a:solidFill>
              <a:prstDash val="solid"/>
              <a:bevel/>
              <a:headEnd/>
              <a:tailEnd/>
            </a:ln>
          </p:spPr>
          <p:txBody>
            <a:bodyPr rot="0" vert="horz" wrap="square" lIns="91440" tIns="45720" rIns="91440" bIns="45720" anchor="t" anchorCtr="0" upright="1">
              <a:noAutofit/>
            </a:bodyPr>
            <a:lstStyle/>
            <a:p>
              <a:endParaRPr lang="en-GB"/>
            </a:p>
          </p:txBody>
        </p:sp>
        <p:sp>
          <p:nvSpPr>
            <p:cNvPr id="14" name="Freeform 11">
              <a:extLst>
                <a:ext uri="{FF2B5EF4-FFF2-40B4-BE49-F238E27FC236}">
                  <a16:creationId xmlns:a16="http://schemas.microsoft.com/office/drawing/2014/main" id="{AD33E254-8934-08A7-2DCF-3464789AE6EA}"/>
                </a:ext>
              </a:extLst>
            </p:cNvPr>
            <p:cNvSpPr>
              <a:spLocks noEditPoints="1"/>
            </p:cNvSpPr>
            <p:nvPr/>
          </p:nvSpPr>
          <p:spPr bwMode="auto">
            <a:xfrm>
              <a:off x="534534" y="2059550"/>
              <a:ext cx="3462655" cy="32385"/>
            </a:xfrm>
            <a:custGeom>
              <a:avLst/>
              <a:gdLst>
                <a:gd name="T0" fmla="*/ 14 w 5453"/>
                <a:gd name="T1" fmla="*/ 0 h 51"/>
                <a:gd name="T2" fmla="*/ 14 w 5453"/>
                <a:gd name="T3" fmla="*/ 51 h 51"/>
                <a:gd name="T4" fmla="*/ 0 w 5453"/>
                <a:gd name="T5" fmla="*/ 51 h 51"/>
                <a:gd name="T6" fmla="*/ 0 w 5453"/>
                <a:gd name="T7" fmla="*/ 0 h 51"/>
                <a:gd name="T8" fmla="*/ 14 w 5453"/>
                <a:gd name="T9" fmla="*/ 0 h 51"/>
                <a:gd name="T10" fmla="*/ 507 w 5453"/>
                <a:gd name="T11" fmla="*/ 0 h 51"/>
                <a:gd name="T12" fmla="*/ 507 w 5453"/>
                <a:gd name="T13" fmla="*/ 51 h 51"/>
                <a:gd name="T14" fmla="*/ 493 w 5453"/>
                <a:gd name="T15" fmla="*/ 51 h 51"/>
                <a:gd name="T16" fmla="*/ 493 w 5453"/>
                <a:gd name="T17" fmla="*/ 0 h 51"/>
                <a:gd name="T18" fmla="*/ 507 w 5453"/>
                <a:gd name="T19" fmla="*/ 0 h 51"/>
                <a:gd name="T20" fmla="*/ 1015 w 5453"/>
                <a:gd name="T21" fmla="*/ 0 h 51"/>
                <a:gd name="T22" fmla="*/ 1015 w 5453"/>
                <a:gd name="T23" fmla="*/ 51 h 51"/>
                <a:gd name="T24" fmla="*/ 1000 w 5453"/>
                <a:gd name="T25" fmla="*/ 51 h 51"/>
                <a:gd name="T26" fmla="*/ 1000 w 5453"/>
                <a:gd name="T27" fmla="*/ 0 h 51"/>
                <a:gd name="T28" fmla="*/ 1015 w 5453"/>
                <a:gd name="T29" fmla="*/ 0 h 51"/>
                <a:gd name="T30" fmla="*/ 1508 w 5453"/>
                <a:gd name="T31" fmla="*/ 0 h 51"/>
                <a:gd name="T32" fmla="*/ 1508 w 5453"/>
                <a:gd name="T33" fmla="*/ 51 h 51"/>
                <a:gd name="T34" fmla="*/ 1493 w 5453"/>
                <a:gd name="T35" fmla="*/ 51 h 51"/>
                <a:gd name="T36" fmla="*/ 1493 w 5453"/>
                <a:gd name="T37" fmla="*/ 0 h 51"/>
                <a:gd name="T38" fmla="*/ 1508 w 5453"/>
                <a:gd name="T39" fmla="*/ 0 h 51"/>
                <a:gd name="T40" fmla="*/ 2001 w 5453"/>
                <a:gd name="T41" fmla="*/ 0 h 51"/>
                <a:gd name="T42" fmla="*/ 2001 w 5453"/>
                <a:gd name="T43" fmla="*/ 51 h 51"/>
                <a:gd name="T44" fmla="*/ 1987 w 5453"/>
                <a:gd name="T45" fmla="*/ 51 h 51"/>
                <a:gd name="T46" fmla="*/ 1987 w 5453"/>
                <a:gd name="T47" fmla="*/ 0 h 51"/>
                <a:gd name="T48" fmla="*/ 2001 w 5453"/>
                <a:gd name="T49" fmla="*/ 0 h 51"/>
                <a:gd name="T50" fmla="*/ 2494 w 5453"/>
                <a:gd name="T51" fmla="*/ 0 h 51"/>
                <a:gd name="T52" fmla="*/ 2494 w 5453"/>
                <a:gd name="T53" fmla="*/ 51 h 51"/>
                <a:gd name="T54" fmla="*/ 2480 w 5453"/>
                <a:gd name="T55" fmla="*/ 51 h 51"/>
                <a:gd name="T56" fmla="*/ 2480 w 5453"/>
                <a:gd name="T57" fmla="*/ 0 h 51"/>
                <a:gd name="T58" fmla="*/ 2494 w 5453"/>
                <a:gd name="T59" fmla="*/ 0 h 51"/>
                <a:gd name="T60" fmla="*/ 2987 w 5453"/>
                <a:gd name="T61" fmla="*/ 0 h 51"/>
                <a:gd name="T62" fmla="*/ 2987 w 5453"/>
                <a:gd name="T63" fmla="*/ 51 h 51"/>
                <a:gd name="T64" fmla="*/ 2973 w 5453"/>
                <a:gd name="T65" fmla="*/ 51 h 51"/>
                <a:gd name="T66" fmla="*/ 2973 w 5453"/>
                <a:gd name="T67" fmla="*/ 0 h 51"/>
                <a:gd name="T68" fmla="*/ 2987 w 5453"/>
                <a:gd name="T69" fmla="*/ 0 h 51"/>
                <a:gd name="T70" fmla="*/ 3481 w 5453"/>
                <a:gd name="T71" fmla="*/ 0 h 51"/>
                <a:gd name="T72" fmla="*/ 3481 w 5453"/>
                <a:gd name="T73" fmla="*/ 51 h 51"/>
                <a:gd name="T74" fmla="*/ 3466 w 5453"/>
                <a:gd name="T75" fmla="*/ 51 h 51"/>
                <a:gd name="T76" fmla="*/ 3466 w 5453"/>
                <a:gd name="T77" fmla="*/ 0 h 51"/>
                <a:gd name="T78" fmla="*/ 3481 w 5453"/>
                <a:gd name="T79" fmla="*/ 0 h 51"/>
                <a:gd name="T80" fmla="*/ 3974 w 5453"/>
                <a:gd name="T81" fmla="*/ 0 h 51"/>
                <a:gd name="T82" fmla="*/ 3974 w 5453"/>
                <a:gd name="T83" fmla="*/ 51 h 51"/>
                <a:gd name="T84" fmla="*/ 3959 w 5453"/>
                <a:gd name="T85" fmla="*/ 51 h 51"/>
                <a:gd name="T86" fmla="*/ 3959 w 5453"/>
                <a:gd name="T87" fmla="*/ 0 h 51"/>
                <a:gd name="T88" fmla="*/ 3974 w 5453"/>
                <a:gd name="T89" fmla="*/ 0 h 51"/>
                <a:gd name="T90" fmla="*/ 4467 w 5453"/>
                <a:gd name="T91" fmla="*/ 0 h 51"/>
                <a:gd name="T92" fmla="*/ 4467 w 5453"/>
                <a:gd name="T93" fmla="*/ 51 h 51"/>
                <a:gd name="T94" fmla="*/ 4452 w 5453"/>
                <a:gd name="T95" fmla="*/ 51 h 51"/>
                <a:gd name="T96" fmla="*/ 4452 w 5453"/>
                <a:gd name="T97" fmla="*/ 0 h 51"/>
                <a:gd name="T98" fmla="*/ 4467 w 5453"/>
                <a:gd name="T99" fmla="*/ 0 h 51"/>
                <a:gd name="T100" fmla="*/ 4960 w 5453"/>
                <a:gd name="T101" fmla="*/ 0 h 51"/>
                <a:gd name="T102" fmla="*/ 4960 w 5453"/>
                <a:gd name="T103" fmla="*/ 51 h 51"/>
                <a:gd name="T104" fmla="*/ 4945 w 5453"/>
                <a:gd name="T105" fmla="*/ 51 h 51"/>
                <a:gd name="T106" fmla="*/ 4945 w 5453"/>
                <a:gd name="T107" fmla="*/ 0 h 51"/>
                <a:gd name="T108" fmla="*/ 4960 w 5453"/>
                <a:gd name="T109" fmla="*/ 0 h 51"/>
                <a:gd name="T110" fmla="*/ 5453 w 5453"/>
                <a:gd name="T111" fmla="*/ 0 h 51"/>
                <a:gd name="T112" fmla="*/ 5453 w 5453"/>
                <a:gd name="T113" fmla="*/ 51 h 51"/>
                <a:gd name="T114" fmla="*/ 5439 w 5453"/>
                <a:gd name="T115" fmla="*/ 51 h 51"/>
                <a:gd name="T116" fmla="*/ 5439 w 5453"/>
                <a:gd name="T117" fmla="*/ 0 h 51"/>
                <a:gd name="T118" fmla="*/ 5453 w 5453"/>
                <a:gd name="T11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453" h="51">
                  <a:moveTo>
                    <a:pt x="14" y="0"/>
                  </a:moveTo>
                  <a:lnTo>
                    <a:pt x="14" y="51"/>
                  </a:lnTo>
                  <a:lnTo>
                    <a:pt x="0" y="51"/>
                  </a:lnTo>
                  <a:lnTo>
                    <a:pt x="0" y="0"/>
                  </a:lnTo>
                  <a:lnTo>
                    <a:pt x="14" y="0"/>
                  </a:lnTo>
                  <a:close/>
                  <a:moveTo>
                    <a:pt x="507" y="0"/>
                  </a:moveTo>
                  <a:lnTo>
                    <a:pt x="507" y="51"/>
                  </a:lnTo>
                  <a:lnTo>
                    <a:pt x="493" y="51"/>
                  </a:lnTo>
                  <a:lnTo>
                    <a:pt x="493" y="0"/>
                  </a:lnTo>
                  <a:lnTo>
                    <a:pt x="507" y="0"/>
                  </a:lnTo>
                  <a:close/>
                  <a:moveTo>
                    <a:pt x="1015" y="0"/>
                  </a:moveTo>
                  <a:lnTo>
                    <a:pt x="1015" y="51"/>
                  </a:lnTo>
                  <a:lnTo>
                    <a:pt x="1000" y="51"/>
                  </a:lnTo>
                  <a:lnTo>
                    <a:pt x="1000" y="0"/>
                  </a:lnTo>
                  <a:lnTo>
                    <a:pt x="1015" y="0"/>
                  </a:lnTo>
                  <a:close/>
                  <a:moveTo>
                    <a:pt x="1508" y="0"/>
                  </a:moveTo>
                  <a:lnTo>
                    <a:pt x="1508" y="51"/>
                  </a:lnTo>
                  <a:lnTo>
                    <a:pt x="1493" y="51"/>
                  </a:lnTo>
                  <a:lnTo>
                    <a:pt x="1493" y="0"/>
                  </a:lnTo>
                  <a:lnTo>
                    <a:pt x="1508" y="0"/>
                  </a:lnTo>
                  <a:close/>
                  <a:moveTo>
                    <a:pt x="2001" y="0"/>
                  </a:moveTo>
                  <a:lnTo>
                    <a:pt x="2001" y="51"/>
                  </a:lnTo>
                  <a:lnTo>
                    <a:pt x="1987" y="51"/>
                  </a:lnTo>
                  <a:lnTo>
                    <a:pt x="1987" y="0"/>
                  </a:lnTo>
                  <a:lnTo>
                    <a:pt x="2001" y="0"/>
                  </a:lnTo>
                  <a:close/>
                  <a:moveTo>
                    <a:pt x="2494" y="0"/>
                  </a:moveTo>
                  <a:lnTo>
                    <a:pt x="2494" y="51"/>
                  </a:lnTo>
                  <a:lnTo>
                    <a:pt x="2480" y="51"/>
                  </a:lnTo>
                  <a:lnTo>
                    <a:pt x="2480" y="0"/>
                  </a:lnTo>
                  <a:lnTo>
                    <a:pt x="2494" y="0"/>
                  </a:lnTo>
                  <a:close/>
                  <a:moveTo>
                    <a:pt x="2987" y="0"/>
                  </a:moveTo>
                  <a:lnTo>
                    <a:pt x="2987" y="51"/>
                  </a:lnTo>
                  <a:lnTo>
                    <a:pt x="2973" y="51"/>
                  </a:lnTo>
                  <a:lnTo>
                    <a:pt x="2973" y="0"/>
                  </a:lnTo>
                  <a:lnTo>
                    <a:pt x="2987" y="0"/>
                  </a:lnTo>
                  <a:close/>
                  <a:moveTo>
                    <a:pt x="3481" y="0"/>
                  </a:moveTo>
                  <a:lnTo>
                    <a:pt x="3481" y="51"/>
                  </a:lnTo>
                  <a:lnTo>
                    <a:pt x="3466" y="51"/>
                  </a:lnTo>
                  <a:lnTo>
                    <a:pt x="3466" y="0"/>
                  </a:lnTo>
                  <a:lnTo>
                    <a:pt x="3481" y="0"/>
                  </a:lnTo>
                  <a:close/>
                  <a:moveTo>
                    <a:pt x="3974" y="0"/>
                  </a:moveTo>
                  <a:lnTo>
                    <a:pt x="3974" y="51"/>
                  </a:lnTo>
                  <a:lnTo>
                    <a:pt x="3959" y="51"/>
                  </a:lnTo>
                  <a:lnTo>
                    <a:pt x="3959" y="0"/>
                  </a:lnTo>
                  <a:lnTo>
                    <a:pt x="3974" y="0"/>
                  </a:lnTo>
                  <a:close/>
                  <a:moveTo>
                    <a:pt x="4467" y="0"/>
                  </a:moveTo>
                  <a:lnTo>
                    <a:pt x="4467" y="51"/>
                  </a:lnTo>
                  <a:lnTo>
                    <a:pt x="4452" y="51"/>
                  </a:lnTo>
                  <a:lnTo>
                    <a:pt x="4452" y="0"/>
                  </a:lnTo>
                  <a:lnTo>
                    <a:pt x="4467" y="0"/>
                  </a:lnTo>
                  <a:close/>
                  <a:moveTo>
                    <a:pt x="4960" y="0"/>
                  </a:moveTo>
                  <a:lnTo>
                    <a:pt x="4960" y="51"/>
                  </a:lnTo>
                  <a:lnTo>
                    <a:pt x="4945" y="51"/>
                  </a:lnTo>
                  <a:lnTo>
                    <a:pt x="4945" y="0"/>
                  </a:lnTo>
                  <a:lnTo>
                    <a:pt x="4960" y="0"/>
                  </a:lnTo>
                  <a:close/>
                  <a:moveTo>
                    <a:pt x="5453" y="0"/>
                  </a:moveTo>
                  <a:lnTo>
                    <a:pt x="5453" y="51"/>
                  </a:lnTo>
                  <a:lnTo>
                    <a:pt x="5439" y="51"/>
                  </a:lnTo>
                  <a:lnTo>
                    <a:pt x="5439" y="0"/>
                  </a:lnTo>
                  <a:lnTo>
                    <a:pt x="5453" y="0"/>
                  </a:lnTo>
                  <a:close/>
                </a:path>
              </a:pathLst>
            </a:custGeom>
            <a:solidFill>
              <a:srgbClr val="868686"/>
            </a:solidFill>
            <a:ln w="9525" cap="flat">
              <a:solidFill>
                <a:srgbClr val="868686"/>
              </a:solidFill>
              <a:prstDash val="solid"/>
              <a:bevel/>
              <a:headEnd/>
              <a:tailEnd/>
            </a:ln>
          </p:spPr>
          <p:txBody>
            <a:bodyPr rot="0" vert="horz" wrap="square" lIns="91440" tIns="45720" rIns="91440" bIns="45720" anchor="t" anchorCtr="0" upright="1">
              <a:noAutofit/>
            </a:bodyPr>
            <a:lstStyle/>
            <a:p>
              <a:endParaRPr lang="en-GB"/>
            </a:p>
          </p:txBody>
        </p:sp>
        <p:sp>
          <p:nvSpPr>
            <p:cNvPr id="15" name="Freeform 12">
              <a:extLst>
                <a:ext uri="{FF2B5EF4-FFF2-40B4-BE49-F238E27FC236}">
                  <a16:creationId xmlns:a16="http://schemas.microsoft.com/office/drawing/2014/main" id="{1787A096-AE64-EBE7-7ECD-D09192E027EA}"/>
                </a:ext>
              </a:extLst>
            </p:cNvPr>
            <p:cNvSpPr>
              <a:spLocks noEditPoints="1"/>
            </p:cNvSpPr>
            <p:nvPr/>
          </p:nvSpPr>
          <p:spPr bwMode="auto">
            <a:xfrm>
              <a:off x="1083174" y="971160"/>
              <a:ext cx="3150870" cy="966470"/>
            </a:xfrm>
            <a:custGeom>
              <a:avLst/>
              <a:gdLst>
                <a:gd name="T0" fmla="*/ 106 w 5474"/>
                <a:gd name="T1" fmla="*/ 1809 h 1897"/>
                <a:gd name="T2" fmla="*/ 213 w 5474"/>
                <a:gd name="T3" fmla="*/ 1814 h 1897"/>
                <a:gd name="T4" fmla="*/ 269 w 5474"/>
                <a:gd name="T5" fmla="*/ 1763 h 1897"/>
                <a:gd name="T6" fmla="*/ 457 w 5474"/>
                <a:gd name="T7" fmla="*/ 1654 h 1897"/>
                <a:gd name="T8" fmla="*/ 577 w 5474"/>
                <a:gd name="T9" fmla="*/ 1627 h 1897"/>
                <a:gd name="T10" fmla="*/ 650 w 5474"/>
                <a:gd name="T11" fmla="*/ 1651 h 1897"/>
                <a:gd name="T12" fmla="*/ 744 w 5474"/>
                <a:gd name="T13" fmla="*/ 1601 h 1897"/>
                <a:gd name="T14" fmla="*/ 937 w 5474"/>
                <a:gd name="T15" fmla="*/ 1595 h 1897"/>
                <a:gd name="T16" fmla="*/ 1034 w 5474"/>
                <a:gd name="T17" fmla="*/ 1640 h 1897"/>
                <a:gd name="T18" fmla="*/ 1105 w 5474"/>
                <a:gd name="T19" fmla="*/ 1614 h 1897"/>
                <a:gd name="T20" fmla="*/ 1305 w 5474"/>
                <a:gd name="T21" fmla="*/ 1532 h 1897"/>
                <a:gd name="T22" fmla="*/ 1426 w 5474"/>
                <a:gd name="T23" fmla="*/ 1518 h 1897"/>
                <a:gd name="T24" fmla="*/ 1502 w 5474"/>
                <a:gd name="T25" fmla="*/ 1519 h 1897"/>
                <a:gd name="T26" fmla="*/ 1579 w 5474"/>
                <a:gd name="T27" fmla="*/ 1444 h 1897"/>
                <a:gd name="T28" fmla="*/ 1770 w 5474"/>
                <a:gd name="T29" fmla="*/ 1402 h 1897"/>
                <a:gd name="T30" fmla="*/ 1871 w 5474"/>
                <a:gd name="T31" fmla="*/ 1439 h 1897"/>
                <a:gd name="T32" fmla="*/ 1940 w 5474"/>
                <a:gd name="T33" fmla="*/ 1406 h 1897"/>
                <a:gd name="T34" fmla="*/ 2152 w 5474"/>
                <a:gd name="T35" fmla="*/ 1357 h 1897"/>
                <a:gd name="T36" fmla="*/ 2260 w 5474"/>
                <a:gd name="T37" fmla="*/ 1336 h 1897"/>
                <a:gd name="T38" fmla="*/ 2329 w 5474"/>
                <a:gd name="T39" fmla="*/ 1306 h 1897"/>
                <a:gd name="T40" fmla="*/ 2368 w 5474"/>
                <a:gd name="T41" fmla="*/ 1206 h 1897"/>
                <a:gd name="T42" fmla="*/ 2510 w 5474"/>
                <a:gd name="T43" fmla="*/ 1076 h 1897"/>
                <a:gd name="T44" fmla="*/ 2613 w 5474"/>
                <a:gd name="T45" fmla="*/ 1047 h 1897"/>
                <a:gd name="T46" fmla="*/ 2650 w 5474"/>
                <a:gd name="T47" fmla="*/ 981 h 1897"/>
                <a:gd name="T48" fmla="*/ 2819 w 5474"/>
                <a:gd name="T49" fmla="*/ 916 h 1897"/>
                <a:gd name="T50" fmla="*/ 2868 w 5474"/>
                <a:gd name="T51" fmla="*/ 1028 h 1897"/>
                <a:gd name="T52" fmla="*/ 2889 w 5474"/>
                <a:gd name="T53" fmla="*/ 1101 h 1897"/>
                <a:gd name="T54" fmla="*/ 2983 w 5474"/>
                <a:gd name="T55" fmla="*/ 1152 h 1897"/>
                <a:gd name="T56" fmla="*/ 3093 w 5474"/>
                <a:gd name="T57" fmla="*/ 1310 h 1897"/>
                <a:gd name="T58" fmla="*/ 3108 w 5474"/>
                <a:gd name="T59" fmla="*/ 1416 h 1897"/>
                <a:gd name="T60" fmla="*/ 3169 w 5474"/>
                <a:gd name="T61" fmla="*/ 1462 h 1897"/>
                <a:gd name="T62" fmla="*/ 3312 w 5474"/>
                <a:gd name="T63" fmla="*/ 1626 h 1897"/>
                <a:gd name="T64" fmla="*/ 3361 w 5474"/>
                <a:gd name="T65" fmla="*/ 1585 h 1897"/>
                <a:gd name="T66" fmla="*/ 3421 w 5474"/>
                <a:gd name="T67" fmla="*/ 1539 h 1897"/>
                <a:gd name="T68" fmla="*/ 3437 w 5474"/>
                <a:gd name="T69" fmla="*/ 1433 h 1897"/>
                <a:gd name="T70" fmla="*/ 3546 w 5474"/>
                <a:gd name="T71" fmla="*/ 1275 h 1897"/>
                <a:gd name="T72" fmla="*/ 3640 w 5474"/>
                <a:gd name="T73" fmla="*/ 1224 h 1897"/>
                <a:gd name="T74" fmla="*/ 3662 w 5474"/>
                <a:gd name="T75" fmla="*/ 1151 h 1897"/>
                <a:gd name="T76" fmla="*/ 3765 w 5474"/>
                <a:gd name="T77" fmla="*/ 960 h 1897"/>
                <a:gd name="T78" fmla="*/ 3853 w 5474"/>
                <a:gd name="T79" fmla="*/ 875 h 1897"/>
                <a:gd name="T80" fmla="*/ 3923 w 5474"/>
                <a:gd name="T81" fmla="*/ 843 h 1897"/>
                <a:gd name="T82" fmla="*/ 3960 w 5474"/>
                <a:gd name="T83" fmla="*/ 743 h 1897"/>
                <a:gd name="T84" fmla="*/ 4100 w 5474"/>
                <a:gd name="T85" fmla="*/ 611 h 1897"/>
                <a:gd name="T86" fmla="*/ 4203 w 5474"/>
                <a:gd name="T87" fmla="*/ 580 h 1897"/>
                <a:gd name="T88" fmla="*/ 4239 w 5474"/>
                <a:gd name="T89" fmla="*/ 513 h 1897"/>
                <a:gd name="T90" fmla="*/ 4408 w 5474"/>
                <a:gd name="T91" fmla="*/ 345 h 1897"/>
                <a:gd name="T92" fmla="*/ 4501 w 5474"/>
                <a:gd name="T93" fmla="*/ 424 h 1897"/>
                <a:gd name="T94" fmla="*/ 4552 w 5474"/>
                <a:gd name="T95" fmla="*/ 481 h 1897"/>
                <a:gd name="T96" fmla="*/ 4659 w 5474"/>
                <a:gd name="T97" fmla="*/ 485 h 1897"/>
                <a:gd name="T98" fmla="*/ 4827 w 5474"/>
                <a:gd name="T99" fmla="*/ 579 h 1897"/>
                <a:gd name="T100" fmla="*/ 4888 w 5474"/>
                <a:gd name="T101" fmla="*/ 668 h 1897"/>
                <a:gd name="T102" fmla="*/ 4956 w 5474"/>
                <a:gd name="T103" fmla="*/ 649 h 1897"/>
                <a:gd name="T104" fmla="*/ 5071 w 5474"/>
                <a:gd name="T105" fmla="*/ 465 h 1897"/>
                <a:gd name="T106" fmla="*/ 5164 w 5474"/>
                <a:gd name="T107" fmla="*/ 385 h 1897"/>
                <a:gd name="T108" fmla="*/ 5228 w 5474"/>
                <a:gd name="T109" fmla="*/ 344 h 1897"/>
                <a:gd name="T110" fmla="*/ 5249 w 5474"/>
                <a:gd name="T111" fmla="*/ 239 h 1897"/>
                <a:gd name="T112" fmla="*/ 5368 w 5474"/>
                <a:gd name="T113" fmla="*/ 88 h 1897"/>
                <a:gd name="T114" fmla="*/ 5466 w 5474"/>
                <a:gd name="T115" fmla="*/ 42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74" h="1897">
                  <a:moveTo>
                    <a:pt x="18" y="1848"/>
                  </a:moveTo>
                  <a:lnTo>
                    <a:pt x="18" y="1848"/>
                  </a:lnTo>
                  <a:cubicBezTo>
                    <a:pt x="30" y="1842"/>
                    <a:pt x="44" y="1848"/>
                    <a:pt x="49" y="1860"/>
                  </a:cubicBezTo>
                  <a:cubicBezTo>
                    <a:pt x="55" y="1872"/>
                    <a:pt x="49" y="1886"/>
                    <a:pt x="37" y="1891"/>
                  </a:cubicBezTo>
                  <a:lnTo>
                    <a:pt x="37" y="1891"/>
                  </a:lnTo>
                  <a:cubicBezTo>
                    <a:pt x="25" y="1897"/>
                    <a:pt x="11" y="1891"/>
                    <a:pt x="6" y="1879"/>
                  </a:cubicBezTo>
                  <a:cubicBezTo>
                    <a:pt x="0" y="1867"/>
                    <a:pt x="6" y="1853"/>
                    <a:pt x="18" y="1848"/>
                  </a:cubicBezTo>
                  <a:close/>
                  <a:moveTo>
                    <a:pt x="106" y="1809"/>
                  </a:moveTo>
                  <a:lnTo>
                    <a:pt x="106" y="1809"/>
                  </a:lnTo>
                  <a:cubicBezTo>
                    <a:pt x="118" y="1803"/>
                    <a:pt x="132" y="1809"/>
                    <a:pt x="137" y="1821"/>
                  </a:cubicBezTo>
                  <a:cubicBezTo>
                    <a:pt x="143" y="1833"/>
                    <a:pt x="137" y="1847"/>
                    <a:pt x="125" y="1853"/>
                  </a:cubicBezTo>
                  <a:lnTo>
                    <a:pt x="125" y="1853"/>
                  </a:lnTo>
                  <a:cubicBezTo>
                    <a:pt x="113" y="1858"/>
                    <a:pt x="99" y="1853"/>
                    <a:pt x="93" y="1840"/>
                  </a:cubicBezTo>
                  <a:cubicBezTo>
                    <a:pt x="88" y="1828"/>
                    <a:pt x="93" y="1814"/>
                    <a:pt x="106" y="1809"/>
                  </a:cubicBezTo>
                  <a:close/>
                  <a:moveTo>
                    <a:pt x="193" y="1770"/>
                  </a:moveTo>
                  <a:lnTo>
                    <a:pt x="193" y="1770"/>
                  </a:lnTo>
                  <a:cubicBezTo>
                    <a:pt x="206" y="1765"/>
                    <a:pt x="220" y="1770"/>
                    <a:pt x="225" y="1782"/>
                  </a:cubicBezTo>
                  <a:cubicBezTo>
                    <a:pt x="231" y="1794"/>
                    <a:pt x="225" y="1808"/>
                    <a:pt x="213" y="1814"/>
                  </a:cubicBezTo>
                  <a:lnTo>
                    <a:pt x="213" y="1814"/>
                  </a:lnTo>
                  <a:cubicBezTo>
                    <a:pt x="201" y="1819"/>
                    <a:pt x="187" y="1814"/>
                    <a:pt x="181" y="1802"/>
                  </a:cubicBezTo>
                  <a:cubicBezTo>
                    <a:pt x="176" y="1790"/>
                    <a:pt x="181" y="1775"/>
                    <a:pt x="193" y="1770"/>
                  </a:cubicBezTo>
                  <a:close/>
                  <a:moveTo>
                    <a:pt x="281" y="1731"/>
                  </a:moveTo>
                  <a:lnTo>
                    <a:pt x="281" y="1731"/>
                  </a:lnTo>
                  <a:cubicBezTo>
                    <a:pt x="293" y="1726"/>
                    <a:pt x="308" y="1731"/>
                    <a:pt x="313" y="1743"/>
                  </a:cubicBezTo>
                  <a:cubicBezTo>
                    <a:pt x="318" y="1755"/>
                    <a:pt x="313" y="1770"/>
                    <a:pt x="301" y="1775"/>
                  </a:cubicBezTo>
                  <a:lnTo>
                    <a:pt x="301" y="1775"/>
                  </a:lnTo>
                  <a:cubicBezTo>
                    <a:pt x="289" y="1780"/>
                    <a:pt x="275" y="1775"/>
                    <a:pt x="269" y="1763"/>
                  </a:cubicBezTo>
                  <a:cubicBezTo>
                    <a:pt x="264" y="1751"/>
                    <a:pt x="269" y="1737"/>
                    <a:pt x="281" y="1731"/>
                  </a:cubicBezTo>
                  <a:close/>
                  <a:moveTo>
                    <a:pt x="369" y="1692"/>
                  </a:moveTo>
                  <a:lnTo>
                    <a:pt x="369" y="1692"/>
                  </a:lnTo>
                  <a:cubicBezTo>
                    <a:pt x="381" y="1687"/>
                    <a:pt x="396" y="1692"/>
                    <a:pt x="401" y="1705"/>
                  </a:cubicBezTo>
                  <a:cubicBezTo>
                    <a:pt x="406" y="1717"/>
                    <a:pt x="401" y="1731"/>
                    <a:pt x="389" y="1736"/>
                  </a:cubicBezTo>
                  <a:lnTo>
                    <a:pt x="389" y="1736"/>
                  </a:lnTo>
                  <a:cubicBezTo>
                    <a:pt x="377" y="1742"/>
                    <a:pt x="362" y="1736"/>
                    <a:pt x="357" y="1724"/>
                  </a:cubicBezTo>
                  <a:cubicBezTo>
                    <a:pt x="352" y="1712"/>
                    <a:pt x="357" y="1698"/>
                    <a:pt x="369" y="1692"/>
                  </a:cubicBezTo>
                  <a:close/>
                  <a:moveTo>
                    <a:pt x="457" y="1654"/>
                  </a:moveTo>
                  <a:lnTo>
                    <a:pt x="457" y="1654"/>
                  </a:lnTo>
                  <a:cubicBezTo>
                    <a:pt x="469" y="1648"/>
                    <a:pt x="483" y="1654"/>
                    <a:pt x="489" y="1666"/>
                  </a:cubicBezTo>
                  <a:cubicBezTo>
                    <a:pt x="494" y="1678"/>
                    <a:pt x="489" y="1692"/>
                    <a:pt x="477" y="1698"/>
                  </a:cubicBezTo>
                  <a:lnTo>
                    <a:pt x="477" y="1698"/>
                  </a:lnTo>
                  <a:cubicBezTo>
                    <a:pt x="465" y="1703"/>
                    <a:pt x="450" y="1698"/>
                    <a:pt x="445" y="1685"/>
                  </a:cubicBezTo>
                  <a:cubicBezTo>
                    <a:pt x="440" y="1673"/>
                    <a:pt x="445" y="1659"/>
                    <a:pt x="457" y="1654"/>
                  </a:cubicBezTo>
                  <a:close/>
                  <a:moveTo>
                    <a:pt x="545" y="1615"/>
                  </a:moveTo>
                  <a:lnTo>
                    <a:pt x="545" y="1615"/>
                  </a:lnTo>
                  <a:cubicBezTo>
                    <a:pt x="557" y="1610"/>
                    <a:pt x="571" y="1615"/>
                    <a:pt x="577" y="1627"/>
                  </a:cubicBezTo>
                  <a:cubicBezTo>
                    <a:pt x="582" y="1639"/>
                    <a:pt x="577" y="1653"/>
                    <a:pt x="565" y="1659"/>
                  </a:cubicBezTo>
                  <a:lnTo>
                    <a:pt x="564" y="1659"/>
                  </a:lnTo>
                  <a:cubicBezTo>
                    <a:pt x="552" y="1664"/>
                    <a:pt x="538" y="1659"/>
                    <a:pt x="533" y="1647"/>
                  </a:cubicBezTo>
                  <a:cubicBezTo>
                    <a:pt x="527" y="1635"/>
                    <a:pt x="533" y="1620"/>
                    <a:pt x="545" y="1615"/>
                  </a:cubicBezTo>
                  <a:close/>
                  <a:moveTo>
                    <a:pt x="648" y="1603"/>
                  </a:moveTo>
                  <a:lnTo>
                    <a:pt x="648" y="1603"/>
                  </a:lnTo>
                  <a:cubicBezTo>
                    <a:pt x="662" y="1603"/>
                    <a:pt x="673" y="1613"/>
                    <a:pt x="673" y="1627"/>
                  </a:cubicBezTo>
                  <a:cubicBezTo>
                    <a:pt x="674" y="1640"/>
                    <a:pt x="663" y="1651"/>
                    <a:pt x="650" y="1651"/>
                  </a:cubicBezTo>
                  <a:lnTo>
                    <a:pt x="650" y="1651"/>
                  </a:lnTo>
                  <a:cubicBezTo>
                    <a:pt x="637" y="1652"/>
                    <a:pt x="626" y="1641"/>
                    <a:pt x="625" y="1628"/>
                  </a:cubicBezTo>
                  <a:cubicBezTo>
                    <a:pt x="625" y="1615"/>
                    <a:pt x="635" y="1604"/>
                    <a:pt x="648" y="1603"/>
                  </a:cubicBezTo>
                  <a:close/>
                  <a:moveTo>
                    <a:pt x="744" y="1601"/>
                  </a:moveTo>
                  <a:lnTo>
                    <a:pt x="745" y="1601"/>
                  </a:lnTo>
                  <a:cubicBezTo>
                    <a:pt x="758" y="1600"/>
                    <a:pt x="769" y="1611"/>
                    <a:pt x="769" y="1624"/>
                  </a:cubicBezTo>
                  <a:cubicBezTo>
                    <a:pt x="770" y="1637"/>
                    <a:pt x="759" y="1648"/>
                    <a:pt x="746" y="1648"/>
                  </a:cubicBezTo>
                  <a:lnTo>
                    <a:pt x="746" y="1648"/>
                  </a:lnTo>
                  <a:cubicBezTo>
                    <a:pt x="733" y="1649"/>
                    <a:pt x="722" y="1638"/>
                    <a:pt x="721" y="1625"/>
                  </a:cubicBezTo>
                  <a:cubicBezTo>
                    <a:pt x="721" y="1612"/>
                    <a:pt x="731" y="1601"/>
                    <a:pt x="744" y="1601"/>
                  </a:cubicBezTo>
                  <a:close/>
                  <a:moveTo>
                    <a:pt x="840" y="1598"/>
                  </a:moveTo>
                  <a:lnTo>
                    <a:pt x="841" y="1598"/>
                  </a:lnTo>
                  <a:cubicBezTo>
                    <a:pt x="854" y="1597"/>
                    <a:pt x="865" y="1608"/>
                    <a:pt x="865" y="1621"/>
                  </a:cubicBezTo>
                  <a:cubicBezTo>
                    <a:pt x="866" y="1634"/>
                    <a:pt x="855" y="1645"/>
                    <a:pt x="842" y="1646"/>
                  </a:cubicBezTo>
                  <a:lnTo>
                    <a:pt x="842" y="1646"/>
                  </a:lnTo>
                  <a:cubicBezTo>
                    <a:pt x="829" y="1646"/>
                    <a:pt x="818" y="1636"/>
                    <a:pt x="817" y="1622"/>
                  </a:cubicBezTo>
                  <a:cubicBezTo>
                    <a:pt x="817" y="1609"/>
                    <a:pt x="827" y="1598"/>
                    <a:pt x="840" y="1598"/>
                  </a:cubicBezTo>
                  <a:close/>
                  <a:moveTo>
                    <a:pt x="936" y="1595"/>
                  </a:moveTo>
                  <a:lnTo>
                    <a:pt x="937" y="1595"/>
                  </a:lnTo>
                  <a:cubicBezTo>
                    <a:pt x="950" y="1595"/>
                    <a:pt x="961" y="1605"/>
                    <a:pt x="961" y="1618"/>
                  </a:cubicBezTo>
                  <a:cubicBezTo>
                    <a:pt x="962" y="1632"/>
                    <a:pt x="951" y="1643"/>
                    <a:pt x="938" y="1643"/>
                  </a:cubicBezTo>
                  <a:lnTo>
                    <a:pt x="938" y="1643"/>
                  </a:lnTo>
                  <a:cubicBezTo>
                    <a:pt x="925" y="1643"/>
                    <a:pt x="914" y="1633"/>
                    <a:pt x="913" y="1620"/>
                  </a:cubicBezTo>
                  <a:cubicBezTo>
                    <a:pt x="913" y="1607"/>
                    <a:pt x="923" y="1595"/>
                    <a:pt x="936" y="1595"/>
                  </a:cubicBezTo>
                  <a:close/>
                  <a:moveTo>
                    <a:pt x="1032" y="1592"/>
                  </a:moveTo>
                  <a:lnTo>
                    <a:pt x="1033" y="1592"/>
                  </a:lnTo>
                  <a:cubicBezTo>
                    <a:pt x="1046" y="1592"/>
                    <a:pt x="1057" y="1602"/>
                    <a:pt x="1057" y="1616"/>
                  </a:cubicBezTo>
                  <a:cubicBezTo>
                    <a:pt x="1058" y="1629"/>
                    <a:pt x="1047" y="1640"/>
                    <a:pt x="1034" y="1640"/>
                  </a:cubicBezTo>
                  <a:lnTo>
                    <a:pt x="1034" y="1640"/>
                  </a:lnTo>
                  <a:cubicBezTo>
                    <a:pt x="1021" y="1641"/>
                    <a:pt x="1010" y="1630"/>
                    <a:pt x="1009" y="1617"/>
                  </a:cubicBezTo>
                  <a:cubicBezTo>
                    <a:pt x="1009" y="1604"/>
                    <a:pt x="1019" y="1593"/>
                    <a:pt x="1032" y="1592"/>
                  </a:cubicBezTo>
                  <a:close/>
                  <a:moveTo>
                    <a:pt x="1128" y="1590"/>
                  </a:moveTo>
                  <a:lnTo>
                    <a:pt x="1129" y="1590"/>
                  </a:lnTo>
                  <a:cubicBezTo>
                    <a:pt x="1142" y="1589"/>
                    <a:pt x="1153" y="1600"/>
                    <a:pt x="1153" y="1613"/>
                  </a:cubicBezTo>
                  <a:cubicBezTo>
                    <a:pt x="1154" y="1626"/>
                    <a:pt x="1143" y="1637"/>
                    <a:pt x="1130" y="1638"/>
                  </a:cubicBezTo>
                  <a:lnTo>
                    <a:pt x="1130" y="1638"/>
                  </a:lnTo>
                  <a:cubicBezTo>
                    <a:pt x="1117" y="1638"/>
                    <a:pt x="1106" y="1628"/>
                    <a:pt x="1105" y="1614"/>
                  </a:cubicBezTo>
                  <a:cubicBezTo>
                    <a:pt x="1105" y="1601"/>
                    <a:pt x="1115" y="1590"/>
                    <a:pt x="1128" y="1590"/>
                  </a:cubicBezTo>
                  <a:close/>
                  <a:moveTo>
                    <a:pt x="1213" y="1562"/>
                  </a:moveTo>
                  <a:lnTo>
                    <a:pt x="1213" y="1562"/>
                  </a:lnTo>
                  <a:cubicBezTo>
                    <a:pt x="1226" y="1558"/>
                    <a:pt x="1239" y="1565"/>
                    <a:pt x="1244" y="1577"/>
                  </a:cubicBezTo>
                  <a:cubicBezTo>
                    <a:pt x="1248" y="1590"/>
                    <a:pt x="1241" y="1603"/>
                    <a:pt x="1228" y="1607"/>
                  </a:cubicBezTo>
                  <a:lnTo>
                    <a:pt x="1228" y="1607"/>
                  </a:lnTo>
                  <a:cubicBezTo>
                    <a:pt x="1216" y="1612"/>
                    <a:pt x="1202" y="1605"/>
                    <a:pt x="1198" y="1592"/>
                  </a:cubicBezTo>
                  <a:cubicBezTo>
                    <a:pt x="1194" y="1579"/>
                    <a:pt x="1201" y="1566"/>
                    <a:pt x="1213" y="1562"/>
                  </a:cubicBezTo>
                  <a:close/>
                  <a:moveTo>
                    <a:pt x="1305" y="1532"/>
                  </a:moveTo>
                  <a:lnTo>
                    <a:pt x="1305" y="1532"/>
                  </a:lnTo>
                  <a:cubicBezTo>
                    <a:pt x="1317" y="1528"/>
                    <a:pt x="1331" y="1535"/>
                    <a:pt x="1335" y="1548"/>
                  </a:cubicBezTo>
                  <a:cubicBezTo>
                    <a:pt x="1339" y="1560"/>
                    <a:pt x="1332" y="1574"/>
                    <a:pt x="1320" y="1578"/>
                  </a:cubicBezTo>
                  <a:lnTo>
                    <a:pt x="1320" y="1578"/>
                  </a:lnTo>
                  <a:cubicBezTo>
                    <a:pt x="1307" y="1582"/>
                    <a:pt x="1293" y="1575"/>
                    <a:pt x="1289" y="1562"/>
                  </a:cubicBezTo>
                  <a:cubicBezTo>
                    <a:pt x="1285" y="1550"/>
                    <a:pt x="1292" y="1536"/>
                    <a:pt x="1305" y="1532"/>
                  </a:cubicBezTo>
                  <a:close/>
                  <a:moveTo>
                    <a:pt x="1396" y="1503"/>
                  </a:moveTo>
                  <a:lnTo>
                    <a:pt x="1396" y="1503"/>
                  </a:lnTo>
                  <a:cubicBezTo>
                    <a:pt x="1409" y="1499"/>
                    <a:pt x="1422" y="1505"/>
                    <a:pt x="1426" y="1518"/>
                  </a:cubicBezTo>
                  <a:cubicBezTo>
                    <a:pt x="1430" y="1531"/>
                    <a:pt x="1424" y="1544"/>
                    <a:pt x="1411" y="1548"/>
                  </a:cubicBezTo>
                  <a:lnTo>
                    <a:pt x="1411" y="1548"/>
                  </a:lnTo>
                  <a:cubicBezTo>
                    <a:pt x="1398" y="1552"/>
                    <a:pt x="1385" y="1546"/>
                    <a:pt x="1381" y="1533"/>
                  </a:cubicBezTo>
                  <a:cubicBezTo>
                    <a:pt x="1377" y="1520"/>
                    <a:pt x="1383" y="1507"/>
                    <a:pt x="1396" y="1503"/>
                  </a:cubicBezTo>
                  <a:close/>
                  <a:moveTo>
                    <a:pt x="1487" y="1473"/>
                  </a:moveTo>
                  <a:lnTo>
                    <a:pt x="1487" y="1473"/>
                  </a:lnTo>
                  <a:cubicBezTo>
                    <a:pt x="1500" y="1469"/>
                    <a:pt x="1514" y="1476"/>
                    <a:pt x="1518" y="1488"/>
                  </a:cubicBezTo>
                  <a:cubicBezTo>
                    <a:pt x="1522" y="1501"/>
                    <a:pt x="1515" y="1515"/>
                    <a:pt x="1502" y="1519"/>
                  </a:cubicBezTo>
                  <a:lnTo>
                    <a:pt x="1502" y="1519"/>
                  </a:lnTo>
                  <a:cubicBezTo>
                    <a:pt x="1490" y="1523"/>
                    <a:pt x="1476" y="1516"/>
                    <a:pt x="1472" y="1503"/>
                  </a:cubicBezTo>
                  <a:cubicBezTo>
                    <a:pt x="1468" y="1491"/>
                    <a:pt x="1475" y="1477"/>
                    <a:pt x="1487" y="1473"/>
                  </a:cubicBezTo>
                  <a:close/>
                  <a:moveTo>
                    <a:pt x="1579" y="1444"/>
                  </a:moveTo>
                  <a:lnTo>
                    <a:pt x="1579" y="1443"/>
                  </a:lnTo>
                  <a:cubicBezTo>
                    <a:pt x="1591" y="1439"/>
                    <a:pt x="1605" y="1446"/>
                    <a:pt x="1609" y="1459"/>
                  </a:cubicBezTo>
                  <a:cubicBezTo>
                    <a:pt x="1613" y="1471"/>
                    <a:pt x="1606" y="1485"/>
                    <a:pt x="1594" y="1489"/>
                  </a:cubicBezTo>
                  <a:lnTo>
                    <a:pt x="1594" y="1489"/>
                  </a:lnTo>
                  <a:cubicBezTo>
                    <a:pt x="1581" y="1493"/>
                    <a:pt x="1568" y="1486"/>
                    <a:pt x="1563" y="1474"/>
                  </a:cubicBezTo>
                  <a:cubicBezTo>
                    <a:pt x="1559" y="1461"/>
                    <a:pt x="1566" y="1448"/>
                    <a:pt x="1579" y="1444"/>
                  </a:cubicBezTo>
                  <a:close/>
                  <a:moveTo>
                    <a:pt x="1675" y="1413"/>
                  </a:moveTo>
                  <a:lnTo>
                    <a:pt x="1675" y="1413"/>
                  </a:lnTo>
                  <a:cubicBezTo>
                    <a:pt x="1688" y="1412"/>
                    <a:pt x="1700" y="1421"/>
                    <a:pt x="1702" y="1434"/>
                  </a:cubicBezTo>
                  <a:cubicBezTo>
                    <a:pt x="1703" y="1448"/>
                    <a:pt x="1694" y="1459"/>
                    <a:pt x="1681" y="1461"/>
                  </a:cubicBezTo>
                  <a:lnTo>
                    <a:pt x="1681" y="1461"/>
                  </a:lnTo>
                  <a:cubicBezTo>
                    <a:pt x="1667" y="1463"/>
                    <a:pt x="1655" y="1453"/>
                    <a:pt x="1654" y="1440"/>
                  </a:cubicBezTo>
                  <a:cubicBezTo>
                    <a:pt x="1652" y="1427"/>
                    <a:pt x="1662" y="1415"/>
                    <a:pt x="1675" y="1413"/>
                  </a:cubicBezTo>
                  <a:close/>
                  <a:moveTo>
                    <a:pt x="1770" y="1402"/>
                  </a:moveTo>
                  <a:lnTo>
                    <a:pt x="1770" y="1402"/>
                  </a:lnTo>
                  <a:cubicBezTo>
                    <a:pt x="1784" y="1401"/>
                    <a:pt x="1795" y="1410"/>
                    <a:pt x="1797" y="1423"/>
                  </a:cubicBezTo>
                  <a:cubicBezTo>
                    <a:pt x="1799" y="1436"/>
                    <a:pt x="1789" y="1448"/>
                    <a:pt x="1776" y="1450"/>
                  </a:cubicBezTo>
                  <a:lnTo>
                    <a:pt x="1776" y="1450"/>
                  </a:lnTo>
                  <a:cubicBezTo>
                    <a:pt x="1763" y="1451"/>
                    <a:pt x="1751" y="1442"/>
                    <a:pt x="1749" y="1429"/>
                  </a:cubicBezTo>
                  <a:cubicBezTo>
                    <a:pt x="1748" y="1416"/>
                    <a:pt x="1757" y="1404"/>
                    <a:pt x="1770" y="1402"/>
                  </a:cubicBezTo>
                  <a:close/>
                  <a:moveTo>
                    <a:pt x="1866" y="1391"/>
                  </a:moveTo>
                  <a:lnTo>
                    <a:pt x="1866" y="1391"/>
                  </a:lnTo>
                  <a:cubicBezTo>
                    <a:pt x="1879" y="1389"/>
                    <a:pt x="1891" y="1399"/>
                    <a:pt x="1892" y="1412"/>
                  </a:cubicBezTo>
                  <a:cubicBezTo>
                    <a:pt x="1894" y="1425"/>
                    <a:pt x="1885" y="1437"/>
                    <a:pt x="1871" y="1439"/>
                  </a:cubicBezTo>
                  <a:lnTo>
                    <a:pt x="1871" y="1439"/>
                  </a:lnTo>
                  <a:cubicBezTo>
                    <a:pt x="1858" y="1440"/>
                    <a:pt x="1846" y="1431"/>
                    <a:pt x="1845" y="1418"/>
                  </a:cubicBezTo>
                  <a:cubicBezTo>
                    <a:pt x="1843" y="1404"/>
                    <a:pt x="1853" y="1392"/>
                    <a:pt x="1866" y="1391"/>
                  </a:cubicBezTo>
                  <a:close/>
                  <a:moveTo>
                    <a:pt x="1961" y="1380"/>
                  </a:moveTo>
                  <a:lnTo>
                    <a:pt x="1961" y="1380"/>
                  </a:lnTo>
                  <a:cubicBezTo>
                    <a:pt x="1974" y="1378"/>
                    <a:pt x="1986" y="1388"/>
                    <a:pt x="1988" y="1401"/>
                  </a:cubicBezTo>
                  <a:cubicBezTo>
                    <a:pt x="1989" y="1414"/>
                    <a:pt x="1980" y="1426"/>
                    <a:pt x="1967" y="1427"/>
                  </a:cubicBezTo>
                  <a:lnTo>
                    <a:pt x="1967" y="1427"/>
                  </a:lnTo>
                  <a:cubicBezTo>
                    <a:pt x="1954" y="1429"/>
                    <a:pt x="1942" y="1420"/>
                    <a:pt x="1940" y="1406"/>
                  </a:cubicBezTo>
                  <a:cubicBezTo>
                    <a:pt x="1939" y="1393"/>
                    <a:pt x="1948" y="1381"/>
                    <a:pt x="1961" y="1380"/>
                  </a:cubicBezTo>
                  <a:close/>
                  <a:moveTo>
                    <a:pt x="2056" y="1368"/>
                  </a:moveTo>
                  <a:lnTo>
                    <a:pt x="2057" y="1368"/>
                  </a:lnTo>
                  <a:cubicBezTo>
                    <a:pt x="2070" y="1367"/>
                    <a:pt x="2082" y="1376"/>
                    <a:pt x="2083" y="1389"/>
                  </a:cubicBezTo>
                  <a:cubicBezTo>
                    <a:pt x="2085" y="1403"/>
                    <a:pt x="2075" y="1415"/>
                    <a:pt x="2062" y="1416"/>
                  </a:cubicBezTo>
                  <a:lnTo>
                    <a:pt x="2062" y="1416"/>
                  </a:lnTo>
                  <a:cubicBezTo>
                    <a:pt x="2049" y="1418"/>
                    <a:pt x="2037" y="1408"/>
                    <a:pt x="2035" y="1395"/>
                  </a:cubicBezTo>
                  <a:cubicBezTo>
                    <a:pt x="2034" y="1382"/>
                    <a:pt x="2043" y="1370"/>
                    <a:pt x="2056" y="1368"/>
                  </a:cubicBezTo>
                  <a:close/>
                  <a:moveTo>
                    <a:pt x="2152" y="1357"/>
                  </a:moveTo>
                  <a:lnTo>
                    <a:pt x="2152" y="1357"/>
                  </a:lnTo>
                  <a:cubicBezTo>
                    <a:pt x="2165" y="1356"/>
                    <a:pt x="2177" y="1365"/>
                    <a:pt x="2179" y="1378"/>
                  </a:cubicBezTo>
                  <a:cubicBezTo>
                    <a:pt x="2180" y="1391"/>
                    <a:pt x="2171" y="1403"/>
                    <a:pt x="2158" y="1405"/>
                  </a:cubicBezTo>
                  <a:lnTo>
                    <a:pt x="2157" y="1405"/>
                  </a:lnTo>
                  <a:cubicBezTo>
                    <a:pt x="2144" y="1406"/>
                    <a:pt x="2132" y="1397"/>
                    <a:pt x="2131" y="1384"/>
                  </a:cubicBezTo>
                  <a:cubicBezTo>
                    <a:pt x="2129" y="1371"/>
                    <a:pt x="2139" y="1359"/>
                    <a:pt x="2152" y="1357"/>
                  </a:cubicBezTo>
                  <a:close/>
                  <a:moveTo>
                    <a:pt x="2226" y="1335"/>
                  </a:moveTo>
                  <a:lnTo>
                    <a:pt x="2226" y="1335"/>
                  </a:lnTo>
                  <a:cubicBezTo>
                    <a:pt x="2236" y="1326"/>
                    <a:pt x="2251" y="1327"/>
                    <a:pt x="2260" y="1336"/>
                  </a:cubicBezTo>
                  <a:cubicBezTo>
                    <a:pt x="2269" y="1346"/>
                    <a:pt x="2268" y="1361"/>
                    <a:pt x="2259" y="1370"/>
                  </a:cubicBezTo>
                  <a:lnTo>
                    <a:pt x="2258" y="1370"/>
                  </a:lnTo>
                  <a:cubicBezTo>
                    <a:pt x="2249" y="1379"/>
                    <a:pt x="2234" y="1379"/>
                    <a:pt x="2225" y="1369"/>
                  </a:cubicBezTo>
                  <a:cubicBezTo>
                    <a:pt x="2216" y="1359"/>
                    <a:pt x="2216" y="1344"/>
                    <a:pt x="2226" y="1335"/>
                  </a:cubicBezTo>
                  <a:close/>
                  <a:moveTo>
                    <a:pt x="2297" y="1270"/>
                  </a:moveTo>
                  <a:lnTo>
                    <a:pt x="2297" y="1270"/>
                  </a:lnTo>
                  <a:cubicBezTo>
                    <a:pt x="2307" y="1261"/>
                    <a:pt x="2322" y="1262"/>
                    <a:pt x="2331" y="1272"/>
                  </a:cubicBezTo>
                  <a:cubicBezTo>
                    <a:pt x="2340" y="1282"/>
                    <a:pt x="2339" y="1297"/>
                    <a:pt x="2329" y="1306"/>
                  </a:cubicBezTo>
                  <a:lnTo>
                    <a:pt x="2329" y="1306"/>
                  </a:lnTo>
                  <a:cubicBezTo>
                    <a:pt x="2320" y="1315"/>
                    <a:pt x="2304" y="1314"/>
                    <a:pt x="2296" y="1304"/>
                  </a:cubicBezTo>
                  <a:cubicBezTo>
                    <a:pt x="2287" y="1294"/>
                    <a:pt x="2287" y="1279"/>
                    <a:pt x="2297" y="1270"/>
                  </a:cubicBezTo>
                  <a:close/>
                  <a:moveTo>
                    <a:pt x="2368" y="1206"/>
                  </a:moveTo>
                  <a:lnTo>
                    <a:pt x="2368" y="1206"/>
                  </a:lnTo>
                  <a:cubicBezTo>
                    <a:pt x="2378" y="1197"/>
                    <a:pt x="2393" y="1197"/>
                    <a:pt x="2402" y="1207"/>
                  </a:cubicBezTo>
                  <a:cubicBezTo>
                    <a:pt x="2411" y="1217"/>
                    <a:pt x="2410" y="1232"/>
                    <a:pt x="2400" y="1241"/>
                  </a:cubicBezTo>
                  <a:lnTo>
                    <a:pt x="2400" y="1241"/>
                  </a:lnTo>
                  <a:cubicBezTo>
                    <a:pt x="2391" y="1250"/>
                    <a:pt x="2375" y="1249"/>
                    <a:pt x="2367" y="1240"/>
                  </a:cubicBezTo>
                  <a:cubicBezTo>
                    <a:pt x="2358" y="1230"/>
                    <a:pt x="2358" y="1215"/>
                    <a:pt x="2368" y="1206"/>
                  </a:cubicBezTo>
                  <a:close/>
                  <a:moveTo>
                    <a:pt x="2439" y="1141"/>
                  </a:moveTo>
                  <a:lnTo>
                    <a:pt x="2439" y="1141"/>
                  </a:lnTo>
                  <a:cubicBezTo>
                    <a:pt x="2449" y="1132"/>
                    <a:pt x="2464" y="1133"/>
                    <a:pt x="2473" y="1142"/>
                  </a:cubicBezTo>
                  <a:cubicBezTo>
                    <a:pt x="2482" y="1152"/>
                    <a:pt x="2481" y="1167"/>
                    <a:pt x="2471" y="1176"/>
                  </a:cubicBezTo>
                  <a:lnTo>
                    <a:pt x="2471" y="1176"/>
                  </a:lnTo>
                  <a:cubicBezTo>
                    <a:pt x="2462" y="1185"/>
                    <a:pt x="2446" y="1185"/>
                    <a:pt x="2437" y="1175"/>
                  </a:cubicBezTo>
                  <a:cubicBezTo>
                    <a:pt x="2429" y="1165"/>
                    <a:pt x="2429" y="1150"/>
                    <a:pt x="2439" y="1141"/>
                  </a:cubicBezTo>
                  <a:close/>
                  <a:moveTo>
                    <a:pt x="2510" y="1076"/>
                  </a:moveTo>
                  <a:lnTo>
                    <a:pt x="2510" y="1076"/>
                  </a:lnTo>
                  <a:cubicBezTo>
                    <a:pt x="2520" y="1067"/>
                    <a:pt x="2535" y="1068"/>
                    <a:pt x="2544" y="1078"/>
                  </a:cubicBezTo>
                  <a:cubicBezTo>
                    <a:pt x="2553" y="1087"/>
                    <a:pt x="2552" y="1103"/>
                    <a:pt x="2542" y="1112"/>
                  </a:cubicBezTo>
                  <a:lnTo>
                    <a:pt x="2542" y="1112"/>
                  </a:lnTo>
                  <a:cubicBezTo>
                    <a:pt x="2533" y="1120"/>
                    <a:pt x="2517" y="1120"/>
                    <a:pt x="2508" y="1110"/>
                  </a:cubicBezTo>
                  <a:cubicBezTo>
                    <a:pt x="2499" y="1100"/>
                    <a:pt x="2500" y="1085"/>
                    <a:pt x="2510" y="1076"/>
                  </a:cubicBezTo>
                  <a:close/>
                  <a:moveTo>
                    <a:pt x="2581" y="1011"/>
                  </a:moveTo>
                  <a:lnTo>
                    <a:pt x="2581" y="1011"/>
                  </a:lnTo>
                  <a:cubicBezTo>
                    <a:pt x="2591" y="1002"/>
                    <a:pt x="2606" y="1003"/>
                    <a:pt x="2615" y="1013"/>
                  </a:cubicBezTo>
                  <a:cubicBezTo>
                    <a:pt x="2624" y="1023"/>
                    <a:pt x="2623" y="1038"/>
                    <a:pt x="2613" y="1047"/>
                  </a:cubicBezTo>
                  <a:lnTo>
                    <a:pt x="2613" y="1047"/>
                  </a:lnTo>
                  <a:cubicBezTo>
                    <a:pt x="2604" y="1056"/>
                    <a:pt x="2588" y="1055"/>
                    <a:pt x="2579" y="1045"/>
                  </a:cubicBezTo>
                  <a:cubicBezTo>
                    <a:pt x="2570" y="1036"/>
                    <a:pt x="2571" y="1020"/>
                    <a:pt x="2581" y="1011"/>
                  </a:cubicBezTo>
                  <a:close/>
                  <a:moveTo>
                    <a:pt x="2652" y="947"/>
                  </a:moveTo>
                  <a:lnTo>
                    <a:pt x="2652" y="947"/>
                  </a:lnTo>
                  <a:cubicBezTo>
                    <a:pt x="2662" y="938"/>
                    <a:pt x="2677" y="938"/>
                    <a:pt x="2686" y="948"/>
                  </a:cubicBezTo>
                  <a:cubicBezTo>
                    <a:pt x="2695" y="958"/>
                    <a:pt x="2694" y="973"/>
                    <a:pt x="2684" y="982"/>
                  </a:cubicBezTo>
                  <a:lnTo>
                    <a:pt x="2684" y="982"/>
                  </a:lnTo>
                  <a:cubicBezTo>
                    <a:pt x="2675" y="991"/>
                    <a:pt x="2659" y="990"/>
                    <a:pt x="2650" y="981"/>
                  </a:cubicBezTo>
                  <a:cubicBezTo>
                    <a:pt x="2641" y="971"/>
                    <a:pt x="2642" y="956"/>
                    <a:pt x="2652" y="947"/>
                  </a:cubicBezTo>
                  <a:close/>
                  <a:moveTo>
                    <a:pt x="2723" y="882"/>
                  </a:moveTo>
                  <a:lnTo>
                    <a:pt x="2723" y="882"/>
                  </a:lnTo>
                  <a:cubicBezTo>
                    <a:pt x="2733" y="873"/>
                    <a:pt x="2748" y="874"/>
                    <a:pt x="2757" y="883"/>
                  </a:cubicBezTo>
                  <a:cubicBezTo>
                    <a:pt x="2766" y="893"/>
                    <a:pt x="2765" y="908"/>
                    <a:pt x="2755" y="917"/>
                  </a:cubicBezTo>
                  <a:lnTo>
                    <a:pt x="2755" y="917"/>
                  </a:lnTo>
                  <a:cubicBezTo>
                    <a:pt x="2746" y="926"/>
                    <a:pt x="2730" y="926"/>
                    <a:pt x="2721" y="916"/>
                  </a:cubicBezTo>
                  <a:cubicBezTo>
                    <a:pt x="2712" y="906"/>
                    <a:pt x="2713" y="891"/>
                    <a:pt x="2723" y="882"/>
                  </a:cubicBezTo>
                  <a:close/>
                  <a:moveTo>
                    <a:pt x="2819" y="916"/>
                  </a:moveTo>
                  <a:lnTo>
                    <a:pt x="2819" y="916"/>
                  </a:lnTo>
                  <a:cubicBezTo>
                    <a:pt x="2827" y="926"/>
                    <a:pt x="2824" y="941"/>
                    <a:pt x="2813" y="949"/>
                  </a:cubicBezTo>
                  <a:cubicBezTo>
                    <a:pt x="2802" y="957"/>
                    <a:pt x="2787" y="954"/>
                    <a:pt x="2780" y="943"/>
                  </a:cubicBezTo>
                  <a:lnTo>
                    <a:pt x="2780" y="943"/>
                  </a:lnTo>
                  <a:cubicBezTo>
                    <a:pt x="2772" y="932"/>
                    <a:pt x="2775" y="917"/>
                    <a:pt x="2786" y="910"/>
                  </a:cubicBezTo>
                  <a:cubicBezTo>
                    <a:pt x="2797" y="902"/>
                    <a:pt x="2812" y="905"/>
                    <a:pt x="2819" y="916"/>
                  </a:cubicBezTo>
                  <a:close/>
                  <a:moveTo>
                    <a:pt x="2874" y="994"/>
                  </a:moveTo>
                  <a:lnTo>
                    <a:pt x="2874" y="994"/>
                  </a:lnTo>
                  <a:cubicBezTo>
                    <a:pt x="2881" y="1005"/>
                    <a:pt x="2879" y="1020"/>
                    <a:pt x="2868" y="1028"/>
                  </a:cubicBezTo>
                  <a:cubicBezTo>
                    <a:pt x="2857" y="1035"/>
                    <a:pt x="2842" y="1033"/>
                    <a:pt x="2834" y="1022"/>
                  </a:cubicBezTo>
                  <a:lnTo>
                    <a:pt x="2834" y="1022"/>
                  </a:lnTo>
                  <a:cubicBezTo>
                    <a:pt x="2827" y="1011"/>
                    <a:pt x="2830" y="996"/>
                    <a:pt x="2840" y="988"/>
                  </a:cubicBezTo>
                  <a:cubicBezTo>
                    <a:pt x="2851" y="981"/>
                    <a:pt x="2866" y="984"/>
                    <a:pt x="2874" y="994"/>
                  </a:cubicBezTo>
                  <a:close/>
                  <a:moveTo>
                    <a:pt x="2929" y="1073"/>
                  </a:moveTo>
                  <a:lnTo>
                    <a:pt x="2929" y="1073"/>
                  </a:lnTo>
                  <a:cubicBezTo>
                    <a:pt x="2936" y="1084"/>
                    <a:pt x="2934" y="1099"/>
                    <a:pt x="2923" y="1107"/>
                  </a:cubicBezTo>
                  <a:cubicBezTo>
                    <a:pt x="2912" y="1114"/>
                    <a:pt x="2897" y="1112"/>
                    <a:pt x="2889" y="1101"/>
                  </a:cubicBezTo>
                  <a:lnTo>
                    <a:pt x="2889" y="1101"/>
                  </a:lnTo>
                  <a:cubicBezTo>
                    <a:pt x="2882" y="1090"/>
                    <a:pt x="2884" y="1075"/>
                    <a:pt x="2895" y="1067"/>
                  </a:cubicBezTo>
                  <a:cubicBezTo>
                    <a:pt x="2906" y="1060"/>
                    <a:pt x="2921" y="1062"/>
                    <a:pt x="2929" y="1073"/>
                  </a:cubicBezTo>
                  <a:close/>
                  <a:moveTo>
                    <a:pt x="2983" y="1152"/>
                  </a:moveTo>
                  <a:lnTo>
                    <a:pt x="2983" y="1152"/>
                  </a:lnTo>
                  <a:cubicBezTo>
                    <a:pt x="2991" y="1163"/>
                    <a:pt x="2988" y="1178"/>
                    <a:pt x="2977" y="1186"/>
                  </a:cubicBezTo>
                  <a:cubicBezTo>
                    <a:pt x="2967" y="1193"/>
                    <a:pt x="2952" y="1191"/>
                    <a:pt x="2944" y="1180"/>
                  </a:cubicBezTo>
                  <a:lnTo>
                    <a:pt x="2944" y="1180"/>
                  </a:lnTo>
                  <a:cubicBezTo>
                    <a:pt x="2936" y="1169"/>
                    <a:pt x="2939" y="1154"/>
                    <a:pt x="2950" y="1146"/>
                  </a:cubicBezTo>
                  <a:cubicBezTo>
                    <a:pt x="2961" y="1139"/>
                    <a:pt x="2976" y="1141"/>
                    <a:pt x="2983" y="1152"/>
                  </a:cubicBezTo>
                  <a:close/>
                  <a:moveTo>
                    <a:pt x="3038" y="1231"/>
                  </a:moveTo>
                  <a:lnTo>
                    <a:pt x="3038" y="1231"/>
                  </a:lnTo>
                  <a:cubicBezTo>
                    <a:pt x="3046" y="1242"/>
                    <a:pt x="3043" y="1257"/>
                    <a:pt x="3032" y="1265"/>
                  </a:cubicBezTo>
                  <a:cubicBezTo>
                    <a:pt x="3021" y="1272"/>
                    <a:pt x="3006" y="1270"/>
                    <a:pt x="2999" y="1259"/>
                  </a:cubicBezTo>
                  <a:lnTo>
                    <a:pt x="2999" y="1259"/>
                  </a:lnTo>
                  <a:cubicBezTo>
                    <a:pt x="2991" y="1248"/>
                    <a:pt x="2994" y="1233"/>
                    <a:pt x="3005" y="1225"/>
                  </a:cubicBezTo>
                  <a:cubicBezTo>
                    <a:pt x="3016" y="1218"/>
                    <a:pt x="3031" y="1220"/>
                    <a:pt x="3038" y="1231"/>
                  </a:cubicBezTo>
                  <a:close/>
                  <a:moveTo>
                    <a:pt x="3093" y="1310"/>
                  </a:moveTo>
                  <a:lnTo>
                    <a:pt x="3093" y="1310"/>
                  </a:lnTo>
                  <a:cubicBezTo>
                    <a:pt x="3100" y="1321"/>
                    <a:pt x="3098" y="1336"/>
                    <a:pt x="3087" y="1344"/>
                  </a:cubicBezTo>
                  <a:cubicBezTo>
                    <a:pt x="3076" y="1351"/>
                    <a:pt x="3061" y="1348"/>
                    <a:pt x="3054" y="1338"/>
                  </a:cubicBezTo>
                  <a:lnTo>
                    <a:pt x="3053" y="1338"/>
                  </a:lnTo>
                  <a:cubicBezTo>
                    <a:pt x="3046" y="1327"/>
                    <a:pt x="3049" y="1312"/>
                    <a:pt x="3059" y="1304"/>
                  </a:cubicBezTo>
                  <a:cubicBezTo>
                    <a:pt x="3070" y="1297"/>
                    <a:pt x="3085" y="1299"/>
                    <a:pt x="3093" y="1310"/>
                  </a:cubicBezTo>
                  <a:close/>
                  <a:moveTo>
                    <a:pt x="3148" y="1389"/>
                  </a:moveTo>
                  <a:lnTo>
                    <a:pt x="3148" y="1389"/>
                  </a:lnTo>
                  <a:cubicBezTo>
                    <a:pt x="3155" y="1400"/>
                    <a:pt x="3153" y="1415"/>
                    <a:pt x="3142" y="1422"/>
                  </a:cubicBezTo>
                  <a:cubicBezTo>
                    <a:pt x="3131" y="1430"/>
                    <a:pt x="3116" y="1427"/>
                    <a:pt x="3108" y="1416"/>
                  </a:cubicBezTo>
                  <a:lnTo>
                    <a:pt x="3108" y="1416"/>
                  </a:lnTo>
                  <a:cubicBezTo>
                    <a:pt x="3101" y="1406"/>
                    <a:pt x="3103" y="1391"/>
                    <a:pt x="3114" y="1383"/>
                  </a:cubicBezTo>
                  <a:cubicBezTo>
                    <a:pt x="3125" y="1375"/>
                    <a:pt x="3140" y="1378"/>
                    <a:pt x="3148" y="1389"/>
                  </a:cubicBezTo>
                  <a:close/>
                  <a:moveTo>
                    <a:pt x="3202" y="1468"/>
                  </a:moveTo>
                  <a:lnTo>
                    <a:pt x="3202" y="1468"/>
                  </a:lnTo>
                  <a:cubicBezTo>
                    <a:pt x="3210" y="1479"/>
                    <a:pt x="3207" y="1494"/>
                    <a:pt x="3196" y="1501"/>
                  </a:cubicBezTo>
                  <a:cubicBezTo>
                    <a:pt x="3186" y="1509"/>
                    <a:pt x="3171" y="1506"/>
                    <a:pt x="3163" y="1495"/>
                  </a:cubicBezTo>
                  <a:lnTo>
                    <a:pt x="3163" y="1495"/>
                  </a:lnTo>
                  <a:cubicBezTo>
                    <a:pt x="3155" y="1484"/>
                    <a:pt x="3158" y="1470"/>
                    <a:pt x="3169" y="1462"/>
                  </a:cubicBezTo>
                  <a:cubicBezTo>
                    <a:pt x="3180" y="1454"/>
                    <a:pt x="3195" y="1457"/>
                    <a:pt x="3202" y="1468"/>
                  </a:cubicBezTo>
                  <a:close/>
                  <a:moveTo>
                    <a:pt x="3257" y="1547"/>
                  </a:moveTo>
                  <a:lnTo>
                    <a:pt x="3257" y="1547"/>
                  </a:lnTo>
                  <a:cubicBezTo>
                    <a:pt x="3265" y="1558"/>
                    <a:pt x="3262" y="1573"/>
                    <a:pt x="3251" y="1580"/>
                  </a:cubicBezTo>
                  <a:cubicBezTo>
                    <a:pt x="3240" y="1588"/>
                    <a:pt x="3225" y="1585"/>
                    <a:pt x="3218" y="1574"/>
                  </a:cubicBezTo>
                  <a:lnTo>
                    <a:pt x="3218" y="1574"/>
                  </a:lnTo>
                  <a:cubicBezTo>
                    <a:pt x="3210" y="1563"/>
                    <a:pt x="3213" y="1548"/>
                    <a:pt x="3224" y="1541"/>
                  </a:cubicBezTo>
                  <a:cubicBezTo>
                    <a:pt x="3235" y="1533"/>
                    <a:pt x="3250" y="1536"/>
                    <a:pt x="3257" y="1547"/>
                  </a:cubicBezTo>
                  <a:close/>
                  <a:moveTo>
                    <a:pt x="3312" y="1626"/>
                  </a:moveTo>
                  <a:lnTo>
                    <a:pt x="3312" y="1626"/>
                  </a:lnTo>
                  <a:cubicBezTo>
                    <a:pt x="3319" y="1637"/>
                    <a:pt x="3317" y="1652"/>
                    <a:pt x="3306" y="1659"/>
                  </a:cubicBezTo>
                  <a:cubicBezTo>
                    <a:pt x="3295" y="1667"/>
                    <a:pt x="3280" y="1664"/>
                    <a:pt x="3273" y="1653"/>
                  </a:cubicBezTo>
                  <a:lnTo>
                    <a:pt x="3272" y="1653"/>
                  </a:lnTo>
                  <a:cubicBezTo>
                    <a:pt x="3265" y="1642"/>
                    <a:pt x="3268" y="1627"/>
                    <a:pt x="3278" y="1620"/>
                  </a:cubicBezTo>
                  <a:cubicBezTo>
                    <a:pt x="3289" y="1612"/>
                    <a:pt x="3304" y="1615"/>
                    <a:pt x="3312" y="1626"/>
                  </a:cubicBezTo>
                  <a:close/>
                  <a:moveTo>
                    <a:pt x="3327" y="1591"/>
                  </a:moveTo>
                  <a:lnTo>
                    <a:pt x="3327" y="1591"/>
                  </a:lnTo>
                  <a:cubicBezTo>
                    <a:pt x="3335" y="1580"/>
                    <a:pt x="3350" y="1577"/>
                    <a:pt x="3361" y="1585"/>
                  </a:cubicBezTo>
                  <a:cubicBezTo>
                    <a:pt x="3372" y="1592"/>
                    <a:pt x="3374" y="1607"/>
                    <a:pt x="3367" y="1618"/>
                  </a:cubicBezTo>
                  <a:lnTo>
                    <a:pt x="3367" y="1618"/>
                  </a:lnTo>
                  <a:cubicBezTo>
                    <a:pt x="3359" y="1629"/>
                    <a:pt x="3344" y="1632"/>
                    <a:pt x="3333" y="1624"/>
                  </a:cubicBezTo>
                  <a:cubicBezTo>
                    <a:pt x="3322" y="1617"/>
                    <a:pt x="3320" y="1602"/>
                    <a:pt x="3327" y="1591"/>
                  </a:cubicBezTo>
                  <a:close/>
                  <a:moveTo>
                    <a:pt x="3382" y="1512"/>
                  </a:moveTo>
                  <a:lnTo>
                    <a:pt x="3382" y="1512"/>
                  </a:lnTo>
                  <a:cubicBezTo>
                    <a:pt x="3390" y="1501"/>
                    <a:pt x="3404" y="1498"/>
                    <a:pt x="3415" y="1506"/>
                  </a:cubicBezTo>
                  <a:cubicBezTo>
                    <a:pt x="3426" y="1513"/>
                    <a:pt x="3429" y="1528"/>
                    <a:pt x="3421" y="1539"/>
                  </a:cubicBezTo>
                  <a:lnTo>
                    <a:pt x="3421" y="1539"/>
                  </a:lnTo>
                  <a:cubicBezTo>
                    <a:pt x="3414" y="1550"/>
                    <a:pt x="3399" y="1553"/>
                    <a:pt x="3388" y="1545"/>
                  </a:cubicBezTo>
                  <a:cubicBezTo>
                    <a:pt x="3377" y="1538"/>
                    <a:pt x="3374" y="1523"/>
                    <a:pt x="3382" y="1512"/>
                  </a:cubicBezTo>
                  <a:close/>
                  <a:moveTo>
                    <a:pt x="3437" y="1433"/>
                  </a:moveTo>
                  <a:lnTo>
                    <a:pt x="3437" y="1433"/>
                  </a:lnTo>
                  <a:cubicBezTo>
                    <a:pt x="3444" y="1422"/>
                    <a:pt x="3459" y="1419"/>
                    <a:pt x="3470" y="1427"/>
                  </a:cubicBezTo>
                  <a:cubicBezTo>
                    <a:pt x="3481" y="1434"/>
                    <a:pt x="3484" y="1449"/>
                    <a:pt x="3476" y="1460"/>
                  </a:cubicBezTo>
                  <a:lnTo>
                    <a:pt x="3476" y="1460"/>
                  </a:lnTo>
                  <a:cubicBezTo>
                    <a:pt x="3469" y="1471"/>
                    <a:pt x="3454" y="1474"/>
                    <a:pt x="3443" y="1466"/>
                  </a:cubicBezTo>
                  <a:cubicBezTo>
                    <a:pt x="3432" y="1459"/>
                    <a:pt x="3429" y="1444"/>
                    <a:pt x="3437" y="1433"/>
                  </a:cubicBezTo>
                  <a:close/>
                  <a:moveTo>
                    <a:pt x="3491" y="1354"/>
                  </a:moveTo>
                  <a:lnTo>
                    <a:pt x="3492" y="1354"/>
                  </a:lnTo>
                  <a:cubicBezTo>
                    <a:pt x="3499" y="1343"/>
                    <a:pt x="3514" y="1341"/>
                    <a:pt x="3525" y="1348"/>
                  </a:cubicBezTo>
                  <a:cubicBezTo>
                    <a:pt x="3536" y="1356"/>
                    <a:pt x="3539" y="1371"/>
                    <a:pt x="3531" y="1381"/>
                  </a:cubicBezTo>
                  <a:lnTo>
                    <a:pt x="3531" y="1381"/>
                  </a:lnTo>
                  <a:cubicBezTo>
                    <a:pt x="3523" y="1392"/>
                    <a:pt x="3508" y="1395"/>
                    <a:pt x="3498" y="1388"/>
                  </a:cubicBezTo>
                  <a:cubicBezTo>
                    <a:pt x="3487" y="1380"/>
                    <a:pt x="3484" y="1365"/>
                    <a:pt x="3491" y="1354"/>
                  </a:cubicBezTo>
                  <a:close/>
                  <a:moveTo>
                    <a:pt x="3546" y="1275"/>
                  </a:moveTo>
                  <a:lnTo>
                    <a:pt x="3546" y="1275"/>
                  </a:lnTo>
                  <a:cubicBezTo>
                    <a:pt x="3554" y="1264"/>
                    <a:pt x="3569" y="1262"/>
                    <a:pt x="3580" y="1269"/>
                  </a:cubicBezTo>
                  <a:cubicBezTo>
                    <a:pt x="3591" y="1277"/>
                    <a:pt x="3593" y="1292"/>
                    <a:pt x="3586" y="1303"/>
                  </a:cubicBezTo>
                  <a:lnTo>
                    <a:pt x="3586" y="1303"/>
                  </a:lnTo>
                  <a:cubicBezTo>
                    <a:pt x="3578" y="1313"/>
                    <a:pt x="3563" y="1316"/>
                    <a:pt x="3552" y="1309"/>
                  </a:cubicBezTo>
                  <a:cubicBezTo>
                    <a:pt x="3541" y="1301"/>
                    <a:pt x="3539" y="1286"/>
                    <a:pt x="3546" y="1275"/>
                  </a:cubicBezTo>
                  <a:close/>
                  <a:moveTo>
                    <a:pt x="3601" y="1196"/>
                  </a:moveTo>
                  <a:lnTo>
                    <a:pt x="3601" y="1196"/>
                  </a:lnTo>
                  <a:cubicBezTo>
                    <a:pt x="3609" y="1185"/>
                    <a:pt x="3624" y="1183"/>
                    <a:pt x="3634" y="1190"/>
                  </a:cubicBezTo>
                  <a:cubicBezTo>
                    <a:pt x="3645" y="1198"/>
                    <a:pt x="3648" y="1213"/>
                    <a:pt x="3640" y="1224"/>
                  </a:cubicBezTo>
                  <a:lnTo>
                    <a:pt x="3640" y="1224"/>
                  </a:lnTo>
                  <a:cubicBezTo>
                    <a:pt x="3633" y="1235"/>
                    <a:pt x="3618" y="1237"/>
                    <a:pt x="3607" y="1230"/>
                  </a:cubicBezTo>
                  <a:cubicBezTo>
                    <a:pt x="3596" y="1222"/>
                    <a:pt x="3593" y="1207"/>
                    <a:pt x="3601" y="1196"/>
                  </a:cubicBezTo>
                  <a:close/>
                  <a:moveTo>
                    <a:pt x="3656" y="1117"/>
                  </a:moveTo>
                  <a:lnTo>
                    <a:pt x="3656" y="1117"/>
                  </a:lnTo>
                  <a:cubicBezTo>
                    <a:pt x="3663" y="1107"/>
                    <a:pt x="3678" y="1104"/>
                    <a:pt x="3689" y="1111"/>
                  </a:cubicBezTo>
                  <a:cubicBezTo>
                    <a:pt x="3700" y="1119"/>
                    <a:pt x="3703" y="1134"/>
                    <a:pt x="3695" y="1145"/>
                  </a:cubicBezTo>
                  <a:lnTo>
                    <a:pt x="3695" y="1145"/>
                  </a:lnTo>
                  <a:cubicBezTo>
                    <a:pt x="3688" y="1156"/>
                    <a:pt x="3673" y="1158"/>
                    <a:pt x="3662" y="1151"/>
                  </a:cubicBezTo>
                  <a:cubicBezTo>
                    <a:pt x="3651" y="1143"/>
                    <a:pt x="3648" y="1128"/>
                    <a:pt x="3656" y="1117"/>
                  </a:cubicBezTo>
                  <a:close/>
                  <a:moveTo>
                    <a:pt x="3710" y="1039"/>
                  </a:moveTo>
                  <a:lnTo>
                    <a:pt x="3711" y="1038"/>
                  </a:lnTo>
                  <a:cubicBezTo>
                    <a:pt x="3718" y="1028"/>
                    <a:pt x="3733" y="1025"/>
                    <a:pt x="3744" y="1032"/>
                  </a:cubicBezTo>
                  <a:cubicBezTo>
                    <a:pt x="3755" y="1040"/>
                    <a:pt x="3758" y="1055"/>
                    <a:pt x="3750" y="1066"/>
                  </a:cubicBezTo>
                  <a:lnTo>
                    <a:pt x="3750" y="1066"/>
                  </a:lnTo>
                  <a:cubicBezTo>
                    <a:pt x="3742" y="1077"/>
                    <a:pt x="3727" y="1079"/>
                    <a:pt x="3717" y="1072"/>
                  </a:cubicBezTo>
                  <a:cubicBezTo>
                    <a:pt x="3706" y="1064"/>
                    <a:pt x="3703" y="1049"/>
                    <a:pt x="3710" y="1039"/>
                  </a:cubicBezTo>
                  <a:close/>
                  <a:moveTo>
                    <a:pt x="3765" y="960"/>
                  </a:moveTo>
                  <a:lnTo>
                    <a:pt x="3765" y="960"/>
                  </a:lnTo>
                  <a:cubicBezTo>
                    <a:pt x="3773" y="949"/>
                    <a:pt x="3788" y="946"/>
                    <a:pt x="3799" y="953"/>
                  </a:cubicBezTo>
                  <a:cubicBezTo>
                    <a:pt x="3810" y="961"/>
                    <a:pt x="3812" y="976"/>
                    <a:pt x="3805" y="987"/>
                  </a:cubicBezTo>
                  <a:lnTo>
                    <a:pt x="3805" y="987"/>
                  </a:lnTo>
                  <a:cubicBezTo>
                    <a:pt x="3797" y="998"/>
                    <a:pt x="3782" y="1001"/>
                    <a:pt x="3771" y="993"/>
                  </a:cubicBezTo>
                  <a:cubicBezTo>
                    <a:pt x="3760" y="985"/>
                    <a:pt x="3758" y="971"/>
                    <a:pt x="3765" y="960"/>
                  </a:cubicBezTo>
                  <a:close/>
                  <a:moveTo>
                    <a:pt x="3820" y="881"/>
                  </a:moveTo>
                  <a:lnTo>
                    <a:pt x="3820" y="881"/>
                  </a:lnTo>
                  <a:cubicBezTo>
                    <a:pt x="3828" y="870"/>
                    <a:pt x="3843" y="867"/>
                    <a:pt x="3853" y="875"/>
                  </a:cubicBezTo>
                  <a:cubicBezTo>
                    <a:pt x="3864" y="882"/>
                    <a:pt x="3867" y="897"/>
                    <a:pt x="3860" y="908"/>
                  </a:cubicBezTo>
                  <a:lnTo>
                    <a:pt x="3859" y="908"/>
                  </a:lnTo>
                  <a:cubicBezTo>
                    <a:pt x="3852" y="919"/>
                    <a:pt x="3837" y="922"/>
                    <a:pt x="3826" y="914"/>
                  </a:cubicBezTo>
                  <a:cubicBezTo>
                    <a:pt x="3815" y="907"/>
                    <a:pt x="3812" y="892"/>
                    <a:pt x="3820" y="881"/>
                  </a:cubicBezTo>
                  <a:close/>
                  <a:moveTo>
                    <a:pt x="3890" y="808"/>
                  </a:moveTo>
                  <a:lnTo>
                    <a:pt x="3890" y="808"/>
                  </a:lnTo>
                  <a:cubicBezTo>
                    <a:pt x="3900" y="799"/>
                    <a:pt x="3915" y="800"/>
                    <a:pt x="3924" y="809"/>
                  </a:cubicBezTo>
                  <a:cubicBezTo>
                    <a:pt x="3933" y="819"/>
                    <a:pt x="3933" y="834"/>
                    <a:pt x="3923" y="843"/>
                  </a:cubicBezTo>
                  <a:lnTo>
                    <a:pt x="3923" y="843"/>
                  </a:lnTo>
                  <a:cubicBezTo>
                    <a:pt x="3913" y="852"/>
                    <a:pt x="3898" y="852"/>
                    <a:pt x="3889" y="842"/>
                  </a:cubicBezTo>
                  <a:cubicBezTo>
                    <a:pt x="3880" y="833"/>
                    <a:pt x="3880" y="817"/>
                    <a:pt x="3890" y="808"/>
                  </a:cubicBezTo>
                  <a:close/>
                  <a:moveTo>
                    <a:pt x="3960" y="743"/>
                  </a:moveTo>
                  <a:lnTo>
                    <a:pt x="3960" y="742"/>
                  </a:lnTo>
                  <a:cubicBezTo>
                    <a:pt x="3969" y="733"/>
                    <a:pt x="3985" y="734"/>
                    <a:pt x="3994" y="743"/>
                  </a:cubicBezTo>
                  <a:cubicBezTo>
                    <a:pt x="4003" y="753"/>
                    <a:pt x="4003" y="768"/>
                    <a:pt x="3993" y="777"/>
                  </a:cubicBezTo>
                  <a:lnTo>
                    <a:pt x="3993" y="777"/>
                  </a:lnTo>
                  <a:cubicBezTo>
                    <a:pt x="3983" y="786"/>
                    <a:pt x="3968" y="786"/>
                    <a:pt x="3959" y="776"/>
                  </a:cubicBezTo>
                  <a:cubicBezTo>
                    <a:pt x="3950" y="767"/>
                    <a:pt x="3950" y="752"/>
                    <a:pt x="3960" y="743"/>
                  </a:cubicBezTo>
                  <a:close/>
                  <a:moveTo>
                    <a:pt x="4030" y="677"/>
                  </a:moveTo>
                  <a:lnTo>
                    <a:pt x="4030" y="677"/>
                  </a:lnTo>
                  <a:cubicBezTo>
                    <a:pt x="4039" y="668"/>
                    <a:pt x="4055" y="668"/>
                    <a:pt x="4064" y="678"/>
                  </a:cubicBezTo>
                  <a:cubicBezTo>
                    <a:pt x="4073" y="687"/>
                    <a:pt x="4073" y="702"/>
                    <a:pt x="4063" y="711"/>
                  </a:cubicBezTo>
                  <a:lnTo>
                    <a:pt x="4063" y="711"/>
                  </a:lnTo>
                  <a:cubicBezTo>
                    <a:pt x="4053" y="721"/>
                    <a:pt x="4038" y="720"/>
                    <a:pt x="4029" y="711"/>
                  </a:cubicBezTo>
                  <a:cubicBezTo>
                    <a:pt x="4020" y="701"/>
                    <a:pt x="4020" y="686"/>
                    <a:pt x="4030" y="677"/>
                  </a:cubicBezTo>
                  <a:close/>
                  <a:moveTo>
                    <a:pt x="4100" y="611"/>
                  </a:moveTo>
                  <a:lnTo>
                    <a:pt x="4100" y="611"/>
                  </a:lnTo>
                  <a:cubicBezTo>
                    <a:pt x="4109" y="602"/>
                    <a:pt x="4125" y="602"/>
                    <a:pt x="4134" y="612"/>
                  </a:cubicBezTo>
                  <a:cubicBezTo>
                    <a:pt x="4143" y="621"/>
                    <a:pt x="4142" y="636"/>
                    <a:pt x="4133" y="646"/>
                  </a:cubicBezTo>
                  <a:lnTo>
                    <a:pt x="4133" y="646"/>
                  </a:lnTo>
                  <a:cubicBezTo>
                    <a:pt x="4123" y="655"/>
                    <a:pt x="4108" y="654"/>
                    <a:pt x="4099" y="645"/>
                  </a:cubicBezTo>
                  <a:cubicBezTo>
                    <a:pt x="4090" y="635"/>
                    <a:pt x="4090" y="620"/>
                    <a:pt x="4100" y="611"/>
                  </a:cubicBezTo>
                  <a:close/>
                  <a:moveTo>
                    <a:pt x="4170" y="545"/>
                  </a:moveTo>
                  <a:lnTo>
                    <a:pt x="4170" y="545"/>
                  </a:lnTo>
                  <a:cubicBezTo>
                    <a:pt x="4179" y="536"/>
                    <a:pt x="4195" y="536"/>
                    <a:pt x="4204" y="546"/>
                  </a:cubicBezTo>
                  <a:cubicBezTo>
                    <a:pt x="4213" y="555"/>
                    <a:pt x="4212" y="571"/>
                    <a:pt x="4203" y="580"/>
                  </a:cubicBezTo>
                  <a:lnTo>
                    <a:pt x="4203" y="580"/>
                  </a:lnTo>
                  <a:cubicBezTo>
                    <a:pt x="4193" y="589"/>
                    <a:pt x="4178" y="589"/>
                    <a:pt x="4169" y="579"/>
                  </a:cubicBezTo>
                  <a:cubicBezTo>
                    <a:pt x="4160" y="569"/>
                    <a:pt x="4160" y="554"/>
                    <a:pt x="4170" y="545"/>
                  </a:cubicBezTo>
                  <a:close/>
                  <a:moveTo>
                    <a:pt x="4240" y="479"/>
                  </a:moveTo>
                  <a:lnTo>
                    <a:pt x="4240" y="479"/>
                  </a:lnTo>
                  <a:cubicBezTo>
                    <a:pt x="4249" y="470"/>
                    <a:pt x="4264" y="470"/>
                    <a:pt x="4274" y="480"/>
                  </a:cubicBezTo>
                  <a:cubicBezTo>
                    <a:pt x="4283" y="490"/>
                    <a:pt x="4282" y="505"/>
                    <a:pt x="4273" y="514"/>
                  </a:cubicBezTo>
                  <a:lnTo>
                    <a:pt x="4273" y="514"/>
                  </a:lnTo>
                  <a:cubicBezTo>
                    <a:pt x="4263" y="523"/>
                    <a:pt x="4248" y="523"/>
                    <a:pt x="4239" y="513"/>
                  </a:cubicBezTo>
                  <a:cubicBezTo>
                    <a:pt x="4230" y="504"/>
                    <a:pt x="4230" y="488"/>
                    <a:pt x="4240" y="479"/>
                  </a:cubicBezTo>
                  <a:close/>
                  <a:moveTo>
                    <a:pt x="4310" y="413"/>
                  </a:moveTo>
                  <a:lnTo>
                    <a:pt x="4310" y="413"/>
                  </a:lnTo>
                  <a:cubicBezTo>
                    <a:pt x="4319" y="404"/>
                    <a:pt x="4334" y="405"/>
                    <a:pt x="4344" y="414"/>
                  </a:cubicBezTo>
                  <a:cubicBezTo>
                    <a:pt x="4353" y="424"/>
                    <a:pt x="4352" y="439"/>
                    <a:pt x="4343" y="448"/>
                  </a:cubicBezTo>
                  <a:lnTo>
                    <a:pt x="4343" y="448"/>
                  </a:lnTo>
                  <a:cubicBezTo>
                    <a:pt x="4333" y="457"/>
                    <a:pt x="4318" y="457"/>
                    <a:pt x="4309" y="447"/>
                  </a:cubicBezTo>
                  <a:cubicBezTo>
                    <a:pt x="4300" y="438"/>
                    <a:pt x="4300" y="422"/>
                    <a:pt x="4310" y="413"/>
                  </a:cubicBezTo>
                  <a:close/>
                  <a:moveTo>
                    <a:pt x="4408" y="345"/>
                  </a:moveTo>
                  <a:lnTo>
                    <a:pt x="4408" y="345"/>
                  </a:lnTo>
                  <a:cubicBezTo>
                    <a:pt x="4419" y="351"/>
                    <a:pt x="4424" y="366"/>
                    <a:pt x="4417" y="378"/>
                  </a:cubicBezTo>
                  <a:cubicBezTo>
                    <a:pt x="4411" y="389"/>
                    <a:pt x="4396" y="393"/>
                    <a:pt x="4384" y="387"/>
                  </a:cubicBezTo>
                  <a:lnTo>
                    <a:pt x="4384" y="387"/>
                  </a:lnTo>
                  <a:cubicBezTo>
                    <a:pt x="4373" y="380"/>
                    <a:pt x="4369" y="366"/>
                    <a:pt x="4375" y="354"/>
                  </a:cubicBezTo>
                  <a:cubicBezTo>
                    <a:pt x="4382" y="343"/>
                    <a:pt x="4396" y="338"/>
                    <a:pt x="4408" y="345"/>
                  </a:cubicBezTo>
                  <a:close/>
                  <a:moveTo>
                    <a:pt x="4492" y="392"/>
                  </a:moveTo>
                  <a:lnTo>
                    <a:pt x="4492" y="392"/>
                  </a:lnTo>
                  <a:cubicBezTo>
                    <a:pt x="4503" y="398"/>
                    <a:pt x="4507" y="413"/>
                    <a:pt x="4501" y="424"/>
                  </a:cubicBezTo>
                  <a:cubicBezTo>
                    <a:pt x="4495" y="436"/>
                    <a:pt x="4480" y="440"/>
                    <a:pt x="4468" y="434"/>
                  </a:cubicBezTo>
                  <a:lnTo>
                    <a:pt x="4468" y="434"/>
                  </a:lnTo>
                  <a:cubicBezTo>
                    <a:pt x="4457" y="427"/>
                    <a:pt x="4453" y="413"/>
                    <a:pt x="4459" y="401"/>
                  </a:cubicBezTo>
                  <a:cubicBezTo>
                    <a:pt x="4466" y="389"/>
                    <a:pt x="4480" y="385"/>
                    <a:pt x="4492" y="392"/>
                  </a:cubicBezTo>
                  <a:close/>
                  <a:moveTo>
                    <a:pt x="4576" y="439"/>
                  </a:moveTo>
                  <a:lnTo>
                    <a:pt x="4576" y="439"/>
                  </a:lnTo>
                  <a:cubicBezTo>
                    <a:pt x="4587" y="445"/>
                    <a:pt x="4591" y="460"/>
                    <a:pt x="4585" y="471"/>
                  </a:cubicBezTo>
                  <a:cubicBezTo>
                    <a:pt x="4578" y="483"/>
                    <a:pt x="4564" y="487"/>
                    <a:pt x="4552" y="481"/>
                  </a:cubicBezTo>
                  <a:lnTo>
                    <a:pt x="4552" y="481"/>
                  </a:lnTo>
                  <a:cubicBezTo>
                    <a:pt x="4541" y="474"/>
                    <a:pt x="4536" y="459"/>
                    <a:pt x="4543" y="448"/>
                  </a:cubicBezTo>
                  <a:cubicBezTo>
                    <a:pt x="4549" y="436"/>
                    <a:pt x="4564" y="432"/>
                    <a:pt x="4576" y="439"/>
                  </a:cubicBezTo>
                  <a:close/>
                  <a:moveTo>
                    <a:pt x="4659" y="485"/>
                  </a:moveTo>
                  <a:lnTo>
                    <a:pt x="4659" y="485"/>
                  </a:lnTo>
                  <a:cubicBezTo>
                    <a:pt x="4671" y="492"/>
                    <a:pt x="4675" y="507"/>
                    <a:pt x="4669" y="518"/>
                  </a:cubicBezTo>
                  <a:cubicBezTo>
                    <a:pt x="4662" y="530"/>
                    <a:pt x="4648" y="534"/>
                    <a:pt x="4636" y="527"/>
                  </a:cubicBezTo>
                  <a:lnTo>
                    <a:pt x="4636" y="527"/>
                  </a:lnTo>
                  <a:cubicBezTo>
                    <a:pt x="4624" y="521"/>
                    <a:pt x="4620" y="506"/>
                    <a:pt x="4627" y="495"/>
                  </a:cubicBezTo>
                  <a:cubicBezTo>
                    <a:pt x="4633" y="483"/>
                    <a:pt x="4648" y="479"/>
                    <a:pt x="4659" y="485"/>
                  </a:cubicBezTo>
                  <a:close/>
                  <a:moveTo>
                    <a:pt x="4743" y="532"/>
                  </a:moveTo>
                  <a:lnTo>
                    <a:pt x="4743" y="532"/>
                  </a:lnTo>
                  <a:cubicBezTo>
                    <a:pt x="4755" y="539"/>
                    <a:pt x="4759" y="553"/>
                    <a:pt x="4753" y="565"/>
                  </a:cubicBezTo>
                  <a:cubicBezTo>
                    <a:pt x="4746" y="577"/>
                    <a:pt x="4731" y="581"/>
                    <a:pt x="4720" y="574"/>
                  </a:cubicBezTo>
                  <a:lnTo>
                    <a:pt x="4720" y="574"/>
                  </a:lnTo>
                  <a:cubicBezTo>
                    <a:pt x="4708" y="568"/>
                    <a:pt x="4704" y="553"/>
                    <a:pt x="4711" y="542"/>
                  </a:cubicBezTo>
                  <a:cubicBezTo>
                    <a:pt x="4717" y="530"/>
                    <a:pt x="4732" y="526"/>
                    <a:pt x="4743" y="532"/>
                  </a:cubicBezTo>
                  <a:close/>
                  <a:moveTo>
                    <a:pt x="4827" y="579"/>
                  </a:moveTo>
                  <a:lnTo>
                    <a:pt x="4827" y="579"/>
                  </a:lnTo>
                  <a:cubicBezTo>
                    <a:pt x="4839" y="586"/>
                    <a:pt x="4843" y="600"/>
                    <a:pt x="4836" y="612"/>
                  </a:cubicBezTo>
                  <a:cubicBezTo>
                    <a:pt x="4830" y="623"/>
                    <a:pt x="4815" y="628"/>
                    <a:pt x="4804" y="621"/>
                  </a:cubicBezTo>
                  <a:lnTo>
                    <a:pt x="4804" y="621"/>
                  </a:lnTo>
                  <a:cubicBezTo>
                    <a:pt x="4792" y="615"/>
                    <a:pt x="4788" y="600"/>
                    <a:pt x="4794" y="588"/>
                  </a:cubicBezTo>
                  <a:cubicBezTo>
                    <a:pt x="4801" y="577"/>
                    <a:pt x="4816" y="573"/>
                    <a:pt x="4827" y="579"/>
                  </a:cubicBezTo>
                  <a:close/>
                  <a:moveTo>
                    <a:pt x="4911" y="626"/>
                  </a:moveTo>
                  <a:lnTo>
                    <a:pt x="4911" y="626"/>
                  </a:lnTo>
                  <a:cubicBezTo>
                    <a:pt x="4923" y="633"/>
                    <a:pt x="4927" y="647"/>
                    <a:pt x="4920" y="659"/>
                  </a:cubicBezTo>
                  <a:cubicBezTo>
                    <a:pt x="4914" y="670"/>
                    <a:pt x="4899" y="674"/>
                    <a:pt x="4888" y="668"/>
                  </a:cubicBezTo>
                  <a:lnTo>
                    <a:pt x="4888" y="668"/>
                  </a:lnTo>
                  <a:cubicBezTo>
                    <a:pt x="4876" y="661"/>
                    <a:pt x="4872" y="647"/>
                    <a:pt x="4878" y="635"/>
                  </a:cubicBezTo>
                  <a:cubicBezTo>
                    <a:pt x="4885" y="624"/>
                    <a:pt x="4899" y="620"/>
                    <a:pt x="4911" y="626"/>
                  </a:cubicBezTo>
                  <a:close/>
                  <a:moveTo>
                    <a:pt x="4951" y="616"/>
                  </a:moveTo>
                  <a:lnTo>
                    <a:pt x="4951" y="616"/>
                  </a:lnTo>
                  <a:cubicBezTo>
                    <a:pt x="4960" y="605"/>
                    <a:pt x="4975" y="603"/>
                    <a:pt x="4985" y="611"/>
                  </a:cubicBezTo>
                  <a:cubicBezTo>
                    <a:pt x="4996" y="619"/>
                    <a:pt x="4998" y="634"/>
                    <a:pt x="4989" y="645"/>
                  </a:cubicBezTo>
                  <a:lnTo>
                    <a:pt x="4989" y="645"/>
                  </a:lnTo>
                  <a:cubicBezTo>
                    <a:pt x="4981" y="655"/>
                    <a:pt x="4966" y="657"/>
                    <a:pt x="4956" y="649"/>
                  </a:cubicBezTo>
                  <a:cubicBezTo>
                    <a:pt x="4945" y="641"/>
                    <a:pt x="4943" y="626"/>
                    <a:pt x="4951" y="616"/>
                  </a:cubicBezTo>
                  <a:close/>
                  <a:moveTo>
                    <a:pt x="5011" y="540"/>
                  </a:moveTo>
                  <a:lnTo>
                    <a:pt x="5011" y="540"/>
                  </a:lnTo>
                  <a:cubicBezTo>
                    <a:pt x="5019" y="530"/>
                    <a:pt x="5034" y="528"/>
                    <a:pt x="5045" y="536"/>
                  </a:cubicBezTo>
                  <a:cubicBezTo>
                    <a:pt x="5055" y="544"/>
                    <a:pt x="5057" y="559"/>
                    <a:pt x="5049" y="570"/>
                  </a:cubicBezTo>
                  <a:lnTo>
                    <a:pt x="5049" y="570"/>
                  </a:lnTo>
                  <a:cubicBezTo>
                    <a:pt x="5041" y="580"/>
                    <a:pt x="5026" y="582"/>
                    <a:pt x="5015" y="574"/>
                  </a:cubicBezTo>
                  <a:cubicBezTo>
                    <a:pt x="5005" y="566"/>
                    <a:pt x="5003" y="551"/>
                    <a:pt x="5011" y="540"/>
                  </a:cubicBezTo>
                  <a:close/>
                  <a:moveTo>
                    <a:pt x="5071" y="465"/>
                  </a:moveTo>
                  <a:lnTo>
                    <a:pt x="5071" y="465"/>
                  </a:lnTo>
                  <a:cubicBezTo>
                    <a:pt x="5079" y="454"/>
                    <a:pt x="5094" y="452"/>
                    <a:pt x="5104" y="461"/>
                  </a:cubicBezTo>
                  <a:cubicBezTo>
                    <a:pt x="5115" y="469"/>
                    <a:pt x="5117" y="484"/>
                    <a:pt x="5109" y="494"/>
                  </a:cubicBezTo>
                  <a:lnTo>
                    <a:pt x="5109" y="494"/>
                  </a:lnTo>
                  <a:cubicBezTo>
                    <a:pt x="5100" y="505"/>
                    <a:pt x="5085" y="507"/>
                    <a:pt x="5075" y="499"/>
                  </a:cubicBezTo>
                  <a:cubicBezTo>
                    <a:pt x="5064" y="490"/>
                    <a:pt x="5062" y="475"/>
                    <a:pt x="5071" y="465"/>
                  </a:cubicBezTo>
                  <a:close/>
                  <a:moveTo>
                    <a:pt x="5130" y="390"/>
                  </a:moveTo>
                  <a:lnTo>
                    <a:pt x="5130" y="390"/>
                  </a:lnTo>
                  <a:cubicBezTo>
                    <a:pt x="5138" y="379"/>
                    <a:pt x="5153" y="377"/>
                    <a:pt x="5164" y="385"/>
                  </a:cubicBezTo>
                  <a:cubicBezTo>
                    <a:pt x="5174" y="393"/>
                    <a:pt x="5176" y="408"/>
                    <a:pt x="5168" y="419"/>
                  </a:cubicBezTo>
                  <a:lnTo>
                    <a:pt x="5168" y="419"/>
                  </a:lnTo>
                  <a:cubicBezTo>
                    <a:pt x="5160" y="429"/>
                    <a:pt x="5145" y="431"/>
                    <a:pt x="5134" y="423"/>
                  </a:cubicBezTo>
                  <a:cubicBezTo>
                    <a:pt x="5124" y="415"/>
                    <a:pt x="5122" y="400"/>
                    <a:pt x="5130" y="390"/>
                  </a:cubicBezTo>
                  <a:close/>
                  <a:moveTo>
                    <a:pt x="5190" y="314"/>
                  </a:moveTo>
                  <a:lnTo>
                    <a:pt x="5190" y="314"/>
                  </a:lnTo>
                  <a:cubicBezTo>
                    <a:pt x="5198" y="304"/>
                    <a:pt x="5213" y="302"/>
                    <a:pt x="5223" y="310"/>
                  </a:cubicBezTo>
                  <a:cubicBezTo>
                    <a:pt x="5234" y="318"/>
                    <a:pt x="5236" y="333"/>
                    <a:pt x="5228" y="344"/>
                  </a:cubicBezTo>
                  <a:lnTo>
                    <a:pt x="5228" y="344"/>
                  </a:lnTo>
                  <a:cubicBezTo>
                    <a:pt x="5220" y="354"/>
                    <a:pt x="5205" y="356"/>
                    <a:pt x="5194" y="348"/>
                  </a:cubicBezTo>
                  <a:cubicBezTo>
                    <a:pt x="5184" y="340"/>
                    <a:pt x="5182" y="325"/>
                    <a:pt x="5190" y="314"/>
                  </a:cubicBezTo>
                  <a:close/>
                  <a:moveTo>
                    <a:pt x="5249" y="239"/>
                  </a:moveTo>
                  <a:lnTo>
                    <a:pt x="5249" y="239"/>
                  </a:lnTo>
                  <a:cubicBezTo>
                    <a:pt x="5257" y="228"/>
                    <a:pt x="5273" y="226"/>
                    <a:pt x="5283" y="235"/>
                  </a:cubicBezTo>
                  <a:cubicBezTo>
                    <a:pt x="5294" y="243"/>
                    <a:pt x="5295" y="258"/>
                    <a:pt x="5287" y="268"/>
                  </a:cubicBezTo>
                  <a:lnTo>
                    <a:pt x="5287" y="268"/>
                  </a:lnTo>
                  <a:cubicBezTo>
                    <a:pt x="5279" y="279"/>
                    <a:pt x="5264" y="281"/>
                    <a:pt x="5254" y="273"/>
                  </a:cubicBezTo>
                  <a:cubicBezTo>
                    <a:pt x="5243" y="264"/>
                    <a:pt x="5241" y="249"/>
                    <a:pt x="5249" y="239"/>
                  </a:cubicBezTo>
                  <a:close/>
                  <a:moveTo>
                    <a:pt x="5309" y="164"/>
                  </a:moveTo>
                  <a:lnTo>
                    <a:pt x="5309" y="164"/>
                  </a:lnTo>
                  <a:cubicBezTo>
                    <a:pt x="5317" y="153"/>
                    <a:pt x="5332" y="151"/>
                    <a:pt x="5343" y="159"/>
                  </a:cubicBezTo>
                  <a:cubicBezTo>
                    <a:pt x="5353" y="167"/>
                    <a:pt x="5355" y="182"/>
                    <a:pt x="5347" y="193"/>
                  </a:cubicBezTo>
                  <a:lnTo>
                    <a:pt x="5347" y="193"/>
                  </a:lnTo>
                  <a:cubicBezTo>
                    <a:pt x="5339" y="203"/>
                    <a:pt x="5324" y="205"/>
                    <a:pt x="5313" y="197"/>
                  </a:cubicBezTo>
                  <a:cubicBezTo>
                    <a:pt x="5303" y="189"/>
                    <a:pt x="5301" y="174"/>
                    <a:pt x="5309" y="164"/>
                  </a:cubicBezTo>
                  <a:close/>
                  <a:moveTo>
                    <a:pt x="5368" y="88"/>
                  </a:moveTo>
                  <a:lnTo>
                    <a:pt x="5368" y="88"/>
                  </a:lnTo>
                  <a:cubicBezTo>
                    <a:pt x="5377" y="78"/>
                    <a:pt x="5392" y="76"/>
                    <a:pt x="5402" y="84"/>
                  </a:cubicBezTo>
                  <a:cubicBezTo>
                    <a:pt x="5413" y="92"/>
                    <a:pt x="5415" y="107"/>
                    <a:pt x="5406" y="118"/>
                  </a:cubicBezTo>
                  <a:lnTo>
                    <a:pt x="5406" y="118"/>
                  </a:lnTo>
                  <a:cubicBezTo>
                    <a:pt x="5398" y="128"/>
                    <a:pt x="5383" y="130"/>
                    <a:pt x="5373" y="122"/>
                  </a:cubicBezTo>
                  <a:cubicBezTo>
                    <a:pt x="5362" y="114"/>
                    <a:pt x="5360" y="99"/>
                    <a:pt x="5368" y="88"/>
                  </a:cubicBezTo>
                  <a:close/>
                  <a:moveTo>
                    <a:pt x="5428" y="13"/>
                  </a:moveTo>
                  <a:lnTo>
                    <a:pt x="5428" y="13"/>
                  </a:lnTo>
                  <a:cubicBezTo>
                    <a:pt x="5436" y="2"/>
                    <a:pt x="5451" y="0"/>
                    <a:pt x="5462" y="9"/>
                  </a:cubicBezTo>
                  <a:cubicBezTo>
                    <a:pt x="5472" y="17"/>
                    <a:pt x="5474" y="32"/>
                    <a:pt x="5466" y="42"/>
                  </a:cubicBezTo>
                  <a:lnTo>
                    <a:pt x="5466" y="42"/>
                  </a:lnTo>
                  <a:cubicBezTo>
                    <a:pt x="5458" y="53"/>
                    <a:pt x="5443" y="55"/>
                    <a:pt x="5432" y="47"/>
                  </a:cubicBezTo>
                  <a:cubicBezTo>
                    <a:pt x="5422" y="38"/>
                    <a:pt x="5420" y="23"/>
                    <a:pt x="5428" y="13"/>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16" name="Freeform 13">
              <a:extLst>
                <a:ext uri="{FF2B5EF4-FFF2-40B4-BE49-F238E27FC236}">
                  <a16:creationId xmlns:a16="http://schemas.microsoft.com/office/drawing/2014/main" id="{DB788166-B64A-CC09-CDFA-7B7B8488B846}"/>
                </a:ext>
              </a:extLst>
            </p:cNvPr>
            <p:cNvSpPr>
              <a:spLocks/>
            </p:cNvSpPr>
            <p:nvPr/>
          </p:nvSpPr>
          <p:spPr bwMode="auto">
            <a:xfrm>
              <a:off x="1086349" y="479670"/>
              <a:ext cx="3171825" cy="1533525"/>
            </a:xfrm>
            <a:custGeom>
              <a:avLst/>
              <a:gdLst>
                <a:gd name="T0" fmla="*/ 20 w 5510"/>
                <a:gd name="T1" fmla="*/ 2961 h 3011"/>
                <a:gd name="T2" fmla="*/ 564 w 5510"/>
                <a:gd name="T3" fmla="*/ 2817 h 3011"/>
                <a:gd name="T4" fmla="*/ 1124 w 5510"/>
                <a:gd name="T5" fmla="*/ 2673 h 3011"/>
                <a:gd name="T6" fmla="*/ 1111 w 5510"/>
                <a:gd name="T7" fmla="*/ 2682 h 3011"/>
                <a:gd name="T8" fmla="*/ 1655 w 5510"/>
                <a:gd name="T9" fmla="*/ 1946 h 3011"/>
                <a:gd name="T10" fmla="*/ 2201 w 5510"/>
                <a:gd name="T11" fmla="*/ 1368 h 3011"/>
                <a:gd name="T12" fmla="*/ 2197 w 5510"/>
                <a:gd name="T13" fmla="*/ 1374 h 3011"/>
                <a:gd name="T14" fmla="*/ 2741 w 5510"/>
                <a:gd name="T15" fmla="*/ 286 h 3011"/>
                <a:gd name="T16" fmla="*/ 2763 w 5510"/>
                <a:gd name="T17" fmla="*/ 272 h 3011"/>
                <a:gd name="T18" fmla="*/ 2785 w 5510"/>
                <a:gd name="T19" fmla="*/ 287 h 3011"/>
                <a:gd name="T20" fmla="*/ 3329 w 5510"/>
                <a:gd name="T21" fmla="*/ 1583 h 3011"/>
                <a:gd name="T22" fmla="*/ 3286 w 5510"/>
                <a:gd name="T23" fmla="*/ 1580 h 3011"/>
                <a:gd name="T24" fmla="*/ 3830 w 5510"/>
                <a:gd name="T25" fmla="*/ 668 h 3011"/>
                <a:gd name="T26" fmla="*/ 3832 w 5510"/>
                <a:gd name="T27" fmla="*/ 665 h 3011"/>
                <a:gd name="T28" fmla="*/ 4376 w 5510"/>
                <a:gd name="T29" fmla="*/ 9 h 3011"/>
                <a:gd name="T30" fmla="*/ 4397 w 5510"/>
                <a:gd name="T31" fmla="*/ 1 h 3011"/>
                <a:gd name="T32" fmla="*/ 4416 w 5510"/>
                <a:gd name="T33" fmla="*/ 14 h 3011"/>
                <a:gd name="T34" fmla="*/ 4960 w 5510"/>
                <a:gd name="T35" fmla="*/ 1086 h 3011"/>
                <a:gd name="T36" fmla="*/ 4920 w 5510"/>
                <a:gd name="T37" fmla="*/ 1082 h 3011"/>
                <a:gd name="T38" fmla="*/ 5464 w 5510"/>
                <a:gd name="T39" fmla="*/ 394 h 3011"/>
                <a:gd name="T40" fmla="*/ 5497 w 5510"/>
                <a:gd name="T41" fmla="*/ 390 h 3011"/>
                <a:gd name="T42" fmla="*/ 5501 w 5510"/>
                <a:gd name="T43" fmla="*/ 423 h 3011"/>
                <a:gd name="T44" fmla="*/ 4957 w 5510"/>
                <a:gd name="T45" fmla="*/ 1111 h 3011"/>
                <a:gd name="T46" fmla="*/ 4936 w 5510"/>
                <a:gd name="T47" fmla="*/ 1120 h 3011"/>
                <a:gd name="T48" fmla="*/ 4917 w 5510"/>
                <a:gd name="T49" fmla="*/ 1107 h 3011"/>
                <a:gd name="T50" fmla="*/ 4373 w 5510"/>
                <a:gd name="T51" fmla="*/ 35 h 3011"/>
                <a:gd name="T52" fmla="*/ 4413 w 5510"/>
                <a:gd name="T53" fmla="*/ 40 h 3011"/>
                <a:gd name="T54" fmla="*/ 3869 w 5510"/>
                <a:gd name="T55" fmla="*/ 696 h 3011"/>
                <a:gd name="T56" fmla="*/ 3871 w 5510"/>
                <a:gd name="T57" fmla="*/ 693 h 3011"/>
                <a:gd name="T58" fmla="*/ 3327 w 5510"/>
                <a:gd name="T59" fmla="*/ 1605 h 3011"/>
                <a:gd name="T60" fmla="*/ 3305 w 5510"/>
                <a:gd name="T61" fmla="*/ 1616 h 3011"/>
                <a:gd name="T62" fmla="*/ 3284 w 5510"/>
                <a:gd name="T63" fmla="*/ 1602 h 3011"/>
                <a:gd name="T64" fmla="*/ 2740 w 5510"/>
                <a:gd name="T65" fmla="*/ 306 h 3011"/>
                <a:gd name="T66" fmla="*/ 2784 w 5510"/>
                <a:gd name="T67" fmla="*/ 307 h 3011"/>
                <a:gd name="T68" fmla="*/ 2240 w 5510"/>
                <a:gd name="T69" fmla="*/ 1395 h 3011"/>
                <a:gd name="T70" fmla="*/ 2236 w 5510"/>
                <a:gd name="T71" fmla="*/ 1401 h 3011"/>
                <a:gd name="T72" fmla="*/ 1694 w 5510"/>
                <a:gd name="T73" fmla="*/ 1975 h 3011"/>
                <a:gd name="T74" fmla="*/ 1150 w 5510"/>
                <a:gd name="T75" fmla="*/ 2711 h 3011"/>
                <a:gd name="T76" fmla="*/ 1136 w 5510"/>
                <a:gd name="T77" fmla="*/ 2720 h 3011"/>
                <a:gd name="T78" fmla="*/ 577 w 5510"/>
                <a:gd name="T79" fmla="*/ 2864 h 3011"/>
                <a:gd name="T80" fmla="*/ 33 w 5510"/>
                <a:gd name="T81" fmla="*/ 3008 h 3011"/>
                <a:gd name="T82" fmla="*/ 3 w 5510"/>
                <a:gd name="T83" fmla="*/ 2991 h 3011"/>
                <a:gd name="T84" fmla="*/ 20 w 5510"/>
                <a:gd name="T85" fmla="*/ 2961 h 3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510" h="3011">
                  <a:moveTo>
                    <a:pt x="20" y="2961"/>
                  </a:moveTo>
                  <a:lnTo>
                    <a:pt x="564" y="2817"/>
                  </a:lnTo>
                  <a:lnTo>
                    <a:pt x="1124" y="2673"/>
                  </a:lnTo>
                  <a:lnTo>
                    <a:pt x="1111" y="2682"/>
                  </a:lnTo>
                  <a:lnTo>
                    <a:pt x="1655" y="1946"/>
                  </a:lnTo>
                  <a:lnTo>
                    <a:pt x="2201" y="1368"/>
                  </a:lnTo>
                  <a:lnTo>
                    <a:pt x="2197" y="1374"/>
                  </a:lnTo>
                  <a:lnTo>
                    <a:pt x="2741" y="286"/>
                  </a:lnTo>
                  <a:cubicBezTo>
                    <a:pt x="2745" y="277"/>
                    <a:pt x="2754" y="272"/>
                    <a:pt x="2763" y="272"/>
                  </a:cubicBezTo>
                  <a:cubicBezTo>
                    <a:pt x="2773" y="273"/>
                    <a:pt x="2781" y="279"/>
                    <a:pt x="2785" y="287"/>
                  </a:cubicBezTo>
                  <a:lnTo>
                    <a:pt x="3329" y="1583"/>
                  </a:lnTo>
                  <a:lnTo>
                    <a:pt x="3286" y="1580"/>
                  </a:lnTo>
                  <a:lnTo>
                    <a:pt x="3830" y="668"/>
                  </a:lnTo>
                  <a:cubicBezTo>
                    <a:pt x="3830" y="667"/>
                    <a:pt x="3831" y="666"/>
                    <a:pt x="3832" y="665"/>
                  </a:cubicBezTo>
                  <a:lnTo>
                    <a:pt x="4376" y="9"/>
                  </a:lnTo>
                  <a:cubicBezTo>
                    <a:pt x="4381" y="3"/>
                    <a:pt x="4389" y="0"/>
                    <a:pt x="4397" y="1"/>
                  </a:cubicBezTo>
                  <a:cubicBezTo>
                    <a:pt x="4405" y="2"/>
                    <a:pt x="4412" y="6"/>
                    <a:pt x="4416" y="14"/>
                  </a:cubicBezTo>
                  <a:lnTo>
                    <a:pt x="4960" y="1086"/>
                  </a:lnTo>
                  <a:lnTo>
                    <a:pt x="4920" y="1082"/>
                  </a:lnTo>
                  <a:lnTo>
                    <a:pt x="5464" y="394"/>
                  </a:lnTo>
                  <a:cubicBezTo>
                    <a:pt x="5472" y="383"/>
                    <a:pt x="5487" y="381"/>
                    <a:pt x="5497" y="390"/>
                  </a:cubicBezTo>
                  <a:cubicBezTo>
                    <a:pt x="5508" y="398"/>
                    <a:pt x="5510" y="413"/>
                    <a:pt x="5501" y="423"/>
                  </a:cubicBezTo>
                  <a:lnTo>
                    <a:pt x="4957" y="1111"/>
                  </a:lnTo>
                  <a:cubicBezTo>
                    <a:pt x="4952" y="1118"/>
                    <a:pt x="4944" y="1121"/>
                    <a:pt x="4936" y="1120"/>
                  </a:cubicBezTo>
                  <a:cubicBezTo>
                    <a:pt x="4928" y="1120"/>
                    <a:pt x="4921" y="1115"/>
                    <a:pt x="4917" y="1107"/>
                  </a:cubicBezTo>
                  <a:lnTo>
                    <a:pt x="4373" y="35"/>
                  </a:lnTo>
                  <a:lnTo>
                    <a:pt x="4413" y="40"/>
                  </a:lnTo>
                  <a:lnTo>
                    <a:pt x="3869" y="696"/>
                  </a:lnTo>
                  <a:lnTo>
                    <a:pt x="3871" y="693"/>
                  </a:lnTo>
                  <a:lnTo>
                    <a:pt x="3327" y="1605"/>
                  </a:lnTo>
                  <a:cubicBezTo>
                    <a:pt x="3322" y="1613"/>
                    <a:pt x="3314" y="1617"/>
                    <a:pt x="3305" y="1616"/>
                  </a:cubicBezTo>
                  <a:cubicBezTo>
                    <a:pt x="3296" y="1616"/>
                    <a:pt x="3288" y="1610"/>
                    <a:pt x="3284" y="1602"/>
                  </a:cubicBezTo>
                  <a:lnTo>
                    <a:pt x="2740" y="306"/>
                  </a:lnTo>
                  <a:lnTo>
                    <a:pt x="2784" y="307"/>
                  </a:lnTo>
                  <a:lnTo>
                    <a:pt x="2240" y="1395"/>
                  </a:lnTo>
                  <a:cubicBezTo>
                    <a:pt x="2239" y="1397"/>
                    <a:pt x="2238" y="1399"/>
                    <a:pt x="2236" y="1401"/>
                  </a:cubicBezTo>
                  <a:lnTo>
                    <a:pt x="1694" y="1975"/>
                  </a:lnTo>
                  <a:lnTo>
                    <a:pt x="1150" y="2711"/>
                  </a:lnTo>
                  <a:cubicBezTo>
                    <a:pt x="1146" y="2715"/>
                    <a:pt x="1142" y="2718"/>
                    <a:pt x="1136" y="2720"/>
                  </a:cubicBezTo>
                  <a:lnTo>
                    <a:pt x="577" y="2864"/>
                  </a:lnTo>
                  <a:lnTo>
                    <a:pt x="33" y="3008"/>
                  </a:lnTo>
                  <a:cubicBezTo>
                    <a:pt x="20" y="3011"/>
                    <a:pt x="7" y="3003"/>
                    <a:pt x="3" y="2991"/>
                  </a:cubicBezTo>
                  <a:cubicBezTo>
                    <a:pt x="0" y="2978"/>
                    <a:pt x="8" y="2965"/>
                    <a:pt x="20" y="2961"/>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17" name="Freeform 14">
              <a:extLst>
                <a:ext uri="{FF2B5EF4-FFF2-40B4-BE49-F238E27FC236}">
                  <a16:creationId xmlns:a16="http://schemas.microsoft.com/office/drawing/2014/main" id="{B3DE336B-CD5D-21D9-833C-721C0DB1D713}"/>
                </a:ext>
              </a:extLst>
            </p:cNvPr>
            <p:cNvSpPr>
              <a:spLocks noEditPoints="1"/>
            </p:cNvSpPr>
            <p:nvPr/>
          </p:nvSpPr>
          <p:spPr bwMode="auto">
            <a:xfrm>
              <a:off x="1086349" y="2030975"/>
              <a:ext cx="3168650" cy="40640"/>
            </a:xfrm>
            <a:custGeom>
              <a:avLst/>
              <a:gdLst>
                <a:gd name="T0" fmla="*/ 120 w 5505"/>
                <a:gd name="T1" fmla="*/ 80 h 80"/>
                <a:gd name="T2" fmla="*/ 216 w 5505"/>
                <a:gd name="T3" fmla="*/ 32 h 80"/>
                <a:gd name="T4" fmla="*/ 216 w 5505"/>
                <a:gd name="T5" fmla="*/ 80 h 80"/>
                <a:gd name="T6" fmla="*/ 504 w 5505"/>
                <a:gd name="T7" fmla="*/ 32 h 80"/>
                <a:gd name="T8" fmla="*/ 384 w 5505"/>
                <a:gd name="T9" fmla="*/ 56 h 80"/>
                <a:gd name="T10" fmla="*/ 720 w 5505"/>
                <a:gd name="T11" fmla="*/ 52 h 80"/>
                <a:gd name="T12" fmla="*/ 600 w 5505"/>
                <a:gd name="T13" fmla="*/ 32 h 80"/>
                <a:gd name="T14" fmla="*/ 889 w 5505"/>
                <a:gd name="T15" fmla="*/ 71 h 80"/>
                <a:gd name="T16" fmla="*/ 984 w 5505"/>
                <a:gd name="T17" fmla="*/ 21 h 80"/>
                <a:gd name="T18" fmla="*/ 985 w 5505"/>
                <a:gd name="T19" fmla="*/ 69 h 80"/>
                <a:gd name="T20" fmla="*/ 1272 w 5505"/>
                <a:gd name="T21" fmla="*/ 16 h 80"/>
                <a:gd name="T22" fmla="*/ 1152 w 5505"/>
                <a:gd name="T23" fmla="*/ 40 h 80"/>
                <a:gd name="T24" fmla="*/ 1488 w 5505"/>
                <a:gd name="T25" fmla="*/ 40 h 80"/>
                <a:gd name="T26" fmla="*/ 1368 w 5505"/>
                <a:gd name="T27" fmla="*/ 16 h 80"/>
                <a:gd name="T28" fmla="*/ 1656 w 5505"/>
                <a:gd name="T29" fmla="*/ 64 h 80"/>
                <a:gd name="T30" fmla="*/ 1752 w 5505"/>
                <a:gd name="T31" fmla="*/ 16 h 80"/>
                <a:gd name="T32" fmla="*/ 1752 w 5505"/>
                <a:gd name="T33" fmla="*/ 64 h 80"/>
                <a:gd name="T34" fmla="*/ 2040 w 5505"/>
                <a:gd name="T35" fmla="*/ 16 h 80"/>
                <a:gd name="T36" fmla="*/ 1920 w 5505"/>
                <a:gd name="T37" fmla="*/ 40 h 80"/>
                <a:gd name="T38" fmla="*/ 2232 w 5505"/>
                <a:gd name="T39" fmla="*/ 16 h 80"/>
                <a:gd name="T40" fmla="*/ 2136 w 5505"/>
                <a:gd name="T41" fmla="*/ 64 h 80"/>
                <a:gd name="T42" fmla="*/ 2424 w 5505"/>
                <a:gd name="T43" fmla="*/ 16 h 80"/>
                <a:gd name="T44" fmla="*/ 2304 w 5505"/>
                <a:gd name="T45" fmla="*/ 40 h 80"/>
                <a:gd name="T46" fmla="*/ 2640 w 5505"/>
                <a:gd name="T47" fmla="*/ 40 h 80"/>
                <a:gd name="T48" fmla="*/ 2520 w 5505"/>
                <a:gd name="T49" fmla="*/ 16 h 80"/>
                <a:gd name="T50" fmla="*/ 2832 w 5505"/>
                <a:gd name="T51" fmla="*/ 40 h 80"/>
                <a:gd name="T52" fmla="*/ 2688 w 5505"/>
                <a:gd name="T53" fmla="*/ 40 h 80"/>
                <a:gd name="T54" fmla="*/ 3024 w 5505"/>
                <a:gd name="T55" fmla="*/ 40 h 80"/>
                <a:gd name="T56" fmla="*/ 2904 w 5505"/>
                <a:gd name="T57" fmla="*/ 16 h 80"/>
                <a:gd name="T58" fmla="*/ 3192 w 5505"/>
                <a:gd name="T59" fmla="*/ 64 h 80"/>
                <a:gd name="T60" fmla="*/ 3288 w 5505"/>
                <a:gd name="T61" fmla="*/ 16 h 80"/>
                <a:gd name="T62" fmla="*/ 3384 w 5505"/>
                <a:gd name="T63" fmla="*/ 64 h 80"/>
                <a:gd name="T64" fmla="*/ 3288 w 5505"/>
                <a:gd name="T65" fmla="*/ 16 h 80"/>
                <a:gd name="T66" fmla="*/ 3576 w 5505"/>
                <a:gd name="T67" fmla="*/ 64 h 80"/>
                <a:gd name="T68" fmla="*/ 3672 w 5505"/>
                <a:gd name="T69" fmla="*/ 16 h 80"/>
                <a:gd name="T70" fmla="*/ 3672 w 5505"/>
                <a:gd name="T71" fmla="*/ 64 h 80"/>
                <a:gd name="T72" fmla="*/ 3960 w 5505"/>
                <a:gd name="T73" fmla="*/ 16 h 80"/>
                <a:gd name="T74" fmla="*/ 3840 w 5505"/>
                <a:gd name="T75" fmla="*/ 40 h 80"/>
                <a:gd name="T76" fmla="*/ 4176 w 5505"/>
                <a:gd name="T77" fmla="*/ 40 h 80"/>
                <a:gd name="T78" fmla="*/ 4056 w 5505"/>
                <a:gd name="T79" fmla="*/ 16 h 80"/>
                <a:gd name="T80" fmla="*/ 4344 w 5505"/>
                <a:gd name="T81" fmla="*/ 64 h 80"/>
                <a:gd name="T82" fmla="*/ 4440 w 5505"/>
                <a:gd name="T83" fmla="*/ 16 h 80"/>
                <a:gd name="T84" fmla="*/ 4440 w 5505"/>
                <a:gd name="T85" fmla="*/ 64 h 80"/>
                <a:gd name="T86" fmla="*/ 4728 w 5505"/>
                <a:gd name="T87" fmla="*/ 16 h 80"/>
                <a:gd name="T88" fmla="*/ 4608 w 5505"/>
                <a:gd name="T89" fmla="*/ 40 h 80"/>
                <a:gd name="T90" fmla="*/ 4944 w 5505"/>
                <a:gd name="T91" fmla="*/ 40 h 80"/>
                <a:gd name="T92" fmla="*/ 4824 w 5505"/>
                <a:gd name="T93" fmla="*/ 16 h 80"/>
                <a:gd name="T94" fmla="*/ 5113 w 5505"/>
                <a:gd name="T95" fmla="*/ 59 h 80"/>
                <a:gd name="T96" fmla="*/ 5207 w 5505"/>
                <a:gd name="T97" fmla="*/ 8 h 80"/>
                <a:gd name="T98" fmla="*/ 5209 w 5505"/>
                <a:gd name="T99" fmla="*/ 56 h 80"/>
                <a:gd name="T100" fmla="*/ 5480 w 5505"/>
                <a:gd name="T101" fmla="*/ 0 h 80"/>
                <a:gd name="T102" fmla="*/ 5376 w 5505"/>
                <a:gd name="T103" fmla="*/ 2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05" h="80">
                  <a:moveTo>
                    <a:pt x="24" y="32"/>
                  </a:moveTo>
                  <a:lnTo>
                    <a:pt x="120" y="32"/>
                  </a:lnTo>
                  <a:cubicBezTo>
                    <a:pt x="134" y="32"/>
                    <a:pt x="144" y="43"/>
                    <a:pt x="144" y="56"/>
                  </a:cubicBezTo>
                  <a:cubicBezTo>
                    <a:pt x="144" y="70"/>
                    <a:pt x="134" y="80"/>
                    <a:pt x="120" y="80"/>
                  </a:cubicBezTo>
                  <a:lnTo>
                    <a:pt x="24" y="80"/>
                  </a:lnTo>
                  <a:cubicBezTo>
                    <a:pt x="11" y="80"/>
                    <a:pt x="0" y="70"/>
                    <a:pt x="0" y="56"/>
                  </a:cubicBezTo>
                  <a:cubicBezTo>
                    <a:pt x="0" y="43"/>
                    <a:pt x="11" y="32"/>
                    <a:pt x="24" y="32"/>
                  </a:cubicBezTo>
                  <a:close/>
                  <a:moveTo>
                    <a:pt x="216" y="32"/>
                  </a:moveTo>
                  <a:lnTo>
                    <a:pt x="312" y="32"/>
                  </a:lnTo>
                  <a:cubicBezTo>
                    <a:pt x="326" y="32"/>
                    <a:pt x="336" y="43"/>
                    <a:pt x="336" y="56"/>
                  </a:cubicBezTo>
                  <a:cubicBezTo>
                    <a:pt x="336" y="70"/>
                    <a:pt x="326" y="80"/>
                    <a:pt x="312" y="80"/>
                  </a:cubicBezTo>
                  <a:lnTo>
                    <a:pt x="216" y="80"/>
                  </a:lnTo>
                  <a:cubicBezTo>
                    <a:pt x="203" y="80"/>
                    <a:pt x="192" y="70"/>
                    <a:pt x="192" y="56"/>
                  </a:cubicBezTo>
                  <a:cubicBezTo>
                    <a:pt x="192" y="43"/>
                    <a:pt x="203" y="32"/>
                    <a:pt x="216" y="32"/>
                  </a:cubicBezTo>
                  <a:close/>
                  <a:moveTo>
                    <a:pt x="408" y="32"/>
                  </a:moveTo>
                  <a:lnTo>
                    <a:pt x="504" y="32"/>
                  </a:lnTo>
                  <a:cubicBezTo>
                    <a:pt x="518" y="32"/>
                    <a:pt x="528" y="43"/>
                    <a:pt x="528" y="56"/>
                  </a:cubicBezTo>
                  <a:cubicBezTo>
                    <a:pt x="528" y="70"/>
                    <a:pt x="518" y="80"/>
                    <a:pt x="504" y="80"/>
                  </a:cubicBezTo>
                  <a:lnTo>
                    <a:pt x="408" y="80"/>
                  </a:lnTo>
                  <a:cubicBezTo>
                    <a:pt x="395" y="80"/>
                    <a:pt x="384" y="70"/>
                    <a:pt x="384" y="56"/>
                  </a:cubicBezTo>
                  <a:cubicBezTo>
                    <a:pt x="384" y="43"/>
                    <a:pt x="395" y="32"/>
                    <a:pt x="408" y="32"/>
                  </a:cubicBezTo>
                  <a:close/>
                  <a:moveTo>
                    <a:pt x="600" y="32"/>
                  </a:moveTo>
                  <a:lnTo>
                    <a:pt x="696" y="29"/>
                  </a:lnTo>
                  <a:cubicBezTo>
                    <a:pt x="709" y="28"/>
                    <a:pt x="720" y="39"/>
                    <a:pt x="720" y="52"/>
                  </a:cubicBezTo>
                  <a:cubicBezTo>
                    <a:pt x="721" y="65"/>
                    <a:pt x="710" y="76"/>
                    <a:pt x="697" y="77"/>
                  </a:cubicBezTo>
                  <a:lnTo>
                    <a:pt x="601" y="80"/>
                  </a:lnTo>
                  <a:cubicBezTo>
                    <a:pt x="588" y="80"/>
                    <a:pt x="577" y="69"/>
                    <a:pt x="576" y="56"/>
                  </a:cubicBezTo>
                  <a:cubicBezTo>
                    <a:pt x="576" y="43"/>
                    <a:pt x="587" y="32"/>
                    <a:pt x="600" y="32"/>
                  </a:cubicBezTo>
                  <a:close/>
                  <a:moveTo>
                    <a:pt x="792" y="26"/>
                  </a:moveTo>
                  <a:lnTo>
                    <a:pt x="888" y="23"/>
                  </a:lnTo>
                  <a:cubicBezTo>
                    <a:pt x="901" y="23"/>
                    <a:pt x="912" y="33"/>
                    <a:pt x="912" y="47"/>
                  </a:cubicBezTo>
                  <a:cubicBezTo>
                    <a:pt x="913" y="60"/>
                    <a:pt x="902" y="71"/>
                    <a:pt x="889" y="71"/>
                  </a:cubicBezTo>
                  <a:lnTo>
                    <a:pt x="793" y="74"/>
                  </a:lnTo>
                  <a:cubicBezTo>
                    <a:pt x="780" y="74"/>
                    <a:pt x="769" y="64"/>
                    <a:pt x="768" y="51"/>
                  </a:cubicBezTo>
                  <a:cubicBezTo>
                    <a:pt x="768" y="38"/>
                    <a:pt x="778" y="26"/>
                    <a:pt x="792" y="26"/>
                  </a:cubicBezTo>
                  <a:close/>
                  <a:moveTo>
                    <a:pt x="984" y="21"/>
                  </a:moveTo>
                  <a:lnTo>
                    <a:pt x="1080" y="18"/>
                  </a:lnTo>
                  <a:cubicBezTo>
                    <a:pt x="1093" y="17"/>
                    <a:pt x="1104" y="28"/>
                    <a:pt x="1104" y="41"/>
                  </a:cubicBezTo>
                  <a:cubicBezTo>
                    <a:pt x="1105" y="54"/>
                    <a:pt x="1094" y="65"/>
                    <a:pt x="1081" y="66"/>
                  </a:cubicBezTo>
                  <a:lnTo>
                    <a:pt x="985" y="69"/>
                  </a:lnTo>
                  <a:cubicBezTo>
                    <a:pt x="972" y="69"/>
                    <a:pt x="961" y="59"/>
                    <a:pt x="960" y="45"/>
                  </a:cubicBezTo>
                  <a:cubicBezTo>
                    <a:pt x="960" y="32"/>
                    <a:pt x="970" y="21"/>
                    <a:pt x="984" y="21"/>
                  </a:cubicBezTo>
                  <a:close/>
                  <a:moveTo>
                    <a:pt x="1176" y="16"/>
                  </a:moveTo>
                  <a:lnTo>
                    <a:pt x="1272" y="16"/>
                  </a:lnTo>
                  <a:cubicBezTo>
                    <a:pt x="1285" y="16"/>
                    <a:pt x="1296" y="27"/>
                    <a:pt x="1296" y="40"/>
                  </a:cubicBezTo>
                  <a:cubicBezTo>
                    <a:pt x="1296" y="54"/>
                    <a:pt x="1285" y="64"/>
                    <a:pt x="1272" y="64"/>
                  </a:cubicBezTo>
                  <a:lnTo>
                    <a:pt x="1176" y="64"/>
                  </a:lnTo>
                  <a:cubicBezTo>
                    <a:pt x="1163" y="64"/>
                    <a:pt x="1152" y="54"/>
                    <a:pt x="1152" y="40"/>
                  </a:cubicBezTo>
                  <a:cubicBezTo>
                    <a:pt x="1152" y="27"/>
                    <a:pt x="1163" y="16"/>
                    <a:pt x="1176" y="16"/>
                  </a:cubicBezTo>
                  <a:close/>
                  <a:moveTo>
                    <a:pt x="1368" y="16"/>
                  </a:moveTo>
                  <a:lnTo>
                    <a:pt x="1464" y="16"/>
                  </a:lnTo>
                  <a:cubicBezTo>
                    <a:pt x="1477" y="16"/>
                    <a:pt x="1488" y="27"/>
                    <a:pt x="1488" y="40"/>
                  </a:cubicBezTo>
                  <a:cubicBezTo>
                    <a:pt x="1488" y="54"/>
                    <a:pt x="1477" y="64"/>
                    <a:pt x="1464" y="64"/>
                  </a:cubicBezTo>
                  <a:lnTo>
                    <a:pt x="1368" y="64"/>
                  </a:lnTo>
                  <a:cubicBezTo>
                    <a:pt x="1355" y="64"/>
                    <a:pt x="1344" y="54"/>
                    <a:pt x="1344" y="40"/>
                  </a:cubicBezTo>
                  <a:cubicBezTo>
                    <a:pt x="1344" y="27"/>
                    <a:pt x="1355" y="16"/>
                    <a:pt x="1368" y="16"/>
                  </a:cubicBezTo>
                  <a:close/>
                  <a:moveTo>
                    <a:pt x="1560" y="16"/>
                  </a:moveTo>
                  <a:lnTo>
                    <a:pt x="1656" y="16"/>
                  </a:lnTo>
                  <a:cubicBezTo>
                    <a:pt x="1669" y="16"/>
                    <a:pt x="1680" y="27"/>
                    <a:pt x="1680" y="40"/>
                  </a:cubicBezTo>
                  <a:cubicBezTo>
                    <a:pt x="1680" y="54"/>
                    <a:pt x="1669" y="64"/>
                    <a:pt x="1656" y="64"/>
                  </a:cubicBezTo>
                  <a:lnTo>
                    <a:pt x="1560" y="64"/>
                  </a:lnTo>
                  <a:cubicBezTo>
                    <a:pt x="1547" y="64"/>
                    <a:pt x="1536" y="54"/>
                    <a:pt x="1536" y="40"/>
                  </a:cubicBezTo>
                  <a:cubicBezTo>
                    <a:pt x="1536" y="27"/>
                    <a:pt x="1547" y="16"/>
                    <a:pt x="1560" y="16"/>
                  </a:cubicBezTo>
                  <a:close/>
                  <a:moveTo>
                    <a:pt x="1752" y="16"/>
                  </a:moveTo>
                  <a:lnTo>
                    <a:pt x="1848" y="16"/>
                  </a:lnTo>
                  <a:cubicBezTo>
                    <a:pt x="1861" y="16"/>
                    <a:pt x="1872" y="27"/>
                    <a:pt x="1872" y="40"/>
                  </a:cubicBezTo>
                  <a:cubicBezTo>
                    <a:pt x="1872" y="54"/>
                    <a:pt x="1861" y="64"/>
                    <a:pt x="1848" y="64"/>
                  </a:cubicBezTo>
                  <a:lnTo>
                    <a:pt x="1752" y="64"/>
                  </a:lnTo>
                  <a:cubicBezTo>
                    <a:pt x="1739" y="64"/>
                    <a:pt x="1728" y="54"/>
                    <a:pt x="1728" y="40"/>
                  </a:cubicBezTo>
                  <a:cubicBezTo>
                    <a:pt x="1728" y="27"/>
                    <a:pt x="1739" y="16"/>
                    <a:pt x="1752" y="16"/>
                  </a:cubicBezTo>
                  <a:close/>
                  <a:moveTo>
                    <a:pt x="1944" y="16"/>
                  </a:moveTo>
                  <a:lnTo>
                    <a:pt x="2040" y="16"/>
                  </a:lnTo>
                  <a:cubicBezTo>
                    <a:pt x="2053" y="16"/>
                    <a:pt x="2064" y="27"/>
                    <a:pt x="2064" y="40"/>
                  </a:cubicBezTo>
                  <a:cubicBezTo>
                    <a:pt x="2064" y="54"/>
                    <a:pt x="2053" y="64"/>
                    <a:pt x="2040" y="64"/>
                  </a:cubicBezTo>
                  <a:lnTo>
                    <a:pt x="1944" y="64"/>
                  </a:lnTo>
                  <a:cubicBezTo>
                    <a:pt x="1931" y="64"/>
                    <a:pt x="1920" y="54"/>
                    <a:pt x="1920" y="40"/>
                  </a:cubicBezTo>
                  <a:cubicBezTo>
                    <a:pt x="1920" y="27"/>
                    <a:pt x="1931" y="16"/>
                    <a:pt x="1944" y="16"/>
                  </a:cubicBezTo>
                  <a:close/>
                  <a:moveTo>
                    <a:pt x="2136" y="16"/>
                  </a:moveTo>
                  <a:lnTo>
                    <a:pt x="2216" y="16"/>
                  </a:lnTo>
                  <a:lnTo>
                    <a:pt x="2232" y="16"/>
                  </a:lnTo>
                  <a:cubicBezTo>
                    <a:pt x="2245" y="16"/>
                    <a:pt x="2256" y="27"/>
                    <a:pt x="2256" y="40"/>
                  </a:cubicBezTo>
                  <a:cubicBezTo>
                    <a:pt x="2256" y="54"/>
                    <a:pt x="2245" y="64"/>
                    <a:pt x="2232" y="64"/>
                  </a:cubicBezTo>
                  <a:lnTo>
                    <a:pt x="2216" y="64"/>
                  </a:lnTo>
                  <a:lnTo>
                    <a:pt x="2136" y="64"/>
                  </a:lnTo>
                  <a:cubicBezTo>
                    <a:pt x="2123" y="64"/>
                    <a:pt x="2112" y="54"/>
                    <a:pt x="2112" y="40"/>
                  </a:cubicBezTo>
                  <a:cubicBezTo>
                    <a:pt x="2112" y="27"/>
                    <a:pt x="2123" y="16"/>
                    <a:pt x="2136" y="16"/>
                  </a:cubicBezTo>
                  <a:close/>
                  <a:moveTo>
                    <a:pt x="2328" y="16"/>
                  </a:moveTo>
                  <a:lnTo>
                    <a:pt x="2424" y="16"/>
                  </a:lnTo>
                  <a:cubicBezTo>
                    <a:pt x="2437" y="16"/>
                    <a:pt x="2448" y="27"/>
                    <a:pt x="2448" y="40"/>
                  </a:cubicBezTo>
                  <a:cubicBezTo>
                    <a:pt x="2448" y="54"/>
                    <a:pt x="2437" y="64"/>
                    <a:pt x="2424" y="64"/>
                  </a:cubicBezTo>
                  <a:lnTo>
                    <a:pt x="2328" y="64"/>
                  </a:lnTo>
                  <a:cubicBezTo>
                    <a:pt x="2315" y="64"/>
                    <a:pt x="2304" y="54"/>
                    <a:pt x="2304" y="40"/>
                  </a:cubicBezTo>
                  <a:cubicBezTo>
                    <a:pt x="2304" y="27"/>
                    <a:pt x="2315" y="16"/>
                    <a:pt x="2328" y="16"/>
                  </a:cubicBezTo>
                  <a:close/>
                  <a:moveTo>
                    <a:pt x="2520" y="16"/>
                  </a:moveTo>
                  <a:lnTo>
                    <a:pt x="2616" y="16"/>
                  </a:lnTo>
                  <a:cubicBezTo>
                    <a:pt x="2629" y="16"/>
                    <a:pt x="2640" y="27"/>
                    <a:pt x="2640" y="40"/>
                  </a:cubicBezTo>
                  <a:cubicBezTo>
                    <a:pt x="2640" y="54"/>
                    <a:pt x="2629" y="64"/>
                    <a:pt x="2616" y="64"/>
                  </a:cubicBezTo>
                  <a:lnTo>
                    <a:pt x="2520" y="64"/>
                  </a:lnTo>
                  <a:cubicBezTo>
                    <a:pt x="2507" y="64"/>
                    <a:pt x="2496" y="54"/>
                    <a:pt x="2496" y="40"/>
                  </a:cubicBezTo>
                  <a:cubicBezTo>
                    <a:pt x="2496" y="27"/>
                    <a:pt x="2507" y="16"/>
                    <a:pt x="2520" y="16"/>
                  </a:cubicBezTo>
                  <a:close/>
                  <a:moveTo>
                    <a:pt x="2712" y="16"/>
                  </a:moveTo>
                  <a:lnTo>
                    <a:pt x="2760" y="16"/>
                  </a:lnTo>
                  <a:lnTo>
                    <a:pt x="2808" y="16"/>
                  </a:lnTo>
                  <a:cubicBezTo>
                    <a:pt x="2821" y="16"/>
                    <a:pt x="2832" y="27"/>
                    <a:pt x="2832" y="40"/>
                  </a:cubicBezTo>
                  <a:cubicBezTo>
                    <a:pt x="2832" y="54"/>
                    <a:pt x="2821" y="64"/>
                    <a:pt x="2808" y="64"/>
                  </a:cubicBezTo>
                  <a:lnTo>
                    <a:pt x="2760" y="64"/>
                  </a:lnTo>
                  <a:lnTo>
                    <a:pt x="2712" y="64"/>
                  </a:lnTo>
                  <a:cubicBezTo>
                    <a:pt x="2699" y="64"/>
                    <a:pt x="2688" y="54"/>
                    <a:pt x="2688" y="40"/>
                  </a:cubicBezTo>
                  <a:cubicBezTo>
                    <a:pt x="2688" y="27"/>
                    <a:pt x="2699" y="16"/>
                    <a:pt x="2712" y="16"/>
                  </a:cubicBezTo>
                  <a:close/>
                  <a:moveTo>
                    <a:pt x="2904" y="16"/>
                  </a:moveTo>
                  <a:lnTo>
                    <a:pt x="3000" y="16"/>
                  </a:lnTo>
                  <a:cubicBezTo>
                    <a:pt x="3013" y="16"/>
                    <a:pt x="3024" y="27"/>
                    <a:pt x="3024" y="40"/>
                  </a:cubicBezTo>
                  <a:cubicBezTo>
                    <a:pt x="3024" y="54"/>
                    <a:pt x="3013" y="64"/>
                    <a:pt x="3000" y="64"/>
                  </a:cubicBezTo>
                  <a:lnTo>
                    <a:pt x="2904" y="64"/>
                  </a:lnTo>
                  <a:cubicBezTo>
                    <a:pt x="2891" y="64"/>
                    <a:pt x="2880" y="54"/>
                    <a:pt x="2880" y="40"/>
                  </a:cubicBezTo>
                  <a:cubicBezTo>
                    <a:pt x="2880" y="27"/>
                    <a:pt x="2891" y="16"/>
                    <a:pt x="2904" y="16"/>
                  </a:cubicBezTo>
                  <a:close/>
                  <a:moveTo>
                    <a:pt x="3096" y="16"/>
                  </a:moveTo>
                  <a:lnTo>
                    <a:pt x="3192" y="16"/>
                  </a:lnTo>
                  <a:cubicBezTo>
                    <a:pt x="3205" y="16"/>
                    <a:pt x="3216" y="27"/>
                    <a:pt x="3216" y="40"/>
                  </a:cubicBezTo>
                  <a:cubicBezTo>
                    <a:pt x="3216" y="54"/>
                    <a:pt x="3205" y="64"/>
                    <a:pt x="3192" y="64"/>
                  </a:cubicBezTo>
                  <a:lnTo>
                    <a:pt x="3096" y="64"/>
                  </a:lnTo>
                  <a:cubicBezTo>
                    <a:pt x="3083" y="64"/>
                    <a:pt x="3072" y="54"/>
                    <a:pt x="3072" y="40"/>
                  </a:cubicBezTo>
                  <a:cubicBezTo>
                    <a:pt x="3072" y="27"/>
                    <a:pt x="3083" y="16"/>
                    <a:pt x="3096" y="16"/>
                  </a:cubicBezTo>
                  <a:close/>
                  <a:moveTo>
                    <a:pt x="3288" y="16"/>
                  </a:moveTo>
                  <a:lnTo>
                    <a:pt x="3304" y="16"/>
                  </a:lnTo>
                  <a:lnTo>
                    <a:pt x="3384" y="16"/>
                  </a:lnTo>
                  <a:cubicBezTo>
                    <a:pt x="3397" y="16"/>
                    <a:pt x="3408" y="27"/>
                    <a:pt x="3408" y="40"/>
                  </a:cubicBezTo>
                  <a:cubicBezTo>
                    <a:pt x="3408" y="54"/>
                    <a:pt x="3397" y="64"/>
                    <a:pt x="3384" y="64"/>
                  </a:cubicBezTo>
                  <a:lnTo>
                    <a:pt x="3304" y="64"/>
                  </a:lnTo>
                  <a:lnTo>
                    <a:pt x="3288" y="64"/>
                  </a:lnTo>
                  <a:cubicBezTo>
                    <a:pt x="3275" y="64"/>
                    <a:pt x="3264" y="54"/>
                    <a:pt x="3264" y="40"/>
                  </a:cubicBezTo>
                  <a:cubicBezTo>
                    <a:pt x="3264" y="27"/>
                    <a:pt x="3275" y="16"/>
                    <a:pt x="3288" y="16"/>
                  </a:cubicBezTo>
                  <a:close/>
                  <a:moveTo>
                    <a:pt x="3480" y="16"/>
                  </a:moveTo>
                  <a:lnTo>
                    <a:pt x="3576" y="16"/>
                  </a:lnTo>
                  <a:cubicBezTo>
                    <a:pt x="3589" y="16"/>
                    <a:pt x="3600" y="27"/>
                    <a:pt x="3600" y="40"/>
                  </a:cubicBezTo>
                  <a:cubicBezTo>
                    <a:pt x="3600" y="54"/>
                    <a:pt x="3589" y="64"/>
                    <a:pt x="3576" y="64"/>
                  </a:cubicBezTo>
                  <a:lnTo>
                    <a:pt x="3480" y="64"/>
                  </a:lnTo>
                  <a:cubicBezTo>
                    <a:pt x="3467" y="64"/>
                    <a:pt x="3456" y="54"/>
                    <a:pt x="3456" y="40"/>
                  </a:cubicBezTo>
                  <a:cubicBezTo>
                    <a:pt x="3456" y="27"/>
                    <a:pt x="3467" y="16"/>
                    <a:pt x="3480" y="16"/>
                  </a:cubicBezTo>
                  <a:close/>
                  <a:moveTo>
                    <a:pt x="3672" y="16"/>
                  </a:moveTo>
                  <a:lnTo>
                    <a:pt x="3768" y="16"/>
                  </a:lnTo>
                  <a:cubicBezTo>
                    <a:pt x="3781" y="16"/>
                    <a:pt x="3792" y="27"/>
                    <a:pt x="3792" y="40"/>
                  </a:cubicBezTo>
                  <a:cubicBezTo>
                    <a:pt x="3792" y="54"/>
                    <a:pt x="3781" y="64"/>
                    <a:pt x="3768" y="64"/>
                  </a:cubicBezTo>
                  <a:lnTo>
                    <a:pt x="3672" y="64"/>
                  </a:lnTo>
                  <a:cubicBezTo>
                    <a:pt x="3659" y="64"/>
                    <a:pt x="3648" y="54"/>
                    <a:pt x="3648" y="40"/>
                  </a:cubicBezTo>
                  <a:cubicBezTo>
                    <a:pt x="3648" y="27"/>
                    <a:pt x="3659" y="16"/>
                    <a:pt x="3672" y="16"/>
                  </a:cubicBezTo>
                  <a:close/>
                  <a:moveTo>
                    <a:pt x="3864" y="16"/>
                  </a:moveTo>
                  <a:lnTo>
                    <a:pt x="3960" y="16"/>
                  </a:lnTo>
                  <a:cubicBezTo>
                    <a:pt x="3973" y="16"/>
                    <a:pt x="3984" y="27"/>
                    <a:pt x="3984" y="40"/>
                  </a:cubicBezTo>
                  <a:cubicBezTo>
                    <a:pt x="3984" y="54"/>
                    <a:pt x="3973" y="64"/>
                    <a:pt x="3960" y="64"/>
                  </a:cubicBezTo>
                  <a:lnTo>
                    <a:pt x="3864" y="64"/>
                  </a:lnTo>
                  <a:cubicBezTo>
                    <a:pt x="3851" y="64"/>
                    <a:pt x="3840" y="54"/>
                    <a:pt x="3840" y="40"/>
                  </a:cubicBezTo>
                  <a:cubicBezTo>
                    <a:pt x="3840" y="27"/>
                    <a:pt x="3851" y="16"/>
                    <a:pt x="3864" y="16"/>
                  </a:cubicBezTo>
                  <a:close/>
                  <a:moveTo>
                    <a:pt x="4056" y="16"/>
                  </a:moveTo>
                  <a:lnTo>
                    <a:pt x="4152" y="16"/>
                  </a:lnTo>
                  <a:cubicBezTo>
                    <a:pt x="4165" y="16"/>
                    <a:pt x="4176" y="27"/>
                    <a:pt x="4176" y="40"/>
                  </a:cubicBezTo>
                  <a:cubicBezTo>
                    <a:pt x="4176" y="54"/>
                    <a:pt x="4165" y="64"/>
                    <a:pt x="4152" y="64"/>
                  </a:cubicBezTo>
                  <a:lnTo>
                    <a:pt x="4056" y="64"/>
                  </a:lnTo>
                  <a:cubicBezTo>
                    <a:pt x="4043" y="64"/>
                    <a:pt x="4032" y="54"/>
                    <a:pt x="4032" y="40"/>
                  </a:cubicBezTo>
                  <a:cubicBezTo>
                    <a:pt x="4032" y="27"/>
                    <a:pt x="4043" y="16"/>
                    <a:pt x="4056" y="16"/>
                  </a:cubicBezTo>
                  <a:close/>
                  <a:moveTo>
                    <a:pt x="4248" y="16"/>
                  </a:moveTo>
                  <a:lnTo>
                    <a:pt x="4344" y="16"/>
                  </a:lnTo>
                  <a:cubicBezTo>
                    <a:pt x="4357" y="16"/>
                    <a:pt x="4368" y="27"/>
                    <a:pt x="4368" y="40"/>
                  </a:cubicBezTo>
                  <a:cubicBezTo>
                    <a:pt x="4368" y="54"/>
                    <a:pt x="4357" y="64"/>
                    <a:pt x="4344" y="64"/>
                  </a:cubicBezTo>
                  <a:lnTo>
                    <a:pt x="4248" y="64"/>
                  </a:lnTo>
                  <a:cubicBezTo>
                    <a:pt x="4235" y="64"/>
                    <a:pt x="4224" y="54"/>
                    <a:pt x="4224" y="40"/>
                  </a:cubicBezTo>
                  <a:cubicBezTo>
                    <a:pt x="4224" y="27"/>
                    <a:pt x="4235" y="16"/>
                    <a:pt x="4248" y="16"/>
                  </a:cubicBezTo>
                  <a:close/>
                  <a:moveTo>
                    <a:pt x="4440" y="16"/>
                  </a:moveTo>
                  <a:lnTo>
                    <a:pt x="4536" y="16"/>
                  </a:lnTo>
                  <a:cubicBezTo>
                    <a:pt x="4549" y="16"/>
                    <a:pt x="4560" y="27"/>
                    <a:pt x="4560" y="40"/>
                  </a:cubicBezTo>
                  <a:cubicBezTo>
                    <a:pt x="4560" y="54"/>
                    <a:pt x="4549" y="64"/>
                    <a:pt x="4536" y="64"/>
                  </a:cubicBezTo>
                  <a:lnTo>
                    <a:pt x="4440" y="64"/>
                  </a:lnTo>
                  <a:cubicBezTo>
                    <a:pt x="4427" y="64"/>
                    <a:pt x="4416" y="54"/>
                    <a:pt x="4416" y="40"/>
                  </a:cubicBezTo>
                  <a:cubicBezTo>
                    <a:pt x="4416" y="27"/>
                    <a:pt x="4427" y="16"/>
                    <a:pt x="4440" y="16"/>
                  </a:cubicBezTo>
                  <a:close/>
                  <a:moveTo>
                    <a:pt x="4632" y="16"/>
                  </a:moveTo>
                  <a:lnTo>
                    <a:pt x="4728" y="16"/>
                  </a:lnTo>
                  <a:cubicBezTo>
                    <a:pt x="4741" y="16"/>
                    <a:pt x="4752" y="27"/>
                    <a:pt x="4752" y="40"/>
                  </a:cubicBezTo>
                  <a:cubicBezTo>
                    <a:pt x="4752" y="54"/>
                    <a:pt x="4741" y="64"/>
                    <a:pt x="4728" y="64"/>
                  </a:cubicBezTo>
                  <a:lnTo>
                    <a:pt x="4632" y="64"/>
                  </a:lnTo>
                  <a:cubicBezTo>
                    <a:pt x="4619" y="64"/>
                    <a:pt x="4608" y="54"/>
                    <a:pt x="4608" y="40"/>
                  </a:cubicBezTo>
                  <a:cubicBezTo>
                    <a:pt x="4608" y="27"/>
                    <a:pt x="4619" y="16"/>
                    <a:pt x="4632" y="16"/>
                  </a:cubicBezTo>
                  <a:close/>
                  <a:moveTo>
                    <a:pt x="4824" y="16"/>
                  </a:moveTo>
                  <a:lnTo>
                    <a:pt x="4920" y="16"/>
                  </a:lnTo>
                  <a:cubicBezTo>
                    <a:pt x="4933" y="16"/>
                    <a:pt x="4944" y="27"/>
                    <a:pt x="4944" y="40"/>
                  </a:cubicBezTo>
                  <a:cubicBezTo>
                    <a:pt x="4944" y="54"/>
                    <a:pt x="4933" y="64"/>
                    <a:pt x="4920" y="64"/>
                  </a:cubicBezTo>
                  <a:lnTo>
                    <a:pt x="4824" y="64"/>
                  </a:lnTo>
                  <a:cubicBezTo>
                    <a:pt x="4811" y="64"/>
                    <a:pt x="4800" y="54"/>
                    <a:pt x="4800" y="40"/>
                  </a:cubicBezTo>
                  <a:cubicBezTo>
                    <a:pt x="4800" y="27"/>
                    <a:pt x="4811" y="16"/>
                    <a:pt x="4824" y="16"/>
                  </a:cubicBezTo>
                  <a:close/>
                  <a:moveTo>
                    <a:pt x="5015" y="14"/>
                  </a:moveTo>
                  <a:lnTo>
                    <a:pt x="5111" y="11"/>
                  </a:lnTo>
                  <a:cubicBezTo>
                    <a:pt x="5125" y="11"/>
                    <a:pt x="5136" y="21"/>
                    <a:pt x="5136" y="35"/>
                  </a:cubicBezTo>
                  <a:cubicBezTo>
                    <a:pt x="5137" y="48"/>
                    <a:pt x="5126" y="59"/>
                    <a:pt x="5113" y="59"/>
                  </a:cubicBezTo>
                  <a:lnTo>
                    <a:pt x="5017" y="62"/>
                  </a:lnTo>
                  <a:cubicBezTo>
                    <a:pt x="5004" y="63"/>
                    <a:pt x="4993" y="52"/>
                    <a:pt x="4992" y="39"/>
                  </a:cubicBezTo>
                  <a:cubicBezTo>
                    <a:pt x="4992" y="26"/>
                    <a:pt x="5002" y="15"/>
                    <a:pt x="5015" y="14"/>
                  </a:cubicBezTo>
                  <a:close/>
                  <a:moveTo>
                    <a:pt x="5207" y="8"/>
                  </a:moveTo>
                  <a:lnTo>
                    <a:pt x="5303" y="6"/>
                  </a:lnTo>
                  <a:cubicBezTo>
                    <a:pt x="5317" y="5"/>
                    <a:pt x="5328" y="16"/>
                    <a:pt x="5328" y="29"/>
                  </a:cubicBezTo>
                  <a:cubicBezTo>
                    <a:pt x="5328" y="42"/>
                    <a:pt x="5318" y="53"/>
                    <a:pt x="5305" y="54"/>
                  </a:cubicBezTo>
                  <a:lnTo>
                    <a:pt x="5209" y="56"/>
                  </a:lnTo>
                  <a:cubicBezTo>
                    <a:pt x="5196" y="57"/>
                    <a:pt x="5185" y="46"/>
                    <a:pt x="5184" y="33"/>
                  </a:cubicBezTo>
                  <a:cubicBezTo>
                    <a:pt x="5184" y="20"/>
                    <a:pt x="5194" y="9"/>
                    <a:pt x="5207" y="8"/>
                  </a:cubicBezTo>
                  <a:close/>
                  <a:moveTo>
                    <a:pt x="5399" y="3"/>
                  </a:moveTo>
                  <a:lnTo>
                    <a:pt x="5480" y="0"/>
                  </a:lnTo>
                  <a:cubicBezTo>
                    <a:pt x="5493" y="0"/>
                    <a:pt x="5504" y="11"/>
                    <a:pt x="5504" y="24"/>
                  </a:cubicBezTo>
                  <a:cubicBezTo>
                    <a:pt x="5505" y="37"/>
                    <a:pt x="5494" y="48"/>
                    <a:pt x="5481" y="48"/>
                  </a:cubicBezTo>
                  <a:lnTo>
                    <a:pt x="5401" y="51"/>
                  </a:lnTo>
                  <a:cubicBezTo>
                    <a:pt x="5387" y="51"/>
                    <a:pt x="5376" y="41"/>
                    <a:pt x="5376" y="28"/>
                  </a:cubicBezTo>
                  <a:cubicBezTo>
                    <a:pt x="5376" y="14"/>
                    <a:pt x="5386" y="3"/>
                    <a:pt x="5399" y="3"/>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18" name="Rectangle 17">
              <a:extLst>
                <a:ext uri="{FF2B5EF4-FFF2-40B4-BE49-F238E27FC236}">
                  <a16:creationId xmlns:a16="http://schemas.microsoft.com/office/drawing/2014/main" id="{1086350B-3F5E-A4CA-C3BC-5CC2F401733F}"/>
                </a:ext>
              </a:extLst>
            </p:cNvPr>
            <p:cNvSpPr>
              <a:spLocks noChangeArrowheads="1"/>
            </p:cNvSpPr>
            <p:nvPr/>
          </p:nvSpPr>
          <p:spPr bwMode="auto">
            <a:xfrm>
              <a:off x="2368414" y="1346445"/>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47.260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19" name="Rectangle 18">
              <a:extLst>
                <a:ext uri="{FF2B5EF4-FFF2-40B4-BE49-F238E27FC236}">
                  <a16:creationId xmlns:a16="http://schemas.microsoft.com/office/drawing/2014/main" id="{0660824E-012E-DCEA-8548-44D77AD42A02}"/>
                </a:ext>
              </a:extLst>
            </p:cNvPr>
            <p:cNvSpPr>
              <a:spLocks noChangeArrowheads="1"/>
            </p:cNvSpPr>
            <p:nvPr/>
          </p:nvSpPr>
          <p:spPr bwMode="auto">
            <a:xfrm>
              <a:off x="3308849" y="1084825"/>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66.112</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0" name="Rectangle 19">
              <a:extLst>
                <a:ext uri="{FF2B5EF4-FFF2-40B4-BE49-F238E27FC236}">
                  <a16:creationId xmlns:a16="http://schemas.microsoft.com/office/drawing/2014/main" id="{A1B08799-CA2B-D778-CA43-C716C096BEE1}"/>
                </a:ext>
              </a:extLst>
            </p:cNvPr>
            <p:cNvSpPr>
              <a:spLocks noChangeArrowheads="1"/>
            </p:cNvSpPr>
            <p:nvPr/>
          </p:nvSpPr>
          <p:spPr bwMode="auto">
            <a:xfrm>
              <a:off x="3622539" y="1235320"/>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55.268</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1" name="Rectangle 20">
              <a:extLst>
                <a:ext uri="{FF2B5EF4-FFF2-40B4-BE49-F238E27FC236}">
                  <a16:creationId xmlns:a16="http://schemas.microsoft.com/office/drawing/2014/main" id="{52310BF7-25B0-C064-8026-5F90A8086F5B}"/>
                </a:ext>
              </a:extLst>
            </p:cNvPr>
            <p:cNvSpPr>
              <a:spLocks noChangeArrowheads="1"/>
            </p:cNvSpPr>
            <p:nvPr/>
          </p:nvSpPr>
          <p:spPr bwMode="auto">
            <a:xfrm>
              <a:off x="1427344" y="1774435"/>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16.400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2" name="Rectangle 21">
              <a:extLst>
                <a:ext uri="{FF2B5EF4-FFF2-40B4-BE49-F238E27FC236}">
                  <a16:creationId xmlns:a16="http://schemas.microsoft.com/office/drawing/2014/main" id="{C755818A-BE07-0AAA-F74F-E31F356EDDF8}"/>
                </a:ext>
              </a:extLst>
            </p:cNvPr>
            <p:cNvSpPr>
              <a:spLocks noChangeArrowheads="1"/>
            </p:cNvSpPr>
            <p:nvPr/>
          </p:nvSpPr>
          <p:spPr bwMode="auto">
            <a:xfrm>
              <a:off x="2371589" y="553965"/>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104.359</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3" name="Rectangle 22">
              <a:extLst>
                <a:ext uri="{FF2B5EF4-FFF2-40B4-BE49-F238E27FC236}">
                  <a16:creationId xmlns:a16="http://schemas.microsoft.com/office/drawing/2014/main" id="{FB03C492-D99C-69F9-5B52-EEBD36CAFEE2}"/>
                </a:ext>
              </a:extLst>
            </p:cNvPr>
            <p:cNvSpPr>
              <a:spLocks noChangeArrowheads="1"/>
            </p:cNvSpPr>
            <p:nvPr/>
          </p:nvSpPr>
          <p:spPr bwMode="auto">
            <a:xfrm>
              <a:off x="3312659" y="412995"/>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114.535</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4" name="Rectangle 23">
              <a:extLst>
                <a:ext uri="{FF2B5EF4-FFF2-40B4-BE49-F238E27FC236}">
                  <a16:creationId xmlns:a16="http://schemas.microsoft.com/office/drawing/2014/main" id="{7D47FBCF-8499-3AE7-DAD7-3441775AC801}"/>
                </a:ext>
              </a:extLst>
            </p:cNvPr>
            <p:cNvSpPr>
              <a:spLocks noChangeArrowheads="1"/>
            </p:cNvSpPr>
            <p:nvPr/>
          </p:nvSpPr>
          <p:spPr bwMode="auto">
            <a:xfrm>
              <a:off x="3940039" y="611115"/>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100.261</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5" name="Rectangle 24">
              <a:extLst>
                <a:ext uri="{FF2B5EF4-FFF2-40B4-BE49-F238E27FC236}">
                  <a16:creationId xmlns:a16="http://schemas.microsoft.com/office/drawing/2014/main" id="{BA82A02B-CB8A-E08B-61DF-58769FD1119A}"/>
                </a:ext>
              </a:extLst>
            </p:cNvPr>
            <p:cNvSpPr>
              <a:spLocks noChangeArrowheads="1"/>
            </p:cNvSpPr>
            <p:nvPr/>
          </p:nvSpPr>
          <p:spPr bwMode="auto">
            <a:xfrm>
              <a:off x="323714" y="1986525"/>
              <a:ext cx="50165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6" name="Rectangle 25">
              <a:extLst>
                <a:ext uri="{FF2B5EF4-FFF2-40B4-BE49-F238E27FC236}">
                  <a16:creationId xmlns:a16="http://schemas.microsoft.com/office/drawing/2014/main" id="{C8072A51-F3CD-59DA-7B98-CABFE351FACC}"/>
                </a:ext>
              </a:extLst>
            </p:cNvPr>
            <p:cNvSpPr>
              <a:spLocks noChangeArrowheads="1"/>
            </p:cNvSpPr>
            <p:nvPr/>
          </p:nvSpPr>
          <p:spPr bwMode="auto">
            <a:xfrm>
              <a:off x="91304" y="1700775"/>
              <a:ext cx="73279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no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7" name="Rectangle 26">
              <a:extLst>
                <a:ext uri="{FF2B5EF4-FFF2-40B4-BE49-F238E27FC236}">
                  <a16:creationId xmlns:a16="http://schemas.microsoft.com/office/drawing/2014/main" id="{B55DD066-2864-B366-FDEF-9ADB3F2D3B0F}"/>
                </a:ext>
              </a:extLst>
            </p:cNvPr>
            <p:cNvSpPr>
              <a:spLocks noChangeArrowheads="1"/>
            </p:cNvSpPr>
            <p:nvPr/>
          </p:nvSpPr>
          <p:spPr bwMode="auto">
            <a:xfrm>
              <a:off x="91304" y="1441695"/>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40.000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8" name="Rectangle 27">
              <a:extLst>
                <a:ext uri="{FF2B5EF4-FFF2-40B4-BE49-F238E27FC236}">
                  <a16:creationId xmlns:a16="http://schemas.microsoft.com/office/drawing/2014/main" id="{2DA592B0-FF1A-10D7-C218-83C0DA88CC21}"/>
                </a:ext>
              </a:extLst>
            </p:cNvPr>
            <p:cNvSpPr>
              <a:spLocks noChangeArrowheads="1"/>
            </p:cNvSpPr>
            <p:nvPr/>
          </p:nvSpPr>
          <p:spPr bwMode="auto">
            <a:xfrm>
              <a:off x="91304" y="1163565"/>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60.000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29" name="Rectangle 28">
              <a:extLst>
                <a:ext uri="{FF2B5EF4-FFF2-40B4-BE49-F238E27FC236}">
                  <a16:creationId xmlns:a16="http://schemas.microsoft.com/office/drawing/2014/main" id="{96A93890-5283-1FE6-FD43-C508146E7432}"/>
                </a:ext>
              </a:extLst>
            </p:cNvPr>
            <p:cNvSpPr>
              <a:spLocks noChangeArrowheads="1"/>
            </p:cNvSpPr>
            <p:nvPr/>
          </p:nvSpPr>
          <p:spPr bwMode="auto">
            <a:xfrm>
              <a:off x="91304" y="886070"/>
              <a:ext cx="732790"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80.000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0" name="Rectangle 29">
              <a:extLst>
                <a:ext uri="{FF2B5EF4-FFF2-40B4-BE49-F238E27FC236}">
                  <a16:creationId xmlns:a16="http://schemas.microsoft.com/office/drawing/2014/main" id="{8B9026F3-60F3-39AC-0109-A8606F5EEA3D}"/>
                </a:ext>
              </a:extLst>
            </p:cNvPr>
            <p:cNvSpPr>
              <a:spLocks noChangeArrowheads="1"/>
            </p:cNvSpPr>
            <p:nvPr/>
          </p:nvSpPr>
          <p:spPr bwMode="auto">
            <a:xfrm>
              <a:off x="29074" y="608575"/>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100.000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1" name="Rectangle 30">
              <a:extLst>
                <a:ext uri="{FF2B5EF4-FFF2-40B4-BE49-F238E27FC236}">
                  <a16:creationId xmlns:a16="http://schemas.microsoft.com/office/drawing/2014/main" id="{DF8F4E05-EE02-C939-C899-EF93132F80E0}"/>
                </a:ext>
              </a:extLst>
            </p:cNvPr>
            <p:cNvSpPr>
              <a:spLocks noChangeArrowheads="1"/>
            </p:cNvSpPr>
            <p:nvPr/>
          </p:nvSpPr>
          <p:spPr bwMode="auto">
            <a:xfrm>
              <a:off x="29074" y="331080"/>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120.000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2" name="Rectangle 31">
              <a:extLst>
                <a:ext uri="{FF2B5EF4-FFF2-40B4-BE49-F238E27FC236}">
                  <a16:creationId xmlns:a16="http://schemas.microsoft.com/office/drawing/2014/main" id="{594E6C00-47DE-C36C-A3DF-FE0295893DBB}"/>
                </a:ext>
              </a:extLst>
            </p:cNvPr>
            <p:cNvSpPr>
              <a:spLocks noChangeArrowheads="1"/>
            </p:cNvSpPr>
            <p:nvPr/>
          </p:nvSpPr>
          <p:spPr bwMode="auto">
            <a:xfrm>
              <a:off x="29074" y="53585"/>
              <a:ext cx="78422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140.000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3" name="Rectangle 32">
              <a:extLst>
                <a:ext uri="{FF2B5EF4-FFF2-40B4-BE49-F238E27FC236}">
                  <a16:creationId xmlns:a16="http://schemas.microsoft.com/office/drawing/2014/main" id="{2680CAFD-ADDF-959B-CABF-623A44246118}"/>
                </a:ext>
              </a:extLst>
            </p:cNvPr>
            <p:cNvSpPr>
              <a:spLocks noChangeArrowheads="1"/>
            </p:cNvSpPr>
            <p:nvPr/>
          </p:nvSpPr>
          <p:spPr bwMode="auto">
            <a:xfrm>
              <a:off x="579619"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2002</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4" name="Rectangle 33">
              <a:extLst>
                <a:ext uri="{FF2B5EF4-FFF2-40B4-BE49-F238E27FC236}">
                  <a16:creationId xmlns:a16="http://schemas.microsoft.com/office/drawing/2014/main" id="{8474244C-E478-4DAE-0786-E64BA9EDAE7D}"/>
                </a:ext>
              </a:extLst>
            </p:cNvPr>
            <p:cNvSpPr>
              <a:spLocks noChangeArrowheads="1"/>
            </p:cNvSpPr>
            <p:nvPr/>
          </p:nvSpPr>
          <p:spPr bwMode="auto">
            <a:xfrm>
              <a:off x="893309"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2003</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5" name="Rectangle 34">
              <a:extLst>
                <a:ext uri="{FF2B5EF4-FFF2-40B4-BE49-F238E27FC236}">
                  <a16:creationId xmlns:a16="http://schemas.microsoft.com/office/drawing/2014/main" id="{4B5A190E-6838-B4A5-A606-E470EB0F9881}"/>
                </a:ext>
              </a:extLst>
            </p:cNvPr>
            <p:cNvSpPr>
              <a:spLocks noChangeArrowheads="1"/>
            </p:cNvSpPr>
            <p:nvPr/>
          </p:nvSpPr>
          <p:spPr bwMode="auto">
            <a:xfrm>
              <a:off x="1206999"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2004</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6" name="Rectangle 35">
              <a:extLst>
                <a:ext uri="{FF2B5EF4-FFF2-40B4-BE49-F238E27FC236}">
                  <a16:creationId xmlns:a16="http://schemas.microsoft.com/office/drawing/2014/main" id="{3DCDA589-2B41-20BE-5EBA-F7B730A8E32E}"/>
                </a:ext>
              </a:extLst>
            </p:cNvPr>
            <p:cNvSpPr>
              <a:spLocks noChangeArrowheads="1"/>
            </p:cNvSpPr>
            <p:nvPr/>
          </p:nvSpPr>
          <p:spPr bwMode="auto">
            <a:xfrm>
              <a:off x="1520689"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2005</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7" name="Rectangle 36">
              <a:extLst>
                <a:ext uri="{FF2B5EF4-FFF2-40B4-BE49-F238E27FC236}">
                  <a16:creationId xmlns:a16="http://schemas.microsoft.com/office/drawing/2014/main" id="{8899C364-C60B-B4C0-DADF-DBF3FE261B84}"/>
                </a:ext>
              </a:extLst>
            </p:cNvPr>
            <p:cNvSpPr>
              <a:spLocks noChangeArrowheads="1"/>
            </p:cNvSpPr>
            <p:nvPr/>
          </p:nvSpPr>
          <p:spPr bwMode="auto">
            <a:xfrm>
              <a:off x="183374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2006</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8" name="Rectangle 37">
              <a:extLst>
                <a:ext uri="{FF2B5EF4-FFF2-40B4-BE49-F238E27FC236}">
                  <a16:creationId xmlns:a16="http://schemas.microsoft.com/office/drawing/2014/main" id="{83E46AA6-B3E1-2F22-C733-84A7216250E1}"/>
                </a:ext>
              </a:extLst>
            </p:cNvPr>
            <p:cNvSpPr>
              <a:spLocks noChangeArrowheads="1"/>
            </p:cNvSpPr>
            <p:nvPr/>
          </p:nvSpPr>
          <p:spPr bwMode="auto">
            <a:xfrm>
              <a:off x="214743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2007</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39" name="Rectangle 38">
              <a:extLst>
                <a:ext uri="{FF2B5EF4-FFF2-40B4-BE49-F238E27FC236}">
                  <a16:creationId xmlns:a16="http://schemas.microsoft.com/office/drawing/2014/main" id="{920B6518-7C38-A34E-DBE5-2B48FA7BEEB5}"/>
                </a:ext>
              </a:extLst>
            </p:cNvPr>
            <p:cNvSpPr>
              <a:spLocks noChangeArrowheads="1"/>
            </p:cNvSpPr>
            <p:nvPr/>
          </p:nvSpPr>
          <p:spPr bwMode="auto">
            <a:xfrm>
              <a:off x="246112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2008</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0" name="Rectangle 39">
              <a:extLst>
                <a:ext uri="{FF2B5EF4-FFF2-40B4-BE49-F238E27FC236}">
                  <a16:creationId xmlns:a16="http://schemas.microsoft.com/office/drawing/2014/main" id="{7BC474B0-C73D-7ABD-1BA0-76699EB309BD}"/>
                </a:ext>
              </a:extLst>
            </p:cNvPr>
            <p:cNvSpPr>
              <a:spLocks noChangeArrowheads="1"/>
            </p:cNvSpPr>
            <p:nvPr/>
          </p:nvSpPr>
          <p:spPr bwMode="auto">
            <a:xfrm>
              <a:off x="277481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2009</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1" name="Rectangle 40">
              <a:extLst>
                <a:ext uri="{FF2B5EF4-FFF2-40B4-BE49-F238E27FC236}">
                  <a16:creationId xmlns:a16="http://schemas.microsoft.com/office/drawing/2014/main" id="{70585911-4E69-D91F-B925-C03072E91C20}"/>
                </a:ext>
              </a:extLst>
            </p:cNvPr>
            <p:cNvSpPr>
              <a:spLocks noChangeArrowheads="1"/>
            </p:cNvSpPr>
            <p:nvPr/>
          </p:nvSpPr>
          <p:spPr bwMode="auto">
            <a:xfrm>
              <a:off x="308850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2010</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2" name="Rectangle 41">
              <a:extLst>
                <a:ext uri="{FF2B5EF4-FFF2-40B4-BE49-F238E27FC236}">
                  <a16:creationId xmlns:a16="http://schemas.microsoft.com/office/drawing/2014/main" id="{D922ECB9-46A5-8844-5434-33B3EC0FFA99}"/>
                </a:ext>
              </a:extLst>
            </p:cNvPr>
            <p:cNvSpPr>
              <a:spLocks noChangeArrowheads="1"/>
            </p:cNvSpPr>
            <p:nvPr/>
          </p:nvSpPr>
          <p:spPr bwMode="auto">
            <a:xfrm>
              <a:off x="340219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2011</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3" name="Rectangle 42">
              <a:extLst>
                <a:ext uri="{FF2B5EF4-FFF2-40B4-BE49-F238E27FC236}">
                  <a16:creationId xmlns:a16="http://schemas.microsoft.com/office/drawing/2014/main" id="{F26FD33B-D761-B7E2-7719-5EB6C755545C}"/>
                </a:ext>
              </a:extLst>
            </p:cNvPr>
            <p:cNvSpPr>
              <a:spLocks noChangeArrowheads="1"/>
            </p:cNvSpPr>
            <p:nvPr/>
          </p:nvSpPr>
          <p:spPr bwMode="auto">
            <a:xfrm>
              <a:off x="3715884" y="2137655"/>
              <a:ext cx="655955"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a:solidFill>
                    <a:srgbClr val="000000"/>
                  </a:solidFill>
                  <a:effectLst/>
                  <a:latin typeface="Calibri" panose="020F0502020204030204" pitchFamily="34" charset="0"/>
                  <a:ea typeface="Cambria" panose="02040503050406030204" pitchFamily="18" charset="0"/>
                  <a:cs typeface="Arial" panose="020B0604020202020204" pitchFamily="34" charset="0"/>
                </a:rPr>
                <a:t>2012</a:t>
              </a:r>
              <a:endParaRPr lang="en-GB" sz="120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4" name="Freeform 41">
              <a:extLst>
                <a:ext uri="{FF2B5EF4-FFF2-40B4-BE49-F238E27FC236}">
                  <a16:creationId xmlns:a16="http://schemas.microsoft.com/office/drawing/2014/main" id="{2CEF740C-C1C6-D4B7-126F-1638A7E4AF37}"/>
                </a:ext>
              </a:extLst>
            </p:cNvPr>
            <p:cNvSpPr>
              <a:spLocks noEditPoints="1"/>
            </p:cNvSpPr>
            <p:nvPr/>
          </p:nvSpPr>
          <p:spPr bwMode="auto">
            <a:xfrm>
              <a:off x="4608059" y="983225"/>
              <a:ext cx="304800" cy="24130"/>
            </a:xfrm>
            <a:custGeom>
              <a:avLst/>
              <a:gdLst>
                <a:gd name="T0" fmla="*/ 24 w 529"/>
                <a:gd name="T1" fmla="*/ 0 h 48"/>
                <a:gd name="T2" fmla="*/ 25 w 529"/>
                <a:gd name="T3" fmla="*/ 0 h 48"/>
                <a:gd name="T4" fmla="*/ 49 w 529"/>
                <a:gd name="T5" fmla="*/ 24 h 48"/>
                <a:gd name="T6" fmla="*/ 25 w 529"/>
                <a:gd name="T7" fmla="*/ 48 h 48"/>
                <a:gd name="T8" fmla="*/ 24 w 529"/>
                <a:gd name="T9" fmla="*/ 48 h 48"/>
                <a:gd name="T10" fmla="*/ 0 w 529"/>
                <a:gd name="T11" fmla="*/ 24 h 48"/>
                <a:gd name="T12" fmla="*/ 24 w 529"/>
                <a:gd name="T13" fmla="*/ 0 h 48"/>
                <a:gd name="T14" fmla="*/ 121 w 529"/>
                <a:gd name="T15" fmla="*/ 0 h 48"/>
                <a:gd name="T16" fmla="*/ 121 w 529"/>
                <a:gd name="T17" fmla="*/ 0 h 48"/>
                <a:gd name="T18" fmla="*/ 145 w 529"/>
                <a:gd name="T19" fmla="*/ 24 h 48"/>
                <a:gd name="T20" fmla="*/ 121 w 529"/>
                <a:gd name="T21" fmla="*/ 48 h 48"/>
                <a:gd name="T22" fmla="*/ 121 w 529"/>
                <a:gd name="T23" fmla="*/ 48 h 48"/>
                <a:gd name="T24" fmla="*/ 97 w 529"/>
                <a:gd name="T25" fmla="*/ 24 h 48"/>
                <a:gd name="T26" fmla="*/ 121 w 529"/>
                <a:gd name="T27" fmla="*/ 0 h 48"/>
                <a:gd name="T28" fmla="*/ 217 w 529"/>
                <a:gd name="T29" fmla="*/ 0 h 48"/>
                <a:gd name="T30" fmla="*/ 217 w 529"/>
                <a:gd name="T31" fmla="*/ 0 h 48"/>
                <a:gd name="T32" fmla="*/ 241 w 529"/>
                <a:gd name="T33" fmla="*/ 24 h 48"/>
                <a:gd name="T34" fmla="*/ 217 w 529"/>
                <a:gd name="T35" fmla="*/ 48 h 48"/>
                <a:gd name="T36" fmla="*/ 217 w 529"/>
                <a:gd name="T37" fmla="*/ 48 h 48"/>
                <a:gd name="T38" fmla="*/ 193 w 529"/>
                <a:gd name="T39" fmla="*/ 24 h 48"/>
                <a:gd name="T40" fmla="*/ 217 w 529"/>
                <a:gd name="T41" fmla="*/ 0 h 48"/>
                <a:gd name="T42" fmla="*/ 313 w 529"/>
                <a:gd name="T43" fmla="*/ 0 h 48"/>
                <a:gd name="T44" fmla="*/ 313 w 529"/>
                <a:gd name="T45" fmla="*/ 0 h 48"/>
                <a:gd name="T46" fmla="*/ 337 w 529"/>
                <a:gd name="T47" fmla="*/ 24 h 48"/>
                <a:gd name="T48" fmla="*/ 313 w 529"/>
                <a:gd name="T49" fmla="*/ 48 h 48"/>
                <a:gd name="T50" fmla="*/ 313 w 529"/>
                <a:gd name="T51" fmla="*/ 48 h 48"/>
                <a:gd name="T52" fmla="*/ 289 w 529"/>
                <a:gd name="T53" fmla="*/ 24 h 48"/>
                <a:gd name="T54" fmla="*/ 313 w 529"/>
                <a:gd name="T55" fmla="*/ 0 h 48"/>
                <a:gd name="T56" fmla="*/ 409 w 529"/>
                <a:gd name="T57" fmla="*/ 0 h 48"/>
                <a:gd name="T58" fmla="*/ 409 w 529"/>
                <a:gd name="T59" fmla="*/ 0 h 48"/>
                <a:gd name="T60" fmla="*/ 433 w 529"/>
                <a:gd name="T61" fmla="*/ 24 h 48"/>
                <a:gd name="T62" fmla="*/ 409 w 529"/>
                <a:gd name="T63" fmla="*/ 48 h 48"/>
                <a:gd name="T64" fmla="*/ 409 w 529"/>
                <a:gd name="T65" fmla="*/ 48 h 48"/>
                <a:gd name="T66" fmla="*/ 385 w 529"/>
                <a:gd name="T67" fmla="*/ 24 h 48"/>
                <a:gd name="T68" fmla="*/ 409 w 529"/>
                <a:gd name="T69" fmla="*/ 0 h 48"/>
                <a:gd name="T70" fmla="*/ 505 w 529"/>
                <a:gd name="T71" fmla="*/ 0 h 48"/>
                <a:gd name="T72" fmla="*/ 505 w 529"/>
                <a:gd name="T73" fmla="*/ 0 h 48"/>
                <a:gd name="T74" fmla="*/ 529 w 529"/>
                <a:gd name="T75" fmla="*/ 24 h 48"/>
                <a:gd name="T76" fmla="*/ 505 w 529"/>
                <a:gd name="T77" fmla="*/ 48 h 48"/>
                <a:gd name="T78" fmla="*/ 505 w 529"/>
                <a:gd name="T79" fmla="*/ 48 h 48"/>
                <a:gd name="T80" fmla="*/ 481 w 529"/>
                <a:gd name="T81" fmla="*/ 24 h 48"/>
                <a:gd name="T82" fmla="*/ 505 w 529"/>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29" h="48">
                  <a:moveTo>
                    <a:pt x="24" y="0"/>
                  </a:moveTo>
                  <a:lnTo>
                    <a:pt x="25" y="0"/>
                  </a:lnTo>
                  <a:cubicBezTo>
                    <a:pt x="38" y="0"/>
                    <a:pt x="49" y="11"/>
                    <a:pt x="49" y="24"/>
                  </a:cubicBezTo>
                  <a:cubicBezTo>
                    <a:pt x="49" y="38"/>
                    <a:pt x="38" y="48"/>
                    <a:pt x="25" y="48"/>
                  </a:cubicBezTo>
                  <a:lnTo>
                    <a:pt x="24" y="48"/>
                  </a:lnTo>
                  <a:cubicBezTo>
                    <a:pt x="11" y="48"/>
                    <a:pt x="0" y="38"/>
                    <a:pt x="0" y="24"/>
                  </a:cubicBezTo>
                  <a:cubicBezTo>
                    <a:pt x="0" y="11"/>
                    <a:pt x="11" y="0"/>
                    <a:pt x="24" y="0"/>
                  </a:cubicBezTo>
                  <a:close/>
                  <a:moveTo>
                    <a:pt x="121" y="0"/>
                  </a:moveTo>
                  <a:lnTo>
                    <a:pt x="121" y="0"/>
                  </a:lnTo>
                  <a:cubicBezTo>
                    <a:pt x="134" y="0"/>
                    <a:pt x="145" y="11"/>
                    <a:pt x="145" y="24"/>
                  </a:cubicBezTo>
                  <a:cubicBezTo>
                    <a:pt x="145" y="38"/>
                    <a:pt x="134" y="48"/>
                    <a:pt x="121" y="48"/>
                  </a:cubicBezTo>
                  <a:lnTo>
                    <a:pt x="121" y="48"/>
                  </a:lnTo>
                  <a:cubicBezTo>
                    <a:pt x="107" y="48"/>
                    <a:pt x="97" y="38"/>
                    <a:pt x="97" y="24"/>
                  </a:cubicBezTo>
                  <a:cubicBezTo>
                    <a:pt x="97" y="11"/>
                    <a:pt x="107" y="0"/>
                    <a:pt x="121" y="0"/>
                  </a:cubicBezTo>
                  <a:close/>
                  <a:moveTo>
                    <a:pt x="217" y="0"/>
                  </a:moveTo>
                  <a:lnTo>
                    <a:pt x="217" y="0"/>
                  </a:lnTo>
                  <a:cubicBezTo>
                    <a:pt x="230" y="0"/>
                    <a:pt x="241" y="11"/>
                    <a:pt x="241" y="24"/>
                  </a:cubicBezTo>
                  <a:cubicBezTo>
                    <a:pt x="241" y="38"/>
                    <a:pt x="230" y="48"/>
                    <a:pt x="217" y="48"/>
                  </a:cubicBezTo>
                  <a:lnTo>
                    <a:pt x="217" y="48"/>
                  </a:lnTo>
                  <a:cubicBezTo>
                    <a:pt x="203" y="48"/>
                    <a:pt x="193" y="38"/>
                    <a:pt x="193" y="24"/>
                  </a:cubicBezTo>
                  <a:cubicBezTo>
                    <a:pt x="193" y="11"/>
                    <a:pt x="203" y="0"/>
                    <a:pt x="217" y="0"/>
                  </a:cubicBezTo>
                  <a:close/>
                  <a:moveTo>
                    <a:pt x="313" y="0"/>
                  </a:moveTo>
                  <a:lnTo>
                    <a:pt x="313" y="0"/>
                  </a:lnTo>
                  <a:cubicBezTo>
                    <a:pt x="326" y="0"/>
                    <a:pt x="337" y="11"/>
                    <a:pt x="337" y="24"/>
                  </a:cubicBezTo>
                  <a:cubicBezTo>
                    <a:pt x="337" y="38"/>
                    <a:pt x="326" y="48"/>
                    <a:pt x="313" y="48"/>
                  </a:cubicBezTo>
                  <a:lnTo>
                    <a:pt x="313" y="48"/>
                  </a:lnTo>
                  <a:cubicBezTo>
                    <a:pt x="299" y="48"/>
                    <a:pt x="289" y="38"/>
                    <a:pt x="289" y="24"/>
                  </a:cubicBezTo>
                  <a:cubicBezTo>
                    <a:pt x="289" y="11"/>
                    <a:pt x="299" y="0"/>
                    <a:pt x="313" y="0"/>
                  </a:cubicBezTo>
                  <a:close/>
                  <a:moveTo>
                    <a:pt x="409" y="0"/>
                  </a:moveTo>
                  <a:lnTo>
                    <a:pt x="409" y="0"/>
                  </a:lnTo>
                  <a:cubicBezTo>
                    <a:pt x="422" y="0"/>
                    <a:pt x="433" y="11"/>
                    <a:pt x="433" y="24"/>
                  </a:cubicBezTo>
                  <a:cubicBezTo>
                    <a:pt x="433" y="38"/>
                    <a:pt x="422" y="48"/>
                    <a:pt x="409" y="48"/>
                  </a:cubicBezTo>
                  <a:lnTo>
                    <a:pt x="409" y="48"/>
                  </a:lnTo>
                  <a:cubicBezTo>
                    <a:pt x="395" y="48"/>
                    <a:pt x="385" y="38"/>
                    <a:pt x="385" y="24"/>
                  </a:cubicBezTo>
                  <a:cubicBezTo>
                    <a:pt x="385" y="11"/>
                    <a:pt x="395" y="0"/>
                    <a:pt x="409" y="0"/>
                  </a:cubicBezTo>
                  <a:close/>
                  <a:moveTo>
                    <a:pt x="505" y="0"/>
                  </a:moveTo>
                  <a:lnTo>
                    <a:pt x="505" y="0"/>
                  </a:lnTo>
                  <a:cubicBezTo>
                    <a:pt x="518" y="0"/>
                    <a:pt x="529" y="11"/>
                    <a:pt x="529" y="24"/>
                  </a:cubicBezTo>
                  <a:cubicBezTo>
                    <a:pt x="529" y="38"/>
                    <a:pt x="518" y="48"/>
                    <a:pt x="505" y="48"/>
                  </a:cubicBezTo>
                  <a:lnTo>
                    <a:pt x="505" y="48"/>
                  </a:lnTo>
                  <a:cubicBezTo>
                    <a:pt x="491" y="48"/>
                    <a:pt x="481" y="38"/>
                    <a:pt x="481" y="24"/>
                  </a:cubicBezTo>
                  <a:cubicBezTo>
                    <a:pt x="481" y="11"/>
                    <a:pt x="491" y="0"/>
                    <a:pt x="505" y="0"/>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45" name="Rectangle 44">
              <a:extLst>
                <a:ext uri="{FF2B5EF4-FFF2-40B4-BE49-F238E27FC236}">
                  <a16:creationId xmlns:a16="http://schemas.microsoft.com/office/drawing/2014/main" id="{269A7257-9DBC-8EC1-62D2-A912D6FD6F8F}"/>
                </a:ext>
              </a:extLst>
            </p:cNvPr>
            <p:cNvSpPr>
              <a:spLocks noChangeArrowheads="1"/>
            </p:cNvSpPr>
            <p:nvPr/>
          </p:nvSpPr>
          <p:spPr bwMode="auto">
            <a:xfrm>
              <a:off x="4616638" y="927345"/>
              <a:ext cx="548626" cy="1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dirty="0">
                  <a:solidFill>
                    <a:srgbClr val="000000"/>
                  </a:solidFill>
                  <a:effectLst/>
                  <a:latin typeface="Calibri" panose="020F0502020204030204" pitchFamily="34" charset="0"/>
                  <a:ea typeface="Cambria" panose="02040503050406030204" pitchFamily="18" charset="0"/>
                  <a:cs typeface="Arial" panose="020B0604020202020204" pitchFamily="34" charset="0"/>
                </a:rPr>
                <a:t> Sanayi</a:t>
              </a:r>
              <a:endParaRPr lang="en-GB" sz="1200" dirty="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6" name="Freeform 43">
              <a:extLst>
                <a:ext uri="{FF2B5EF4-FFF2-40B4-BE49-F238E27FC236}">
                  <a16:creationId xmlns:a16="http://schemas.microsoft.com/office/drawing/2014/main" id="{B08AC0FE-9554-45F4-DF3B-080F65B9B7A1}"/>
                </a:ext>
              </a:extLst>
            </p:cNvPr>
            <p:cNvSpPr>
              <a:spLocks/>
            </p:cNvSpPr>
            <p:nvPr/>
          </p:nvSpPr>
          <p:spPr bwMode="auto">
            <a:xfrm>
              <a:off x="4580754" y="1174995"/>
              <a:ext cx="331470" cy="24130"/>
            </a:xfrm>
            <a:custGeom>
              <a:avLst/>
              <a:gdLst>
                <a:gd name="T0" fmla="*/ 24 w 576"/>
                <a:gd name="T1" fmla="*/ 0 h 48"/>
                <a:gd name="T2" fmla="*/ 552 w 576"/>
                <a:gd name="T3" fmla="*/ 0 h 48"/>
                <a:gd name="T4" fmla="*/ 576 w 576"/>
                <a:gd name="T5" fmla="*/ 24 h 48"/>
                <a:gd name="T6" fmla="*/ 552 w 576"/>
                <a:gd name="T7" fmla="*/ 48 h 48"/>
                <a:gd name="T8" fmla="*/ 24 w 576"/>
                <a:gd name="T9" fmla="*/ 48 h 48"/>
                <a:gd name="T10" fmla="*/ 0 w 576"/>
                <a:gd name="T11" fmla="*/ 24 h 48"/>
                <a:gd name="T12" fmla="*/ 24 w 576"/>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576" h="48">
                  <a:moveTo>
                    <a:pt x="24" y="0"/>
                  </a:moveTo>
                  <a:lnTo>
                    <a:pt x="552" y="0"/>
                  </a:lnTo>
                  <a:cubicBezTo>
                    <a:pt x="566" y="0"/>
                    <a:pt x="576" y="11"/>
                    <a:pt x="576" y="24"/>
                  </a:cubicBezTo>
                  <a:cubicBezTo>
                    <a:pt x="576" y="38"/>
                    <a:pt x="566" y="48"/>
                    <a:pt x="552" y="48"/>
                  </a:cubicBezTo>
                  <a:lnTo>
                    <a:pt x="24" y="48"/>
                  </a:lnTo>
                  <a:cubicBezTo>
                    <a:pt x="11" y="48"/>
                    <a:pt x="0" y="38"/>
                    <a:pt x="0" y="24"/>
                  </a:cubicBezTo>
                  <a:cubicBezTo>
                    <a:pt x="0" y="11"/>
                    <a:pt x="11" y="0"/>
                    <a:pt x="24" y="0"/>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47" name="Rectangle 46">
              <a:extLst>
                <a:ext uri="{FF2B5EF4-FFF2-40B4-BE49-F238E27FC236}">
                  <a16:creationId xmlns:a16="http://schemas.microsoft.com/office/drawing/2014/main" id="{089A92F4-5CEF-342A-6443-B77741326712}"/>
                </a:ext>
              </a:extLst>
            </p:cNvPr>
            <p:cNvSpPr>
              <a:spLocks noChangeArrowheads="1"/>
            </p:cNvSpPr>
            <p:nvPr/>
          </p:nvSpPr>
          <p:spPr bwMode="auto">
            <a:xfrm>
              <a:off x="4624998" y="1123560"/>
              <a:ext cx="647478" cy="1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dirty="0">
                  <a:solidFill>
                    <a:srgbClr val="000000"/>
                  </a:solidFill>
                  <a:effectLst/>
                  <a:latin typeface="Calibri" panose="020F0502020204030204" pitchFamily="34" charset="0"/>
                  <a:ea typeface="Cambria" panose="02040503050406030204" pitchFamily="18" charset="0"/>
                  <a:cs typeface="Arial" panose="020B0604020202020204" pitchFamily="34" charset="0"/>
                </a:rPr>
                <a:t> </a:t>
              </a:r>
              <a:r>
                <a:rPr lang="en-US" sz="800" dirty="0" err="1">
                  <a:solidFill>
                    <a:srgbClr val="000000"/>
                  </a:solidFill>
                  <a:effectLst/>
                  <a:latin typeface="Calibri" panose="020F0502020204030204" pitchFamily="34" charset="0"/>
                  <a:ea typeface="Cambria" panose="02040503050406030204" pitchFamily="18" charset="0"/>
                  <a:cs typeface="Arial" panose="020B0604020202020204" pitchFamily="34" charset="0"/>
                </a:rPr>
                <a:t>Hizmetler</a:t>
              </a:r>
              <a:endParaRPr lang="en-GB" sz="1200" dirty="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48" name="Freeform 45">
              <a:extLst>
                <a:ext uri="{FF2B5EF4-FFF2-40B4-BE49-F238E27FC236}">
                  <a16:creationId xmlns:a16="http://schemas.microsoft.com/office/drawing/2014/main" id="{D93B5BCC-C236-33D7-51A8-A6CA8E37CDC8}"/>
                </a:ext>
              </a:extLst>
            </p:cNvPr>
            <p:cNvSpPr>
              <a:spLocks noEditPoints="1"/>
            </p:cNvSpPr>
            <p:nvPr/>
          </p:nvSpPr>
          <p:spPr bwMode="auto">
            <a:xfrm>
              <a:off x="4608059" y="1364225"/>
              <a:ext cx="304165" cy="24130"/>
            </a:xfrm>
            <a:custGeom>
              <a:avLst/>
              <a:gdLst>
                <a:gd name="T0" fmla="*/ 24 w 528"/>
                <a:gd name="T1" fmla="*/ 0 h 48"/>
                <a:gd name="T2" fmla="*/ 120 w 528"/>
                <a:gd name="T3" fmla="*/ 0 h 48"/>
                <a:gd name="T4" fmla="*/ 144 w 528"/>
                <a:gd name="T5" fmla="*/ 24 h 48"/>
                <a:gd name="T6" fmla="*/ 120 w 528"/>
                <a:gd name="T7" fmla="*/ 48 h 48"/>
                <a:gd name="T8" fmla="*/ 24 w 528"/>
                <a:gd name="T9" fmla="*/ 48 h 48"/>
                <a:gd name="T10" fmla="*/ 0 w 528"/>
                <a:gd name="T11" fmla="*/ 24 h 48"/>
                <a:gd name="T12" fmla="*/ 24 w 528"/>
                <a:gd name="T13" fmla="*/ 0 h 48"/>
                <a:gd name="T14" fmla="*/ 216 w 528"/>
                <a:gd name="T15" fmla="*/ 0 h 48"/>
                <a:gd name="T16" fmla="*/ 312 w 528"/>
                <a:gd name="T17" fmla="*/ 0 h 48"/>
                <a:gd name="T18" fmla="*/ 336 w 528"/>
                <a:gd name="T19" fmla="*/ 24 h 48"/>
                <a:gd name="T20" fmla="*/ 312 w 528"/>
                <a:gd name="T21" fmla="*/ 48 h 48"/>
                <a:gd name="T22" fmla="*/ 216 w 528"/>
                <a:gd name="T23" fmla="*/ 48 h 48"/>
                <a:gd name="T24" fmla="*/ 192 w 528"/>
                <a:gd name="T25" fmla="*/ 24 h 48"/>
                <a:gd name="T26" fmla="*/ 216 w 528"/>
                <a:gd name="T27" fmla="*/ 0 h 48"/>
                <a:gd name="T28" fmla="*/ 408 w 528"/>
                <a:gd name="T29" fmla="*/ 0 h 48"/>
                <a:gd name="T30" fmla="*/ 504 w 528"/>
                <a:gd name="T31" fmla="*/ 0 h 48"/>
                <a:gd name="T32" fmla="*/ 528 w 528"/>
                <a:gd name="T33" fmla="*/ 24 h 48"/>
                <a:gd name="T34" fmla="*/ 504 w 528"/>
                <a:gd name="T35" fmla="*/ 48 h 48"/>
                <a:gd name="T36" fmla="*/ 408 w 528"/>
                <a:gd name="T37" fmla="*/ 48 h 48"/>
                <a:gd name="T38" fmla="*/ 384 w 528"/>
                <a:gd name="T39" fmla="*/ 24 h 48"/>
                <a:gd name="T40" fmla="*/ 408 w 528"/>
                <a:gd name="T4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8" h="48">
                  <a:moveTo>
                    <a:pt x="24" y="0"/>
                  </a:moveTo>
                  <a:lnTo>
                    <a:pt x="120" y="0"/>
                  </a:lnTo>
                  <a:cubicBezTo>
                    <a:pt x="134" y="0"/>
                    <a:pt x="144" y="11"/>
                    <a:pt x="144" y="24"/>
                  </a:cubicBezTo>
                  <a:cubicBezTo>
                    <a:pt x="144" y="38"/>
                    <a:pt x="134" y="48"/>
                    <a:pt x="120" y="48"/>
                  </a:cubicBezTo>
                  <a:lnTo>
                    <a:pt x="24" y="48"/>
                  </a:lnTo>
                  <a:cubicBezTo>
                    <a:pt x="11" y="48"/>
                    <a:pt x="0" y="38"/>
                    <a:pt x="0" y="24"/>
                  </a:cubicBezTo>
                  <a:cubicBezTo>
                    <a:pt x="0" y="11"/>
                    <a:pt x="11" y="0"/>
                    <a:pt x="24" y="0"/>
                  </a:cubicBezTo>
                  <a:close/>
                  <a:moveTo>
                    <a:pt x="216" y="0"/>
                  </a:moveTo>
                  <a:lnTo>
                    <a:pt x="312" y="0"/>
                  </a:lnTo>
                  <a:cubicBezTo>
                    <a:pt x="326" y="0"/>
                    <a:pt x="336" y="11"/>
                    <a:pt x="336" y="24"/>
                  </a:cubicBezTo>
                  <a:cubicBezTo>
                    <a:pt x="336" y="38"/>
                    <a:pt x="326" y="48"/>
                    <a:pt x="312" y="48"/>
                  </a:cubicBezTo>
                  <a:lnTo>
                    <a:pt x="216" y="48"/>
                  </a:lnTo>
                  <a:cubicBezTo>
                    <a:pt x="203" y="48"/>
                    <a:pt x="192" y="38"/>
                    <a:pt x="192" y="24"/>
                  </a:cubicBezTo>
                  <a:cubicBezTo>
                    <a:pt x="192" y="11"/>
                    <a:pt x="203" y="0"/>
                    <a:pt x="216" y="0"/>
                  </a:cubicBezTo>
                  <a:close/>
                  <a:moveTo>
                    <a:pt x="408" y="0"/>
                  </a:moveTo>
                  <a:lnTo>
                    <a:pt x="504" y="0"/>
                  </a:lnTo>
                  <a:cubicBezTo>
                    <a:pt x="518" y="0"/>
                    <a:pt x="528" y="11"/>
                    <a:pt x="528" y="24"/>
                  </a:cubicBezTo>
                  <a:cubicBezTo>
                    <a:pt x="528" y="38"/>
                    <a:pt x="518" y="48"/>
                    <a:pt x="504" y="48"/>
                  </a:cubicBezTo>
                  <a:lnTo>
                    <a:pt x="408" y="48"/>
                  </a:lnTo>
                  <a:cubicBezTo>
                    <a:pt x="395" y="48"/>
                    <a:pt x="384" y="38"/>
                    <a:pt x="384" y="24"/>
                  </a:cubicBezTo>
                  <a:cubicBezTo>
                    <a:pt x="384" y="11"/>
                    <a:pt x="395" y="0"/>
                    <a:pt x="408" y="0"/>
                  </a:cubicBezTo>
                  <a:close/>
                </a:path>
              </a:pathLst>
            </a:custGeom>
            <a:solidFill>
              <a:srgbClr val="000000"/>
            </a:solidFill>
            <a:ln w="9525" cap="flat">
              <a:solidFill>
                <a:srgbClr val="000000"/>
              </a:solidFill>
              <a:prstDash val="solid"/>
              <a:bevel/>
              <a:headEnd/>
              <a:tailEnd/>
            </a:ln>
          </p:spPr>
          <p:txBody>
            <a:bodyPr rot="0" vert="horz" wrap="square" lIns="91440" tIns="45720" rIns="91440" bIns="45720" anchor="t" anchorCtr="0" upright="1">
              <a:noAutofit/>
            </a:bodyPr>
            <a:lstStyle/>
            <a:p>
              <a:endParaRPr lang="en-GB"/>
            </a:p>
          </p:txBody>
        </p:sp>
        <p:sp>
          <p:nvSpPr>
            <p:cNvPr id="49" name="Rectangle 48">
              <a:extLst>
                <a:ext uri="{FF2B5EF4-FFF2-40B4-BE49-F238E27FC236}">
                  <a16:creationId xmlns:a16="http://schemas.microsoft.com/office/drawing/2014/main" id="{008880D0-C428-6278-7C86-982171ED45A3}"/>
                </a:ext>
              </a:extLst>
            </p:cNvPr>
            <p:cNvSpPr>
              <a:spLocks noChangeArrowheads="1"/>
            </p:cNvSpPr>
            <p:nvPr/>
          </p:nvSpPr>
          <p:spPr bwMode="auto">
            <a:xfrm>
              <a:off x="4613214" y="1316600"/>
              <a:ext cx="526267" cy="1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indent="449580" algn="just">
                <a:lnSpc>
                  <a:spcPct val="150000"/>
                </a:lnSpc>
                <a:spcAft>
                  <a:spcPts val="1000"/>
                </a:spcAft>
              </a:pPr>
              <a:r>
                <a:rPr lang="en-US" sz="800" dirty="0">
                  <a:solidFill>
                    <a:srgbClr val="000000"/>
                  </a:solidFill>
                  <a:effectLst/>
                  <a:latin typeface="Calibri" panose="020F0502020204030204" pitchFamily="34" charset="0"/>
                  <a:ea typeface="Cambria" panose="02040503050406030204" pitchFamily="18" charset="0"/>
                  <a:cs typeface="Arial" panose="020B0604020202020204" pitchFamily="34" charset="0"/>
                </a:rPr>
                <a:t> </a:t>
              </a:r>
              <a:r>
                <a:rPr lang="en-US" sz="800" dirty="0" err="1">
                  <a:solidFill>
                    <a:srgbClr val="000000"/>
                  </a:solidFill>
                  <a:effectLst/>
                  <a:latin typeface="Calibri" panose="020F0502020204030204" pitchFamily="34" charset="0"/>
                  <a:ea typeface="Cambria" panose="02040503050406030204" pitchFamily="18" charset="0"/>
                  <a:cs typeface="Arial" panose="020B0604020202020204" pitchFamily="34" charset="0"/>
                </a:rPr>
                <a:t>Tarım</a:t>
              </a:r>
              <a:endParaRPr lang="en-GB" sz="1200" dirty="0">
                <a:effectLst/>
                <a:latin typeface="Times New Roman" panose="02020603050405020304" pitchFamily="18" charset="0"/>
                <a:ea typeface="Cambria" panose="02040503050406030204" pitchFamily="18" charset="0"/>
                <a:cs typeface="Arial" panose="020B0604020202020204" pitchFamily="34" charset="0"/>
              </a:endParaRPr>
            </a:p>
          </p:txBody>
        </p:sp>
        <p:sp>
          <p:nvSpPr>
            <p:cNvPr id="50" name="Freeform 47">
              <a:extLst>
                <a:ext uri="{FF2B5EF4-FFF2-40B4-BE49-F238E27FC236}">
                  <a16:creationId xmlns:a16="http://schemas.microsoft.com/office/drawing/2014/main" id="{5921EBF5-55A2-7307-4850-D3AFC197E29C}"/>
                </a:ext>
              </a:extLst>
            </p:cNvPr>
            <p:cNvSpPr>
              <a:spLocks noEditPoints="1"/>
            </p:cNvSpPr>
            <p:nvPr/>
          </p:nvSpPr>
          <p:spPr bwMode="auto">
            <a:xfrm>
              <a:off x="180204" y="36440"/>
              <a:ext cx="5213350" cy="2339340"/>
            </a:xfrm>
            <a:custGeom>
              <a:avLst/>
              <a:gdLst>
                <a:gd name="T0" fmla="*/ 0 w 9056"/>
                <a:gd name="T1" fmla="*/ 8 h 4592"/>
                <a:gd name="T2" fmla="*/ 8 w 9056"/>
                <a:gd name="T3" fmla="*/ 0 h 4592"/>
                <a:gd name="T4" fmla="*/ 9048 w 9056"/>
                <a:gd name="T5" fmla="*/ 0 h 4592"/>
                <a:gd name="T6" fmla="*/ 9056 w 9056"/>
                <a:gd name="T7" fmla="*/ 8 h 4592"/>
                <a:gd name="T8" fmla="*/ 9056 w 9056"/>
                <a:gd name="T9" fmla="*/ 4584 h 4592"/>
                <a:gd name="T10" fmla="*/ 9048 w 9056"/>
                <a:gd name="T11" fmla="*/ 4592 h 4592"/>
                <a:gd name="T12" fmla="*/ 8 w 9056"/>
                <a:gd name="T13" fmla="*/ 4592 h 4592"/>
                <a:gd name="T14" fmla="*/ 0 w 9056"/>
                <a:gd name="T15" fmla="*/ 4584 h 4592"/>
                <a:gd name="T16" fmla="*/ 0 w 9056"/>
                <a:gd name="T17" fmla="*/ 8 h 4592"/>
                <a:gd name="T18" fmla="*/ 16 w 9056"/>
                <a:gd name="T19" fmla="*/ 4584 h 4592"/>
                <a:gd name="T20" fmla="*/ 8 w 9056"/>
                <a:gd name="T21" fmla="*/ 4576 h 4592"/>
                <a:gd name="T22" fmla="*/ 9048 w 9056"/>
                <a:gd name="T23" fmla="*/ 4576 h 4592"/>
                <a:gd name="T24" fmla="*/ 9040 w 9056"/>
                <a:gd name="T25" fmla="*/ 4584 h 4592"/>
                <a:gd name="T26" fmla="*/ 9040 w 9056"/>
                <a:gd name="T27" fmla="*/ 8 h 4592"/>
                <a:gd name="T28" fmla="*/ 9048 w 9056"/>
                <a:gd name="T29" fmla="*/ 16 h 4592"/>
                <a:gd name="T30" fmla="*/ 8 w 9056"/>
                <a:gd name="T31" fmla="*/ 16 h 4592"/>
                <a:gd name="T32" fmla="*/ 16 w 9056"/>
                <a:gd name="T33" fmla="*/ 8 h 4592"/>
                <a:gd name="T34" fmla="*/ 16 w 9056"/>
                <a:gd name="T35" fmla="*/ 4584 h 4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56" h="4592">
                  <a:moveTo>
                    <a:pt x="0" y="8"/>
                  </a:moveTo>
                  <a:cubicBezTo>
                    <a:pt x="0" y="4"/>
                    <a:pt x="4" y="0"/>
                    <a:pt x="8" y="0"/>
                  </a:cubicBezTo>
                  <a:lnTo>
                    <a:pt x="9048" y="0"/>
                  </a:lnTo>
                  <a:cubicBezTo>
                    <a:pt x="9053" y="0"/>
                    <a:pt x="9056" y="4"/>
                    <a:pt x="9056" y="8"/>
                  </a:cubicBezTo>
                  <a:lnTo>
                    <a:pt x="9056" y="4584"/>
                  </a:lnTo>
                  <a:cubicBezTo>
                    <a:pt x="9056" y="4589"/>
                    <a:pt x="9053" y="4592"/>
                    <a:pt x="9048" y="4592"/>
                  </a:cubicBezTo>
                  <a:lnTo>
                    <a:pt x="8" y="4592"/>
                  </a:lnTo>
                  <a:cubicBezTo>
                    <a:pt x="4" y="4592"/>
                    <a:pt x="0" y="4589"/>
                    <a:pt x="0" y="4584"/>
                  </a:cubicBezTo>
                  <a:lnTo>
                    <a:pt x="0" y="8"/>
                  </a:lnTo>
                  <a:close/>
                  <a:moveTo>
                    <a:pt x="16" y="4584"/>
                  </a:moveTo>
                  <a:lnTo>
                    <a:pt x="8" y="4576"/>
                  </a:lnTo>
                  <a:lnTo>
                    <a:pt x="9048" y="4576"/>
                  </a:lnTo>
                  <a:lnTo>
                    <a:pt x="9040" y="4584"/>
                  </a:lnTo>
                  <a:lnTo>
                    <a:pt x="9040" y="8"/>
                  </a:lnTo>
                  <a:lnTo>
                    <a:pt x="9048" y="16"/>
                  </a:lnTo>
                  <a:lnTo>
                    <a:pt x="8" y="16"/>
                  </a:lnTo>
                  <a:lnTo>
                    <a:pt x="16" y="8"/>
                  </a:lnTo>
                  <a:lnTo>
                    <a:pt x="16" y="4584"/>
                  </a:lnTo>
                  <a:close/>
                </a:path>
              </a:pathLst>
            </a:custGeom>
            <a:solidFill>
              <a:srgbClr val="868686"/>
            </a:solidFill>
            <a:ln w="635" cap="flat">
              <a:solidFill>
                <a:srgbClr val="868686"/>
              </a:solidFill>
              <a:prstDash val="solid"/>
              <a:round/>
              <a:headEnd/>
              <a:tailEnd/>
            </a:ln>
          </p:spPr>
          <p:txBody>
            <a:bodyPr rot="0" vert="horz" wrap="square" lIns="91440" tIns="45720" rIns="91440" bIns="45720" anchor="t" anchorCtr="0" upright="1">
              <a:noAutofit/>
            </a:bodyPr>
            <a:lstStyle/>
            <a:p>
              <a:endParaRPr lang="en-GB"/>
            </a:p>
          </p:txBody>
        </p:sp>
      </p:grpSp>
    </p:spTree>
    <p:extLst>
      <p:ext uri="{BB962C8B-B14F-4D97-AF65-F5344CB8AC3E}">
        <p14:creationId xmlns:p14="http://schemas.microsoft.com/office/powerpoint/2010/main" val="2206637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229D83-C437-DF87-AC62-0DACDB4775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14</a:t>
            </a:fld>
            <a:endParaRPr lang="tr-TR"/>
          </a:p>
        </p:txBody>
      </p:sp>
      <p:sp>
        <p:nvSpPr>
          <p:cNvPr id="4" name="TextBox 3">
            <a:extLst>
              <a:ext uri="{FF2B5EF4-FFF2-40B4-BE49-F238E27FC236}">
                <a16:creationId xmlns:a16="http://schemas.microsoft.com/office/drawing/2014/main" id="{9AAA9733-5F35-0D59-1D47-4B96F0E345E7}"/>
              </a:ext>
            </a:extLst>
          </p:cNvPr>
          <p:cNvSpPr txBox="1"/>
          <p:nvPr/>
        </p:nvSpPr>
        <p:spPr>
          <a:xfrm>
            <a:off x="1251154" y="220170"/>
            <a:ext cx="6641691" cy="830997"/>
          </a:xfrm>
          <a:prstGeom prst="rect">
            <a:avLst/>
          </a:prstGeom>
          <a:noFill/>
        </p:spPr>
        <p:txBody>
          <a:bodyPr wrap="square">
            <a:spAutoFit/>
          </a:bodyPr>
          <a:lstStyle/>
          <a:p>
            <a:r>
              <a:rPr lang="en-GB" sz="2400" b="1" dirty="0" err="1"/>
              <a:t>Dış</a:t>
            </a:r>
            <a:r>
              <a:rPr lang="en-GB" sz="2400" b="1" dirty="0"/>
              <a:t> </a:t>
            </a:r>
            <a:r>
              <a:rPr lang="en-GB" sz="2400" b="1" dirty="0" err="1"/>
              <a:t>yatırımların</a:t>
            </a:r>
            <a:r>
              <a:rPr lang="en-GB" sz="2400" b="1" dirty="0"/>
              <a:t> </a:t>
            </a:r>
            <a:r>
              <a:rPr lang="en-GB" sz="2400" b="1" dirty="0" err="1"/>
              <a:t>sektörlere</a:t>
            </a:r>
            <a:r>
              <a:rPr lang="en-GB" sz="2400" b="1" dirty="0"/>
              <a:t> </a:t>
            </a:r>
            <a:r>
              <a:rPr lang="en-GB" sz="2400" b="1" dirty="0" err="1"/>
              <a:t>göre</a:t>
            </a:r>
            <a:r>
              <a:rPr lang="en-GB" sz="2400" b="1" dirty="0"/>
              <a:t> </a:t>
            </a:r>
            <a:r>
              <a:rPr lang="en-GB" sz="2400" b="1" dirty="0" err="1"/>
              <a:t>dağılımı</a:t>
            </a:r>
            <a:r>
              <a:rPr lang="en-GB" sz="2400" b="1" dirty="0"/>
              <a:t>, 2002-2014 (</a:t>
            </a:r>
            <a:r>
              <a:rPr lang="en-GB" sz="2400" b="1" dirty="0" err="1"/>
              <a:t>Akım</a:t>
            </a:r>
            <a:r>
              <a:rPr lang="en-GB" sz="2400" b="1" dirty="0"/>
              <a:t>; % pay)</a:t>
            </a:r>
          </a:p>
        </p:txBody>
      </p:sp>
      <p:graphicFrame>
        <p:nvGraphicFramePr>
          <p:cNvPr id="5" name="Chart 4">
            <a:extLst>
              <a:ext uri="{FF2B5EF4-FFF2-40B4-BE49-F238E27FC236}">
                <a16:creationId xmlns:a16="http://schemas.microsoft.com/office/drawing/2014/main" id="{DB0F33DB-BC2E-2CED-5B9C-6FC3AA54DE7C}"/>
              </a:ext>
            </a:extLst>
          </p:cNvPr>
          <p:cNvGraphicFramePr/>
          <p:nvPr/>
        </p:nvGraphicFramePr>
        <p:xfrm>
          <a:off x="521110" y="1769806"/>
          <a:ext cx="7923571" cy="41000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93117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04C8BB-7E38-0D23-D507-CA7BD9AFDF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15</a:t>
            </a:fld>
            <a:endParaRPr lang="tr-TR"/>
          </a:p>
        </p:txBody>
      </p:sp>
      <p:sp>
        <p:nvSpPr>
          <p:cNvPr id="4" name="TextBox 3">
            <a:extLst>
              <a:ext uri="{FF2B5EF4-FFF2-40B4-BE49-F238E27FC236}">
                <a16:creationId xmlns:a16="http://schemas.microsoft.com/office/drawing/2014/main" id="{5393430D-2E06-C856-5BB3-6190C18645C5}"/>
              </a:ext>
            </a:extLst>
          </p:cNvPr>
          <p:cNvSpPr txBox="1"/>
          <p:nvPr/>
        </p:nvSpPr>
        <p:spPr>
          <a:xfrm>
            <a:off x="943897" y="0"/>
            <a:ext cx="8357419" cy="1133965"/>
          </a:xfrm>
          <a:prstGeom prst="rect">
            <a:avLst/>
          </a:prstGeom>
          <a:noFill/>
        </p:spPr>
        <p:txBody>
          <a:bodyPr wrap="square">
            <a:spAutoFit/>
          </a:bodyPr>
          <a:lstStyle/>
          <a:p>
            <a:pPr algn="ctr">
              <a:lnSpc>
                <a:spcPct val="150000"/>
              </a:lnSpc>
            </a:pPr>
            <a:r>
              <a:rPr lang="tr-TR" sz="2400" b="1" dirty="0">
                <a:effectLst/>
                <a:latin typeface="Times New Roman" panose="02020603050405020304" pitchFamily="18" charset="0"/>
                <a:ea typeface="Cambria" panose="02040503050406030204" pitchFamily="18" charset="0"/>
                <a:cs typeface="Times New Roman" panose="02020603050405020304" pitchFamily="18" charset="0"/>
              </a:rPr>
              <a:t>Dış yatırımların imalat alt sektörleri içindeki</a:t>
            </a:r>
            <a:r>
              <a:rPr lang="en-GB" sz="2400" b="1" dirty="0">
                <a:effectLst/>
                <a:latin typeface="Times New Roman" panose="02020603050405020304" pitchFamily="18" charset="0"/>
                <a:ea typeface="Cambria" panose="02040503050406030204" pitchFamily="18" charset="0"/>
                <a:cs typeface="Times New Roman" panose="02020603050405020304" pitchFamily="18" charset="0"/>
              </a:rPr>
              <a:t> </a:t>
            </a:r>
            <a:r>
              <a:rPr lang="tr-TR" sz="2400" b="1" dirty="0">
                <a:effectLst/>
                <a:latin typeface="Times New Roman" panose="02020603050405020304" pitchFamily="18" charset="0"/>
                <a:ea typeface="Cambria" panose="02040503050406030204" pitchFamily="18" charset="0"/>
                <a:cs typeface="Times New Roman" panose="02020603050405020304" pitchFamily="18" charset="0"/>
              </a:rPr>
              <a:t>dağılımı,</a:t>
            </a:r>
            <a:r>
              <a:rPr lang="en-GB" sz="2400" b="1" dirty="0">
                <a:latin typeface="Times New Roman" panose="02020603050405020304" pitchFamily="18" charset="0"/>
                <a:ea typeface="Cambria" panose="02040503050406030204" pitchFamily="18" charset="0"/>
                <a:cs typeface="Times New Roman" panose="02020603050405020304" pitchFamily="18" charset="0"/>
              </a:rPr>
              <a:t> </a:t>
            </a:r>
            <a:r>
              <a:rPr lang="tr-TR" sz="2400" b="1" dirty="0">
                <a:effectLst/>
                <a:latin typeface="Times New Roman" panose="02020603050405020304" pitchFamily="18" charset="0"/>
                <a:ea typeface="Cambria" panose="02040503050406030204" pitchFamily="18" charset="0"/>
                <a:cs typeface="Times New Roman" panose="02020603050405020304" pitchFamily="18" charset="0"/>
              </a:rPr>
              <a:t>2014</a:t>
            </a:r>
            <a:r>
              <a:rPr lang="en-GB" sz="2400" b="1" dirty="0">
                <a:effectLst/>
                <a:latin typeface="Times New Roman" panose="02020603050405020304" pitchFamily="18" charset="0"/>
                <a:ea typeface="Cambria" panose="02040503050406030204" pitchFamily="18" charset="0"/>
                <a:cs typeface="Times New Roman" panose="02020603050405020304" pitchFamily="18" charset="0"/>
              </a:rPr>
              <a:t> </a:t>
            </a:r>
            <a:r>
              <a:rPr lang="tr-TR" sz="2400" b="1" dirty="0">
                <a:effectLst/>
                <a:latin typeface="Times New Roman" panose="02020603050405020304" pitchFamily="18" charset="0"/>
                <a:ea typeface="Cambria" panose="02040503050406030204" pitchFamily="18" charset="0"/>
                <a:cs typeface="Times New Roman" panose="02020603050405020304" pitchFamily="18" charset="0"/>
              </a:rPr>
              <a:t>(Akım; % pay)</a:t>
            </a:r>
            <a:endParaRPr lang="en-GB" sz="2400" dirty="0">
              <a:effectLst/>
              <a:latin typeface="Times New Roman" panose="02020603050405020304" pitchFamily="18" charset="0"/>
              <a:ea typeface="Cambria" panose="02040503050406030204" pitchFamily="18" charset="0"/>
              <a:cs typeface="Arial" panose="020B0604020202020204" pitchFamily="34" charset="0"/>
            </a:endParaRPr>
          </a:p>
        </p:txBody>
      </p:sp>
      <p:graphicFrame>
        <p:nvGraphicFramePr>
          <p:cNvPr id="5" name="Chart 4">
            <a:extLst>
              <a:ext uri="{FF2B5EF4-FFF2-40B4-BE49-F238E27FC236}">
                <a16:creationId xmlns:a16="http://schemas.microsoft.com/office/drawing/2014/main" id="{A82E6332-1C82-93A9-F5BE-F2C60329D540}"/>
              </a:ext>
            </a:extLst>
          </p:cNvPr>
          <p:cNvGraphicFramePr/>
          <p:nvPr/>
        </p:nvGraphicFramePr>
        <p:xfrm>
          <a:off x="1163913" y="1647814"/>
          <a:ext cx="7321326" cy="43007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66607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6A2A0-2749-35A5-E6B0-D327E456A31D}"/>
              </a:ext>
            </a:extLst>
          </p:cNvPr>
          <p:cNvSpPr>
            <a:spLocks noGrp="1"/>
          </p:cNvSpPr>
          <p:nvPr>
            <p:ph type="title"/>
          </p:nvPr>
        </p:nvSpPr>
        <p:spPr/>
        <p:txBody>
          <a:bodyPr/>
          <a:lstStyle/>
          <a:p>
            <a:endParaRPr lang="tr-TR"/>
          </a:p>
        </p:txBody>
      </p:sp>
      <p:sp>
        <p:nvSpPr>
          <p:cNvPr id="3" name="Text Placeholder 2">
            <a:extLst>
              <a:ext uri="{FF2B5EF4-FFF2-40B4-BE49-F238E27FC236}">
                <a16:creationId xmlns:a16="http://schemas.microsoft.com/office/drawing/2014/main" id="{3D425F58-05E2-9D57-4649-CD39CC524070}"/>
              </a:ext>
            </a:extLst>
          </p:cNvPr>
          <p:cNvSpPr>
            <a:spLocks noGrp="1"/>
          </p:cNvSpPr>
          <p:nvPr>
            <p:ph type="body" idx="1"/>
          </p:nvPr>
        </p:nvSpPr>
        <p:spPr/>
        <p:txBody>
          <a:bodyPr/>
          <a:lstStyle/>
          <a:p>
            <a:endParaRPr lang="tr-TR" sz="4400" dirty="0"/>
          </a:p>
          <a:p>
            <a:endParaRPr lang="tr-TR" sz="4400" dirty="0"/>
          </a:p>
          <a:p>
            <a:r>
              <a:rPr lang="tr-TR" sz="4400" dirty="0"/>
              <a:t>2.Yeşil alan yatırımları</a:t>
            </a:r>
          </a:p>
        </p:txBody>
      </p:sp>
      <p:sp>
        <p:nvSpPr>
          <p:cNvPr id="4" name="Slide Number Placeholder 3">
            <a:extLst>
              <a:ext uri="{FF2B5EF4-FFF2-40B4-BE49-F238E27FC236}">
                <a16:creationId xmlns:a16="http://schemas.microsoft.com/office/drawing/2014/main" id="{1750C7FF-6D99-E508-AFB7-822EB9F0E2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16</a:t>
            </a:fld>
            <a:endParaRPr lang="tr-TR"/>
          </a:p>
        </p:txBody>
      </p:sp>
    </p:spTree>
    <p:extLst>
      <p:ext uri="{BB962C8B-B14F-4D97-AF65-F5344CB8AC3E}">
        <p14:creationId xmlns:p14="http://schemas.microsoft.com/office/powerpoint/2010/main" val="2349478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Greenfield OFDI </a:t>
            </a:r>
            <a:br>
              <a:rPr lang="en-US" dirty="0"/>
            </a:br>
            <a:r>
              <a:rPr lang="en-US" dirty="0"/>
              <a:t>2003-2013</a:t>
            </a:r>
          </a:p>
        </p:txBody>
      </p:sp>
      <p:graphicFrame>
        <p:nvGraphicFramePr>
          <p:cNvPr id="5" name="Content Placeholder 4"/>
          <p:cNvGraphicFramePr>
            <a:graphicFrameLocks noGrp="1"/>
          </p:cNvGraphicFramePr>
          <p:nvPr>
            <p:ph idx="1"/>
          </p:nvPr>
        </p:nvGraphicFramePr>
        <p:xfrm>
          <a:off x="2003376" y="1181099"/>
          <a:ext cx="5616624" cy="5267327"/>
        </p:xfrm>
        <a:graphic>
          <a:graphicData uri="http://schemas.openxmlformats.org/drawingml/2006/table">
            <a:tbl>
              <a:tblPr firstRow="1" firstCol="1" bandRow="1">
                <a:tableStyleId>{5C22544A-7EE6-4342-B048-85BDC9FD1C3A}</a:tableStyleId>
              </a:tblPr>
              <a:tblGrid>
                <a:gridCol w="3269075">
                  <a:extLst>
                    <a:ext uri="{9D8B030D-6E8A-4147-A177-3AD203B41FA5}">
                      <a16:colId xmlns:a16="http://schemas.microsoft.com/office/drawing/2014/main" val="20000"/>
                    </a:ext>
                  </a:extLst>
                </a:gridCol>
                <a:gridCol w="2347549">
                  <a:extLst>
                    <a:ext uri="{9D8B030D-6E8A-4147-A177-3AD203B41FA5}">
                      <a16:colId xmlns:a16="http://schemas.microsoft.com/office/drawing/2014/main" val="20001"/>
                    </a:ext>
                  </a:extLst>
                </a:gridCol>
              </a:tblGrid>
              <a:tr h="1519742">
                <a:tc gridSpan="2">
                  <a:txBody>
                    <a:bodyPr/>
                    <a:lstStyle/>
                    <a:p>
                      <a:pPr>
                        <a:lnSpc>
                          <a:spcPct val="105000"/>
                        </a:lnSpc>
                        <a:spcAft>
                          <a:spcPts val="0"/>
                        </a:spcAft>
                      </a:pPr>
                      <a:endParaRPr lang="tr-TR" sz="1800" dirty="0">
                        <a:solidFill>
                          <a:schemeClr val="bg1"/>
                        </a:solidFill>
                        <a:effectLst/>
                        <a:latin typeface="Cambria"/>
                        <a:ea typeface="Times New Roman"/>
                        <a:cs typeface="Times New Roman"/>
                      </a:endParaRPr>
                    </a:p>
                  </a:txBody>
                  <a:tcPr marL="68580" marR="68580" marT="17780" marB="17780" anchor="ctr"/>
                </a:tc>
                <a:tc hMerge="1">
                  <a:txBody>
                    <a:bodyPr/>
                    <a:lstStyle/>
                    <a:p>
                      <a:endParaRPr lang="en-US"/>
                    </a:p>
                  </a:txBody>
                  <a:tcPr/>
                </a:tc>
                <a:extLst>
                  <a:ext uri="{0D108BD9-81ED-4DB2-BD59-A6C34878D82A}">
                    <a16:rowId xmlns:a16="http://schemas.microsoft.com/office/drawing/2014/main" val="10000"/>
                  </a:ext>
                </a:extLst>
              </a:tr>
              <a:tr h="566785">
                <a:tc>
                  <a:txBody>
                    <a:bodyPr/>
                    <a:lstStyle/>
                    <a:p>
                      <a:pPr>
                        <a:lnSpc>
                          <a:spcPct val="105000"/>
                        </a:lnSpc>
                        <a:spcAft>
                          <a:spcPts val="0"/>
                        </a:spcAft>
                      </a:pPr>
                      <a:r>
                        <a:rPr lang="en-GB" sz="1400" dirty="0">
                          <a:solidFill>
                            <a:schemeClr val="tx1"/>
                          </a:solidFill>
                          <a:effectLst/>
                        </a:rPr>
                        <a:t>No of FDI projects</a:t>
                      </a:r>
                      <a:endParaRPr lang="tr-TR" sz="1800" dirty="0">
                        <a:solidFill>
                          <a:schemeClr val="tx1"/>
                        </a:solidFill>
                        <a:effectLst/>
                        <a:latin typeface="Cambria"/>
                        <a:ea typeface="Times New Roman"/>
                        <a:cs typeface="Times New Roman"/>
                      </a:endParaRPr>
                    </a:p>
                  </a:txBody>
                  <a:tcPr marL="68580" marR="68580" marT="17780" marB="17780" anchor="ctr"/>
                </a:tc>
                <a:tc>
                  <a:txBody>
                    <a:bodyPr/>
                    <a:lstStyle/>
                    <a:p>
                      <a:pPr algn="ctr">
                        <a:lnSpc>
                          <a:spcPct val="105000"/>
                        </a:lnSpc>
                        <a:spcAft>
                          <a:spcPts val="0"/>
                        </a:spcAft>
                      </a:pPr>
                      <a:r>
                        <a:rPr lang="en-GB" sz="1400" dirty="0">
                          <a:solidFill>
                            <a:schemeClr val="tx1"/>
                          </a:solidFill>
                          <a:effectLst/>
                        </a:rPr>
                        <a:t>796</a:t>
                      </a:r>
                      <a:endParaRPr lang="tr-TR" sz="1800" dirty="0">
                        <a:solidFill>
                          <a:schemeClr val="tx1"/>
                        </a:solidFill>
                        <a:effectLst/>
                        <a:latin typeface="Cambria"/>
                        <a:ea typeface="Times New Roman"/>
                        <a:cs typeface="Times New Roman"/>
                      </a:endParaRPr>
                    </a:p>
                  </a:txBody>
                  <a:tcPr marL="68580" marR="68580" marT="17780" marB="17780" anchor="ctr"/>
                </a:tc>
                <a:extLst>
                  <a:ext uri="{0D108BD9-81ED-4DB2-BD59-A6C34878D82A}">
                    <a16:rowId xmlns:a16="http://schemas.microsoft.com/office/drawing/2014/main" val="10001"/>
                  </a:ext>
                </a:extLst>
              </a:tr>
              <a:tr h="566785">
                <a:tc>
                  <a:txBody>
                    <a:bodyPr/>
                    <a:lstStyle/>
                    <a:p>
                      <a:pPr>
                        <a:lnSpc>
                          <a:spcPct val="105000"/>
                        </a:lnSpc>
                        <a:spcAft>
                          <a:spcPts val="0"/>
                        </a:spcAft>
                      </a:pPr>
                      <a:r>
                        <a:rPr lang="en-GB" sz="1400" dirty="0">
                          <a:solidFill>
                            <a:schemeClr val="tx1"/>
                          </a:solidFill>
                          <a:effectLst/>
                        </a:rPr>
                        <a:t>Total jobs created</a:t>
                      </a:r>
                      <a:endParaRPr lang="tr-TR" sz="1800" dirty="0">
                        <a:solidFill>
                          <a:schemeClr val="tx1"/>
                        </a:solidFill>
                        <a:effectLst/>
                        <a:latin typeface="Cambria"/>
                        <a:ea typeface="Times New Roman"/>
                        <a:cs typeface="Times New Roman"/>
                      </a:endParaRPr>
                    </a:p>
                  </a:txBody>
                  <a:tcPr marL="68580" marR="68580" marT="17780" marB="17780" anchor="ctr"/>
                </a:tc>
                <a:tc>
                  <a:txBody>
                    <a:bodyPr/>
                    <a:lstStyle/>
                    <a:p>
                      <a:pPr algn="ctr">
                        <a:lnSpc>
                          <a:spcPct val="105000"/>
                        </a:lnSpc>
                        <a:spcAft>
                          <a:spcPts val="0"/>
                        </a:spcAft>
                      </a:pPr>
                      <a:r>
                        <a:rPr lang="en-GB" sz="1400" dirty="0">
                          <a:solidFill>
                            <a:schemeClr val="tx1"/>
                          </a:solidFill>
                          <a:effectLst/>
                        </a:rPr>
                        <a:t>162,042</a:t>
                      </a:r>
                      <a:endParaRPr lang="tr-TR" sz="1800" dirty="0">
                        <a:solidFill>
                          <a:schemeClr val="tx1"/>
                        </a:solidFill>
                        <a:effectLst/>
                        <a:latin typeface="Cambria"/>
                        <a:ea typeface="Times New Roman"/>
                        <a:cs typeface="Times New Roman"/>
                      </a:endParaRPr>
                    </a:p>
                  </a:txBody>
                  <a:tcPr marL="68580" marR="68580" marT="17780" marB="17780" anchor="ctr"/>
                </a:tc>
                <a:extLst>
                  <a:ext uri="{0D108BD9-81ED-4DB2-BD59-A6C34878D82A}">
                    <a16:rowId xmlns:a16="http://schemas.microsoft.com/office/drawing/2014/main" val="10002"/>
                  </a:ext>
                </a:extLst>
              </a:tr>
              <a:tr h="1023615">
                <a:tc>
                  <a:txBody>
                    <a:bodyPr/>
                    <a:lstStyle/>
                    <a:p>
                      <a:pPr>
                        <a:lnSpc>
                          <a:spcPct val="105000"/>
                        </a:lnSpc>
                        <a:spcAft>
                          <a:spcPts val="0"/>
                        </a:spcAft>
                      </a:pPr>
                      <a:r>
                        <a:rPr lang="en-GB" sz="1400" dirty="0">
                          <a:solidFill>
                            <a:schemeClr val="tx1"/>
                          </a:solidFill>
                          <a:effectLst/>
                        </a:rPr>
                        <a:t>Average project size (jobs)</a:t>
                      </a:r>
                      <a:endParaRPr lang="tr-TR" sz="1800" dirty="0">
                        <a:solidFill>
                          <a:schemeClr val="tx1"/>
                        </a:solidFill>
                        <a:effectLst/>
                        <a:latin typeface="Cambria"/>
                        <a:ea typeface="Times New Roman"/>
                        <a:cs typeface="Times New Roman"/>
                      </a:endParaRPr>
                    </a:p>
                  </a:txBody>
                  <a:tcPr marL="68580" marR="68580" marT="17780" marB="17780" anchor="ctr"/>
                </a:tc>
                <a:tc>
                  <a:txBody>
                    <a:bodyPr/>
                    <a:lstStyle/>
                    <a:p>
                      <a:pPr algn="ctr">
                        <a:lnSpc>
                          <a:spcPct val="105000"/>
                        </a:lnSpc>
                        <a:spcAft>
                          <a:spcPts val="0"/>
                        </a:spcAft>
                      </a:pPr>
                      <a:r>
                        <a:rPr lang="en-GB" sz="1400" dirty="0">
                          <a:solidFill>
                            <a:schemeClr val="tx1"/>
                          </a:solidFill>
                          <a:effectLst/>
                        </a:rPr>
                        <a:t>203</a:t>
                      </a:r>
                      <a:endParaRPr lang="tr-TR" sz="1800" dirty="0">
                        <a:solidFill>
                          <a:schemeClr val="tx1"/>
                        </a:solidFill>
                        <a:effectLst/>
                        <a:latin typeface="Cambria"/>
                        <a:ea typeface="Times New Roman"/>
                        <a:cs typeface="Times New Roman"/>
                      </a:endParaRPr>
                    </a:p>
                  </a:txBody>
                  <a:tcPr marL="68580" marR="68580" marT="17780" marB="17780" anchor="ctr"/>
                </a:tc>
                <a:extLst>
                  <a:ext uri="{0D108BD9-81ED-4DB2-BD59-A6C34878D82A}">
                    <a16:rowId xmlns:a16="http://schemas.microsoft.com/office/drawing/2014/main" val="10003"/>
                  </a:ext>
                </a:extLst>
              </a:tr>
              <a:tr h="1023615">
                <a:tc>
                  <a:txBody>
                    <a:bodyPr/>
                    <a:lstStyle/>
                    <a:p>
                      <a:pPr>
                        <a:lnSpc>
                          <a:spcPct val="105000"/>
                        </a:lnSpc>
                        <a:spcAft>
                          <a:spcPts val="0"/>
                        </a:spcAft>
                      </a:pPr>
                      <a:r>
                        <a:rPr lang="en-GB" sz="1400" dirty="0">
                          <a:solidFill>
                            <a:schemeClr val="tx1"/>
                          </a:solidFill>
                          <a:effectLst/>
                        </a:rPr>
                        <a:t>Total capital investment</a:t>
                      </a:r>
                      <a:endParaRPr lang="tr-TR" sz="1800" dirty="0">
                        <a:solidFill>
                          <a:schemeClr val="tx1"/>
                        </a:solidFill>
                        <a:effectLst/>
                        <a:latin typeface="Cambria"/>
                        <a:ea typeface="Times New Roman"/>
                        <a:cs typeface="Times New Roman"/>
                      </a:endParaRPr>
                    </a:p>
                  </a:txBody>
                  <a:tcPr marL="68580" marR="68580" marT="17780" marB="17780" anchor="ctr"/>
                </a:tc>
                <a:tc>
                  <a:txBody>
                    <a:bodyPr/>
                    <a:lstStyle/>
                    <a:p>
                      <a:pPr algn="ctr">
                        <a:lnSpc>
                          <a:spcPct val="105000"/>
                        </a:lnSpc>
                        <a:spcAft>
                          <a:spcPts val="0"/>
                        </a:spcAft>
                      </a:pPr>
                      <a:r>
                        <a:rPr lang="en-GB" sz="1400" dirty="0">
                          <a:solidFill>
                            <a:schemeClr val="tx1"/>
                          </a:solidFill>
                          <a:effectLst/>
                        </a:rPr>
                        <a:t>USD 39,019.97 m</a:t>
                      </a:r>
                      <a:endParaRPr lang="tr-TR" sz="1800" dirty="0">
                        <a:solidFill>
                          <a:schemeClr val="tx1"/>
                        </a:solidFill>
                        <a:effectLst/>
                        <a:latin typeface="Cambria"/>
                        <a:ea typeface="Times New Roman"/>
                        <a:cs typeface="Times New Roman"/>
                      </a:endParaRPr>
                    </a:p>
                  </a:txBody>
                  <a:tcPr marL="68580" marR="68580" marT="17780" marB="17780" anchor="ctr"/>
                </a:tc>
                <a:extLst>
                  <a:ext uri="{0D108BD9-81ED-4DB2-BD59-A6C34878D82A}">
                    <a16:rowId xmlns:a16="http://schemas.microsoft.com/office/drawing/2014/main" val="10004"/>
                  </a:ext>
                </a:extLst>
              </a:tr>
              <a:tr h="566785">
                <a:tc>
                  <a:txBody>
                    <a:bodyPr/>
                    <a:lstStyle/>
                    <a:p>
                      <a:pPr>
                        <a:lnSpc>
                          <a:spcPct val="105000"/>
                        </a:lnSpc>
                        <a:spcAft>
                          <a:spcPts val="0"/>
                        </a:spcAft>
                      </a:pPr>
                      <a:r>
                        <a:rPr lang="en-GB" sz="1400" dirty="0">
                          <a:solidFill>
                            <a:schemeClr val="tx1"/>
                          </a:solidFill>
                          <a:effectLst/>
                        </a:rPr>
                        <a:t>Average project size</a:t>
                      </a:r>
                      <a:endParaRPr lang="tr-TR" sz="1800" dirty="0">
                        <a:solidFill>
                          <a:schemeClr val="tx1"/>
                        </a:solidFill>
                        <a:effectLst/>
                        <a:latin typeface="Cambria"/>
                        <a:ea typeface="Times New Roman"/>
                        <a:cs typeface="Times New Roman"/>
                      </a:endParaRPr>
                    </a:p>
                  </a:txBody>
                  <a:tcPr marL="68580" marR="68580" marT="17780" marB="17780" anchor="ctr"/>
                </a:tc>
                <a:tc>
                  <a:txBody>
                    <a:bodyPr/>
                    <a:lstStyle/>
                    <a:p>
                      <a:pPr algn="ctr">
                        <a:lnSpc>
                          <a:spcPct val="105000"/>
                        </a:lnSpc>
                        <a:spcAft>
                          <a:spcPts val="0"/>
                        </a:spcAft>
                      </a:pPr>
                      <a:r>
                        <a:rPr lang="en-GB" sz="1400" dirty="0">
                          <a:solidFill>
                            <a:schemeClr val="tx1"/>
                          </a:solidFill>
                          <a:effectLst/>
                        </a:rPr>
                        <a:t>USD 49.00 m</a:t>
                      </a:r>
                      <a:endParaRPr lang="tr-TR" sz="1800" dirty="0">
                        <a:solidFill>
                          <a:schemeClr val="tx1"/>
                        </a:solidFill>
                        <a:effectLst/>
                        <a:latin typeface="Cambria"/>
                        <a:ea typeface="Times New Roman"/>
                        <a:cs typeface="Times New Roman"/>
                      </a:endParaRPr>
                    </a:p>
                  </a:txBody>
                  <a:tcPr marL="68580" marR="68580" marT="17780" marB="17780" anchor="ct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0528C9D5-86C5-4332-8B84-5E2F6C6418E6}" type="slidenum">
              <a:rPr lang="en-US" smtClean="0"/>
              <a:t>17</a:t>
            </a:fld>
            <a:endParaRPr lang="en-US"/>
          </a:p>
        </p:txBody>
      </p:sp>
    </p:spTree>
    <p:extLst>
      <p:ext uri="{BB962C8B-B14F-4D97-AF65-F5344CB8AC3E}">
        <p14:creationId xmlns:p14="http://schemas.microsoft.com/office/powerpoint/2010/main" val="867800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Greenfield investment trend, 2003-2011</a:t>
            </a:r>
          </a:p>
        </p:txBody>
      </p:sp>
      <p:sp>
        <p:nvSpPr>
          <p:cNvPr id="4" name="Slide Number Placeholder 3"/>
          <p:cNvSpPr>
            <a:spLocks noGrp="1"/>
          </p:cNvSpPr>
          <p:nvPr>
            <p:ph type="sldNum" sz="quarter" idx="12"/>
          </p:nvPr>
        </p:nvSpPr>
        <p:spPr/>
        <p:txBody>
          <a:bodyPr/>
          <a:lstStyle/>
          <a:p>
            <a:fld id="{0528C9D5-86C5-4332-8B84-5E2F6C6418E6}" type="slidenum">
              <a:rPr lang="en-US" smtClean="0"/>
              <a:t>18</a:t>
            </a:fld>
            <a:endParaRPr lang="en-US"/>
          </a:p>
        </p:txBody>
      </p:sp>
      <p:graphicFrame>
        <p:nvGraphicFramePr>
          <p:cNvPr id="5" name="Content Placeholder 4"/>
          <p:cNvGraphicFramePr>
            <a:graphicFrameLocks noGrp="1"/>
          </p:cNvGraphicFramePr>
          <p:nvPr>
            <p:ph idx="1"/>
          </p:nvPr>
        </p:nvGraphicFramePr>
        <p:xfrm>
          <a:off x="1009650" y="1806575"/>
          <a:ext cx="7124700" cy="40528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87724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Number of projects by type</a:t>
            </a:r>
            <a:br>
              <a:rPr lang="tr-TR" dirty="0"/>
            </a:br>
            <a:endParaRPr lang="en-US" dirty="0"/>
          </a:p>
        </p:txBody>
      </p:sp>
      <p:sp>
        <p:nvSpPr>
          <p:cNvPr id="4" name="Slide Number Placeholder 3"/>
          <p:cNvSpPr>
            <a:spLocks noGrp="1"/>
          </p:cNvSpPr>
          <p:nvPr>
            <p:ph type="sldNum" sz="quarter" idx="12"/>
          </p:nvPr>
        </p:nvSpPr>
        <p:spPr/>
        <p:txBody>
          <a:bodyPr/>
          <a:lstStyle/>
          <a:p>
            <a:fld id="{0528C9D5-86C5-4332-8B84-5E2F6C6418E6}" type="slidenum">
              <a:rPr lang="en-US" smtClean="0"/>
              <a:t>19</a:t>
            </a:fld>
            <a:endParaRPr lang="en-US"/>
          </a:p>
        </p:txBody>
      </p:sp>
      <p:graphicFrame>
        <p:nvGraphicFramePr>
          <p:cNvPr id="5" name="Content Placeholder 4"/>
          <p:cNvGraphicFramePr>
            <a:graphicFrameLocks noGrp="1"/>
          </p:cNvGraphicFramePr>
          <p:nvPr>
            <p:ph idx="1"/>
          </p:nvPr>
        </p:nvGraphicFramePr>
        <p:xfrm>
          <a:off x="1009650" y="1806575"/>
          <a:ext cx="7124700" cy="40528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4725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FDI trends by sector</a:t>
            </a:r>
            <a:br>
              <a:rPr lang="tr-TR" dirty="0"/>
            </a:br>
            <a:endParaRPr lang="en-US" dirty="0"/>
          </a:p>
        </p:txBody>
      </p:sp>
      <p:graphicFrame>
        <p:nvGraphicFramePr>
          <p:cNvPr id="5" name="Content Placeholder 4"/>
          <p:cNvGraphicFramePr>
            <a:graphicFrameLocks noGrp="1"/>
          </p:cNvGraphicFramePr>
          <p:nvPr>
            <p:ph idx="1"/>
          </p:nvPr>
        </p:nvGraphicFramePr>
        <p:xfrm>
          <a:off x="467543" y="1412776"/>
          <a:ext cx="8280920" cy="5102326"/>
        </p:xfrm>
        <a:graphic>
          <a:graphicData uri="http://schemas.openxmlformats.org/drawingml/2006/table">
            <a:tbl>
              <a:tblPr firstRow="1" firstCol="1" lastRow="1" bandRow="1">
                <a:tableStyleId>{5C22544A-7EE6-4342-B048-85BDC9FD1C3A}</a:tableStyleId>
              </a:tblPr>
              <a:tblGrid>
                <a:gridCol w="2808313">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gridCol w="864095">
                  <a:extLst>
                    <a:ext uri="{9D8B030D-6E8A-4147-A177-3AD203B41FA5}">
                      <a16:colId xmlns:a16="http://schemas.microsoft.com/office/drawing/2014/main" val="20005"/>
                    </a:ext>
                  </a:extLst>
                </a:gridCol>
              </a:tblGrid>
              <a:tr h="500377">
                <a:tc rowSpan="2">
                  <a:txBody>
                    <a:bodyPr/>
                    <a:lstStyle/>
                    <a:p>
                      <a:pPr>
                        <a:lnSpc>
                          <a:spcPct val="105000"/>
                        </a:lnSpc>
                        <a:spcAft>
                          <a:spcPts val="1000"/>
                        </a:spcAft>
                      </a:pPr>
                      <a:r>
                        <a:rPr lang="en-GB" sz="1200" dirty="0">
                          <a:solidFill>
                            <a:schemeClr val="tx1"/>
                          </a:solidFill>
                          <a:effectLst/>
                        </a:rPr>
                        <a:t>Sector</a:t>
                      </a:r>
                      <a:endParaRPr lang="tr-TR" sz="1800" dirty="0">
                        <a:solidFill>
                          <a:schemeClr val="tx1"/>
                        </a:solidFill>
                        <a:effectLst/>
                        <a:latin typeface="Cambria"/>
                        <a:ea typeface="Times New Roman"/>
                        <a:cs typeface="Times New Roman"/>
                      </a:endParaRPr>
                    </a:p>
                  </a:txBody>
                  <a:tcPr marL="68580" marR="68580" marT="0" marB="0" anchor="ctr"/>
                </a:tc>
                <a:tc rowSpan="2">
                  <a:txBody>
                    <a:bodyPr/>
                    <a:lstStyle/>
                    <a:p>
                      <a:pPr algn="ctr">
                        <a:lnSpc>
                          <a:spcPct val="105000"/>
                        </a:lnSpc>
                        <a:spcAft>
                          <a:spcPts val="1000"/>
                        </a:spcAft>
                      </a:pPr>
                      <a:r>
                        <a:rPr lang="en-GB" sz="1200">
                          <a:solidFill>
                            <a:schemeClr val="tx1"/>
                          </a:solidFill>
                          <a:effectLst/>
                        </a:rPr>
                        <a:t>No of projects</a:t>
                      </a:r>
                      <a:endParaRPr lang="tr-TR" sz="1800">
                        <a:solidFill>
                          <a:schemeClr val="tx1"/>
                        </a:solidFill>
                        <a:effectLst/>
                        <a:latin typeface="Cambria"/>
                        <a:ea typeface="Times New Roman"/>
                        <a:cs typeface="Times New Roman"/>
                      </a:endParaRPr>
                    </a:p>
                  </a:txBody>
                  <a:tcPr marL="68580" marR="68580" marT="0" marB="0" anchor="ctr"/>
                </a:tc>
                <a:tc gridSpan="2">
                  <a:txBody>
                    <a:bodyPr/>
                    <a:lstStyle/>
                    <a:p>
                      <a:pPr algn="ctr">
                        <a:lnSpc>
                          <a:spcPts val="1200"/>
                        </a:lnSpc>
                        <a:spcAft>
                          <a:spcPts val="0"/>
                        </a:spcAft>
                      </a:pPr>
                      <a:r>
                        <a:rPr lang="en-GB" sz="1200">
                          <a:solidFill>
                            <a:schemeClr val="tx1"/>
                          </a:solidFill>
                          <a:effectLst/>
                        </a:rPr>
                        <a:t>Jobs Created</a:t>
                      </a:r>
                      <a:endParaRPr lang="tr-TR" sz="1800">
                        <a:solidFill>
                          <a:schemeClr val="tx1"/>
                        </a:solidFill>
                        <a:effectLst/>
                        <a:latin typeface="Cambria"/>
                        <a:ea typeface="Times New Roman"/>
                        <a:cs typeface="Times New Roman"/>
                      </a:endParaRPr>
                    </a:p>
                  </a:txBody>
                  <a:tcPr marL="68580" marR="68580" marT="0" marB="0" anchor="ctr"/>
                </a:tc>
                <a:tc hMerge="1">
                  <a:txBody>
                    <a:bodyPr/>
                    <a:lstStyle/>
                    <a:p>
                      <a:endParaRPr lang="en-US"/>
                    </a:p>
                  </a:txBody>
                  <a:tcPr/>
                </a:tc>
                <a:tc gridSpan="2">
                  <a:txBody>
                    <a:bodyPr/>
                    <a:lstStyle/>
                    <a:p>
                      <a:pPr algn="ctr">
                        <a:lnSpc>
                          <a:spcPts val="1200"/>
                        </a:lnSpc>
                        <a:spcAft>
                          <a:spcPts val="0"/>
                        </a:spcAft>
                      </a:pPr>
                      <a:r>
                        <a:rPr lang="en-GB" sz="1200">
                          <a:solidFill>
                            <a:schemeClr val="tx1"/>
                          </a:solidFill>
                          <a:effectLst/>
                        </a:rPr>
                        <a:t>Capital investment</a:t>
                      </a:r>
                      <a:endParaRPr lang="tr-TR" sz="1800">
                        <a:solidFill>
                          <a:schemeClr val="tx1"/>
                        </a:solidFill>
                        <a:effectLst/>
                        <a:latin typeface="Cambria"/>
                        <a:ea typeface="Times New Roman"/>
                        <a:cs typeface="Times New Roman"/>
                      </a:endParaRPr>
                    </a:p>
                  </a:txBody>
                  <a:tcPr marL="68580" marR="68580" marT="0" marB="0" anchor="ctr"/>
                </a:tc>
                <a:tc hMerge="1">
                  <a:txBody>
                    <a:bodyPr/>
                    <a:lstStyle/>
                    <a:p>
                      <a:endParaRPr lang="en-US"/>
                    </a:p>
                  </a:txBody>
                  <a:tcPr/>
                </a:tc>
                <a:extLst>
                  <a:ext uri="{0D108BD9-81ED-4DB2-BD59-A6C34878D82A}">
                    <a16:rowId xmlns:a16="http://schemas.microsoft.com/office/drawing/2014/main" val="10000"/>
                  </a:ext>
                </a:extLst>
              </a:tr>
              <a:tr h="492779">
                <a:tc vMerge="1">
                  <a:txBody>
                    <a:bodyPr/>
                    <a:lstStyle/>
                    <a:p>
                      <a:endParaRPr lang="en-US"/>
                    </a:p>
                  </a:txBody>
                  <a:tcPr/>
                </a:tc>
                <a:tc vMerge="1">
                  <a:txBody>
                    <a:bodyPr/>
                    <a:lstStyle/>
                    <a:p>
                      <a:endParaRPr lang="en-US"/>
                    </a:p>
                  </a:txBody>
                  <a:tcPr/>
                </a:tc>
                <a:tc>
                  <a:txBody>
                    <a:bodyPr/>
                    <a:lstStyle/>
                    <a:p>
                      <a:pPr algn="ctr">
                        <a:lnSpc>
                          <a:spcPct val="105000"/>
                        </a:lnSpc>
                        <a:spcAft>
                          <a:spcPts val="1000"/>
                        </a:spcAft>
                      </a:pPr>
                      <a:r>
                        <a:rPr lang="en-GB" sz="1200">
                          <a:solidFill>
                            <a:schemeClr val="tx1"/>
                          </a:solidFill>
                          <a:effectLst/>
                        </a:rPr>
                        <a:t>Total</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1000"/>
                        </a:spcAft>
                      </a:pPr>
                      <a:r>
                        <a:rPr lang="en-GB" sz="1200">
                          <a:solidFill>
                            <a:schemeClr val="tx1"/>
                          </a:solidFill>
                          <a:effectLst/>
                        </a:rPr>
                        <a:t>Average</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1000"/>
                        </a:spcAft>
                      </a:pPr>
                      <a:r>
                        <a:rPr lang="en-GB" sz="1200">
                          <a:solidFill>
                            <a:schemeClr val="tx1"/>
                          </a:solidFill>
                          <a:effectLst/>
                        </a:rPr>
                        <a:t>Total (USD m)</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1000"/>
                        </a:spcAft>
                      </a:pPr>
                      <a:r>
                        <a:rPr lang="en-GB" sz="1200" dirty="0">
                          <a:solidFill>
                            <a:schemeClr val="tx1"/>
                          </a:solidFill>
                          <a:effectLst/>
                        </a:rPr>
                        <a:t>Average (USD m)</a:t>
                      </a:r>
                      <a:endParaRPr lang="tr-TR" sz="1800" dirty="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1"/>
                  </a:ext>
                </a:extLst>
              </a:tr>
              <a:tr h="325625">
                <a:tc>
                  <a:txBody>
                    <a:bodyPr/>
                    <a:lstStyle/>
                    <a:p>
                      <a:pPr>
                        <a:lnSpc>
                          <a:spcPct val="105000"/>
                        </a:lnSpc>
                        <a:spcAft>
                          <a:spcPts val="0"/>
                        </a:spcAft>
                      </a:pPr>
                      <a:r>
                        <a:rPr lang="en-GB" sz="1400">
                          <a:solidFill>
                            <a:schemeClr val="tx1"/>
                          </a:solidFill>
                          <a:effectLst/>
                        </a:rPr>
                        <a:t>Textiles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134</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34,335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256</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3,978.60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29.70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2"/>
                  </a:ext>
                </a:extLst>
              </a:tr>
              <a:tr h="325625">
                <a:tc>
                  <a:txBody>
                    <a:bodyPr/>
                    <a:lstStyle/>
                    <a:p>
                      <a:pPr>
                        <a:lnSpc>
                          <a:spcPct val="105000"/>
                        </a:lnSpc>
                        <a:spcAft>
                          <a:spcPts val="0"/>
                        </a:spcAft>
                      </a:pPr>
                      <a:r>
                        <a:rPr lang="en-GB" sz="1400">
                          <a:solidFill>
                            <a:schemeClr val="tx1"/>
                          </a:solidFill>
                          <a:effectLst/>
                        </a:rPr>
                        <a:t>Food &amp; Tobacco</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80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12,913</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161</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1,461.20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18.30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3"/>
                  </a:ext>
                </a:extLst>
              </a:tr>
              <a:tr h="325625">
                <a:tc>
                  <a:txBody>
                    <a:bodyPr/>
                    <a:lstStyle/>
                    <a:p>
                      <a:pPr>
                        <a:lnSpc>
                          <a:spcPct val="105000"/>
                        </a:lnSpc>
                        <a:spcAft>
                          <a:spcPts val="0"/>
                        </a:spcAft>
                      </a:pPr>
                      <a:r>
                        <a:rPr lang="en-GB" sz="1400">
                          <a:solidFill>
                            <a:schemeClr val="tx1"/>
                          </a:solidFill>
                          <a:effectLst/>
                        </a:rPr>
                        <a:t>Financial Services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65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3,283</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50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1,791.10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27.60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4"/>
                  </a:ext>
                </a:extLst>
              </a:tr>
              <a:tr h="325625">
                <a:tc>
                  <a:txBody>
                    <a:bodyPr/>
                    <a:lstStyle/>
                    <a:p>
                      <a:pPr>
                        <a:lnSpc>
                          <a:spcPct val="105000"/>
                        </a:lnSpc>
                        <a:spcAft>
                          <a:spcPts val="0"/>
                        </a:spcAft>
                      </a:pPr>
                      <a:r>
                        <a:rPr lang="en-GB" sz="1400" dirty="0">
                          <a:solidFill>
                            <a:schemeClr val="tx1"/>
                          </a:solidFill>
                          <a:effectLst/>
                        </a:rPr>
                        <a:t>Real Estate</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58</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46,062</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794</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7,331.60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126.40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5"/>
                  </a:ext>
                </a:extLst>
              </a:tr>
              <a:tr h="325625">
                <a:tc>
                  <a:txBody>
                    <a:bodyPr/>
                    <a:lstStyle/>
                    <a:p>
                      <a:pPr>
                        <a:lnSpc>
                          <a:spcPct val="105000"/>
                        </a:lnSpc>
                        <a:spcAft>
                          <a:spcPts val="0"/>
                        </a:spcAft>
                      </a:pPr>
                      <a:r>
                        <a:rPr lang="en-GB" sz="1400">
                          <a:solidFill>
                            <a:schemeClr val="tx1"/>
                          </a:solidFill>
                          <a:effectLst/>
                        </a:rPr>
                        <a:t>Consumer Products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47</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7,298</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155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1,131.50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24.10</a:t>
                      </a:r>
                      <a:endParaRPr lang="tr-TR" sz="1800" dirty="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6"/>
                  </a:ext>
                </a:extLst>
              </a:tr>
              <a:tr h="325625">
                <a:tc>
                  <a:txBody>
                    <a:bodyPr/>
                    <a:lstStyle/>
                    <a:p>
                      <a:pPr>
                        <a:lnSpc>
                          <a:spcPct val="105000"/>
                        </a:lnSpc>
                        <a:spcAft>
                          <a:spcPts val="0"/>
                        </a:spcAft>
                      </a:pPr>
                      <a:r>
                        <a:rPr lang="en-GB" sz="1400" dirty="0">
                          <a:solidFill>
                            <a:schemeClr val="tx1"/>
                          </a:solidFill>
                          <a:effectLst/>
                        </a:rPr>
                        <a:t>Ceramics &amp; Glass</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46</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10,561</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229</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2,473.70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53.80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7"/>
                  </a:ext>
                </a:extLst>
              </a:tr>
              <a:tr h="325625">
                <a:tc>
                  <a:txBody>
                    <a:bodyPr/>
                    <a:lstStyle/>
                    <a:p>
                      <a:pPr>
                        <a:lnSpc>
                          <a:spcPct val="105000"/>
                        </a:lnSpc>
                        <a:spcAft>
                          <a:spcPts val="0"/>
                        </a:spcAft>
                      </a:pPr>
                      <a:r>
                        <a:rPr lang="en-GB" sz="1400">
                          <a:solidFill>
                            <a:schemeClr val="tx1"/>
                          </a:solidFill>
                          <a:effectLst/>
                        </a:rPr>
                        <a:t>Transportation</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36</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1,587</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44</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979.30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27.20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8"/>
                  </a:ext>
                </a:extLst>
              </a:tr>
              <a:tr h="325625">
                <a:tc>
                  <a:txBody>
                    <a:bodyPr/>
                    <a:lstStyle/>
                    <a:p>
                      <a:pPr>
                        <a:lnSpc>
                          <a:spcPct val="105000"/>
                        </a:lnSpc>
                        <a:spcAft>
                          <a:spcPts val="0"/>
                        </a:spcAft>
                      </a:pPr>
                      <a:r>
                        <a:rPr lang="en-GB" sz="1400">
                          <a:solidFill>
                            <a:schemeClr val="tx1"/>
                          </a:solidFill>
                          <a:effectLst/>
                        </a:rPr>
                        <a:t>Hotels &amp; Tourism</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7,032</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200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dirty="0">
                          <a:solidFill>
                            <a:schemeClr val="tx1"/>
                          </a:solidFill>
                          <a:effectLst/>
                        </a:rPr>
                        <a:t>2,679.50</a:t>
                      </a:r>
                      <a:endParaRPr lang="tr-TR" sz="18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76.60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09"/>
                  </a:ext>
                </a:extLst>
              </a:tr>
              <a:tr h="325625">
                <a:tc>
                  <a:txBody>
                    <a:bodyPr/>
                    <a:lstStyle/>
                    <a:p>
                      <a:pPr>
                        <a:lnSpc>
                          <a:spcPct val="105000"/>
                        </a:lnSpc>
                        <a:spcAft>
                          <a:spcPts val="0"/>
                        </a:spcAft>
                      </a:pPr>
                      <a:r>
                        <a:rPr lang="en-GB" sz="1400">
                          <a:solidFill>
                            <a:schemeClr val="tx1"/>
                          </a:solidFill>
                          <a:effectLst/>
                        </a:rPr>
                        <a:t>Communications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1,591</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45</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1,293.20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36.90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10"/>
                  </a:ext>
                </a:extLst>
              </a:tr>
              <a:tr h="325625">
                <a:tc>
                  <a:txBody>
                    <a:bodyPr/>
                    <a:lstStyle/>
                    <a:p>
                      <a:pPr>
                        <a:lnSpc>
                          <a:spcPct val="105000"/>
                        </a:lnSpc>
                        <a:spcAft>
                          <a:spcPts val="0"/>
                        </a:spcAft>
                      </a:pPr>
                      <a:r>
                        <a:rPr lang="en-GB" sz="1400">
                          <a:solidFill>
                            <a:schemeClr val="tx1"/>
                          </a:solidFill>
                          <a:effectLst/>
                        </a:rPr>
                        <a:t>Metals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3,254</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108</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1,950.80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65.00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11"/>
                  </a:ext>
                </a:extLst>
              </a:tr>
              <a:tr h="325625">
                <a:tc>
                  <a:txBody>
                    <a:bodyPr/>
                    <a:lstStyle/>
                    <a:p>
                      <a:pPr>
                        <a:lnSpc>
                          <a:spcPct val="105000"/>
                        </a:lnSpc>
                        <a:spcAft>
                          <a:spcPts val="0"/>
                        </a:spcAft>
                      </a:pPr>
                      <a:r>
                        <a:rPr lang="en-GB" sz="1400">
                          <a:solidFill>
                            <a:schemeClr val="tx1"/>
                          </a:solidFill>
                          <a:effectLst/>
                        </a:rPr>
                        <a:t>Other sectors</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230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34,126</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148</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13,949.30</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400">
                          <a:solidFill>
                            <a:schemeClr val="tx1"/>
                          </a:solidFill>
                          <a:effectLst/>
                        </a:rPr>
                        <a:t>60.60</a:t>
                      </a:r>
                      <a:endParaRPr lang="tr-TR" sz="180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12"/>
                  </a:ext>
                </a:extLst>
              </a:tr>
              <a:tr h="527295">
                <a:tc>
                  <a:txBody>
                    <a:bodyPr/>
                    <a:lstStyle/>
                    <a:p>
                      <a:pPr>
                        <a:lnSpc>
                          <a:spcPct val="105000"/>
                        </a:lnSpc>
                        <a:spcAft>
                          <a:spcPts val="0"/>
                        </a:spcAft>
                      </a:pPr>
                      <a:r>
                        <a:rPr lang="en-GB" sz="1400">
                          <a:solidFill>
                            <a:schemeClr val="tx1"/>
                          </a:solidFill>
                          <a:effectLst/>
                        </a:rPr>
                        <a:t>Total</a:t>
                      </a:r>
                      <a:endParaRPr lang="tr-TR" sz="180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100" dirty="0">
                          <a:solidFill>
                            <a:schemeClr val="tx1"/>
                          </a:solidFill>
                          <a:effectLst/>
                        </a:rPr>
                        <a:t>796</a:t>
                      </a:r>
                      <a:endParaRPr lang="tr-TR" sz="14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100" dirty="0">
                          <a:solidFill>
                            <a:schemeClr val="tx1"/>
                          </a:solidFill>
                          <a:effectLst/>
                        </a:rPr>
                        <a:t>162,042</a:t>
                      </a:r>
                      <a:endParaRPr lang="tr-TR" sz="14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100" dirty="0">
                          <a:solidFill>
                            <a:schemeClr val="tx1"/>
                          </a:solidFill>
                          <a:effectLst/>
                        </a:rPr>
                        <a:t>203</a:t>
                      </a:r>
                      <a:endParaRPr lang="tr-TR" sz="14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100" dirty="0">
                          <a:solidFill>
                            <a:schemeClr val="tx1"/>
                          </a:solidFill>
                          <a:effectLst/>
                        </a:rPr>
                        <a:t>39,020.00</a:t>
                      </a:r>
                      <a:endParaRPr lang="tr-TR" sz="1400" dirty="0">
                        <a:solidFill>
                          <a:schemeClr val="tx1"/>
                        </a:solidFill>
                        <a:effectLst/>
                        <a:latin typeface="Cambria"/>
                        <a:ea typeface="Times New Roman"/>
                        <a:cs typeface="Times New Roman"/>
                      </a:endParaRPr>
                    </a:p>
                  </a:txBody>
                  <a:tcPr marL="68580" marR="68580" marT="0" marB="0" anchor="ctr"/>
                </a:tc>
                <a:tc>
                  <a:txBody>
                    <a:bodyPr/>
                    <a:lstStyle/>
                    <a:p>
                      <a:pPr algn="ctr">
                        <a:lnSpc>
                          <a:spcPct val="105000"/>
                        </a:lnSpc>
                        <a:spcAft>
                          <a:spcPts val="0"/>
                        </a:spcAft>
                      </a:pPr>
                      <a:r>
                        <a:rPr lang="en-GB" sz="1100" dirty="0">
                          <a:solidFill>
                            <a:schemeClr val="tx1"/>
                          </a:solidFill>
                          <a:effectLst/>
                        </a:rPr>
                        <a:t>49.00</a:t>
                      </a:r>
                      <a:endParaRPr lang="tr-TR" sz="1400" dirty="0">
                        <a:solidFill>
                          <a:schemeClr val="tx1"/>
                        </a:solidFill>
                        <a:effectLst/>
                        <a:latin typeface="Cambria"/>
                        <a:ea typeface="Times New Roman"/>
                        <a:cs typeface="Times New Roman"/>
                      </a:endParaRPr>
                    </a:p>
                  </a:txBody>
                  <a:tcPr marL="68580" marR="68580" marT="0" marB="0" anchor="ctr"/>
                </a:tc>
                <a:extLst>
                  <a:ext uri="{0D108BD9-81ED-4DB2-BD59-A6C34878D82A}">
                    <a16:rowId xmlns:a16="http://schemas.microsoft.com/office/drawing/2014/main" val="10013"/>
                  </a:ext>
                </a:extLst>
              </a:tr>
            </a:tbl>
          </a:graphicData>
        </a:graphic>
      </p:graphicFrame>
      <p:sp>
        <p:nvSpPr>
          <p:cNvPr id="4" name="Slide Number Placeholder 3"/>
          <p:cNvSpPr>
            <a:spLocks noGrp="1"/>
          </p:cNvSpPr>
          <p:nvPr>
            <p:ph type="sldNum" sz="quarter" idx="12"/>
          </p:nvPr>
        </p:nvSpPr>
        <p:spPr/>
        <p:txBody>
          <a:bodyPr/>
          <a:lstStyle/>
          <a:p>
            <a:fld id="{0528C9D5-86C5-4332-8B84-5E2F6C6418E6}" type="slidenum">
              <a:rPr lang="en-US" smtClean="0"/>
              <a:t>20</a:t>
            </a:fld>
            <a:endParaRPr lang="en-US"/>
          </a:p>
        </p:txBody>
      </p:sp>
    </p:spTree>
    <p:extLst>
      <p:ext uri="{BB962C8B-B14F-4D97-AF65-F5344CB8AC3E}">
        <p14:creationId xmlns:p14="http://schemas.microsoft.com/office/powerpoint/2010/main" val="1114897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442" y="89198"/>
            <a:ext cx="8134558" cy="924475"/>
          </a:xfrm>
        </p:spPr>
        <p:txBody>
          <a:bodyPr/>
          <a:lstStyle/>
          <a:p>
            <a:pPr algn="ctr"/>
            <a:r>
              <a:rPr lang="en-US" dirty="0"/>
              <a:t>Greenfield investments are concentrated in Real Estate (72%)</a:t>
            </a:r>
          </a:p>
        </p:txBody>
      </p:sp>
      <p:sp>
        <p:nvSpPr>
          <p:cNvPr id="4" name="Slide Number Placeholder 3"/>
          <p:cNvSpPr>
            <a:spLocks noGrp="1"/>
          </p:cNvSpPr>
          <p:nvPr>
            <p:ph type="sldNum" sz="quarter" idx="12"/>
          </p:nvPr>
        </p:nvSpPr>
        <p:spPr/>
        <p:txBody>
          <a:bodyPr/>
          <a:lstStyle/>
          <a:p>
            <a:fld id="{0528C9D5-86C5-4332-8B84-5E2F6C6418E6}" type="slidenum">
              <a:rPr lang="en-US" smtClean="0"/>
              <a:t>21</a:t>
            </a:fld>
            <a:endParaRPr lang="en-US"/>
          </a:p>
        </p:txBody>
      </p:sp>
      <p:graphicFrame>
        <p:nvGraphicFramePr>
          <p:cNvPr id="6" name="Content Placeholder 5"/>
          <p:cNvGraphicFramePr>
            <a:graphicFrameLocks noGrp="1"/>
          </p:cNvGraphicFramePr>
          <p:nvPr>
            <p:ph idx="1"/>
          </p:nvPr>
        </p:nvGraphicFramePr>
        <p:xfrm>
          <a:off x="971600" y="1556792"/>
          <a:ext cx="7124700" cy="48965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776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0C7726-256F-07E5-8856-80C0BA1FDC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22</a:t>
            </a:fld>
            <a:endParaRPr lang="tr-TR"/>
          </a:p>
        </p:txBody>
      </p:sp>
      <p:sp>
        <p:nvSpPr>
          <p:cNvPr id="4" name="TextBox 3">
            <a:extLst>
              <a:ext uri="{FF2B5EF4-FFF2-40B4-BE49-F238E27FC236}">
                <a16:creationId xmlns:a16="http://schemas.microsoft.com/office/drawing/2014/main" id="{D94D2E2E-ED36-84BE-F705-570D38ADEF5A}"/>
              </a:ext>
            </a:extLst>
          </p:cNvPr>
          <p:cNvSpPr txBox="1"/>
          <p:nvPr/>
        </p:nvSpPr>
        <p:spPr>
          <a:xfrm>
            <a:off x="1394951" y="249234"/>
            <a:ext cx="6529849" cy="461665"/>
          </a:xfrm>
          <a:prstGeom prst="rect">
            <a:avLst/>
          </a:prstGeom>
          <a:noFill/>
        </p:spPr>
        <p:txBody>
          <a:bodyPr wrap="square">
            <a:spAutoFit/>
          </a:bodyPr>
          <a:lstStyle/>
          <a:p>
            <a:r>
              <a:rPr lang="tr-TR" sz="2400" b="1" dirty="0">
                <a:effectLst/>
                <a:latin typeface="Times New Roman" panose="02020603050405020304" pitchFamily="18" charset="0"/>
                <a:ea typeface="Cambria" panose="02040503050406030204" pitchFamily="18" charset="0"/>
              </a:rPr>
              <a:t>Yeşil alan yatırımlarının eğilimi, 2003-2013 </a:t>
            </a:r>
            <a:endParaRPr lang="en-GB" sz="2400" b="1" dirty="0"/>
          </a:p>
        </p:txBody>
      </p:sp>
      <p:graphicFrame>
        <p:nvGraphicFramePr>
          <p:cNvPr id="7" name="Chart 6">
            <a:extLst>
              <a:ext uri="{FF2B5EF4-FFF2-40B4-BE49-F238E27FC236}">
                <a16:creationId xmlns:a16="http://schemas.microsoft.com/office/drawing/2014/main" id="{BF0C748E-04B3-2659-366E-6842F72274FA}"/>
              </a:ext>
            </a:extLst>
          </p:cNvPr>
          <p:cNvGraphicFramePr/>
          <p:nvPr/>
        </p:nvGraphicFramePr>
        <p:xfrm>
          <a:off x="747253" y="1575465"/>
          <a:ext cx="7863348" cy="46188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0690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89FB32-4C97-9127-6769-1657380E58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23</a:t>
            </a:fld>
            <a:endParaRPr lang="tr-TR"/>
          </a:p>
        </p:txBody>
      </p:sp>
      <p:sp>
        <p:nvSpPr>
          <p:cNvPr id="4" name="TextBox 3">
            <a:extLst>
              <a:ext uri="{FF2B5EF4-FFF2-40B4-BE49-F238E27FC236}">
                <a16:creationId xmlns:a16="http://schemas.microsoft.com/office/drawing/2014/main" id="{487C3531-7907-C31A-189C-837B9CDA0D30}"/>
              </a:ext>
            </a:extLst>
          </p:cNvPr>
          <p:cNvSpPr txBox="1"/>
          <p:nvPr/>
        </p:nvSpPr>
        <p:spPr>
          <a:xfrm>
            <a:off x="1076632" y="171009"/>
            <a:ext cx="8067368" cy="830997"/>
          </a:xfrm>
          <a:prstGeom prst="rect">
            <a:avLst/>
          </a:prstGeom>
          <a:noFill/>
        </p:spPr>
        <p:txBody>
          <a:bodyPr wrap="square">
            <a:spAutoFit/>
          </a:bodyPr>
          <a:lstStyle/>
          <a:p>
            <a:r>
              <a:rPr lang="en-GB" sz="2400" b="1" dirty="0" err="1"/>
              <a:t>Hedef</a:t>
            </a:r>
            <a:r>
              <a:rPr lang="en-GB" sz="2400" b="1" dirty="0"/>
              <a:t> </a:t>
            </a:r>
            <a:r>
              <a:rPr lang="en-GB" sz="2400" b="1" dirty="0" err="1"/>
              <a:t>ülkelerin</a:t>
            </a:r>
            <a:r>
              <a:rPr lang="en-GB" sz="2400" b="1" dirty="0"/>
              <a:t> </a:t>
            </a:r>
            <a:r>
              <a:rPr lang="en-GB" sz="2400" b="1" dirty="0" err="1"/>
              <a:t>ekonomik</a:t>
            </a:r>
            <a:r>
              <a:rPr lang="en-GB" sz="2400" b="1" dirty="0"/>
              <a:t> </a:t>
            </a:r>
            <a:r>
              <a:rPr lang="en-GB" sz="2400" b="1" dirty="0" err="1"/>
              <a:t>gelişmişlik</a:t>
            </a:r>
            <a:r>
              <a:rPr lang="en-GB" sz="2400" b="1" dirty="0"/>
              <a:t> </a:t>
            </a:r>
            <a:r>
              <a:rPr lang="en-GB" sz="2400" b="1" dirty="0" err="1"/>
              <a:t>düzeyine</a:t>
            </a:r>
            <a:r>
              <a:rPr lang="en-GB" sz="2400" b="1" dirty="0"/>
              <a:t> </a:t>
            </a:r>
            <a:r>
              <a:rPr lang="en-GB" sz="2400" b="1" dirty="0" err="1"/>
              <a:t>göre</a:t>
            </a:r>
            <a:r>
              <a:rPr lang="en-GB" sz="2400" b="1" dirty="0"/>
              <a:t> </a:t>
            </a:r>
            <a:r>
              <a:rPr lang="en-GB" sz="2400" b="1" dirty="0" err="1"/>
              <a:t>yatırım</a:t>
            </a:r>
            <a:r>
              <a:rPr lang="en-GB" sz="2400" b="1" dirty="0"/>
              <a:t> </a:t>
            </a:r>
            <a:r>
              <a:rPr lang="en-GB" sz="2400" b="1" dirty="0" err="1"/>
              <a:t>tutarı</a:t>
            </a:r>
            <a:r>
              <a:rPr lang="en-GB" sz="2400" b="1" dirty="0"/>
              <a:t> </a:t>
            </a:r>
            <a:r>
              <a:rPr lang="en-GB" sz="2400" b="1" dirty="0" err="1"/>
              <a:t>ve</a:t>
            </a:r>
            <a:r>
              <a:rPr lang="en-GB" sz="2400" b="1" dirty="0"/>
              <a:t> </a:t>
            </a:r>
            <a:r>
              <a:rPr lang="en-GB" sz="2400" b="1" dirty="0" err="1"/>
              <a:t>yüzdesi</a:t>
            </a:r>
            <a:r>
              <a:rPr lang="en-GB" sz="2400" b="1" dirty="0"/>
              <a:t>,  2003-2013 </a:t>
            </a:r>
          </a:p>
        </p:txBody>
      </p:sp>
      <p:graphicFrame>
        <p:nvGraphicFramePr>
          <p:cNvPr id="5" name="Chart 4">
            <a:extLst>
              <a:ext uri="{FF2B5EF4-FFF2-40B4-BE49-F238E27FC236}">
                <a16:creationId xmlns:a16="http://schemas.microsoft.com/office/drawing/2014/main" id="{A6889980-FC09-974D-6ADB-233019982069}"/>
              </a:ext>
            </a:extLst>
          </p:cNvPr>
          <p:cNvGraphicFramePr/>
          <p:nvPr/>
        </p:nvGraphicFramePr>
        <p:xfrm>
          <a:off x="695632" y="1436297"/>
          <a:ext cx="7752736" cy="47588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9111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0167B6-EF0A-A2E8-78B0-42B62B1273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24</a:t>
            </a:fld>
            <a:endParaRPr lang="tr-TR"/>
          </a:p>
        </p:txBody>
      </p:sp>
      <p:sp>
        <p:nvSpPr>
          <p:cNvPr id="3" name="TextBox 2">
            <a:extLst>
              <a:ext uri="{FF2B5EF4-FFF2-40B4-BE49-F238E27FC236}">
                <a16:creationId xmlns:a16="http://schemas.microsoft.com/office/drawing/2014/main" id="{649FE751-9C43-BE2E-47DE-1DD53ADE5D65}"/>
              </a:ext>
            </a:extLst>
          </p:cNvPr>
          <p:cNvSpPr txBox="1"/>
          <p:nvPr/>
        </p:nvSpPr>
        <p:spPr>
          <a:xfrm>
            <a:off x="1681655" y="241737"/>
            <a:ext cx="4488256" cy="646331"/>
          </a:xfrm>
          <a:prstGeom prst="rect">
            <a:avLst/>
          </a:prstGeom>
          <a:noFill/>
        </p:spPr>
        <p:txBody>
          <a:bodyPr wrap="square" rtlCol="0">
            <a:spAutoFit/>
          </a:bodyPr>
          <a:lstStyle/>
          <a:p>
            <a:r>
              <a:rPr lang="tr-TR" sz="1800" b="1" dirty="0">
                <a:effectLst/>
                <a:latin typeface="Times New Roman" panose="02020603050405020304" pitchFamily="18" charset="0"/>
                <a:ea typeface="Cambria" panose="02040503050406030204" pitchFamily="18" charset="0"/>
              </a:rPr>
              <a:t>Yatırımların tutarına göre coğrafi dağılımı (yatırım tutarı, milyon dolar</a:t>
            </a:r>
            <a:endParaRPr lang="en-GB" b="1" dirty="0"/>
          </a:p>
        </p:txBody>
      </p:sp>
      <p:pic>
        <p:nvPicPr>
          <p:cNvPr id="4" name="Picture 3">
            <a:extLst>
              <a:ext uri="{FF2B5EF4-FFF2-40B4-BE49-F238E27FC236}">
                <a16:creationId xmlns:a16="http://schemas.microsoft.com/office/drawing/2014/main" id="{81BEB8EC-73F5-5209-4C0C-AC12CF0CBA41}"/>
              </a:ext>
            </a:extLst>
          </p:cNvPr>
          <p:cNvPicPr>
            <a:picLocks noChangeAspect="1"/>
          </p:cNvPicPr>
          <p:nvPr/>
        </p:nvPicPr>
        <p:blipFill>
          <a:blip r:embed="rId2"/>
          <a:stretch>
            <a:fillRect/>
          </a:stretch>
        </p:blipFill>
        <p:spPr>
          <a:xfrm>
            <a:off x="973695" y="1482103"/>
            <a:ext cx="7196609" cy="5147297"/>
          </a:xfrm>
          <a:prstGeom prst="rect">
            <a:avLst/>
          </a:prstGeom>
        </p:spPr>
      </p:pic>
    </p:spTree>
    <p:extLst>
      <p:ext uri="{BB962C8B-B14F-4D97-AF65-F5344CB8AC3E}">
        <p14:creationId xmlns:p14="http://schemas.microsoft.com/office/powerpoint/2010/main" val="2692020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E2261A-8718-4DBE-4509-1B2B4DA573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25</a:t>
            </a:fld>
            <a:endParaRPr lang="tr-TR"/>
          </a:p>
        </p:txBody>
      </p:sp>
      <p:sp>
        <p:nvSpPr>
          <p:cNvPr id="4" name="TextBox 3">
            <a:extLst>
              <a:ext uri="{FF2B5EF4-FFF2-40B4-BE49-F238E27FC236}">
                <a16:creationId xmlns:a16="http://schemas.microsoft.com/office/drawing/2014/main" id="{9C179D85-AE86-DB77-0620-34E2BFF40573}"/>
              </a:ext>
            </a:extLst>
          </p:cNvPr>
          <p:cNvSpPr txBox="1"/>
          <p:nvPr/>
        </p:nvSpPr>
        <p:spPr>
          <a:xfrm>
            <a:off x="1583166" y="220979"/>
            <a:ext cx="7393685" cy="830997"/>
          </a:xfrm>
          <a:prstGeom prst="rect">
            <a:avLst/>
          </a:prstGeom>
          <a:noFill/>
        </p:spPr>
        <p:txBody>
          <a:bodyPr wrap="square">
            <a:spAutoFit/>
          </a:bodyPr>
          <a:lstStyle/>
          <a:p>
            <a:r>
              <a:rPr lang="en-GB" sz="2400" b="1" dirty="0" err="1"/>
              <a:t>Yatırımların</a:t>
            </a:r>
            <a:r>
              <a:rPr lang="en-GB" sz="2400" b="1" dirty="0"/>
              <a:t> </a:t>
            </a:r>
            <a:r>
              <a:rPr lang="en-GB" sz="2400" b="1" dirty="0" err="1"/>
              <a:t>tutarlarına</a:t>
            </a:r>
            <a:r>
              <a:rPr lang="en-GB" sz="2400" b="1" dirty="0"/>
              <a:t> </a:t>
            </a:r>
            <a:r>
              <a:rPr lang="en-GB" sz="2400" b="1" dirty="0" err="1"/>
              <a:t>göre</a:t>
            </a:r>
            <a:r>
              <a:rPr lang="en-GB" sz="2400" b="1" dirty="0"/>
              <a:t> </a:t>
            </a:r>
            <a:r>
              <a:rPr lang="en-GB" sz="2400" b="1" dirty="0" err="1"/>
              <a:t>BDT’deki</a:t>
            </a:r>
            <a:r>
              <a:rPr lang="en-GB" sz="2400" b="1" dirty="0"/>
              <a:t> </a:t>
            </a:r>
            <a:r>
              <a:rPr lang="en-GB" sz="2400" b="1" dirty="0" err="1"/>
              <a:t>dağılımı</a:t>
            </a:r>
            <a:endParaRPr lang="en-GB" sz="2400" b="1" dirty="0"/>
          </a:p>
          <a:p>
            <a:r>
              <a:rPr lang="en-GB" sz="2400" b="1" dirty="0"/>
              <a:t>(</a:t>
            </a:r>
            <a:r>
              <a:rPr lang="en-GB" sz="2400" b="1" dirty="0" err="1"/>
              <a:t>Milyon</a:t>
            </a:r>
            <a:r>
              <a:rPr lang="en-GB" sz="2400" b="1" dirty="0"/>
              <a:t> </a:t>
            </a:r>
            <a:r>
              <a:rPr lang="en-GB" sz="2400" b="1" dirty="0" err="1"/>
              <a:t>Dolar</a:t>
            </a:r>
            <a:r>
              <a:rPr lang="en-GB" sz="2400" b="1" dirty="0"/>
              <a:t>)</a:t>
            </a:r>
          </a:p>
        </p:txBody>
      </p:sp>
      <p:graphicFrame>
        <p:nvGraphicFramePr>
          <p:cNvPr id="5" name="Chart 4">
            <a:extLst>
              <a:ext uri="{FF2B5EF4-FFF2-40B4-BE49-F238E27FC236}">
                <a16:creationId xmlns:a16="http://schemas.microsoft.com/office/drawing/2014/main" id="{F93D7A34-994C-B0AD-F627-45C086F01F48}"/>
              </a:ext>
            </a:extLst>
          </p:cNvPr>
          <p:cNvGraphicFramePr/>
          <p:nvPr/>
        </p:nvGraphicFramePr>
        <p:xfrm>
          <a:off x="720762" y="1245935"/>
          <a:ext cx="8078993" cy="52927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0198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768351-1E6F-4AA5-1A9E-C2FAB37292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26</a:t>
            </a:fld>
            <a:endParaRPr lang="tr-TR"/>
          </a:p>
        </p:txBody>
      </p:sp>
      <p:sp>
        <p:nvSpPr>
          <p:cNvPr id="4" name="TextBox 3">
            <a:extLst>
              <a:ext uri="{FF2B5EF4-FFF2-40B4-BE49-F238E27FC236}">
                <a16:creationId xmlns:a16="http://schemas.microsoft.com/office/drawing/2014/main" id="{5129A7DA-4573-477F-358B-4C0E3A3B2C0E}"/>
              </a:ext>
            </a:extLst>
          </p:cNvPr>
          <p:cNvSpPr txBox="1"/>
          <p:nvPr/>
        </p:nvSpPr>
        <p:spPr>
          <a:xfrm>
            <a:off x="1459242" y="200124"/>
            <a:ext cx="7301299" cy="830997"/>
          </a:xfrm>
          <a:prstGeom prst="rect">
            <a:avLst/>
          </a:prstGeom>
          <a:noFill/>
        </p:spPr>
        <p:txBody>
          <a:bodyPr wrap="square">
            <a:spAutoFit/>
          </a:bodyPr>
          <a:lstStyle/>
          <a:p>
            <a:r>
              <a:rPr lang="en-GB" sz="2400" b="1" dirty="0" err="1"/>
              <a:t>Yatırımların</a:t>
            </a:r>
            <a:r>
              <a:rPr lang="en-GB" sz="2400" b="1" dirty="0"/>
              <a:t> </a:t>
            </a:r>
            <a:r>
              <a:rPr lang="en-GB" sz="2400" b="1" dirty="0" err="1"/>
              <a:t>tutarlarına</a:t>
            </a:r>
            <a:r>
              <a:rPr lang="en-GB" sz="2400" b="1" dirty="0"/>
              <a:t> </a:t>
            </a:r>
            <a:r>
              <a:rPr lang="en-GB" sz="2400" b="1" dirty="0" err="1"/>
              <a:t>göre</a:t>
            </a:r>
            <a:r>
              <a:rPr lang="en-GB" sz="2400" b="1" dirty="0"/>
              <a:t> </a:t>
            </a:r>
            <a:r>
              <a:rPr lang="en-GB" sz="2400" b="1" dirty="0" err="1"/>
              <a:t>AB’deki</a:t>
            </a:r>
            <a:r>
              <a:rPr lang="en-GB" sz="2400" b="1" dirty="0"/>
              <a:t> </a:t>
            </a:r>
            <a:r>
              <a:rPr lang="en-GB" sz="2400" b="1" dirty="0" err="1"/>
              <a:t>dağılımı</a:t>
            </a:r>
            <a:r>
              <a:rPr lang="en-GB" sz="2400" b="1" dirty="0"/>
              <a:t> (</a:t>
            </a:r>
            <a:r>
              <a:rPr lang="en-GB" sz="2400" b="1" dirty="0" err="1"/>
              <a:t>Milyon</a:t>
            </a:r>
            <a:r>
              <a:rPr lang="en-GB" sz="2400" b="1" dirty="0"/>
              <a:t> </a:t>
            </a:r>
            <a:r>
              <a:rPr lang="en-GB" sz="2400" b="1" dirty="0" err="1"/>
              <a:t>Dolar</a:t>
            </a:r>
            <a:r>
              <a:rPr lang="en-GB" sz="2400" b="1" dirty="0"/>
              <a:t>) </a:t>
            </a:r>
          </a:p>
        </p:txBody>
      </p:sp>
      <p:pic>
        <p:nvPicPr>
          <p:cNvPr id="5" name="Picture 4">
            <a:extLst>
              <a:ext uri="{FF2B5EF4-FFF2-40B4-BE49-F238E27FC236}">
                <a16:creationId xmlns:a16="http://schemas.microsoft.com/office/drawing/2014/main" id="{514055C0-2914-3163-CEE0-6A6CF54753CA}"/>
              </a:ext>
            </a:extLst>
          </p:cNvPr>
          <p:cNvPicPr>
            <a:picLocks noChangeAspect="1"/>
          </p:cNvPicPr>
          <p:nvPr/>
        </p:nvPicPr>
        <p:blipFill>
          <a:blip r:embed="rId2"/>
          <a:stretch>
            <a:fillRect/>
          </a:stretch>
        </p:blipFill>
        <p:spPr>
          <a:xfrm>
            <a:off x="868652" y="1652145"/>
            <a:ext cx="7741948" cy="4566203"/>
          </a:xfrm>
          <a:prstGeom prst="rect">
            <a:avLst/>
          </a:prstGeom>
        </p:spPr>
      </p:pic>
    </p:spTree>
    <p:extLst>
      <p:ext uri="{BB962C8B-B14F-4D97-AF65-F5344CB8AC3E}">
        <p14:creationId xmlns:p14="http://schemas.microsoft.com/office/powerpoint/2010/main" val="947067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4875D9-4E07-8955-F6E3-5723649522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27</a:t>
            </a:fld>
            <a:endParaRPr lang="tr-TR"/>
          </a:p>
        </p:txBody>
      </p:sp>
      <p:sp>
        <p:nvSpPr>
          <p:cNvPr id="4" name="TextBox 3">
            <a:extLst>
              <a:ext uri="{FF2B5EF4-FFF2-40B4-BE49-F238E27FC236}">
                <a16:creationId xmlns:a16="http://schemas.microsoft.com/office/drawing/2014/main" id="{180EEE82-8A36-72C1-7A73-B70E31206045}"/>
              </a:ext>
            </a:extLst>
          </p:cNvPr>
          <p:cNvSpPr txBox="1"/>
          <p:nvPr/>
        </p:nvSpPr>
        <p:spPr>
          <a:xfrm>
            <a:off x="1238356" y="255326"/>
            <a:ext cx="7738496" cy="830997"/>
          </a:xfrm>
          <a:prstGeom prst="rect">
            <a:avLst/>
          </a:prstGeom>
          <a:noFill/>
        </p:spPr>
        <p:txBody>
          <a:bodyPr wrap="square">
            <a:spAutoFit/>
          </a:bodyPr>
          <a:lstStyle/>
          <a:p>
            <a:r>
              <a:rPr lang="en-GB" sz="2400" b="1" dirty="0"/>
              <a:t>2003-2013 </a:t>
            </a:r>
            <a:r>
              <a:rPr lang="en-GB" sz="2400" b="1" dirty="0" err="1"/>
              <a:t>yılları</a:t>
            </a:r>
            <a:r>
              <a:rPr lang="en-GB" sz="2400" b="1" dirty="0"/>
              <a:t> </a:t>
            </a:r>
            <a:r>
              <a:rPr lang="en-GB" sz="2400" b="1" dirty="0" err="1"/>
              <a:t>arasında</a:t>
            </a:r>
            <a:r>
              <a:rPr lang="en-GB" sz="2400" b="1" dirty="0"/>
              <a:t> </a:t>
            </a:r>
            <a:r>
              <a:rPr lang="en-GB" sz="2400" b="1" dirty="0" err="1"/>
              <a:t>yatırımların</a:t>
            </a:r>
            <a:r>
              <a:rPr lang="en-GB" sz="2400" b="1" dirty="0"/>
              <a:t> </a:t>
            </a:r>
            <a:r>
              <a:rPr lang="en-GB" sz="2400" b="1" dirty="0" err="1"/>
              <a:t>sektörel</a:t>
            </a:r>
            <a:r>
              <a:rPr lang="en-GB" sz="2400" b="1" dirty="0"/>
              <a:t> </a:t>
            </a:r>
            <a:r>
              <a:rPr lang="en-GB" sz="2400" b="1" dirty="0" err="1"/>
              <a:t>dağılımı</a:t>
            </a:r>
            <a:endParaRPr lang="en-GB" sz="2400" b="1" dirty="0"/>
          </a:p>
        </p:txBody>
      </p:sp>
      <p:pic>
        <p:nvPicPr>
          <p:cNvPr id="5" name="Picture 4">
            <a:extLst>
              <a:ext uri="{FF2B5EF4-FFF2-40B4-BE49-F238E27FC236}">
                <a16:creationId xmlns:a16="http://schemas.microsoft.com/office/drawing/2014/main" id="{2BF429D6-9A1C-24D4-C4F0-0C47EBB170E7}"/>
              </a:ext>
            </a:extLst>
          </p:cNvPr>
          <p:cNvPicPr>
            <a:picLocks noChangeAspect="1"/>
          </p:cNvPicPr>
          <p:nvPr/>
        </p:nvPicPr>
        <p:blipFill>
          <a:blip r:embed="rId2"/>
          <a:stretch>
            <a:fillRect/>
          </a:stretch>
        </p:blipFill>
        <p:spPr>
          <a:xfrm>
            <a:off x="417590" y="1542044"/>
            <a:ext cx="8459710" cy="4216137"/>
          </a:xfrm>
          <a:prstGeom prst="rect">
            <a:avLst/>
          </a:prstGeom>
        </p:spPr>
      </p:pic>
    </p:spTree>
    <p:extLst>
      <p:ext uri="{BB962C8B-B14F-4D97-AF65-F5344CB8AC3E}">
        <p14:creationId xmlns:p14="http://schemas.microsoft.com/office/powerpoint/2010/main" val="2429669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E5036D-DEF7-B933-13E4-A1724AFD5B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28</a:t>
            </a:fld>
            <a:endParaRPr lang="tr-TR"/>
          </a:p>
        </p:txBody>
      </p:sp>
      <p:sp>
        <p:nvSpPr>
          <p:cNvPr id="4" name="TextBox 3">
            <a:extLst>
              <a:ext uri="{FF2B5EF4-FFF2-40B4-BE49-F238E27FC236}">
                <a16:creationId xmlns:a16="http://schemas.microsoft.com/office/drawing/2014/main" id="{DF8F4F63-31E3-DACC-64EF-7501BEF03C22}"/>
              </a:ext>
            </a:extLst>
          </p:cNvPr>
          <p:cNvSpPr txBox="1"/>
          <p:nvPr/>
        </p:nvSpPr>
        <p:spPr>
          <a:xfrm>
            <a:off x="1162325" y="173080"/>
            <a:ext cx="8079997" cy="830997"/>
          </a:xfrm>
          <a:prstGeom prst="rect">
            <a:avLst/>
          </a:prstGeom>
          <a:noFill/>
        </p:spPr>
        <p:txBody>
          <a:bodyPr wrap="square">
            <a:spAutoFit/>
          </a:bodyPr>
          <a:lstStyle/>
          <a:p>
            <a:r>
              <a:rPr lang="en-GB" sz="2400" b="1" dirty="0" err="1"/>
              <a:t>Yatırım</a:t>
            </a:r>
            <a:r>
              <a:rPr lang="en-GB" sz="2400" b="1" dirty="0"/>
              <a:t> </a:t>
            </a:r>
            <a:r>
              <a:rPr lang="en-GB" sz="2400" b="1" dirty="0" err="1"/>
              <a:t>tutarının</a:t>
            </a:r>
            <a:r>
              <a:rPr lang="en-GB" sz="2400" b="1" dirty="0"/>
              <a:t> </a:t>
            </a:r>
            <a:r>
              <a:rPr lang="en-GB" sz="2400" b="1" dirty="0" err="1"/>
              <a:t>sektörlere</a:t>
            </a:r>
            <a:r>
              <a:rPr lang="en-GB" sz="2400" b="1" dirty="0"/>
              <a:t> </a:t>
            </a:r>
            <a:r>
              <a:rPr lang="en-GB" sz="2400" b="1" dirty="0" err="1"/>
              <a:t>göre</a:t>
            </a:r>
            <a:r>
              <a:rPr lang="en-GB" sz="2400" b="1" dirty="0"/>
              <a:t> </a:t>
            </a:r>
            <a:r>
              <a:rPr lang="en-GB" sz="2400" b="1" dirty="0" err="1"/>
              <a:t>AB’deki</a:t>
            </a:r>
            <a:r>
              <a:rPr lang="en-GB" sz="2400" b="1" dirty="0"/>
              <a:t> </a:t>
            </a:r>
            <a:r>
              <a:rPr lang="en-GB" sz="2400" b="1" dirty="0" err="1"/>
              <a:t>dağılımı</a:t>
            </a:r>
            <a:r>
              <a:rPr lang="en-GB" sz="2400" b="1" dirty="0"/>
              <a:t> (</a:t>
            </a:r>
            <a:r>
              <a:rPr lang="en-GB" sz="2400" b="1" dirty="0" err="1"/>
              <a:t>Milyon</a:t>
            </a:r>
            <a:r>
              <a:rPr lang="en-GB" sz="2400" b="1" dirty="0"/>
              <a:t> </a:t>
            </a:r>
            <a:r>
              <a:rPr lang="en-GB" sz="2400" b="1" dirty="0" err="1"/>
              <a:t>Dolar</a:t>
            </a:r>
            <a:r>
              <a:rPr lang="en-GB" sz="2400" b="1" dirty="0"/>
              <a:t>)</a:t>
            </a:r>
          </a:p>
        </p:txBody>
      </p:sp>
      <p:pic>
        <p:nvPicPr>
          <p:cNvPr id="5" name="Picture 4">
            <a:extLst>
              <a:ext uri="{FF2B5EF4-FFF2-40B4-BE49-F238E27FC236}">
                <a16:creationId xmlns:a16="http://schemas.microsoft.com/office/drawing/2014/main" id="{B8FB0EB8-A25B-13DB-21B9-A26491475E45}"/>
              </a:ext>
            </a:extLst>
          </p:cNvPr>
          <p:cNvPicPr>
            <a:picLocks noChangeAspect="1"/>
          </p:cNvPicPr>
          <p:nvPr/>
        </p:nvPicPr>
        <p:blipFill>
          <a:blip r:embed="rId2"/>
          <a:stretch>
            <a:fillRect/>
          </a:stretch>
        </p:blipFill>
        <p:spPr>
          <a:xfrm>
            <a:off x="921666" y="1716412"/>
            <a:ext cx="7300667" cy="4553009"/>
          </a:xfrm>
          <a:prstGeom prst="rect">
            <a:avLst/>
          </a:prstGeom>
        </p:spPr>
      </p:pic>
    </p:spTree>
    <p:extLst>
      <p:ext uri="{BB962C8B-B14F-4D97-AF65-F5344CB8AC3E}">
        <p14:creationId xmlns:p14="http://schemas.microsoft.com/office/powerpoint/2010/main" val="827047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9EFED2-63C5-34FB-3B4C-DF3797741A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29</a:t>
            </a:fld>
            <a:endParaRPr lang="tr-TR"/>
          </a:p>
        </p:txBody>
      </p:sp>
      <p:sp>
        <p:nvSpPr>
          <p:cNvPr id="4" name="TextBox 3">
            <a:extLst>
              <a:ext uri="{FF2B5EF4-FFF2-40B4-BE49-F238E27FC236}">
                <a16:creationId xmlns:a16="http://schemas.microsoft.com/office/drawing/2014/main" id="{F78EB3EA-A89B-0628-ADD1-56082EBFDE5A}"/>
              </a:ext>
            </a:extLst>
          </p:cNvPr>
          <p:cNvSpPr txBox="1"/>
          <p:nvPr/>
        </p:nvSpPr>
        <p:spPr>
          <a:xfrm>
            <a:off x="1639613" y="472966"/>
            <a:ext cx="5864773" cy="276999"/>
          </a:xfrm>
          <a:prstGeom prst="rect">
            <a:avLst/>
          </a:prstGeom>
          <a:noFill/>
        </p:spPr>
        <p:txBody>
          <a:bodyPr wrap="square">
            <a:spAutoFit/>
          </a:bodyPr>
          <a:lstStyle/>
          <a:p>
            <a:r>
              <a:rPr lang="tr-TR" sz="1200" dirty="0">
                <a:effectLst/>
                <a:latin typeface="Times New Roman" panose="02020603050405020304" pitchFamily="18" charset="0"/>
                <a:ea typeface="Cambria" panose="02040503050406030204" pitchFamily="18" charset="0"/>
              </a:rPr>
              <a:t>Yatırım tutarına göre gayrimenkul sektöründeki faaliyetler, 2003-2013</a:t>
            </a:r>
            <a:endParaRPr lang="en-GB" dirty="0"/>
          </a:p>
        </p:txBody>
      </p:sp>
      <p:graphicFrame>
        <p:nvGraphicFramePr>
          <p:cNvPr id="5" name="Chart 4">
            <a:extLst>
              <a:ext uri="{FF2B5EF4-FFF2-40B4-BE49-F238E27FC236}">
                <a16:creationId xmlns:a16="http://schemas.microsoft.com/office/drawing/2014/main" id="{D3DDE7EE-1A6A-0C3C-FA6C-18BEB8B315AC}"/>
              </a:ext>
            </a:extLst>
          </p:cNvPr>
          <p:cNvGraphicFramePr/>
          <p:nvPr/>
        </p:nvGraphicFramePr>
        <p:xfrm>
          <a:off x="283779" y="0"/>
          <a:ext cx="7711227" cy="58437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99977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B0A6-55B7-CF36-C541-D040AD8BCD05}"/>
              </a:ext>
            </a:extLst>
          </p:cNvPr>
          <p:cNvSpPr>
            <a:spLocks noGrp="1"/>
          </p:cNvSpPr>
          <p:nvPr>
            <p:ph type="title"/>
          </p:nvPr>
        </p:nvSpPr>
        <p:spPr/>
        <p:txBody>
          <a:bodyPr/>
          <a:lstStyle/>
          <a:p>
            <a:endParaRPr lang="tr-TR"/>
          </a:p>
        </p:txBody>
      </p:sp>
      <p:sp>
        <p:nvSpPr>
          <p:cNvPr id="3" name="Text Placeholder 2">
            <a:extLst>
              <a:ext uri="{FF2B5EF4-FFF2-40B4-BE49-F238E27FC236}">
                <a16:creationId xmlns:a16="http://schemas.microsoft.com/office/drawing/2014/main" id="{CE5FBB38-198B-3D1C-70B0-7117D3728943}"/>
              </a:ext>
            </a:extLst>
          </p:cNvPr>
          <p:cNvSpPr>
            <a:spLocks noGrp="1"/>
          </p:cNvSpPr>
          <p:nvPr>
            <p:ph type="body" idx="1"/>
          </p:nvPr>
        </p:nvSpPr>
        <p:spPr/>
        <p:txBody>
          <a:bodyPr/>
          <a:lstStyle/>
          <a:p>
            <a:endParaRPr lang="tr-TR" sz="4400" dirty="0"/>
          </a:p>
          <a:p>
            <a:endParaRPr lang="tr-TR" sz="4400" dirty="0"/>
          </a:p>
          <a:p>
            <a:r>
              <a:rPr lang="tr-TR" sz="4400" dirty="0"/>
              <a:t>3.Birleşme ve </a:t>
            </a:r>
            <a:r>
              <a:rPr lang="tr-TR" sz="4400" dirty="0" err="1"/>
              <a:t>satınalmalar</a:t>
            </a:r>
            <a:endParaRPr lang="tr-TR" sz="4400" dirty="0"/>
          </a:p>
        </p:txBody>
      </p:sp>
      <p:sp>
        <p:nvSpPr>
          <p:cNvPr id="4" name="Slide Number Placeholder 3">
            <a:extLst>
              <a:ext uri="{FF2B5EF4-FFF2-40B4-BE49-F238E27FC236}">
                <a16:creationId xmlns:a16="http://schemas.microsoft.com/office/drawing/2014/main" id="{6CACCEBE-7680-0AF0-1EDF-26AA6AF782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30</a:t>
            </a:fld>
            <a:endParaRPr lang="tr-TR"/>
          </a:p>
        </p:txBody>
      </p:sp>
    </p:spTree>
    <p:extLst>
      <p:ext uri="{BB962C8B-B14F-4D97-AF65-F5344CB8AC3E}">
        <p14:creationId xmlns:p14="http://schemas.microsoft.com/office/powerpoint/2010/main" val="49350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29518C-252F-D40C-CCA5-949F659644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31</a:t>
            </a:fld>
            <a:endParaRPr lang="tr-TR"/>
          </a:p>
        </p:txBody>
      </p:sp>
      <p:sp>
        <p:nvSpPr>
          <p:cNvPr id="6" name="TextBox 5">
            <a:extLst>
              <a:ext uri="{FF2B5EF4-FFF2-40B4-BE49-F238E27FC236}">
                <a16:creationId xmlns:a16="http://schemas.microsoft.com/office/drawing/2014/main" id="{D344FA52-B1CF-DA38-5265-43DF29E117D2}"/>
              </a:ext>
            </a:extLst>
          </p:cNvPr>
          <p:cNvSpPr txBox="1"/>
          <p:nvPr/>
        </p:nvSpPr>
        <p:spPr>
          <a:xfrm>
            <a:off x="1156139" y="367862"/>
            <a:ext cx="6038192" cy="523220"/>
          </a:xfrm>
          <a:prstGeom prst="rect">
            <a:avLst/>
          </a:prstGeom>
          <a:noFill/>
        </p:spPr>
        <p:txBody>
          <a:bodyPr wrap="square">
            <a:spAutoFit/>
          </a:bodyPr>
          <a:lstStyle/>
          <a:p>
            <a:r>
              <a:rPr lang="en-GB" dirty="0"/>
              <a:t>: </a:t>
            </a:r>
            <a:r>
              <a:rPr lang="en-GB" dirty="0" err="1"/>
              <a:t>Türk</a:t>
            </a:r>
            <a:r>
              <a:rPr lang="en-GB" dirty="0"/>
              <a:t> </a:t>
            </a:r>
            <a:r>
              <a:rPr lang="en-GB" dirty="0" err="1"/>
              <a:t>ÇUŞ’ların</a:t>
            </a:r>
            <a:r>
              <a:rPr lang="en-GB" dirty="0"/>
              <a:t> </a:t>
            </a:r>
            <a:r>
              <a:rPr lang="en-GB" dirty="0" err="1"/>
              <a:t>birleşme</a:t>
            </a:r>
            <a:r>
              <a:rPr lang="en-GB" dirty="0"/>
              <a:t> </a:t>
            </a:r>
            <a:r>
              <a:rPr lang="en-GB" dirty="0" err="1"/>
              <a:t>ve</a:t>
            </a:r>
            <a:r>
              <a:rPr lang="en-GB" dirty="0"/>
              <a:t> </a:t>
            </a:r>
            <a:r>
              <a:rPr lang="en-GB" dirty="0" err="1"/>
              <a:t>satın</a:t>
            </a:r>
            <a:r>
              <a:rPr lang="en-GB" dirty="0"/>
              <a:t> </a:t>
            </a:r>
            <a:r>
              <a:rPr lang="en-GB" dirty="0" err="1"/>
              <a:t>almalarının</a:t>
            </a:r>
            <a:r>
              <a:rPr lang="en-GB" dirty="0"/>
              <a:t> </a:t>
            </a:r>
            <a:r>
              <a:rPr lang="en-GB" dirty="0" err="1"/>
              <a:t>yatırım</a:t>
            </a:r>
            <a:r>
              <a:rPr lang="en-GB" dirty="0"/>
              <a:t> </a:t>
            </a:r>
            <a:r>
              <a:rPr lang="en-GB" dirty="0" err="1"/>
              <a:t>tutarına</a:t>
            </a:r>
            <a:r>
              <a:rPr lang="en-GB" dirty="0"/>
              <a:t> </a:t>
            </a:r>
            <a:r>
              <a:rPr lang="en-GB" dirty="0" err="1"/>
              <a:t>ve</a:t>
            </a:r>
            <a:r>
              <a:rPr lang="en-GB" dirty="0"/>
              <a:t> </a:t>
            </a:r>
            <a:r>
              <a:rPr lang="en-GB" dirty="0" err="1"/>
              <a:t>sayısına</a:t>
            </a:r>
            <a:r>
              <a:rPr lang="en-GB" dirty="0"/>
              <a:t> </a:t>
            </a:r>
            <a:r>
              <a:rPr lang="en-GB" dirty="0" err="1"/>
              <a:t>göre</a:t>
            </a:r>
            <a:r>
              <a:rPr lang="en-GB" dirty="0"/>
              <a:t> </a:t>
            </a:r>
            <a:r>
              <a:rPr lang="en-GB" dirty="0" err="1"/>
              <a:t>dağılımı</a:t>
            </a:r>
            <a:r>
              <a:rPr lang="en-GB" dirty="0"/>
              <a:t>, 2000-2013</a:t>
            </a:r>
          </a:p>
        </p:txBody>
      </p:sp>
      <p:graphicFrame>
        <p:nvGraphicFramePr>
          <p:cNvPr id="7" name="Chart 6">
            <a:extLst>
              <a:ext uri="{FF2B5EF4-FFF2-40B4-BE49-F238E27FC236}">
                <a16:creationId xmlns:a16="http://schemas.microsoft.com/office/drawing/2014/main" id="{E11E497C-A1CC-C1E3-B6A7-AD8E11916813}"/>
              </a:ext>
            </a:extLst>
          </p:cNvPr>
          <p:cNvGraphicFramePr/>
          <p:nvPr/>
        </p:nvGraphicFramePr>
        <p:xfrm>
          <a:off x="299079" y="1458311"/>
          <a:ext cx="8545841" cy="51474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7242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6BE39A-35B9-BE84-A3C3-A916F66501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32</a:t>
            </a:fld>
            <a:endParaRPr lang="tr-TR"/>
          </a:p>
        </p:txBody>
      </p:sp>
      <p:sp>
        <p:nvSpPr>
          <p:cNvPr id="4" name="TextBox 3">
            <a:extLst>
              <a:ext uri="{FF2B5EF4-FFF2-40B4-BE49-F238E27FC236}">
                <a16:creationId xmlns:a16="http://schemas.microsoft.com/office/drawing/2014/main" id="{F7E93043-BDB2-87CD-7B82-7A3C1A8CA1AC}"/>
              </a:ext>
            </a:extLst>
          </p:cNvPr>
          <p:cNvSpPr txBox="1"/>
          <p:nvPr/>
        </p:nvSpPr>
        <p:spPr>
          <a:xfrm>
            <a:off x="1274379" y="462455"/>
            <a:ext cx="6595241" cy="523220"/>
          </a:xfrm>
          <a:prstGeom prst="rect">
            <a:avLst/>
          </a:prstGeom>
          <a:noFill/>
        </p:spPr>
        <p:txBody>
          <a:bodyPr wrap="square">
            <a:spAutoFit/>
          </a:bodyPr>
          <a:lstStyle/>
          <a:p>
            <a:r>
              <a:rPr lang="en-GB" dirty="0" err="1"/>
              <a:t>Birleşme</a:t>
            </a:r>
            <a:r>
              <a:rPr lang="en-GB" dirty="0"/>
              <a:t> </a:t>
            </a:r>
            <a:r>
              <a:rPr lang="en-GB" dirty="0" err="1"/>
              <a:t>ve</a:t>
            </a:r>
            <a:r>
              <a:rPr lang="en-GB" dirty="0"/>
              <a:t> </a:t>
            </a:r>
            <a:r>
              <a:rPr lang="en-GB" dirty="0" err="1"/>
              <a:t>satın</a:t>
            </a:r>
            <a:r>
              <a:rPr lang="en-GB" dirty="0"/>
              <a:t> alma </a:t>
            </a:r>
            <a:r>
              <a:rPr lang="en-GB" dirty="0" err="1"/>
              <a:t>tutarının</a:t>
            </a:r>
            <a:r>
              <a:rPr lang="en-GB" dirty="0"/>
              <a:t> </a:t>
            </a:r>
            <a:r>
              <a:rPr lang="en-GB" dirty="0" err="1"/>
              <a:t>hedef</a:t>
            </a:r>
            <a:r>
              <a:rPr lang="en-GB" dirty="0"/>
              <a:t> </a:t>
            </a:r>
            <a:r>
              <a:rPr lang="en-GB" dirty="0" err="1"/>
              <a:t>ülkelere</a:t>
            </a:r>
            <a:r>
              <a:rPr lang="en-GB" dirty="0"/>
              <a:t> </a:t>
            </a:r>
            <a:r>
              <a:rPr lang="en-GB" dirty="0" err="1"/>
              <a:t>göre</a:t>
            </a:r>
            <a:r>
              <a:rPr lang="en-GB" dirty="0"/>
              <a:t> </a:t>
            </a:r>
            <a:r>
              <a:rPr lang="en-GB" dirty="0" err="1"/>
              <a:t>dağılımı</a:t>
            </a:r>
            <a:r>
              <a:rPr lang="en-GB" dirty="0"/>
              <a:t>, 2000-2013</a:t>
            </a:r>
          </a:p>
          <a:p>
            <a:r>
              <a:rPr lang="en-GB" dirty="0"/>
              <a:t>(</a:t>
            </a:r>
            <a:r>
              <a:rPr lang="en-GB" dirty="0" err="1"/>
              <a:t>Milyon</a:t>
            </a:r>
            <a:r>
              <a:rPr lang="en-GB" dirty="0"/>
              <a:t> </a:t>
            </a:r>
            <a:r>
              <a:rPr lang="en-GB" dirty="0" err="1"/>
              <a:t>Dolar</a:t>
            </a:r>
            <a:r>
              <a:rPr lang="en-GB" dirty="0"/>
              <a:t>)</a:t>
            </a:r>
          </a:p>
        </p:txBody>
      </p:sp>
      <p:pic>
        <p:nvPicPr>
          <p:cNvPr id="5" name="Picture 4">
            <a:extLst>
              <a:ext uri="{FF2B5EF4-FFF2-40B4-BE49-F238E27FC236}">
                <a16:creationId xmlns:a16="http://schemas.microsoft.com/office/drawing/2014/main" id="{241F7B99-3CDF-46E5-EC5C-F79190E8A7FE}"/>
              </a:ext>
            </a:extLst>
          </p:cNvPr>
          <p:cNvPicPr>
            <a:picLocks noChangeAspect="1"/>
          </p:cNvPicPr>
          <p:nvPr/>
        </p:nvPicPr>
        <p:blipFill>
          <a:blip r:embed="rId2"/>
          <a:stretch>
            <a:fillRect/>
          </a:stretch>
        </p:blipFill>
        <p:spPr>
          <a:xfrm>
            <a:off x="440599" y="1369034"/>
            <a:ext cx="8875293" cy="5105338"/>
          </a:xfrm>
          <a:prstGeom prst="rect">
            <a:avLst/>
          </a:prstGeom>
        </p:spPr>
      </p:pic>
    </p:spTree>
    <p:extLst>
      <p:ext uri="{BB962C8B-B14F-4D97-AF65-F5344CB8AC3E}">
        <p14:creationId xmlns:p14="http://schemas.microsoft.com/office/powerpoint/2010/main" val="3863463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B7C898-0068-1D42-2A98-AF943FEB14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33</a:t>
            </a:fld>
            <a:endParaRPr lang="tr-TR"/>
          </a:p>
        </p:txBody>
      </p:sp>
      <p:sp>
        <p:nvSpPr>
          <p:cNvPr id="4" name="TextBox 3">
            <a:extLst>
              <a:ext uri="{FF2B5EF4-FFF2-40B4-BE49-F238E27FC236}">
                <a16:creationId xmlns:a16="http://schemas.microsoft.com/office/drawing/2014/main" id="{B10B3BAE-7238-C24D-6F0C-C4D90D96E938}"/>
              </a:ext>
            </a:extLst>
          </p:cNvPr>
          <p:cNvSpPr txBox="1"/>
          <p:nvPr/>
        </p:nvSpPr>
        <p:spPr>
          <a:xfrm>
            <a:off x="1261335" y="351429"/>
            <a:ext cx="6621330" cy="523220"/>
          </a:xfrm>
          <a:prstGeom prst="rect">
            <a:avLst/>
          </a:prstGeom>
          <a:noFill/>
        </p:spPr>
        <p:txBody>
          <a:bodyPr wrap="square">
            <a:spAutoFit/>
          </a:bodyPr>
          <a:lstStyle/>
          <a:p>
            <a:r>
              <a:rPr lang="en-GB" dirty="0" err="1"/>
              <a:t>Birleşme</a:t>
            </a:r>
            <a:r>
              <a:rPr lang="en-GB" dirty="0"/>
              <a:t> </a:t>
            </a:r>
            <a:r>
              <a:rPr lang="en-GB" dirty="0" err="1"/>
              <a:t>ve</a:t>
            </a:r>
            <a:r>
              <a:rPr lang="en-GB" dirty="0"/>
              <a:t> </a:t>
            </a:r>
            <a:r>
              <a:rPr lang="en-GB" dirty="0" err="1"/>
              <a:t>satın</a:t>
            </a:r>
            <a:r>
              <a:rPr lang="en-GB" dirty="0"/>
              <a:t> alma </a:t>
            </a:r>
            <a:r>
              <a:rPr lang="en-GB" dirty="0" err="1"/>
              <a:t>tutarının</a:t>
            </a:r>
            <a:r>
              <a:rPr lang="en-GB" dirty="0"/>
              <a:t> </a:t>
            </a:r>
            <a:r>
              <a:rPr lang="en-GB" dirty="0" err="1"/>
              <a:t>ekonomik</a:t>
            </a:r>
            <a:r>
              <a:rPr lang="en-GB" dirty="0"/>
              <a:t> </a:t>
            </a:r>
            <a:r>
              <a:rPr lang="en-GB" dirty="0" err="1"/>
              <a:t>bölgelere</a:t>
            </a:r>
            <a:r>
              <a:rPr lang="en-GB" dirty="0"/>
              <a:t> </a:t>
            </a:r>
            <a:r>
              <a:rPr lang="en-GB" dirty="0" err="1"/>
              <a:t>göre</a:t>
            </a:r>
            <a:r>
              <a:rPr lang="en-GB" dirty="0"/>
              <a:t> </a:t>
            </a:r>
            <a:r>
              <a:rPr lang="en-GB" dirty="0" err="1"/>
              <a:t>dağılımı</a:t>
            </a:r>
            <a:r>
              <a:rPr lang="en-GB" dirty="0"/>
              <a:t>, 2000-2013</a:t>
            </a:r>
          </a:p>
          <a:p>
            <a:r>
              <a:rPr lang="en-GB" dirty="0"/>
              <a:t>(</a:t>
            </a:r>
            <a:r>
              <a:rPr lang="en-GB" dirty="0" err="1"/>
              <a:t>Milyon</a:t>
            </a:r>
            <a:r>
              <a:rPr lang="en-GB" dirty="0"/>
              <a:t> </a:t>
            </a:r>
            <a:r>
              <a:rPr lang="en-GB" dirty="0" err="1"/>
              <a:t>Dolar</a:t>
            </a:r>
            <a:r>
              <a:rPr lang="en-GB" dirty="0"/>
              <a:t>)</a:t>
            </a:r>
          </a:p>
        </p:txBody>
      </p:sp>
      <p:pic>
        <p:nvPicPr>
          <p:cNvPr id="5" name="Picture 4">
            <a:extLst>
              <a:ext uri="{FF2B5EF4-FFF2-40B4-BE49-F238E27FC236}">
                <a16:creationId xmlns:a16="http://schemas.microsoft.com/office/drawing/2014/main" id="{84642765-3E09-8192-8F4E-7D4255DE8C3B}"/>
              </a:ext>
            </a:extLst>
          </p:cNvPr>
          <p:cNvPicPr>
            <a:picLocks noChangeAspect="1"/>
          </p:cNvPicPr>
          <p:nvPr/>
        </p:nvPicPr>
        <p:blipFill>
          <a:blip r:embed="rId2"/>
          <a:stretch>
            <a:fillRect/>
          </a:stretch>
        </p:blipFill>
        <p:spPr>
          <a:xfrm>
            <a:off x="153506" y="1472755"/>
            <a:ext cx="8295729" cy="5033816"/>
          </a:xfrm>
          <a:prstGeom prst="rect">
            <a:avLst/>
          </a:prstGeom>
        </p:spPr>
      </p:pic>
    </p:spTree>
    <p:extLst>
      <p:ext uri="{BB962C8B-B14F-4D97-AF65-F5344CB8AC3E}">
        <p14:creationId xmlns:p14="http://schemas.microsoft.com/office/powerpoint/2010/main" val="3064261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62585C-B4EA-DC52-879F-DC29CF7D98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34</a:t>
            </a:fld>
            <a:endParaRPr lang="tr-TR"/>
          </a:p>
        </p:txBody>
      </p:sp>
      <p:sp>
        <p:nvSpPr>
          <p:cNvPr id="4" name="TextBox 3">
            <a:extLst>
              <a:ext uri="{FF2B5EF4-FFF2-40B4-BE49-F238E27FC236}">
                <a16:creationId xmlns:a16="http://schemas.microsoft.com/office/drawing/2014/main" id="{26D276CE-501D-CC0C-ACEB-4B57FE7FD266}"/>
              </a:ext>
            </a:extLst>
          </p:cNvPr>
          <p:cNvSpPr txBox="1"/>
          <p:nvPr/>
        </p:nvSpPr>
        <p:spPr>
          <a:xfrm>
            <a:off x="1409700" y="139666"/>
            <a:ext cx="8137422" cy="830997"/>
          </a:xfrm>
          <a:prstGeom prst="rect">
            <a:avLst/>
          </a:prstGeom>
          <a:noFill/>
        </p:spPr>
        <p:txBody>
          <a:bodyPr wrap="square">
            <a:spAutoFit/>
          </a:bodyPr>
          <a:lstStyle/>
          <a:p>
            <a:r>
              <a:rPr lang="en-GB" sz="2400" b="1" dirty="0" err="1"/>
              <a:t>Birleşme</a:t>
            </a:r>
            <a:r>
              <a:rPr lang="en-GB" sz="2400" b="1" dirty="0"/>
              <a:t> ve </a:t>
            </a:r>
            <a:r>
              <a:rPr lang="en-GB" sz="2400" b="1" dirty="0" err="1"/>
              <a:t>satın</a:t>
            </a:r>
            <a:r>
              <a:rPr lang="en-GB" sz="2400" b="1" dirty="0"/>
              <a:t> alma </a:t>
            </a:r>
            <a:r>
              <a:rPr lang="en-GB" sz="2400" b="1" dirty="0" err="1"/>
              <a:t>tutarının</a:t>
            </a:r>
            <a:r>
              <a:rPr lang="en-GB" sz="2400" b="1" dirty="0"/>
              <a:t> </a:t>
            </a:r>
            <a:r>
              <a:rPr lang="en-GB" sz="2400" b="1" dirty="0" err="1"/>
              <a:t>coğrafi</a:t>
            </a:r>
            <a:r>
              <a:rPr lang="en-GB" sz="2400" b="1" dirty="0"/>
              <a:t> </a:t>
            </a:r>
            <a:r>
              <a:rPr lang="en-GB" sz="2400" b="1" dirty="0" err="1"/>
              <a:t>olarak</a:t>
            </a:r>
            <a:r>
              <a:rPr lang="en-GB" sz="2400" b="1" dirty="0"/>
              <a:t> </a:t>
            </a:r>
            <a:r>
              <a:rPr lang="en-GB" sz="2400" b="1" dirty="0" err="1"/>
              <a:t>dağılımı</a:t>
            </a:r>
            <a:r>
              <a:rPr lang="en-GB" sz="2400" b="1" dirty="0"/>
              <a:t>, 2003-2013</a:t>
            </a:r>
            <a:r>
              <a:rPr lang="tr-TR" sz="2400" b="1" dirty="0"/>
              <a:t> </a:t>
            </a:r>
            <a:r>
              <a:rPr lang="en-GB" sz="2400" b="1" dirty="0"/>
              <a:t>(</a:t>
            </a:r>
            <a:r>
              <a:rPr lang="en-GB" sz="2400" b="1" dirty="0" err="1"/>
              <a:t>Milyon</a:t>
            </a:r>
            <a:r>
              <a:rPr lang="en-GB" sz="2400" b="1" dirty="0"/>
              <a:t> Dolar)</a:t>
            </a:r>
          </a:p>
        </p:txBody>
      </p:sp>
      <p:graphicFrame>
        <p:nvGraphicFramePr>
          <p:cNvPr id="5" name="Chart 4">
            <a:extLst>
              <a:ext uri="{FF2B5EF4-FFF2-40B4-BE49-F238E27FC236}">
                <a16:creationId xmlns:a16="http://schemas.microsoft.com/office/drawing/2014/main" id="{F35541F6-6D58-9CC9-8C6D-23E6C223D63E}"/>
              </a:ext>
            </a:extLst>
          </p:cNvPr>
          <p:cNvGraphicFramePr/>
          <p:nvPr/>
        </p:nvGraphicFramePr>
        <p:xfrm>
          <a:off x="406525" y="739831"/>
          <a:ext cx="8330948" cy="58043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639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869C33-BA12-1B06-942A-51F1B21894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35</a:t>
            </a:fld>
            <a:endParaRPr lang="tr-TR"/>
          </a:p>
        </p:txBody>
      </p:sp>
      <p:sp>
        <p:nvSpPr>
          <p:cNvPr id="4" name="TextBox 3">
            <a:extLst>
              <a:ext uri="{FF2B5EF4-FFF2-40B4-BE49-F238E27FC236}">
                <a16:creationId xmlns:a16="http://schemas.microsoft.com/office/drawing/2014/main" id="{05D32888-1347-5646-3693-938A099F3520}"/>
              </a:ext>
            </a:extLst>
          </p:cNvPr>
          <p:cNvSpPr txBox="1"/>
          <p:nvPr/>
        </p:nvSpPr>
        <p:spPr>
          <a:xfrm>
            <a:off x="1135117" y="346841"/>
            <a:ext cx="5870027" cy="523220"/>
          </a:xfrm>
          <a:prstGeom prst="rect">
            <a:avLst/>
          </a:prstGeom>
          <a:noFill/>
        </p:spPr>
        <p:txBody>
          <a:bodyPr wrap="square">
            <a:spAutoFit/>
          </a:bodyPr>
          <a:lstStyle/>
          <a:p>
            <a:r>
              <a:rPr lang="en-GB" dirty="0" err="1"/>
              <a:t>Birleşme</a:t>
            </a:r>
            <a:r>
              <a:rPr lang="en-GB" dirty="0"/>
              <a:t> </a:t>
            </a:r>
            <a:r>
              <a:rPr lang="en-GB" dirty="0" err="1"/>
              <a:t>ve</a:t>
            </a:r>
            <a:r>
              <a:rPr lang="en-GB" dirty="0"/>
              <a:t> </a:t>
            </a:r>
            <a:r>
              <a:rPr lang="en-GB" dirty="0" err="1"/>
              <a:t>satın</a:t>
            </a:r>
            <a:r>
              <a:rPr lang="en-GB" dirty="0"/>
              <a:t> alma </a:t>
            </a:r>
            <a:r>
              <a:rPr lang="en-GB" dirty="0" err="1"/>
              <a:t>tutarının</a:t>
            </a:r>
            <a:r>
              <a:rPr lang="en-GB" dirty="0"/>
              <a:t> </a:t>
            </a:r>
            <a:r>
              <a:rPr lang="en-GB" dirty="0" err="1"/>
              <a:t>sektörel</a:t>
            </a:r>
            <a:r>
              <a:rPr lang="en-GB" dirty="0"/>
              <a:t> </a:t>
            </a:r>
            <a:r>
              <a:rPr lang="en-GB" dirty="0" err="1"/>
              <a:t>dağılımı</a:t>
            </a:r>
            <a:r>
              <a:rPr lang="en-GB" dirty="0"/>
              <a:t>, 2000-2013 </a:t>
            </a:r>
          </a:p>
          <a:p>
            <a:r>
              <a:rPr lang="en-GB" dirty="0"/>
              <a:t>(</a:t>
            </a:r>
            <a:r>
              <a:rPr lang="en-GB" dirty="0" err="1"/>
              <a:t>Milyon</a:t>
            </a:r>
            <a:r>
              <a:rPr lang="en-GB" dirty="0"/>
              <a:t> </a:t>
            </a:r>
            <a:r>
              <a:rPr lang="en-GB" dirty="0" err="1"/>
              <a:t>Dolar</a:t>
            </a:r>
            <a:r>
              <a:rPr lang="en-GB" dirty="0"/>
              <a:t>)</a:t>
            </a:r>
          </a:p>
        </p:txBody>
      </p:sp>
      <p:pic>
        <p:nvPicPr>
          <p:cNvPr id="5" name="Picture 4">
            <a:extLst>
              <a:ext uri="{FF2B5EF4-FFF2-40B4-BE49-F238E27FC236}">
                <a16:creationId xmlns:a16="http://schemas.microsoft.com/office/drawing/2014/main" id="{EAB54BF3-916F-B52E-43B1-5C740049ADCB}"/>
              </a:ext>
            </a:extLst>
          </p:cNvPr>
          <p:cNvPicPr>
            <a:picLocks noChangeAspect="1"/>
          </p:cNvPicPr>
          <p:nvPr/>
        </p:nvPicPr>
        <p:blipFill>
          <a:blip r:embed="rId2"/>
          <a:stretch>
            <a:fillRect/>
          </a:stretch>
        </p:blipFill>
        <p:spPr>
          <a:xfrm>
            <a:off x="118833" y="1573161"/>
            <a:ext cx="9025167" cy="4937998"/>
          </a:xfrm>
          <a:prstGeom prst="rect">
            <a:avLst/>
          </a:prstGeom>
        </p:spPr>
      </p:pic>
    </p:spTree>
    <p:extLst>
      <p:ext uri="{BB962C8B-B14F-4D97-AF65-F5344CB8AC3E}">
        <p14:creationId xmlns:p14="http://schemas.microsoft.com/office/powerpoint/2010/main" val="2876063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FB7535-68F9-2C6E-1BEB-55611C4FBE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36</a:t>
            </a:fld>
            <a:endParaRPr lang="tr-TR"/>
          </a:p>
        </p:txBody>
      </p:sp>
      <p:sp>
        <p:nvSpPr>
          <p:cNvPr id="4" name="TextBox 3">
            <a:extLst>
              <a:ext uri="{FF2B5EF4-FFF2-40B4-BE49-F238E27FC236}">
                <a16:creationId xmlns:a16="http://schemas.microsoft.com/office/drawing/2014/main" id="{11488C83-1AAE-7129-B850-5746C001F5E1}"/>
              </a:ext>
            </a:extLst>
          </p:cNvPr>
          <p:cNvSpPr txBox="1"/>
          <p:nvPr/>
        </p:nvSpPr>
        <p:spPr>
          <a:xfrm>
            <a:off x="1425389" y="373090"/>
            <a:ext cx="4593514" cy="523220"/>
          </a:xfrm>
          <a:prstGeom prst="rect">
            <a:avLst/>
          </a:prstGeom>
          <a:noFill/>
        </p:spPr>
        <p:txBody>
          <a:bodyPr wrap="square">
            <a:spAutoFit/>
          </a:bodyPr>
          <a:lstStyle/>
          <a:p>
            <a:r>
              <a:rPr lang="en-GB" dirty="0" err="1"/>
              <a:t>Eczacıbaşı</a:t>
            </a:r>
            <a:r>
              <a:rPr lang="en-GB" dirty="0"/>
              <a:t> </a:t>
            </a:r>
            <a:r>
              <a:rPr lang="en-GB" dirty="0" err="1"/>
              <a:t>Yapı</a:t>
            </a:r>
            <a:r>
              <a:rPr lang="en-GB" dirty="0"/>
              <a:t> </a:t>
            </a:r>
            <a:r>
              <a:rPr lang="en-GB" dirty="0" err="1"/>
              <a:t>yeşil</a:t>
            </a:r>
            <a:r>
              <a:rPr lang="en-GB" dirty="0"/>
              <a:t> </a:t>
            </a:r>
            <a:r>
              <a:rPr lang="en-GB" dirty="0" err="1"/>
              <a:t>alan</a:t>
            </a:r>
            <a:r>
              <a:rPr lang="en-GB" dirty="0"/>
              <a:t> </a:t>
            </a:r>
            <a:r>
              <a:rPr lang="en-GB" dirty="0" err="1"/>
              <a:t>yatırım</a:t>
            </a:r>
            <a:r>
              <a:rPr lang="en-GB" dirty="0"/>
              <a:t> </a:t>
            </a:r>
            <a:r>
              <a:rPr lang="en-GB" dirty="0" err="1"/>
              <a:t>tutarının</a:t>
            </a:r>
            <a:r>
              <a:rPr lang="en-GB" dirty="0"/>
              <a:t> </a:t>
            </a:r>
            <a:r>
              <a:rPr lang="en-GB" dirty="0" err="1"/>
              <a:t>ülkelere</a:t>
            </a:r>
            <a:r>
              <a:rPr lang="en-GB" dirty="0"/>
              <a:t> </a:t>
            </a:r>
            <a:r>
              <a:rPr lang="en-GB" dirty="0" err="1"/>
              <a:t>dağılımı</a:t>
            </a:r>
            <a:r>
              <a:rPr lang="en-GB" dirty="0"/>
              <a:t>, 2000-2013</a:t>
            </a:r>
          </a:p>
        </p:txBody>
      </p:sp>
      <p:pic>
        <p:nvPicPr>
          <p:cNvPr id="5" name="Picture 4">
            <a:extLst>
              <a:ext uri="{FF2B5EF4-FFF2-40B4-BE49-F238E27FC236}">
                <a16:creationId xmlns:a16="http://schemas.microsoft.com/office/drawing/2014/main" id="{6AD414C4-8253-5761-88DD-55415E4EA1C5}"/>
              </a:ext>
            </a:extLst>
          </p:cNvPr>
          <p:cNvPicPr>
            <a:picLocks noChangeAspect="1"/>
          </p:cNvPicPr>
          <p:nvPr/>
        </p:nvPicPr>
        <p:blipFill>
          <a:blip r:embed="rId2"/>
          <a:stretch>
            <a:fillRect/>
          </a:stretch>
        </p:blipFill>
        <p:spPr>
          <a:xfrm>
            <a:off x="749539" y="1106009"/>
            <a:ext cx="7644921" cy="5869847"/>
          </a:xfrm>
          <a:prstGeom prst="rect">
            <a:avLst/>
          </a:prstGeom>
        </p:spPr>
      </p:pic>
    </p:spTree>
    <p:extLst>
      <p:ext uri="{BB962C8B-B14F-4D97-AF65-F5344CB8AC3E}">
        <p14:creationId xmlns:p14="http://schemas.microsoft.com/office/powerpoint/2010/main" val="2612583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2A0A2-C8D4-3417-F781-8D7FA22B8820}"/>
              </a:ext>
            </a:extLst>
          </p:cNvPr>
          <p:cNvSpPr>
            <a:spLocks noGrp="1"/>
          </p:cNvSpPr>
          <p:nvPr>
            <p:ph type="title"/>
          </p:nvPr>
        </p:nvSpPr>
        <p:spPr>
          <a:xfrm>
            <a:off x="1104900" y="0"/>
            <a:ext cx="7886700" cy="990600"/>
          </a:xfrm>
        </p:spPr>
        <p:txBody>
          <a:bodyPr/>
          <a:lstStyle/>
          <a:p>
            <a:r>
              <a:rPr lang="tr-TR" dirty="0"/>
              <a:t>Yatırımın ardındaki motivasyonlar</a:t>
            </a:r>
          </a:p>
        </p:txBody>
      </p:sp>
      <p:sp>
        <p:nvSpPr>
          <p:cNvPr id="3" name="Text Placeholder 2">
            <a:extLst>
              <a:ext uri="{FF2B5EF4-FFF2-40B4-BE49-F238E27FC236}">
                <a16:creationId xmlns:a16="http://schemas.microsoft.com/office/drawing/2014/main" id="{2AA841B5-E14F-407E-0E65-7968AAEEE7C4}"/>
              </a:ext>
            </a:extLst>
          </p:cNvPr>
          <p:cNvSpPr>
            <a:spLocks noGrp="1"/>
          </p:cNvSpPr>
          <p:nvPr>
            <p:ph type="body" idx="1"/>
          </p:nvPr>
        </p:nvSpPr>
        <p:spPr/>
        <p:txBody>
          <a:bodyPr/>
          <a:lstStyle/>
          <a:p>
            <a:r>
              <a:rPr lang="tr-TR" dirty="0"/>
              <a:t>Pazara erişim</a:t>
            </a:r>
          </a:p>
          <a:p>
            <a:endParaRPr lang="tr-TR" dirty="0"/>
          </a:p>
          <a:p>
            <a:r>
              <a:rPr lang="tr-TR" dirty="0"/>
              <a:t>Maliyet avantajlarına erişim</a:t>
            </a:r>
          </a:p>
          <a:p>
            <a:endParaRPr lang="tr-TR" dirty="0"/>
          </a:p>
          <a:p>
            <a:r>
              <a:rPr lang="tr-TR" dirty="0"/>
              <a:t>Verimliliği artırma</a:t>
            </a:r>
          </a:p>
          <a:p>
            <a:endParaRPr lang="tr-TR" dirty="0"/>
          </a:p>
          <a:p>
            <a:r>
              <a:rPr lang="tr-TR" dirty="0"/>
              <a:t>Rekabetçi avantajlara erişmek</a:t>
            </a:r>
          </a:p>
          <a:p>
            <a:endParaRPr lang="tr-TR" dirty="0"/>
          </a:p>
          <a:p>
            <a:endParaRPr lang="tr-TR" dirty="0"/>
          </a:p>
        </p:txBody>
      </p:sp>
      <p:sp>
        <p:nvSpPr>
          <p:cNvPr id="4" name="Slide Number Placeholder 3">
            <a:extLst>
              <a:ext uri="{FF2B5EF4-FFF2-40B4-BE49-F238E27FC236}">
                <a16:creationId xmlns:a16="http://schemas.microsoft.com/office/drawing/2014/main" id="{F69EF6AC-EC1C-E9BA-EDCE-35929D9A7A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37</a:t>
            </a:fld>
            <a:endParaRPr lang="tr-TR"/>
          </a:p>
        </p:txBody>
      </p:sp>
    </p:spTree>
    <p:extLst>
      <p:ext uri="{BB962C8B-B14F-4D97-AF65-F5344CB8AC3E}">
        <p14:creationId xmlns:p14="http://schemas.microsoft.com/office/powerpoint/2010/main" val="13296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B97755-20C2-46A1-B0CD-996C262BCCA2}"/>
              </a:ext>
            </a:extLst>
          </p:cNvPr>
          <p:cNvSpPr>
            <a:spLocks noGrp="1"/>
          </p:cNvSpPr>
          <p:nvPr>
            <p:ph type="title"/>
          </p:nvPr>
        </p:nvSpPr>
        <p:spPr/>
        <p:txBody>
          <a:bodyPr/>
          <a:lstStyle/>
          <a:p>
            <a:r>
              <a:rPr lang="tr-TR" b="0" dirty="0" err="1"/>
              <a:t>Uluslararasılaşma</a:t>
            </a:r>
            <a:r>
              <a:rPr lang="en-US" b="0" dirty="0"/>
              <a:t> </a:t>
            </a:r>
            <a:r>
              <a:rPr lang="en-US" b="0" dirty="0" err="1"/>
              <a:t>stratejileri</a:t>
            </a:r>
            <a:endParaRPr lang="tr-TR" dirty="0"/>
          </a:p>
        </p:txBody>
      </p:sp>
      <p:sp>
        <p:nvSpPr>
          <p:cNvPr id="6" name="Text Placeholder 5">
            <a:extLst>
              <a:ext uri="{FF2B5EF4-FFF2-40B4-BE49-F238E27FC236}">
                <a16:creationId xmlns:a16="http://schemas.microsoft.com/office/drawing/2014/main" id="{8F1066DA-5E3F-44C7-A7C6-F3943D837232}"/>
              </a:ext>
            </a:extLst>
          </p:cNvPr>
          <p:cNvSpPr>
            <a:spLocks noGrp="1"/>
          </p:cNvSpPr>
          <p:nvPr>
            <p:ph type="body" idx="1"/>
          </p:nvPr>
        </p:nvSpPr>
        <p:spPr/>
        <p:txBody>
          <a:bodyPr/>
          <a:lstStyle/>
          <a:p>
            <a:r>
              <a:rPr lang="tr-TR" sz="2000" b="0" dirty="0"/>
              <a:t>Dışa dönük </a:t>
            </a:r>
            <a:r>
              <a:rPr lang="tr-TR" sz="2000" b="0" dirty="0" err="1"/>
              <a:t>uluslararasılaşma</a:t>
            </a:r>
            <a:r>
              <a:rPr lang="tr-TR" sz="2000" b="0" dirty="0"/>
              <a:t> ihracat, fabrika kurma, şube/mağaza açma gibi faaliyetlerle yabancı pazarlara nüfuz etmeyi ve yurt dışındaki şirketlerle ittifak, ortaklık, birleşme ve satın alma gibi faaliyetlerde bulunmayı ifade eder geniş bir kavramdır. </a:t>
            </a:r>
            <a:endParaRPr lang="en-US" sz="2000" b="0" dirty="0"/>
          </a:p>
          <a:p>
            <a:endParaRPr lang="en-US" sz="2000" b="0" dirty="0"/>
          </a:p>
          <a:p>
            <a:r>
              <a:rPr lang="tr-TR" sz="2000" b="0" dirty="0"/>
              <a:t>İçe dönük </a:t>
            </a:r>
            <a:r>
              <a:rPr lang="tr-TR" sz="2000" b="0" dirty="0" err="1"/>
              <a:t>uluslararasılaşma</a:t>
            </a:r>
            <a:r>
              <a:rPr lang="tr-TR" sz="2000" b="0" dirty="0"/>
              <a:t> ise şirketin yabancı ve gelişmiş teknolojilere, makina ve teçhizata, yönetim becerilerine ve tamamlayıcı yetkinliklere erişimini, bunların şirketin yönetim, üretim, pazarlama, satış gibi faaliyet ve süreçlerinde içselleştirilmesini ve bu sayede gerçekleşen şirket içi öğrenme süreçlerini ifade eder</a:t>
            </a:r>
            <a:r>
              <a:rPr lang="en-US" sz="2000" b="0" dirty="0"/>
              <a:t>.</a:t>
            </a:r>
            <a:endParaRPr lang="en-GB" sz="2000" b="0" dirty="0"/>
          </a:p>
          <a:p>
            <a:endParaRPr lang="tr-TR" dirty="0"/>
          </a:p>
        </p:txBody>
      </p:sp>
      <p:sp>
        <p:nvSpPr>
          <p:cNvPr id="4" name="Slide Number Placeholder 3">
            <a:extLst>
              <a:ext uri="{FF2B5EF4-FFF2-40B4-BE49-F238E27FC236}">
                <a16:creationId xmlns:a16="http://schemas.microsoft.com/office/drawing/2014/main" id="{D9F081C3-B8F5-4523-9563-97A40CC80A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38</a:t>
            </a:fld>
            <a:endParaRPr lang="tr-TR"/>
          </a:p>
        </p:txBody>
      </p:sp>
    </p:spTree>
    <p:extLst>
      <p:ext uri="{BB962C8B-B14F-4D97-AF65-F5344CB8AC3E}">
        <p14:creationId xmlns:p14="http://schemas.microsoft.com/office/powerpoint/2010/main" val="764326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4AF4C4-17F5-4F16-BC03-62C87E2A1FDB}"/>
              </a:ext>
            </a:extLst>
          </p:cNvPr>
          <p:cNvSpPr>
            <a:spLocks noGrp="1"/>
          </p:cNvSpPr>
          <p:nvPr>
            <p:ph type="title"/>
          </p:nvPr>
        </p:nvSpPr>
        <p:spPr/>
        <p:txBody>
          <a:bodyPr/>
          <a:lstStyle/>
          <a:p>
            <a:r>
              <a:rPr lang="en-US" dirty="0" err="1"/>
              <a:t>Motivasyonlara</a:t>
            </a:r>
            <a:r>
              <a:rPr lang="en-US" dirty="0"/>
              <a:t> </a:t>
            </a:r>
            <a:r>
              <a:rPr lang="tr-TR" dirty="0"/>
              <a:t>ö</a:t>
            </a:r>
            <a:r>
              <a:rPr lang="en-US" dirty="0" err="1"/>
              <a:t>rnek</a:t>
            </a:r>
            <a:endParaRPr lang="tr-TR" dirty="0"/>
          </a:p>
        </p:txBody>
      </p:sp>
      <p:sp>
        <p:nvSpPr>
          <p:cNvPr id="6" name="Text Placeholder 5">
            <a:extLst>
              <a:ext uri="{FF2B5EF4-FFF2-40B4-BE49-F238E27FC236}">
                <a16:creationId xmlns:a16="http://schemas.microsoft.com/office/drawing/2014/main" id="{1DAA675B-A713-4782-89B3-7F964C2B0D17}"/>
              </a:ext>
            </a:extLst>
          </p:cNvPr>
          <p:cNvSpPr>
            <a:spLocks noGrp="1"/>
          </p:cNvSpPr>
          <p:nvPr>
            <p:ph type="body" idx="1"/>
          </p:nvPr>
        </p:nvSpPr>
        <p:spPr>
          <a:xfrm>
            <a:off x="216309" y="1371600"/>
            <a:ext cx="8829367" cy="5486400"/>
          </a:xfrm>
        </p:spPr>
        <p:txBody>
          <a:bodyPr/>
          <a:lstStyle/>
          <a:p>
            <a:r>
              <a:rPr lang="tr-TR" sz="1400" b="0" dirty="0"/>
              <a:t>Örneğin, Ar-Ge yoğun bir sektörde faaliyet gösteren bir Türk </a:t>
            </a:r>
            <a:r>
              <a:rPr lang="tr-TR" sz="1400" b="0" dirty="0" err="1"/>
              <a:t>ÇUŞ’unun</a:t>
            </a:r>
            <a:r>
              <a:rPr lang="tr-TR" sz="1400" b="0" dirty="0"/>
              <a:t> satın alma stratejilerinden sorumlu üst düzey yöneticisi Orta Asya ülkesindeki yatırım motivasyonlarını, stratejilerini ve bazı riskleri şöyle özetliyor:</a:t>
            </a:r>
            <a:endParaRPr lang="en-GB" sz="1400" b="0" dirty="0"/>
          </a:p>
          <a:p>
            <a:endParaRPr lang="en-US" sz="1400" b="0" dirty="0"/>
          </a:p>
          <a:p>
            <a:r>
              <a:rPr lang="en-US" sz="1400" b="0" dirty="0"/>
              <a:t>“</a:t>
            </a:r>
            <a:r>
              <a:rPr lang="tr-TR" sz="1400" b="0" dirty="0"/>
              <a:t>Orada üretimin rasyoneli şudur. Bazı ürünlerde ithalat kabul etmiyorlar, ‘[yerel</a:t>
            </a:r>
            <a:r>
              <a:rPr lang="en-US" sz="1400" b="0" dirty="0"/>
              <a:t>] </a:t>
            </a:r>
            <a:r>
              <a:rPr lang="tr-TR" sz="1400" b="0" dirty="0"/>
              <a:t>üretici olmak zorundasın’ diyorlar. </a:t>
            </a:r>
            <a:r>
              <a:rPr lang="tr-TR" sz="1400" dirty="0"/>
              <a:t>Pazar erişimi </a:t>
            </a:r>
            <a:r>
              <a:rPr lang="tr-TR" sz="1400" b="0" dirty="0"/>
              <a:t>için [satın alıyoruz]. Aynı zamanda da maliyet [düşürmek için]. Orada üretirsek daha ucuza mâl edebileceğiz. Motivasyon bu. [Bu ülkelerde] devlet çok belirleyicidir. Biz orada şirketi aldık, üç ay sonra devlet anlaşmayı iptal etti. … Ama zamanla bütün ülkeler Türkiye’de olan evrimi geçirecek. Önemli olan Türkiye’nin eski halindeki ülkeleri bulup mümkün olduğunca kârımızı oradan artırmak. …[şirketler] daha önceden yurt dışı yatırımı düşünmezdi. Çünkü burada yurt dışı pazarlardan daha iyi kârlar vardı. Yurt dışı yatırım mantıksız olurdu. Burada kâr marjı olarak yüzde 50-60’lar varken gidip de yüzde 30-40’lara hatta aynısına bile risk almaya gerek yoktu. Hepsi buradaki pazarı büyütmeye çalıştı. Buradaki </a:t>
            </a:r>
            <a:r>
              <a:rPr lang="en-US" sz="1400" b="0" dirty="0"/>
              <a:t>[</a:t>
            </a:r>
            <a:r>
              <a:rPr lang="en-US" sz="1400" b="0" dirty="0" err="1"/>
              <a:t>Turkiye’deki</a:t>
            </a:r>
            <a:r>
              <a:rPr lang="en-US" sz="1400" b="0" dirty="0"/>
              <a:t>] </a:t>
            </a:r>
            <a:r>
              <a:rPr lang="tr-TR" sz="1400" b="0" dirty="0"/>
              <a:t>pazar payı onlar için her şeydi. Temel motivasyon her zaman satışı artırmaktır. Şu an buradaki </a:t>
            </a:r>
            <a:r>
              <a:rPr lang="tr-TR" sz="1400" dirty="0"/>
              <a:t>yüksek karlar kaybedildiği için </a:t>
            </a:r>
            <a:r>
              <a:rPr lang="tr-TR" sz="1400" b="0" dirty="0"/>
              <a:t>dış pazarlara yönlendirdi [şirketleri]. Aynı kârlar dış pazarlarda elde edilmeye çalışılıyor. …Sizden uzak bir pazarda ciddi bir pazar payı hemen almanız çok zor. Özellikle bir Türk şirketinin bunu alması çok zordur. … Tanımadığınız bir ülkenin şartlarında, oranın pazarlama stratejileri, satış stratejileri, insanların tüketim kültürleri. …Önce orayı keşfetmemiz, sonra </a:t>
            </a:r>
            <a:r>
              <a:rPr lang="tr-TR" sz="1400" b="0" dirty="0" err="1"/>
              <a:t>penetrasyonu</a:t>
            </a:r>
            <a:r>
              <a:rPr lang="tr-TR" sz="1400" b="0" dirty="0"/>
              <a:t> sağlamamız lazım. Hiçbir zaman, biz en azından, oranın en büyük şirketini satın alayım çok büyük bir yatırım yapayım demeyiz. Önce orta büyüklükte bir şirketle anlaşayım, sonra ayaklarımı yere basarak yürüyeyim stratejisi ön görülür. </a:t>
            </a:r>
            <a:r>
              <a:rPr lang="en-US" sz="1400" b="0" dirty="0"/>
              <a:t>“ </a:t>
            </a:r>
            <a:r>
              <a:rPr lang="tr-TR" sz="1400" b="0" dirty="0"/>
              <a:t>(Görüşme, 22 Kasım 2013)</a:t>
            </a:r>
            <a:endParaRPr lang="en-GB" sz="1400" b="0" dirty="0"/>
          </a:p>
          <a:p>
            <a:endParaRPr lang="tr-TR" dirty="0"/>
          </a:p>
        </p:txBody>
      </p:sp>
      <p:sp>
        <p:nvSpPr>
          <p:cNvPr id="4" name="Slide Number Placeholder 3">
            <a:extLst>
              <a:ext uri="{FF2B5EF4-FFF2-40B4-BE49-F238E27FC236}">
                <a16:creationId xmlns:a16="http://schemas.microsoft.com/office/drawing/2014/main" id="{2CDD21A0-52F7-40C3-BDA2-DA419BBA59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39</a:t>
            </a:fld>
            <a:endParaRPr lang="tr-TR"/>
          </a:p>
        </p:txBody>
      </p:sp>
    </p:spTree>
    <p:extLst>
      <p:ext uri="{BB962C8B-B14F-4D97-AF65-F5344CB8AC3E}">
        <p14:creationId xmlns:p14="http://schemas.microsoft.com/office/powerpoint/2010/main" val="4030039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AEF93C-A5F0-4BAD-8D1E-EA4FB42D2440}"/>
              </a:ext>
            </a:extLst>
          </p:cNvPr>
          <p:cNvSpPr>
            <a:spLocks noGrp="1"/>
          </p:cNvSpPr>
          <p:nvPr>
            <p:ph type="title"/>
          </p:nvPr>
        </p:nvSpPr>
        <p:spPr>
          <a:xfrm>
            <a:off x="1905000" y="86627"/>
            <a:ext cx="6705600" cy="990600"/>
          </a:xfrm>
        </p:spPr>
        <p:txBody>
          <a:bodyPr/>
          <a:lstStyle/>
          <a:p>
            <a:endParaRPr lang="tr-TR" dirty="0"/>
          </a:p>
        </p:txBody>
      </p:sp>
      <p:sp>
        <p:nvSpPr>
          <p:cNvPr id="7" name="Text Placeholder 6">
            <a:extLst>
              <a:ext uri="{FF2B5EF4-FFF2-40B4-BE49-F238E27FC236}">
                <a16:creationId xmlns:a16="http://schemas.microsoft.com/office/drawing/2014/main" id="{4A7C409F-8374-462C-8F56-39477B0E5FFF}"/>
              </a:ext>
            </a:extLst>
          </p:cNvPr>
          <p:cNvSpPr>
            <a:spLocks noGrp="1"/>
          </p:cNvSpPr>
          <p:nvPr>
            <p:ph type="body" idx="1"/>
          </p:nvPr>
        </p:nvSpPr>
        <p:spPr/>
        <p:txBody>
          <a:bodyPr/>
          <a:lstStyle/>
          <a:p>
            <a:endParaRPr lang="en-US" dirty="0"/>
          </a:p>
          <a:p>
            <a:r>
              <a:rPr lang="tr-TR" dirty="0"/>
              <a:t>Türk çokuluslu şirketleri ne tür avantajları kullanıyor?</a:t>
            </a:r>
            <a:r>
              <a:rPr lang="en-US" dirty="0"/>
              <a:t> </a:t>
            </a:r>
            <a:endParaRPr lang="tr-TR" dirty="0"/>
          </a:p>
        </p:txBody>
      </p:sp>
      <p:sp>
        <p:nvSpPr>
          <p:cNvPr id="5" name="Slide Number Placeholder 4">
            <a:extLst>
              <a:ext uri="{FF2B5EF4-FFF2-40B4-BE49-F238E27FC236}">
                <a16:creationId xmlns:a16="http://schemas.microsoft.com/office/drawing/2014/main" id="{8E72FBC4-DBA8-458A-A643-CF56212FE6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40</a:t>
            </a:fld>
            <a:endParaRPr lang="tr-TR"/>
          </a:p>
        </p:txBody>
      </p:sp>
    </p:spTree>
    <p:extLst>
      <p:ext uri="{BB962C8B-B14F-4D97-AF65-F5344CB8AC3E}">
        <p14:creationId xmlns:p14="http://schemas.microsoft.com/office/powerpoint/2010/main" val="436768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D99AF2-7C1E-4426-BABC-DFA45F6556AB}"/>
              </a:ext>
            </a:extLst>
          </p:cNvPr>
          <p:cNvSpPr>
            <a:spLocks noGrp="1"/>
          </p:cNvSpPr>
          <p:nvPr>
            <p:ph type="title"/>
          </p:nvPr>
        </p:nvSpPr>
        <p:spPr>
          <a:xfrm>
            <a:off x="914400" y="0"/>
            <a:ext cx="6705600" cy="769121"/>
          </a:xfrm>
        </p:spPr>
        <p:txBody>
          <a:bodyPr/>
          <a:lstStyle/>
          <a:p>
            <a:r>
              <a:rPr lang="en-US" sz="2400" dirty="0"/>
              <a:t>TCUS </a:t>
            </a:r>
            <a:r>
              <a:rPr lang="en-US" sz="2400" dirty="0" err="1"/>
              <a:t>satinalma</a:t>
            </a:r>
            <a:r>
              <a:rPr lang="en-US" sz="2400" dirty="0"/>
              <a:t> ve </a:t>
            </a:r>
            <a:r>
              <a:rPr lang="en-US" sz="2400" dirty="0" err="1"/>
              <a:t>ortaklik</a:t>
            </a:r>
            <a:r>
              <a:rPr lang="en-US" sz="2400" dirty="0"/>
              <a:t> </a:t>
            </a:r>
            <a:r>
              <a:rPr lang="en-US" sz="2400" dirty="0" err="1"/>
              <a:t>ornekleri</a:t>
            </a:r>
            <a:endParaRPr lang="tr-TR" sz="2400" dirty="0"/>
          </a:p>
        </p:txBody>
      </p:sp>
      <p:sp>
        <p:nvSpPr>
          <p:cNvPr id="4" name="Slide Number Placeholder 3">
            <a:extLst>
              <a:ext uri="{FF2B5EF4-FFF2-40B4-BE49-F238E27FC236}">
                <a16:creationId xmlns:a16="http://schemas.microsoft.com/office/drawing/2014/main" id="{83E558B6-C565-423B-A813-1B244BA7D5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41</a:t>
            </a:fld>
            <a:endParaRPr lang="tr-TR"/>
          </a:p>
        </p:txBody>
      </p:sp>
      <p:graphicFrame>
        <p:nvGraphicFramePr>
          <p:cNvPr id="7" name="Table 6">
            <a:extLst>
              <a:ext uri="{FF2B5EF4-FFF2-40B4-BE49-F238E27FC236}">
                <a16:creationId xmlns:a16="http://schemas.microsoft.com/office/drawing/2014/main" id="{E76A2C24-88B8-4DEF-86F6-A6A6A384E0A4}"/>
              </a:ext>
            </a:extLst>
          </p:cNvPr>
          <p:cNvGraphicFramePr>
            <a:graphicFrameLocks noGrp="1"/>
          </p:cNvGraphicFramePr>
          <p:nvPr/>
        </p:nvGraphicFramePr>
        <p:xfrm>
          <a:off x="0" y="108155"/>
          <a:ext cx="9144000" cy="6668207"/>
        </p:xfrm>
        <a:graphic>
          <a:graphicData uri="http://schemas.openxmlformats.org/drawingml/2006/table">
            <a:tbl>
              <a:tblPr firstRow="1" firstCol="1" bandRow="1">
                <a:tableStyleId>{5C22544A-7EE6-4342-B048-85BDC9FD1C3A}</a:tableStyleId>
              </a:tblPr>
              <a:tblGrid>
                <a:gridCol w="206417">
                  <a:extLst>
                    <a:ext uri="{9D8B030D-6E8A-4147-A177-3AD203B41FA5}">
                      <a16:colId xmlns:a16="http://schemas.microsoft.com/office/drawing/2014/main" val="1868381035"/>
                    </a:ext>
                  </a:extLst>
                </a:gridCol>
                <a:gridCol w="948803">
                  <a:extLst>
                    <a:ext uri="{9D8B030D-6E8A-4147-A177-3AD203B41FA5}">
                      <a16:colId xmlns:a16="http://schemas.microsoft.com/office/drawing/2014/main" val="1394408083"/>
                    </a:ext>
                  </a:extLst>
                </a:gridCol>
                <a:gridCol w="1103228">
                  <a:extLst>
                    <a:ext uri="{9D8B030D-6E8A-4147-A177-3AD203B41FA5}">
                      <a16:colId xmlns:a16="http://schemas.microsoft.com/office/drawing/2014/main" val="4174292401"/>
                    </a:ext>
                  </a:extLst>
                </a:gridCol>
                <a:gridCol w="1818303">
                  <a:extLst>
                    <a:ext uri="{9D8B030D-6E8A-4147-A177-3AD203B41FA5}">
                      <a16:colId xmlns:a16="http://schemas.microsoft.com/office/drawing/2014/main" val="2397987353"/>
                    </a:ext>
                  </a:extLst>
                </a:gridCol>
                <a:gridCol w="1558546">
                  <a:extLst>
                    <a:ext uri="{9D8B030D-6E8A-4147-A177-3AD203B41FA5}">
                      <a16:colId xmlns:a16="http://schemas.microsoft.com/office/drawing/2014/main" val="1895616483"/>
                    </a:ext>
                  </a:extLst>
                </a:gridCol>
                <a:gridCol w="1059126">
                  <a:extLst>
                    <a:ext uri="{9D8B030D-6E8A-4147-A177-3AD203B41FA5}">
                      <a16:colId xmlns:a16="http://schemas.microsoft.com/office/drawing/2014/main" val="324811606"/>
                    </a:ext>
                  </a:extLst>
                </a:gridCol>
                <a:gridCol w="1213754">
                  <a:extLst>
                    <a:ext uri="{9D8B030D-6E8A-4147-A177-3AD203B41FA5}">
                      <a16:colId xmlns:a16="http://schemas.microsoft.com/office/drawing/2014/main" val="1906633243"/>
                    </a:ext>
                  </a:extLst>
                </a:gridCol>
                <a:gridCol w="1235823">
                  <a:extLst>
                    <a:ext uri="{9D8B030D-6E8A-4147-A177-3AD203B41FA5}">
                      <a16:colId xmlns:a16="http://schemas.microsoft.com/office/drawing/2014/main" val="3314696343"/>
                    </a:ext>
                  </a:extLst>
                </a:gridCol>
              </a:tblGrid>
              <a:tr h="570271">
                <a:tc>
                  <a:txBody>
                    <a:bodyPr/>
                    <a:lstStyle/>
                    <a:p>
                      <a:pPr indent="449580" algn="ctr">
                        <a:lnSpc>
                          <a:spcPct val="150000"/>
                        </a:lnSpc>
                        <a:spcAft>
                          <a:spcPts val="0"/>
                        </a:spcAft>
                      </a:pPr>
                      <a:r>
                        <a:rPr lang="tr-TR" sz="900" dirty="0">
                          <a:solidFill>
                            <a:srgbClr val="FF0000"/>
                          </a:solidFill>
                          <a:effectLst/>
                        </a:rPr>
                        <a:t>Sıra</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900" dirty="0">
                          <a:solidFill>
                            <a:srgbClr val="FF0000"/>
                          </a:solidFill>
                          <a:effectLst/>
                        </a:rPr>
                        <a:t>Satın alma değeri (milyon dolar)</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900" dirty="0">
                          <a:solidFill>
                            <a:srgbClr val="FF0000"/>
                          </a:solidFill>
                          <a:effectLst/>
                        </a:rPr>
                        <a:t>Anlaşma Tarihi</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900" dirty="0">
                          <a:solidFill>
                            <a:srgbClr val="FF0000"/>
                          </a:solidFill>
                          <a:effectLst/>
                        </a:rPr>
                        <a:t>Satın alan Türk </a:t>
                      </a:r>
                      <a:r>
                        <a:rPr lang="tr-TR" sz="900" dirty="0" err="1">
                          <a:solidFill>
                            <a:srgbClr val="FF0000"/>
                          </a:solidFill>
                          <a:effectLst/>
                        </a:rPr>
                        <a:t>ÇUŞ’ları</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900" dirty="0">
                          <a:solidFill>
                            <a:srgbClr val="FF0000"/>
                          </a:solidFill>
                          <a:effectLst/>
                        </a:rPr>
                        <a:t>Hedef şirket</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900" dirty="0">
                          <a:solidFill>
                            <a:srgbClr val="FF0000"/>
                          </a:solidFill>
                          <a:effectLst/>
                        </a:rPr>
                        <a:t>Sektör</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900" dirty="0">
                          <a:solidFill>
                            <a:srgbClr val="FF0000"/>
                          </a:solidFill>
                          <a:effectLst/>
                        </a:rPr>
                        <a:t>Hedef Ülke</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900" dirty="0">
                          <a:solidFill>
                            <a:srgbClr val="FF0000"/>
                          </a:solidFill>
                          <a:effectLst/>
                        </a:rPr>
                        <a:t>Alınan Hisse Oranı (%)</a:t>
                      </a:r>
                      <a:endParaRPr lang="en-GB" sz="900" dirty="0">
                        <a:solidFill>
                          <a:srgbClr val="FF0000"/>
                        </a:solidFill>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extLst>
                  <a:ext uri="{0D108BD9-81ED-4DB2-BD59-A6C34878D82A}">
                    <a16:rowId xmlns:a16="http://schemas.microsoft.com/office/drawing/2014/main" val="497590443"/>
                  </a:ext>
                </a:extLst>
              </a:tr>
              <a:tr h="814303">
                <a:tc>
                  <a:txBody>
                    <a:bodyPr/>
                    <a:lstStyle/>
                    <a:p>
                      <a:pPr indent="449580" algn="ctr">
                        <a:lnSpc>
                          <a:spcPct val="150000"/>
                        </a:lnSpc>
                        <a:spcAft>
                          <a:spcPts val="0"/>
                        </a:spcAft>
                      </a:pPr>
                      <a:r>
                        <a:rPr lang="tr-TR" sz="1000" dirty="0">
                          <a:effectLst/>
                        </a:rPr>
                        <a:t>1</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1.900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2011</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Anadolu Efes</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1000">
                          <a:effectLst/>
                        </a:rPr>
                        <a:t>SABMiller (Rusya ve Ukrayna faaliyetleri)</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Yiyecek - İçecek</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a:effectLst/>
                        </a:rPr>
                        <a:t>Rusya ve Ukrayna</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100,00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3823720299"/>
                  </a:ext>
                </a:extLst>
              </a:tr>
              <a:tr h="636176">
                <a:tc>
                  <a:txBody>
                    <a:bodyPr/>
                    <a:lstStyle/>
                    <a:p>
                      <a:pPr indent="449580" algn="ctr">
                        <a:lnSpc>
                          <a:spcPct val="150000"/>
                        </a:lnSpc>
                        <a:spcAft>
                          <a:spcPts val="0"/>
                        </a:spcAft>
                      </a:pPr>
                      <a:r>
                        <a:rPr lang="tr-TR" sz="1000" dirty="0">
                          <a:effectLst/>
                        </a:rPr>
                        <a:t>2</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850</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2007</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Yıldız Holding A.Ş.</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err="1">
                          <a:effectLst/>
                        </a:rPr>
                        <a:t>Godiva</a:t>
                      </a:r>
                      <a:r>
                        <a:rPr lang="tr-TR" sz="1000" dirty="0">
                          <a:effectLst/>
                        </a:rPr>
                        <a:t> </a:t>
                      </a:r>
                      <a:r>
                        <a:rPr lang="tr-TR" sz="1000" dirty="0" err="1">
                          <a:effectLst/>
                        </a:rPr>
                        <a:t>Chocolatier</a:t>
                      </a:r>
                      <a:r>
                        <a:rPr lang="tr-TR" sz="1000" dirty="0">
                          <a:effectLst/>
                        </a:rPr>
                        <a:t> </a:t>
                      </a:r>
                      <a:r>
                        <a:rPr lang="tr-TR" sz="1000" dirty="0" err="1">
                          <a:effectLst/>
                        </a:rPr>
                        <a:t>Inc</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Yiyecek - İçecek</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ABD</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100,00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1706113865"/>
                  </a:ext>
                </a:extLst>
              </a:tr>
              <a:tr h="531505">
                <a:tc>
                  <a:txBody>
                    <a:bodyPr/>
                    <a:lstStyle/>
                    <a:p>
                      <a:pPr indent="449580" algn="ctr">
                        <a:lnSpc>
                          <a:spcPct val="150000"/>
                        </a:lnSpc>
                        <a:spcAft>
                          <a:spcPts val="0"/>
                        </a:spcAft>
                      </a:pPr>
                      <a:r>
                        <a:rPr lang="tr-TR" sz="1000" dirty="0">
                          <a:effectLst/>
                        </a:rPr>
                        <a:t>3</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a:effectLst/>
                        </a:rPr>
                        <a:t>598</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2013</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Doğuş Holding</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1000">
                          <a:effectLst/>
                        </a:rPr>
                        <a:t>Astir Palace</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Gayrimenkul</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a:effectLst/>
                        </a:rPr>
                        <a:t>Yunanistan</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M/D </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471087108"/>
                  </a:ext>
                </a:extLst>
              </a:tr>
              <a:tr h="531505">
                <a:tc>
                  <a:txBody>
                    <a:bodyPr/>
                    <a:lstStyle/>
                    <a:p>
                      <a:pPr indent="449580" algn="ctr">
                        <a:lnSpc>
                          <a:spcPct val="150000"/>
                        </a:lnSpc>
                        <a:spcAft>
                          <a:spcPts val="0"/>
                        </a:spcAft>
                      </a:pPr>
                      <a:r>
                        <a:rPr lang="tr-TR" sz="1000" dirty="0">
                          <a:effectLst/>
                        </a:rPr>
                        <a:t>4</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a:effectLst/>
                        </a:rPr>
                        <a:t>580</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2006</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err="1">
                          <a:effectLst/>
                        </a:rPr>
                        <a:t>Fiba</a:t>
                      </a:r>
                      <a:r>
                        <a:rPr lang="tr-TR" sz="1000" dirty="0">
                          <a:effectLst/>
                        </a:rPr>
                        <a:t> Holding A.Ş.</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Finans Intl Holding NV</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Bankacılık - Finans</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Hollanda</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100,00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2284191344"/>
                  </a:ext>
                </a:extLst>
              </a:tr>
              <a:tr h="800130">
                <a:tc>
                  <a:txBody>
                    <a:bodyPr/>
                    <a:lstStyle/>
                    <a:p>
                      <a:pPr indent="449580" algn="ctr">
                        <a:lnSpc>
                          <a:spcPct val="150000"/>
                        </a:lnSpc>
                        <a:spcAft>
                          <a:spcPts val="0"/>
                        </a:spcAft>
                      </a:pPr>
                      <a:r>
                        <a:rPr lang="tr-TR" sz="1000" dirty="0">
                          <a:effectLst/>
                        </a:rPr>
                        <a:t>5</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532</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2008</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Gübretaş; Tabosan;</a:t>
                      </a:r>
                      <a:br>
                        <a:rPr lang="tr-TR" sz="1000">
                          <a:effectLst/>
                        </a:rPr>
                      </a:br>
                      <a:r>
                        <a:rPr lang="tr-TR" sz="1000">
                          <a:effectLst/>
                        </a:rPr>
                        <a:t>Asia Gas Energy</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Razi Petrochemical</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Petrokimya sanayii</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a:effectLst/>
                        </a:rPr>
                        <a:t>İran</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83,70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1435896688"/>
                  </a:ext>
                </a:extLst>
              </a:tr>
              <a:tr h="531505">
                <a:tc>
                  <a:txBody>
                    <a:bodyPr/>
                    <a:lstStyle/>
                    <a:p>
                      <a:pPr indent="449580" algn="ctr">
                        <a:lnSpc>
                          <a:spcPct val="150000"/>
                        </a:lnSpc>
                        <a:spcAft>
                          <a:spcPts val="0"/>
                        </a:spcAft>
                      </a:pPr>
                      <a:r>
                        <a:rPr lang="tr-TR" sz="1000" dirty="0">
                          <a:effectLst/>
                        </a:rPr>
                        <a:t>6</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500,9</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2010</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Yıldırım Holding A.Ş.</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CMA CGM SA</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Taşımacılık – Ulaşım</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Fransa</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20,00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3037627786"/>
                  </a:ext>
                </a:extLst>
              </a:tr>
              <a:tr h="531505">
                <a:tc>
                  <a:txBody>
                    <a:bodyPr/>
                    <a:lstStyle/>
                    <a:p>
                      <a:pPr indent="449580" algn="ctr">
                        <a:lnSpc>
                          <a:spcPct val="150000"/>
                        </a:lnSpc>
                        <a:spcAft>
                          <a:spcPts val="0"/>
                        </a:spcAft>
                      </a:pPr>
                      <a:r>
                        <a:rPr lang="tr-TR" sz="1000" dirty="0">
                          <a:effectLst/>
                        </a:rPr>
                        <a:t>7</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a:effectLst/>
                        </a:rPr>
                        <a:t>500</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2008</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Türkcell</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Belarusian Telecom</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Telekomünikasyon</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Belarus</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80,00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1992161785"/>
                  </a:ext>
                </a:extLst>
              </a:tr>
              <a:tr h="636176">
                <a:tc>
                  <a:txBody>
                    <a:bodyPr/>
                    <a:lstStyle/>
                    <a:p>
                      <a:pPr indent="449580" algn="ctr">
                        <a:lnSpc>
                          <a:spcPct val="150000"/>
                        </a:lnSpc>
                        <a:spcAft>
                          <a:spcPts val="0"/>
                        </a:spcAft>
                      </a:pPr>
                      <a:r>
                        <a:rPr lang="tr-TR" sz="1000" dirty="0">
                          <a:effectLst/>
                        </a:rPr>
                        <a:t>8</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425</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2013</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dirty="0">
                          <a:effectLst/>
                        </a:rPr>
                        <a:t>Yıldırım Holding</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Chrome Division of Mechel</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Madencilik</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Rusya, Kazakistan</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100,00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1296968958"/>
                  </a:ext>
                </a:extLst>
              </a:tr>
              <a:tr h="531505">
                <a:tc>
                  <a:txBody>
                    <a:bodyPr/>
                    <a:lstStyle/>
                    <a:p>
                      <a:pPr indent="449580" algn="ctr">
                        <a:lnSpc>
                          <a:spcPct val="150000"/>
                        </a:lnSpc>
                        <a:spcAft>
                          <a:spcPts val="0"/>
                        </a:spcAft>
                      </a:pPr>
                      <a:r>
                        <a:rPr lang="tr-TR" sz="1000" dirty="0">
                          <a:effectLst/>
                        </a:rPr>
                        <a:t>9</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a:effectLst/>
                        </a:rPr>
                        <a:t>336,5</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2007</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Hürriyet Invest B.V.</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l">
                        <a:lnSpc>
                          <a:spcPct val="150000"/>
                        </a:lnSpc>
                        <a:spcAft>
                          <a:spcPts val="0"/>
                        </a:spcAft>
                      </a:pPr>
                      <a:r>
                        <a:rPr lang="tr-TR" sz="1000">
                          <a:effectLst/>
                        </a:rPr>
                        <a:t>Trader Media East Ltd</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dirty="0">
                          <a:effectLst/>
                        </a:rPr>
                        <a:t>Medya - reklamcılık</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Hollanda</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67,30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2220572508"/>
                  </a:ext>
                </a:extLst>
              </a:tr>
              <a:tr h="531505">
                <a:tc>
                  <a:txBody>
                    <a:bodyPr/>
                    <a:lstStyle/>
                    <a:p>
                      <a:pPr indent="449580" algn="ctr">
                        <a:lnSpc>
                          <a:spcPct val="150000"/>
                        </a:lnSpc>
                        <a:spcAft>
                          <a:spcPts val="0"/>
                        </a:spcAft>
                      </a:pPr>
                      <a:r>
                        <a:rPr lang="tr-TR" sz="1000">
                          <a:effectLst/>
                        </a:rPr>
                        <a:t>10</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b"/>
                </a:tc>
                <a:tc>
                  <a:txBody>
                    <a:bodyPr/>
                    <a:lstStyle/>
                    <a:p>
                      <a:pPr indent="449580" algn="ctr">
                        <a:lnSpc>
                          <a:spcPct val="150000"/>
                        </a:lnSpc>
                        <a:spcAft>
                          <a:spcPts val="0"/>
                        </a:spcAft>
                      </a:pPr>
                      <a:r>
                        <a:rPr lang="tr-TR" sz="1000">
                          <a:effectLst/>
                        </a:rPr>
                        <a:t>323,7</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a:effectLst/>
                        </a:rPr>
                        <a:t>2011</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Arçelik A.Ş.</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Defy Appliances Limited</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İmalat</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l">
                        <a:lnSpc>
                          <a:spcPct val="150000"/>
                        </a:lnSpc>
                        <a:spcAft>
                          <a:spcPts val="0"/>
                        </a:spcAft>
                      </a:pPr>
                      <a:r>
                        <a:rPr lang="tr-TR" sz="1000">
                          <a:effectLst/>
                        </a:rPr>
                        <a:t>Güney Afrika</a:t>
                      </a:r>
                      <a:endParaRPr lang="en-GB" sz="100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tc>
                  <a:txBody>
                    <a:bodyPr/>
                    <a:lstStyle/>
                    <a:p>
                      <a:pPr indent="449580" algn="ctr">
                        <a:lnSpc>
                          <a:spcPct val="150000"/>
                        </a:lnSpc>
                        <a:spcAft>
                          <a:spcPts val="0"/>
                        </a:spcAft>
                      </a:pPr>
                      <a:r>
                        <a:rPr lang="tr-TR" sz="1000" dirty="0">
                          <a:effectLst/>
                        </a:rPr>
                        <a:t>100,00</a:t>
                      </a:r>
                      <a:endParaRPr lang="en-GB" sz="1000" dirty="0">
                        <a:effectLst/>
                        <a:latin typeface="Times New Roman" panose="02020603050405020304" pitchFamily="18" charset="0"/>
                        <a:ea typeface="Cambria" panose="02040503050406030204" pitchFamily="18" charset="0"/>
                        <a:cs typeface="Arial" panose="020B0604020202020204" pitchFamily="34" charset="0"/>
                      </a:endParaRPr>
                    </a:p>
                  </a:txBody>
                  <a:tcPr marL="28226" marR="28226" marT="0" marB="0" anchor="ctr"/>
                </a:tc>
                <a:extLst>
                  <a:ext uri="{0D108BD9-81ED-4DB2-BD59-A6C34878D82A}">
                    <a16:rowId xmlns:a16="http://schemas.microsoft.com/office/drawing/2014/main" val="2166266866"/>
                  </a:ext>
                </a:extLst>
              </a:tr>
            </a:tbl>
          </a:graphicData>
        </a:graphic>
      </p:graphicFrame>
    </p:spTree>
    <p:extLst>
      <p:ext uri="{BB962C8B-B14F-4D97-AF65-F5344CB8AC3E}">
        <p14:creationId xmlns:p14="http://schemas.microsoft.com/office/powerpoint/2010/main" val="329262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A87487-914B-4FDB-BF52-CE9573ED304A}"/>
              </a:ext>
            </a:extLst>
          </p:cNvPr>
          <p:cNvSpPr>
            <a:spLocks noGrp="1"/>
          </p:cNvSpPr>
          <p:nvPr>
            <p:ph type="title"/>
          </p:nvPr>
        </p:nvSpPr>
        <p:spPr/>
        <p:txBody>
          <a:bodyPr/>
          <a:lstStyle/>
          <a:p>
            <a:endParaRPr lang="tr-TR"/>
          </a:p>
        </p:txBody>
      </p:sp>
      <p:sp>
        <p:nvSpPr>
          <p:cNvPr id="7" name="Text Placeholder 6">
            <a:extLst>
              <a:ext uri="{FF2B5EF4-FFF2-40B4-BE49-F238E27FC236}">
                <a16:creationId xmlns:a16="http://schemas.microsoft.com/office/drawing/2014/main" id="{4B406F0D-1DCC-4EE2-9624-E9D12B04F533}"/>
              </a:ext>
            </a:extLst>
          </p:cNvPr>
          <p:cNvSpPr>
            <a:spLocks noGrp="1"/>
          </p:cNvSpPr>
          <p:nvPr>
            <p:ph type="body" idx="1"/>
          </p:nvPr>
        </p:nvSpPr>
        <p:spPr/>
        <p:txBody>
          <a:bodyPr/>
          <a:lstStyle/>
          <a:p>
            <a:r>
              <a:rPr lang="tr-TR" sz="2000" b="0" dirty="0"/>
              <a:t>Eczacıbaşı Yapı’nın dış yatırımlarında şirkete özgü avantajlarını kullanma ve bu avantajları geliştirme motivasyonu bulunuyor:</a:t>
            </a:r>
            <a:endParaRPr lang="en-US" sz="2000" b="0" dirty="0"/>
          </a:p>
          <a:p>
            <a:endParaRPr lang="en-US" sz="2000" b="0" dirty="0"/>
          </a:p>
          <a:p>
            <a:pPr marL="114300" indent="0">
              <a:buNone/>
            </a:pPr>
            <a:endParaRPr lang="en-GB" sz="2000" b="0" dirty="0"/>
          </a:p>
          <a:p>
            <a:r>
              <a:rPr lang="tr-TR" sz="2000" b="0" dirty="0"/>
              <a:t>... [B]iz Seramik sektöründe dünyadaki en iyi teknik bilgi ve uzmanlığa sahip olduğumuza inanıyoruz. Dolayısıyla bizim bu konuda teknik bilgi ve uzmanlık almak için yurt dışında herhangi bir yurt dışı yatırım yapmaya ihtiyacımız yok. Bu konuda bir istisna İtalya olabilir. Çünkü İtalya bu alanda sektörde trendlerin gelişmesi konusunda bir adım öndedir. İtalya’da bir yatırım yaparsak, bu amaçla yaparız bir gün. (Görüşme, 8 Ocak 2013)</a:t>
            </a:r>
            <a:endParaRPr lang="en-GB" sz="2000" b="0" dirty="0"/>
          </a:p>
          <a:p>
            <a:endParaRPr lang="tr-TR" dirty="0"/>
          </a:p>
        </p:txBody>
      </p:sp>
      <p:sp>
        <p:nvSpPr>
          <p:cNvPr id="5" name="Slide Number Placeholder 4">
            <a:extLst>
              <a:ext uri="{FF2B5EF4-FFF2-40B4-BE49-F238E27FC236}">
                <a16:creationId xmlns:a16="http://schemas.microsoft.com/office/drawing/2014/main" id="{DEBE6444-4D46-4178-93BC-CEDBB58BB2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42</a:t>
            </a:fld>
            <a:endParaRPr lang="tr-TR"/>
          </a:p>
        </p:txBody>
      </p:sp>
    </p:spTree>
    <p:extLst>
      <p:ext uri="{BB962C8B-B14F-4D97-AF65-F5344CB8AC3E}">
        <p14:creationId xmlns:p14="http://schemas.microsoft.com/office/powerpoint/2010/main" val="1240086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0A157F-BB2A-4840-90AE-EB14565C453A}"/>
              </a:ext>
            </a:extLst>
          </p:cNvPr>
          <p:cNvSpPr>
            <a:spLocks noGrp="1"/>
          </p:cNvSpPr>
          <p:nvPr>
            <p:ph type="title"/>
          </p:nvPr>
        </p:nvSpPr>
        <p:spPr>
          <a:xfrm>
            <a:off x="914399" y="0"/>
            <a:ext cx="8142973" cy="990600"/>
          </a:xfrm>
        </p:spPr>
        <p:txBody>
          <a:bodyPr/>
          <a:lstStyle/>
          <a:p>
            <a:r>
              <a:rPr lang="en-US" sz="2000" b="0" dirty="0"/>
              <a:t>Kale </a:t>
            </a:r>
            <a:r>
              <a:rPr lang="en-US" sz="2000" b="0" dirty="0" err="1"/>
              <a:t>seramik</a:t>
            </a:r>
            <a:r>
              <a:rPr lang="en-US" sz="2000" b="0" dirty="0"/>
              <a:t> </a:t>
            </a:r>
            <a:r>
              <a:rPr lang="en-US" sz="2000" b="0" dirty="0" err="1"/>
              <a:t>Italya</a:t>
            </a:r>
            <a:r>
              <a:rPr lang="en-US" sz="2000" b="0" dirty="0"/>
              <a:t> </a:t>
            </a:r>
            <a:r>
              <a:rPr lang="tr-TR" sz="2000" b="0" dirty="0"/>
              <a:t>yatırımların sonrasında şirketin pazara erişim ve lojistik konularında rekabetçi avantajlar yakaladığı anlaşılıyor.</a:t>
            </a:r>
            <a:endParaRPr lang="tr-TR" sz="2000" dirty="0"/>
          </a:p>
        </p:txBody>
      </p:sp>
      <p:sp>
        <p:nvSpPr>
          <p:cNvPr id="7" name="Text Placeholder 6">
            <a:extLst>
              <a:ext uri="{FF2B5EF4-FFF2-40B4-BE49-F238E27FC236}">
                <a16:creationId xmlns:a16="http://schemas.microsoft.com/office/drawing/2014/main" id="{A117F8E2-72A6-472E-AE41-34132C0AF0E5}"/>
              </a:ext>
            </a:extLst>
          </p:cNvPr>
          <p:cNvSpPr>
            <a:spLocks noGrp="1"/>
          </p:cNvSpPr>
          <p:nvPr>
            <p:ph type="body" idx="1"/>
          </p:nvPr>
        </p:nvSpPr>
        <p:spPr>
          <a:xfrm>
            <a:off x="685800" y="1371600"/>
            <a:ext cx="7772400" cy="5257800"/>
          </a:xfrm>
        </p:spPr>
        <p:txBody>
          <a:bodyPr/>
          <a:lstStyle/>
          <a:p>
            <a:r>
              <a:rPr lang="tr-TR" sz="1600" b="0" dirty="0"/>
              <a:t>Okyay’ın ifadesiyle,</a:t>
            </a:r>
            <a:endParaRPr lang="en-US" sz="1600" b="0" dirty="0"/>
          </a:p>
          <a:p>
            <a:endParaRPr lang="en-GB" sz="1600" b="0" dirty="0"/>
          </a:p>
          <a:p>
            <a:r>
              <a:rPr lang="en-US" sz="1600" b="0" dirty="0"/>
              <a:t>“</a:t>
            </a:r>
            <a:r>
              <a:rPr lang="tr-TR" sz="1600" b="0" dirty="0"/>
              <a:t>Biz </a:t>
            </a:r>
            <a:r>
              <a:rPr lang="tr-TR" sz="1600" b="0" dirty="0" err="1"/>
              <a:t>Fincuoghi</a:t>
            </a:r>
            <a:r>
              <a:rPr lang="tr-TR" sz="1600" b="0" dirty="0"/>
              <a:t> ve ona ait üç markayı satın aldıktan sonra İtalya’da Kale </a:t>
            </a:r>
            <a:r>
              <a:rPr lang="tr-TR" sz="1600" b="0" dirty="0" err="1"/>
              <a:t>Italy</a:t>
            </a:r>
            <a:r>
              <a:rPr lang="tr-TR" sz="1600" b="0" dirty="0"/>
              <a:t> isimli bir şirket kurduk. İtalya bu işin merkezi. Burada olmanın bizim için üç önemli noktası vardı. Birincisi, </a:t>
            </a:r>
            <a:r>
              <a:rPr lang="tr-TR" sz="1600" i="1" dirty="0" err="1"/>
              <a:t>Made</a:t>
            </a:r>
            <a:r>
              <a:rPr lang="tr-TR" sz="1600" i="1" dirty="0"/>
              <a:t> in </a:t>
            </a:r>
            <a:r>
              <a:rPr lang="tr-TR" sz="1600" i="1" dirty="0" err="1"/>
              <a:t>Italy</a:t>
            </a:r>
            <a:r>
              <a:rPr lang="tr-TR" sz="1600" i="1" dirty="0"/>
              <a:t> imajı </a:t>
            </a:r>
            <a:r>
              <a:rPr lang="tr-TR" sz="1600" b="0" i="1" dirty="0"/>
              <a:t>bizim için önemliydi</a:t>
            </a:r>
            <a:r>
              <a:rPr lang="tr-TR" sz="1600" b="0" dirty="0"/>
              <a:t>. İkincisi, İtalya 60 milyon nüfusu olan bir ülke ama yurt dışında yaşayan 15-20 milyon İtalyan var. Burada üretim yapmak, yurt dışındaki İtalyanları da arkanıza almak anlamına geliyor. Çünkü, İtalya’nın lider olduğu sektörlerde dünyadaki İtalyanlar söz sahibi. Yani kendi ülkelerinin mallarını pazarlıyorlar. </a:t>
            </a:r>
            <a:r>
              <a:rPr lang="tr-TR" sz="1600" b="0" i="1" dirty="0"/>
              <a:t>O kanala </a:t>
            </a:r>
            <a:r>
              <a:rPr lang="tr-TR" sz="1600" b="0" i="1" dirty="0" err="1"/>
              <a:t>penetre</a:t>
            </a:r>
            <a:r>
              <a:rPr lang="tr-TR" sz="1600" b="0" i="1" dirty="0"/>
              <a:t> olmak ve malınızı satmak daha kolay</a:t>
            </a:r>
            <a:r>
              <a:rPr lang="tr-TR" sz="1600" b="0" dirty="0"/>
              <a:t>. Ticaret biraz da onların elinde. Bu da bize avantaj sağlayacak. Üçüncüsü ise </a:t>
            </a:r>
            <a:r>
              <a:rPr lang="tr-TR" sz="1600" i="1" dirty="0"/>
              <a:t>lojistik altyapı </a:t>
            </a:r>
            <a:r>
              <a:rPr lang="tr-TR" sz="1600" b="0" i="1" dirty="0"/>
              <a:t>bu sektör için çok önemli</a:t>
            </a:r>
            <a:r>
              <a:rPr lang="tr-TR" sz="1600" b="0" dirty="0"/>
              <a:t>. İtalya’dan her gün 10-20 TIR mal sadece Almanya’ya gidiyor. Böylece </a:t>
            </a:r>
            <a:r>
              <a:rPr lang="tr-TR" sz="1600" dirty="0"/>
              <a:t>pazara daha yakın olmayı </a:t>
            </a:r>
            <a:r>
              <a:rPr lang="tr-TR" sz="1600" b="0" dirty="0"/>
              <a:t>ve pazarı[n] içinde[n] yönetmeyi arzu ediyoruz. Ayrıca hizmet tarafında da olacağız. Uzun vadeli bakış açımız var. Avrupa’da kişi başına seramik kullanımı yüksek. Bu satın alma bizim küreselleşme adına attığımız ilk adımlar. Ayrıca biz Kale </a:t>
            </a:r>
            <a:r>
              <a:rPr lang="tr-TR" sz="1600" b="0" dirty="0" err="1"/>
              <a:t>Italia</a:t>
            </a:r>
            <a:r>
              <a:rPr lang="tr-TR" sz="1600" b="0" dirty="0"/>
              <a:t> ile Türkiye’de üretilen Kale ürünlerinin de pazarlamasını yapacağız. Her an Avrupa’da olacağız. Avrupa’dan başlayıp gelişen pazarlara girmeyi hedefliyoruz. </a:t>
            </a:r>
            <a:r>
              <a:rPr lang="en-US" sz="1600" b="0" dirty="0"/>
              <a:t>“</a:t>
            </a:r>
            <a:r>
              <a:rPr lang="tr-TR" sz="1600" b="0" dirty="0"/>
              <a:t>(</a:t>
            </a:r>
            <a:r>
              <a:rPr lang="tr-TR" sz="1600" b="0" i="1" dirty="0"/>
              <a:t>Dünya</a:t>
            </a:r>
            <a:r>
              <a:rPr lang="tr-TR" sz="1600" b="0" dirty="0"/>
              <a:t>, 10 Haziran 2013; 13 Mart 2012, vurgular yazara aittir)</a:t>
            </a:r>
            <a:endParaRPr lang="en-GB" sz="1600" b="0" dirty="0"/>
          </a:p>
          <a:p>
            <a:endParaRPr lang="tr-TR" dirty="0"/>
          </a:p>
        </p:txBody>
      </p:sp>
      <p:sp>
        <p:nvSpPr>
          <p:cNvPr id="5" name="Slide Number Placeholder 4">
            <a:extLst>
              <a:ext uri="{FF2B5EF4-FFF2-40B4-BE49-F238E27FC236}">
                <a16:creationId xmlns:a16="http://schemas.microsoft.com/office/drawing/2014/main" id="{6BE462AD-913E-4670-8436-539746109E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43</a:t>
            </a:fld>
            <a:endParaRPr lang="tr-TR"/>
          </a:p>
        </p:txBody>
      </p:sp>
    </p:spTree>
    <p:extLst>
      <p:ext uri="{BB962C8B-B14F-4D97-AF65-F5344CB8AC3E}">
        <p14:creationId xmlns:p14="http://schemas.microsoft.com/office/powerpoint/2010/main" val="2011296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9B2914-561D-4D63-A4CE-7790DFF6D7D4}"/>
              </a:ext>
            </a:extLst>
          </p:cNvPr>
          <p:cNvSpPr>
            <a:spLocks noGrp="1"/>
          </p:cNvSpPr>
          <p:nvPr>
            <p:ph type="title"/>
          </p:nvPr>
        </p:nvSpPr>
        <p:spPr/>
        <p:txBody>
          <a:bodyPr/>
          <a:lstStyle/>
          <a:p>
            <a:r>
              <a:rPr lang="tr-TR" dirty="0"/>
              <a:t>Yıldız Holding</a:t>
            </a:r>
          </a:p>
        </p:txBody>
      </p:sp>
      <p:sp>
        <p:nvSpPr>
          <p:cNvPr id="6" name="Text Placeholder 5">
            <a:extLst>
              <a:ext uri="{FF2B5EF4-FFF2-40B4-BE49-F238E27FC236}">
                <a16:creationId xmlns:a16="http://schemas.microsoft.com/office/drawing/2014/main" id="{1C79493B-1C59-4625-A267-433645C2CE6C}"/>
              </a:ext>
            </a:extLst>
          </p:cNvPr>
          <p:cNvSpPr>
            <a:spLocks noGrp="1"/>
          </p:cNvSpPr>
          <p:nvPr>
            <p:ph type="body" idx="1"/>
          </p:nvPr>
        </p:nvSpPr>
        <p:spPr/>
        <p:txBody>
          <a:bodyPr/>
          <a:lstStyle/>
          <a:p>
            <a:r>
              <a:rPr lang="tr-TR" b="0" dirty="0"/>
              <a:t>Yıldız Holding’in 2007 yılında </a:t>
            </a:r>
            <a:r>
              <a:rPr lang="tr-TR" b="0" dirty="0" err="1"/>
              <a:t>Godiva</a:t>
            </a:r>
            <a:r>
              <a:rPr lang="tr-TR" b="0" dirty="0"/>
              <a:t> </a:t>
            </a:r>
            <a:r>
              <a:rPr lang="tr-TR" b="0" dirty="0" err="1"/>
              <a:t>Chocolatier’i</a:t>
            </a:r>
            <a:r>
              <a:rPr lang="tr-TR" b="0" dirty="0"/>
              <a:t> satın alması yeni markaya, yönetim ve teknik becerisine, pazarlama bilgisine ve yeni pazarlara ulaşma, aynı zamanda bu markayı faaliyette bulunduğu pazarlara da taşıma motivasyonunun bir örneğidir. </a:t>
            </a:r>
          </a:p>
        </p:txBody>
      </p:sp>
      <p:sp>
        <p:nvSpPr>
          <p:cNvPr id="4" name="Slide Number Placeholder 3">
            <a:extLst>
              <a:ext uri="{FF2B5EF4-FFF2-40B4-BE49-F238E27FC236}">
                <a16:creationId xmlns:a16="http://schemas.microsoft.com/office/drawing/2014/main" id="{28467DCB-1AA7-4370-9A88-D897E9A1A6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44</a:t>
            </a:fld>
            <a:endParaRPr lang="tr-TR"/>
          </a:p>
        </p:txBody>
      </p:sp>
    </p:spTree>
    <p:extLst>
      <p:ext uri="{BB962C8B-B14F-4D97-AF65-F5344CB8AC3E}">
        <p14:creationId xmlns:p14="http://schemas.microsoft.com/office/powerpoint/2010/main" val="705863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7781D0-FDE3-4ED1-9BD5-2B544246D567}"/>
              </a:ext>
            </a:extLst>
          </p:cNvPr>
          <p:cNvSpPr>
            <a:spLocks noGrp="1"/>
          </p:cNvSpPr>
          <p:nvPr>
            <p:ph type="title"/>
          </p:nvPr>
        </p:nvSpPr>
        <p:spPr>
          <a:xfrm>
            <a:off x="880872" y="0"/>
            <a:ext cx="6772656" cy="990600"/>
          </a:xfrm>
        </p:spPr>
        <p:txBody>
          <a:bodyPr/>
          <a:lstStyle/>
          <a:p>
            <a:r>
              <a:rPr lang="tr-TR" dirty="0"/>
              <a:t>Yıldız Holding</a:t>
            </a:r>
          </a:p>
        </p:txBody>
      </p:sp>
      <p:sp>
        <p:nvSpPr>
          <p:cNvPr id="6" name="Text Placeholder 5">
            <a:extLst>
              <a:ext uri="{FF2B5EF4-FFF2-40B4-BE49-F238E27FC236}">
                <a16:creationId xmlns:a16="http://schemas.microsoft.com/office/drawing/2014/main" id="{7AC36FE2-5A3A-4DFF-9398-D6DEBDED12F6}"/>
              </a:ext>
            </a:extLst>
          </p:cNvPr>
          <p:cNvSpPr>
            <a:spLocks noGrp="1"/>
          </p:cNvSpPr>
          <p:nvPr>
            <p:ph type="body" idx="1"/>
          </p:nvPr>
        </p:nvSpPr>
        <p:spPr>
          <a:xfrm>
            <a:off x="0" y="1371600"/>
            <a:ext cx="8458200" cy="4724400"/>
          </a:xfrm>
        </p:spPr>
        <p:txBody>
          <a:bodyPr/>
          <a:lstStyle/>
          <a:p>
            <a:r>
              <a:rPr lang="tr-TR" sz="2000" b="0" dirty="0"/>
              <a:t>2000-2013 yılları arasında Türk </a:t>
            </a:r>
            <a:r>
              <a:rPr lang="tr-TR" sz="2000" b="0" dirty="0" err="1"/>
              <a:t>ÇUŞ’larının</a:t>
            </a:r>
            <a:r>
              <a:rPr lang="tr-TR" sz="2000" b="0" dirty="0"/>
              <a:t> en fazla yeşil alan yatırımı yaptığı sektörün gıda ve içecek sektörü olduğu vurgulanmıştı. Bu sektördeki yatırım tutarı 2014 yılında tüm zamanların en büyük Türk ÇUŞ satın alması ile zirve yaptı. Türkiye’nin gıda sektöründeki en büyük holdingi Yıldız Holding, Kasım 2014’te 3,2 milyar dolara Britanya şirketi United </a:t>
            </a:r>
            <a:r>
              <a:rPr lang="tr-TR" sz="2000" b="0" dirty="0" err="1"/>
              <a:t>Biscuits’i</a:t>
            </a:r>
            <a:r>
              <a:rPr lang="tr-TR" sz="2000" b="0" dirty="0"/>
              <a:t> satın alarak dünyanın en büyük üçüncü bisküvi üreticisi oldu. Bu satın alma 2013 yılı toplam satın alma tutarının yaklaşık %65’ine karşılık geliyor; coğrafi olarak Avrupa’yı, bölge olarak AB’yi, ülke olarak da Britanya’yı en fazla yatırım yapılan yerler yapıyor; Yıldız’ı da son 10 yılda en fazla dış yatırım yapan şirket yapıyor. 2015 yılında Yıldız Holding’in 14 ülkede faaliyet gösteren 77 fabrikası, 300 markası ve binin üzerinde satış noktaları bulunuyor. </a:t>
            </a:r>
            <a:endParaRPr lang="tr-TR" dirty="0"/>
          </a:p>
        </p:txBody>
      </p:sp>
      <p:sp>
        <p:nvSpPr>
          <p:cNvPr id="4" name="Slide Number Placeholder 3">
            <a:extLst>
              <a:ext uri="{FF2B5EF4-FFF2-40B4-BE49-F238E27FC236}">
                <a16:creationId xmlns:a16="http://schemas.microsoft.com/office/drawing/2014/main" id="{7F38C45A-1FED-4819-830E-C23E980B69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45</a:t>
            </a:fld>
            <a:endParaRPr lang="tr-TR"/>
          </a:p>
        </p:txBody>
      </p:sp>
    </p:spTree>
    <p:extLst>
      <p:ext uri="{BB962C8B-B14F-4D97-AF65-F5344CB8AC3E}">
        <p14:creationId xmlns:p14="http://schemas.microsoft.com/office/powerpoint/2010/main" val="3511134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30E404-B74C-406A-881F-E32428B87F21}"/>
              </a:ext>
            </a:extLst>
          </p:cNvPr>
          <p:cNvSpPr>
            <a:spLocks noGrp="1"/>
          </p:cNvSpPr>
          <p:nvPr>
            <p:ph type="title"/>
          </p:nvPr>
        </p:nvSpPr>
        <p:spPr/>
        <p:txBody>
          <a:bodyPr/>
          <a:lstStyle/>
          <a:p>
            <a:r>
              <a:rPr lang="tr-TR" dirty="0"/>
              <a:t>Yıldız Holding</a:t>
            </a:r>
          </a:p>
        </p:txBody>
      </p:sp>
      <p:sp>
        <p:nvSpPr>
          <p:cNvPr id="6" name="Text Placeholder 5">
            <a:extLst>
              <a:ext uri="{FF2B5EF4-FFF2-40B4-BE49-F238E27FC236}">
                <a16:creationId xmlns:a16="http://schemas.microsoft.com/office/drawing/2014/main" id="{0EFDF7D2-1B59-4488-8D39-97BDF1EA56F9}"/>
              </a:ext>
            </a:extLst>
          </p:cNvPr>
          <p:cNvSpPr>
            <a:spLocks noGrp="1"/>
          </p:cNvSpPr>
          <p:nvPr>
            <p:ph type="body" idx="1"/>
          </p:nvPr>
        </p:nvSpPr>
        <p:spPr>
          <a:xfrm>
            <a:off x="685800" y="1209368"/>
            <a:ext cx="7772400" cy="4886632"/>
          </a:xfrm>
        </p:spPr>
        <p:txBody>
          <a:bodyPr/>
          <a:lstStyle/>
          <a:p>
            <a:r>
              <a:rPr lang="tr-TR" sz="1800" b="0" dirty="0"/>
              <a:t>Yıldız Holding satın almalarla uluslararası markaya, üst gelir grubu </a:t>
            </a:r>
            <a:r>
              <a:rPr lang="tr-TR" sz="1800" b="0" dirty="0" err="1"/>
              <a:t>segmentine</a:t>
            </a:r>
            <a:r>
              <a:rPr lang="tr-TR" sz="1800" b="0" dirty="0"/>
              <a:t> yönelik ürünlere, başta Britanya ve Avrupa olmak üzere atıştırmalık sektöründe yeni pazarlara erişiyor. </a:t>
            </a:r>
            <a:endParaRPr lang="en-US" sz="1800" b="0" dirty="0"/>
          </a:p>
          <a:p>
            <a:endParaRPr lang="en-US" sz="1800" b="0" dirty="0"/>
          </a:p>
          <a:p>
            <a:r>
              <a:rPr lang="tr-TR" sz="1800" b="0" dirty="0"/>
              <a:t>Şirket, üretim ve yönetim becerilerini elde etme stratejisiyle firma özgü avantajlar ediniyor. Diğer yandan da satın aldığı gelişmiş ülke </a:t>
            </a:r>
            <a:r>
              <a:rPr lang="tr-TR" sz="1800" b="0" dirty="0" err="1"/>
              <a:t>ÇUŞ’larını</a:t>
            </a:r>
            <a:r>
              <a:rPr lang="tr-TR" sz="1800" b="0" dirty="0"/>
              <a:t> kendi rekabetçi avantajlarının olduğu Orta Doğu ve Asya pazarlarına eklemliyor. </a:t>
            </a:r>
            <a:endParaRPr lang="en-US" sz="1800" b="0" dirty="0"/>
          </a:p>
          <a:p>
            <a:endParaRPr lang="en-US" sz="1800" b="0" dirty="0"/>
          </a:p>
          <a:p>
            <a:r>
              <a:rPr lang="tr-TR" sz="1800" b="0" dirty="0"/>
              <a:t>Şirketin satın alma sonrasındaki başarısının temelinde yeni becerileri öğrenme ve kendi rekabetçi avantajlarını hedef şirkete aktarmadaki başarısı yatıyor. Bu temelde şirket, 2016 yılında yeniden organize olarak </a:t>
            </a:r>
            <a:r>
              <a:rPr lang="tr-TR" sz="1800" b="0" dirty="0" err="1"/>
              <a:t>Godiva</a:t>
            </a:r>
            <a:r>
              <a:rPr lang="tr-TR" sz="1800" b="0" dirty="0"/>
              <a:t>, </a:t>
            </a:r>
            <a:r>
              <a:rPr lang="tr-TR" sz="1800" b="0" dirty="0" err="1"/>
              <a:t>DeMet’s</a:t>
            </a:r>
            <a:r>
              <a:rPr lang="tr-TR" sz="1800" b="0" dirty="0"/>
              <a:t>, United </a:t>
            </a:r>
            <a:r>
              <a:rPr lang="tr-TR" sz="1800" b="0" dirty="0" err="1"/>
              <a:t>Biscuits</a:t>
            </a:r>
            <a:r>
              <a:rPr lang="tr-TR" sz="1800" b="0" dirty="0"/>
              <a:t> ve Ülker markalarını </a:t>
            </a:r>
            <a:r>
              <a:rPr lang="tr-TR" sz="1800" b="0" dirty="0" err="1"/>
              <a:t>Pladis</a:t>
            </a:r>
            <a:r>
              <a:rPr lang="tr-TR" sz="1800" b="0" dirty="0"/>
              <a:t> çatısı altında topluyor </a:t>
            </a:r>
            <a:endParaRPr lang="en-US" sz="1800" b="0" dirty="0"/>
          </a:p>
          <a:p>
            <a:r>
              <a:rPr lang="tr-TR" sz="1800" b="0" dirty="0"/>
              <a:t>Yıldız Holding dış yatırımlarında ‘küresel </a:t>
            </a:r>
            <a:r>
              <a:rPr lang="tr-TR" sz="1800" b="0" dirty="0" err="1"/>
              <a:t>konsolitör</a:t>
            </a:r>
            <a:r>
              <a:rPr lang="tr-TR" sz="1800" b="0" dirty="0"/>
              <a:t>’ stratejisi izliyor. </a:t>
            </a:r>
            <a:endParaRPr lang="en-GB" sz="1800" b="0" dirty="0"/>
          </a:p>
          <a:p>
            <a:endParaRPr lang="tr-TR" dirty="0"/>
          </a:p>
        </p:txBody>
      </p:sp>
      <p:sp>
        <p:nvSpPr>
          <p:cNvPr id="4" name="Slide Number Placeholder 3">
            <a:extLst>
              <a:ext uri="{FF2B5EF4-FFF2-40B4-BE49-F238E27FC236}">
                <a16:creationId xmlns:a16="http://schemas.microsoft.com/office/drawing/2014/main" id="{EA17EFB2-3E7F-43AC-A93C-E16CF45635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46</a:t>
            </a:fld>
            <a:endParaRPr lang="tr-TR"/>
          </a:p>
        </p:txBody>
      </p:sp>
    </p:spTree>
    <p:extLst>
      <p:ext uri="{BB962C8B-B14F-4D97-AF65-F5344CB8AC3E}">
        <p14:creationId xmlns:p14="http://schemas.microsoft.com/office/powerpoint/2010/main" val="30244690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4338-FDF6-4111-BE7E-12465D08C3FE}"/>
              </a:ext>
            </a:extLst>
          </p:cNvPr>
          <p:cNvSpPr>
            <a:spLocks noGrp="1"/>
          </p:cNvSpPr>
          <p:nvPr>
            <p:ph type="title"/>
          </p:nvPr>
        </p:nvSpPr>
        <p:spPr>
          <a:xfrm>
            <a:off x="1563328" y="0"/>
            <a:ext cx="6941575" cy="990600"/>
          </a:xfrm>
        </p:spPr>
        <p:txBody>
          <a:bodyPr/>
          <a:lstStyle/>
          <a:p>
            <a:r>
              <a:rPr lang="tr-TR" dirty="0"/>
              <a:t>Yapısal faktörler</a:t>
            </a:r>
          </a:p>
        </p:txBody>
      </p:sp>
      <p:sp>
        <p:nvSpPr>
          <p:cNvPr id="3" name="Text Placeholder 2">
            <a:extLst>
              <a:ext uri="{FF2B5EF4-FFF2-40B4-BE49-F238E27FC236}">
                <a16:creationId xmlns:a16="http://schemas.microsoft.com/office/drawing/2014/main" id="{B81FED7E-CF12-47F9-80CA-7C154404500C}"/>
              </a:ext>
            </a:extLst>
          </p:cNvPr>
          <p:cNvSpPr>
            <a:spLocks noGrp="1"/>
          </p:cNvSpPr>
          <p:nvPr>
            <p:ph type="body" idx="1"/>
          </p:nvPr>
        </p:nvSpPr>
        <p:spPr>
          <a:xfrm>
            <a:off x="137652" y="1209368"/>
            <a:ext cx="8858864" cy="5420032"/>
          </a:xfrm>
        </p:spPr>
        <p:txBody>
          <a:bodyPr/>
          <a:lstStyle/>
          <a:p>
            <a:r>
              <a:rPr lang="tr-TR" sz="2000" b="0" dirty="0"/>
              <a:t>Yıldız Holding’in </a:t>
            </a:r>
            <a:r>
              <a:rPr lang="tr-TR" sz="2000" b="0" dirty="0" err="1"/>
              <a:t>Godiva’yi</a:t>
            </a:r>
            <a:r>
              <a:rPr lang="tr-TR" sz="2000" b="0" dirty="0"/>
              <a:t> 2007 yılında 850 milyon dolar ödeyerek satın almasının ardındaki yapısal tamamlayıcı faktörler global finansal kriz ve doların Türk Lirası karşısında değer kaybetmesi oldu. O dönemde Yıldız Holding’in Genel Müdürü olan Atilla </a:t>
            </a:r>
            <a:r>
              <a:rPr lang="tr-TR" sz="2000" b="0" dirty="0" err="1"/>
              <a:t>Kurama’nın</a:t>
            </a:r>
            <a:r>
              <a:rPr lang="tr-TR" sz="2000" b="0" dirty="0"/>
              <a:t> ifadesiyle</a:t>
            </a:r>
            <a:endParaRPr lang="en-US" sz="2000" b="0" dirty="0"/>
          </a:p>
          <a:p>
            <a:endParaRPr lang="en-US" sz="2000" b="0" dirty="0"/>
          </a:p>
          <a:p>
            <a:r>
              <a:rPr lang="tr-TR" sz="2000" b="0" dirty="0"/>
              <a:t> “</a:t>
            </a:r>
            <a:r>
              <a:rPr lang="tr-TR" sz="2000" b="0" u="sng" dirty="0" err="1">
                <a:hlinkClick r:id="rId2" tooltip="Mortgage "/>
              </a:rPr>
              <a:t>Mortgage</a:t>
            </a:r>
            <a:r>
              <a:rPr lang="tr-TR" sz="2000" b="0" dirty="0"/>
              <a:t> kriziyle birlikte güçlü yatırım fonları </a:t>
            </a:r>
            <a:r>
              <a:rPr lang="tr-TR" sz="2000" b="0" dirty="0" err="1"/>
              <a:t>Godiva’yla</a:t>
            </a:r>
            <a:r>
              <a:rPr lang="tr-TR" sz="2000" b="0" dirty="0"/>
              <a:t> ilgilenmekten vazgeçti. Onların yerini stratejik şirketler aldı. Doların değer kaybetmesi de işimizi kolaylaştırdı” (Haberler, 29 Aralık 2007). </a:t>
            </a:r>
            <a:endParaRPr lang="en-US" sz="2000" b="0" dirty="0"/>
          </a:p>
          <a:p>
            <a:endParaRPr lang="en-US" sz="2000" b="0" dirty="0"/>
          </a:p>
          <a:p>
            <a:r>
              <a:rPr lang="tr-TR" sz="2000" b="0" dirty="0"/>
              <a:t>Küresel kriz ve ulusal paranın değer kazanması gibi yapısal faktörlerin Yıldız Holding’in yatırım faaliyetini tamamlayıcı unsurlar olarak ortaya çıkmasıyla satın alma gerçekleşti: “Böylece satın alma için stratejik konumda olanlar ortaya çıktı. Bu bizim </a:t>
            </a:r>
            <a:r>
              <a:rPr lang="tr-TR" sz="2000" b="0" dirty="0" err="1"/>
              <a:t>konjonktürel</a:t>
            </a:r>
            <a:r>
              <a:rPr lang="tr-TR" sz="2000" b="0" dirty="0"/>
              <a:t> olarak en büyük şansımız oldu” (</a:t>
            </a:r>
            <a:r>
              <a:rPr lang="tr-TR" sz="2000" b="0" i="1" dirty="0"/>
              <a:t>Zaman</a:t>
            </a:r>
            <a:r>
              <a:rPr lang="tr-TR" sz="2000" b="0" dirty="0"/>
              <a:t>, 29 Aralık 2007).</a:t>
            </a:r>
            <a:endParaRPr lang="en-GB" sz="2000" b="0" dirty="0"/>
          </a:p>
          <a:p>
            <a:endParaRPr lang="tr-TR" dirty="0"/>
          </a:p>
        </p:txBody>
      </p:sp>
      <p:sp>
        <p:nvSpPr>
          <p:cNvPr id="4" name="Slide Number Placeholder 3">
            <a:extLst>
              <a:ext uri="{FF2B5EF4-FFF2-40B4-BE49-F238E27FC236}">
                <a16:creationId xmlns:a16="http://schemas.microsoft.com/office/drawing/2014/main" id="{2ECBADE8-96E0-4FB0-A076-20D6B3CD58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47</a:t>
            </a:fld>
            <a:endParaRPr lang="tr-TR"/>
          </a:p>
        </p:txBody>
      </p:sp>
    </p:spTree>
    <p:extLst>
      <p:ext uri="{BB962C8B-B14F-4D97-AF65-F5344CB8AC3E}">
        <p14:creationId xmlns:p14="http://schemas.microsoft.com/office/powerpoint/2010/main" val="2095371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8B71D5-748B-4561-A756-50F04D03981E}"/>
              </a:ext>
            </a:extLst>
          </p:cNvPr>
          <p:cNvSpPr>
            <a:spLocks noGrp="1"/>
          </p:cNvSpPr>
          <p:nvPr>
            <p:ph type="title"/>
          </p:nvPr>
        </p:nvSpPr>
        <p:spPr/>
        <p:txBody>
          <a:bodyPr/>
          <a:lstStyle/>
          <a:p>
            <a:endParaRPr lang="tr-TR" dirty="0"/>
          </a:p>
        </p:txBody>
      </p:sp>
      <p:sp>
        <p:nvSpPr>
          <p:cNvPr id="6" name="Text Placeholder 5">
            <a:extLst>
              <a:ext uri="{FF2B5EF4-FFF2-40B4-BE49-F238E27FC236}">
                <a16:creationId xmlns:a16="http://schemas.microsoft.com/office/drawing/2014/main" id="{A67BF266-BC4C-4221-A23D-789AC19FFE4A}"/>
              </a:ext>
            </a:extLst>
          </p:cNvPr>
          <p:cNvSpPr>
            <a:spLocks noGrp="1"/>
          </p:cNvSpPr>
          <p:nvPr>
            <p:ph type="body" idx="1"/>
          </p:nvPr>
        </p:nvSpPr>
        <p:spPr/>
        <p:txBody>
          <a:bodyPr/>
          <a:lstStyle/>
          <a:p>
            <a:r>
              <a:rPr lang="en-US" dirty="0"/>
              <a:t>Afrika da </a:t>
            </a:r>
            <a:r>
              <a:rPr lang="en-US" dirty="0" err="1"/>
              <a:t>bir</a:t>
            </a:r>
            <a:r>
              <a:rPr lang="en-US" dirty="0"/>
              <a:t> Turk </a:t>
            </a:r>
            <a:r>
              <a:rPr lang="en-US" dirty="0" err="1"/>
              <a:t>tekstil</a:t>
            </a:r>
            <a:r>
              <a:rPr lang="en-US" dirty="0"/>
              <a:t> </a:t>
            </a:r>
            <a:r>
              <a:rPr lang="en-US" dirty="0" err="1"/>
              <a:t>firmasi</a:t>
            </a:r>
            <a:endParaRPr lang="en-US" dirty="0"/>
          </a:p>
          <a:p>
            <a:endParaRPr lang="en-US" dirty="0"/>
          </a:p>
          <a:p>
            <a:r>
              <a:rPr lang="en-US" dirty="0"/>
              <a:t>Yildirim Holding, </a:t>
            </a:r>
            <a:r>
              <a:rPr lang="en-US" dirty="0" err="1"/>
              <a:t>Kazakistan</a:t>
            </a:r>
            <a:r>
              <a:rPr lang="en-US" dirty="0"/>
              <a:t> </a:t>
            </a:r>
            <a:r>
              <a:rPr lang="en-US" dirty="0" err="1"/>
              <a:t>ozellestirmesi</a:t>
            </a:r>
            <a:endParaRPr lang="en-US" dirty="0"/>
          </a:p>
          <a:p>
            <a:endParaRPr lang="en-US" dirty="0"/>
          </a:p>
          <a:p>
            <a:endParaRPr lang="en-US" dirty="0"/>
          </a:p>
          <a:p>
            <a:endParaRPr lang="en-US" dirty="0"/>
          </a:p>
          <a:p>
            <a:endParaRPr lang="tr-TR" dirty="0"/>
          </a:p>
        </p:txBody>
      </p:sp>
      <p:sp>
        <p:nvSpPr>
          <p:cNvPr id="4" name="Slide Number Placeholder 3">
            <a:extLst>
              <a:ext uri="{FF2B5EF4-FFF2-40B4-BE49-F238E27FC236}">
                <a16:creationId xmlns:a16="http://schemas.microsoft.com/office/drawing/2014/main" id="{EB593459-019D-4FAA-9E51-B926446C9A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48</a:t>
            </a:fld>
            <a:endParaRPr lang="tr-TR"/>
          </a:p>
        </p:txBody>
      </p:sp>
    </p:spTree>
    <p:extLst>
      <p:ext uri="{BB962C8B-B14F-4D97-AF65-F5344CB8AC3E}">
        <p14:creationId xmlns:p14="http://schemas.microsoft.com/office/powerpoint/2010/main" val="2555371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936698-3E3E-451D-B7E7-79CDA683D46C}"/>
              </a:ext>
            </a:extLst>
          </p:cNvPr>
          <p:cNvSpPr>
            <a:spLocks noGrp="1"/>
          </p:cNvSpPr>
          <p:nvPr>
            <p:ph type="title"/>
          </p:nvPr>
        </p:nvSpPr>
        <p:spPr>
          <a:xfrm>
            <a:off x="1573160" y="0"/>
            <a:ext cx="6046839" cy="990600"/>
          </a:xfrm>
        </p:spPr>
        <p:txBody>
          <a:bodyPr/>
          <a:lstStyle/>
          <a:p>
            <a:r>
              <a:rPr lang="tr-TR" dirty="0"/>
              <a:t>Yapısal faktörler</a:t>
            </a:r>
          </a:p>
        </p:txBody>
      </p:sp>
      <p:sp>
        <p:nvSpPr>
          <p:cNvPr id="6" name="Text Placeholder 5">
            <a:extLst>
              <a:ext uri="{FF2B5EF4-FFF2-40B4-BE49-F238E27FC236}">
                <a16:creationId xmlns:a16="http://schemas.microsoft.com/office/drawing/2014/main" id="{63537AD3-E56B-4C97-BCF3-82FA654F8C54}"/>
              </a:ext>
            </a:extLst>
          </p:cNvPr>
          <p:cNvSpPr>
            <a:spLocks noGrp="1"/>
          </p:cNvSpPr>
          <p:nvPr>
            <p:ph type="body" idx="1"/>
          </p:nvPr>
        </p:nvSpPr>
        <p:spPr>
          <a:xfrm>
            <a:off x="167148" y="1130710"/>
            <a:ext cx="8829368" cy="5498690"/>
          </a:xfrm>
        </p:spPr>
        <p:txBody>
          <a:bodyPr/>
          <a:lstStyle/>
          <a:p>
            <a:r>
              <a:rPr lang="tr-TR" sz="2400" b="0" dirty="0"/>
              <a:t>Yıldırım Holding’in bir aile şirketi olan Fransız CMA </a:t>
            </a:r>
            <a:r>
              <a:rPr lang="tr-TR" sz="2400" b="0" dirty="0" err="1"/>
              <a:t>CGM’nin</a:t>
            </a:r>
            <a:r>
              <a:rPr lang="tr-TR" sz="2400" b="0" dirty="0"/>
              <a:t> %20’sini 500 milyon dolar ödeyerek 2010 yılında almasında da 2008 global finansal krizinin yapısal bir tamamlayıcı olarak rol oynadığı görülüyor. Kriz sonrasında uluslararası ticaret ve yatırımın daralması sonucu uluslararası gemi taşımacılığı sektörü sıkıntıya girdi. </a:t>
            </a:r>
            <a:endParaRPr lang="en-US" sz="2400" b="0" dirty="0"/>
          </a:p>
          <a:p>
            <a:endParaRPr lang="en-US" sz="2400" b="0" dirty="0"/>
          </a:p>
          <a:p>
            <a:r>
              <a:rPr lang="tr-TR" sz="2400" b="0" dirty="0"/>
              <a:t>CMA </a:t>
            </a:r>
            <a:r>
              <a:rPr lang="tr-TR" sz="2400" b="0" dirty="0" err="1"/>
              <a:t>CGM’nin</a:t>
            </a:r>
            <a:r>
              <a:rPr lang="tr-TR" sz="2400" b="0" dirty="0"/>
              <a:t> içinden geçtiği ekonomik bunalım şirketin mevcut borçlarını ödeyememesini ve %20’sinin satışını beraberinde getirdi (</a:t>
            </a:r>
            <a:r>
              <a:rPr lang="tr-TR" sz="2400" b="0" dirty="0" err="1"/>
              <a:t>Expedica</a:t>
            </a:r>
            <a:r>
              <a:rPr lang="tr-TR" sz="2400" b="0" dirty="0"/>
              <a:t>, 26 Kasım 2010). </a:t>
            </a:r>
            <a:endParaRPr lang="en-US" sz="2400" b="0" dirty="0"/>
          </a:p>
          <a:p>
            <a:endParaRPr lang="en-US" sz="2400" b="0" dirty="0"/>
          </a:p>
          <a:p>
            <a:r>
              <a:rPr lang="tr-TR" sz="2400" b="0" dirty="0"/>
              <a:t>Kriz Yıldırım Holding’e bu satın alma için yapısal bir fırsat penceresi açtı. </a:t>
            </a:r>
            <a:endParaRPr lang="en-GB" sz="2400" b="0" dirty="0"/>
          </a:p>
          <a:p>
            <a:endParaRPr lang="tr-TR" dirty="0"/>
          </a:p>
        </p:txBody>
      </p:sp>
      <p:sp>
        <p:nvSpPr>
          <p:cNvPr id="4" name="Slide Number Placeholder 3">
            <a:extLst>
              <a:ext uri="{FF2B5EF4-FFF2-40B4-BE49-F238E27FC236}">
                <a16:creationId xmlns:a16="http://schemas.microsoft.com/office/drawing/2014/main" id="{764B6BA6-AD32-4DAC-A597-661DB505FC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49</a:t>
            </a:fld>
            <a:endParaRPr lang="tr-TR"/>
          </a:p>
        </p:txBody>
      </p:sp>
    </p:spTree>
    <p:extLst>
      <p:ext uri="{BB962C8B-B14F-4D97-AF65-F5344CB8AC3E}">
        <p14:creationId xmlns:p14="http://schemas.microsoft.com/office/powerpoint/2010/main" val="1313383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5B6207C-C443-4EAC-8A1D-9FFE8B617129}"/>
              </a:ext>
            </a:extLst>
          </p:cNvPr>
          <p:cNvSpPr>
            <a:spLocks noGrp="1"/>
          </p:cNvSpPr>
          <p:nvPr>
            <p:ph type="title"/>
          </p:nvPr>
        </p:nvSpPr>
        <p:spPr>
          <a:xfrm>
            <a:off x="1612490" y="0"/>
            <a:ext cx="6912078" cy="990600"/>
          </a:xfrm>
        </p:spPr>
        <p:txBody>
          <a:bodyPr/>
          <a:lstStyle/>
          <a:p>
            <a:r>
              <a:rPr lang="tr-TR" sz="2400" b="0" dirty="0"/>
              <a:t> Şirkete özgü avantajları elde etme stratejilerine ve pazara erişim </a:t>
            </a:r>
            <a:endParaRPr lang="tr-TR" sz="2400" dirty="0"/>
          </a:p>
        </p:txBody>
      </p:sp>
      <p:sp>
        <p:nvSpPr>
          <p:cNvPr id="12" name="Text Placeholder 11">
            <a:extLst>
              <a:ext uri="{FF2B5EF4-FFF2-40B4-BE49-F238E27FC236}">
                <a16:creationId xmlns:a16="http://schemas.microsoft.com/office/drawing/2014/main" id="{4F472F44-871A-47C4-ADAB-CA6112D10F2E}"/>
              </a:ext>
            </a:extLst>
          </p:cNvPr>
          <p:cNvSpPr>
            <a:spLocks noGrp="1"/>
          </p:cNvSpPr>
          <p:nvPr>
            <p:ph type="body" idx="1"/>
          </p:nvPr>
        </p:nvSpPr>
        <p:spPr>
          <a:xfrm>
            <a:off x="167148" y="1081547"/>
            <a:ext cx="8809704" cy="5643718"/>
          </a:xfrm>
        </p:spPr>
        <p:txBody>
          <a:bodyPr/>
          <a:lstStyle/>
          <a:p>
            <a:r>
              <a:rPr lang="tr-TR" sz="2000" b="0" dirty="0"/>
              <a:t>Anadolu Efes’in bağlı olduğu Anadolu Grubu’nun çoğunluk hissesine sahip olduğu Coca-Cola Türkiye’nin Coca-Cola </a:t>
            </a:r>
            <a:r>
              <a:rPr lang="tr-TR" sz="2000" b="0" dirty="0" err="1"/>
              <a:t>Almaty</a:t>
            </a:r>
            <a:r>
              <a:rPr lang="tr-TR" sz="2000" b="0" dirty="0"/>
              <a:t> </a:t>
            </a:r>
            <a:r>
              <a:rPr lang="tr-TR" sz="2000" b="0" dirty="0" err="1"/>
              <a:t>Bottlers</a:t>
            </a:r>
            <a:r>
              <a:rPr lang="tr-TR" sz="2000" b="0" dirty="0"/>
              <a:t> </a:t>
            </a:r>
            <a:r>
              <a:rPr lang="tr-TR" sz="2000" b="0" dirty="0" err="1"/>
              <a:t>LLP’yi</a:t>
            </a:r>
            <a:r>
              <a:rPr lang="tr-TR" sz="2000" b="0" dirty="0"/>
              <a:t> (daha sonra </a:t>
            </a:r>
            <a:r>
              <a:rPr lang="tr-TR" sz="2000" b="0" dirty="0" err="1"/>
              <a:t>SABMiller’ın</a:t>
            </a:r>
            <a:r>
              <a:rPr lang="tr-TR" sz="2000" b="0" dirty="0"/>
              <a:t> Rusya ve Ukrayna operasyonlarını) satın alması; </a:t>
            </a:r>
            <a:endParaRPr lang="en-US" sz="2000" b="0" dirty="0"/>
          </a:p>
          <a:p>
            <a:endParaRPr lang="en-US" sz="2000" b="0" dirty="0"/>
          </a:p>
          <a:p>
            <a:r>
              <a:rPr lang="tr-TR" sz="2000" b="0" dirty="0"/>
              <a:t>Hürriyet’in </a:t>
            </a:r>
            <a:r>
              <a:rPr lang="tr-TR" sz="2000" b="0" dirty="0" err="1"/>
              <a:t>Trader</a:t>
            </a:r>
            <a:r>
              <a:rPr lang="tr-TR" sz="2000" b="0" dirty="0"/>
              <a:t> Media East’i satın alması, Eczacıbaşı Yapı’nın </a:t>
            </a:r>
            <a:r>
              <a:rPr lang="tr-TR" sz="2000" b="0" dirty="0" err="1"/>
              <a:t>Burgbad’ı</a:t>
            </a:r>
            <a:r>
              <a:rPr lang="tr-TR" sz="2000" b="0" dirty="0"/>
              <a:t> (daha sonra da </a:t>
            </a:r>
            <a:r>
              <a:rPr lang="tr-TR" sz="2000" b="0" dirty="0" err="1"/>
              <a:t>Villeroy&amp;Boch’un</a:t>
            </a:r>
            <a:r>
              <a:rPr lang="tr-TR" sz="2000" b="0" dirty="0"/>
              <a:t> karo bölümünü) satın alması, </a:t>
            </a:r>
            <a:endParaRPr lang="en-US" sz="2000" b="0" dirty="0"/>
          </a:p>
          <a:p>
            <a:endParaRPr lang="en-US" sz="2000" b="0" dirty="0"/>
          </a:p>
          <a:p>
            <a:r>
              <a:rPr lang="tr-TR" sz="2000" b="0" dirty="0"/>
              <a:t>Beko ve Arçelik’in Almanya ve Romanya’daki ev elektroniği ve dayanıklı tüketim (buzdolabı ve bulaşık makinesi) sektörlerindeki satın alma faaliyetleri</a:t>
            </a:r>
            <a:r>
              <a:rPr lang="en-US" sz="2000" b="0" dirty="0"/>
              <a:t>;</a:t>
            </a:r>
          </a:p>
          <a:p>
            <a:r>
              <a:rPr lang="tr-TR" sz="2000" b="0" dirty="0"/>
              <a:t> </a:t>
            </a:r>
            <a:endParaRPr lang="en-US" sz="2000" b="0" dirty="0"/>
          </a:p>
          <a:p>
            <a:r>
              <a:rPr lang="tr-TR" sz="2000" b="0" dirty="0"/>
              <a:t>Türk </a:t>
            </a:r>
            <a:r>
              <a:rPr lang="tr-TR" sz="2000" b="0" dirty="0" err="1"/>
              <a:t>ÇUŞ’larının</a:t>
            </a:r>
            <a:r>
              <a:rPr lang="tr-TR" sz="2000" b="0" dirty="0"/>
              <a:t> markaya ve yeni dağıtım ağına erişme gibi şirkete özgü avantajları elde etme stratejilerine ve pazara erişim motivasyonlarına verilebilecek örneklerdir. </a:t>
            </a:r>
          </a:p>
        </p:txBody>
      </p:sp>
      <p:sp>
        <p:nvSpPr>
          <p:cNvPr id="4" name="Slide Number Placeholder 3">
            <a:extLst>
              <a:ext uri="{FF2B5EF4-FFF2-40B4-BE49-F238E27FC236}">
                <a16:creationId xmlns:a16="http://schemas.microsoft.com/office/drawing/2014/main" id="{F1457253-4488-4E6A-81AE-6C4B553680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50</a:t>
            </a:fld>
            <a:endParaRPr lang="tr-TR"/>
          </a:p>
        </p:txBody>
      </p:sp>
    </p:spTree>
    <p:extLst>
      <p:ext uri="{BB962C8B-B14F-4D97-AF65-F5344CB8AC3E}">
        <p14:creationId xmlns:p14="http://schemas.microsoft.com/office/powerpoint/2010/main" val="22171857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E61737-B0AB-4D8A-AAD4-5C8FDEC5A6F0}"/>
              </a:ext>
            </a:extLst>
          </p:cNvPr>
          <p:cNvSpPr>
            <a:spLocks noGrp="1"/>
          </p:cNvSpPr>
          <p:nvPr>
            <p:ph type="title"/>
          </p:nvPr>
        </p:nvSpPr>
        <p:spPr/>
        <p:txBody>
          <a:bodyPr/>
          <a:lstStyle/>
          <a:p>
            <a:r>
              <a:rPr lang="tr-TR" dirty="0"/>
              <a:t>Anadolu Efes ile </a:t>
            </a:r>
            <a:r>
              <a:rPr lang="tr-TR" dirty="0" err="1"/>
              <a:t>SAABMiller</a:t>
            </a:r>
            <a:endParaRPr lang="tr-TR" dirty="0"/>
          </a:p>
        </p:txBody>
      </p:sp>
      <p:sp>
        <p:nvSpPr>
          <p:cNvPr id="4" name="Slide Number Placeholder 3">
            <a:extLst>
              <a:ext uri="{FF2B5EF4-FFF2-40B4-BE49-F238E27FC236}">
                <a16:creationId xmlns:a16="http://schemas.microsoft.com/office/drawing/2014/main" id="{8CB1F336-D8D3-41D7-AB18-E94797F10D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51</a:t>
            </a:fld>
            <a:endParaRPr lang="tr-TR"/>
          </a:p>
        </p:txBody>
      </p:sp>
      <p:sp>
        <p:nvSpPr>
          <p:cNvPr id="7" name="Text Placeholder 5">
            <a:extLst>
              <a:ext uri="{FF2B5EF4-FFF2-40B4-BE49-F238E27FC236}">
                <a16:creationId xmlns:a16="http://schemas.microsoft.com/office/drawing/2014/main" id="{C11F4F51-7484-45C8-8D3F-F3E31D5FE055}"/>
              </a:ext>
            </a:extLst>
          </p:cNvPr>
          <p:cNvSpPr>
            <a:spLocks noGrp="1"/>
          </p:cNvSpPr>
          <p:nvPr>
            <p:ph type="body" idx="1"/>
          </p:nvPr>
        </p:nvSpPr>
        <p:spPr>
          <a:xfrm>
            <a:off x="0" y="1219199"/>
            <a:ext cx="8976852" cy="5515897"/>
          </a:xfrm>
        </p:spPr>
        <p:txBody>
          <a:bodyPr/>
          <a:lstStyle/>
          <a:p>
            <a:r>
              <a:rPr lang="tr-TR" sz="1800" b="0" dirty="0">
                <a:latin typeface="+mn-lt"/>
              </a:rPr>
              <a:t>Bunlardan Anadolu Efes ile </a:t>
            </a:r>
            <a:r>
              <a:rPr lang="tr-TR" sz="1800" b="0" dirty="0" err="1">
                <a:latin typeface="+mn-lt"/>
              </a:rPr>
              <a:t>SAABMiller’in</a:t>
            </a:r>
            <a:r>
              <a:rPr lang="tr-TR" sz="1800" b="0" dirty="0">
                <a:latin typeface="+mn-lt"/>
              </a:rPr>
              <a:t> Rusya ve Ukrayna’daki stratejik ortaklığında, iki </a:t>
            </a:r>
            <a:r>
              <a:rPr lang="tr-TR" sz="1800" b="0" dirty="0" err="1">
                <a:latin typeface="+mn-lt"/>
              </a:rPr>
              <a:t>ÇUŞ’un</a:t>
            </a:r>
            <a:r>
              <a:rPr lang="tr-TR" sz="1800" b="0" dirty="0">
                <a:latin typeface="+mn-lt"/>
              </a:rPr>
              <a:t> kendilerinde olmayan firmaya özgü avantajlara erişme </a:t>
            </a:r>
            <a:r>
              <a:rPr lang="tr-TR" sz="1800" b="0" i="1" dirty="0">
                <a:latin typeface="+mn-lt"/>
              </a:rPr>
              <a:t>stratejisi</a:t>
            </a:r>
            <a:r>
              <a:rPr lang="tr-TR" sz="1800" b="0" dirty="0">
                <a:latin typeface="+mn-lt"/>
              </a:rPr>
              <a:t> ve bu yolla yeni pazarlara ulaşma veya mevcut pazarlardaki paylarını artırma </a:t>
            </a:r>
            <a:r>
              <a:rPr lang="tr-TR" sz="1800" b="0" i="1" dirty="0">
                <a:latin typeface="+mn-lt"/>
              </a:rPr>
              <a:t>motivasyonu</a:t>
            </a:r>
            <a:r>
              <a:rPr lang="tr-TR" sz="1800" b="0" dirty="0">
                <a:latin typeface="+mn-lt"/>
              </a:rPr>
              <a:t> vardı. </a:t>
            </a:r>
            <a:endParaRPr lang="en-US" sz="1800" b="0" dirty="0">
              <a:latin typeface="+mn-lt"/>
            </a:endParaRPr>
          </a:p>
          <a:p>
            <a:endParaRPr lang="en-US" sz="1800" b="0" dirty="0">
              <a:latin typeface="+mn-lt"/>
            </a:endParaRPr>
          </a:p>
          <a:p>
            <a:r>
              <a:rPr lang="tr-TR" sz="1800" b="0" dirty="0">
                <a:latin typeface="+mn-lt"/>
              </a:rPr>
              <a:t>Örneğin, Anadolu Efes 1997’den beri faaliyet gösterdiği Rusya pazarını tanıyor; bira pazarında yaklaşık %15’lik payla en büyük ikinci üretici ve yönetim becerisi ve dağıtım kanalları gibi firmaya özgü avantajlara sahip bir şirket (bkz. Bakır ve Acur 2016b). </a:t>
            </a:r>
            <a:endParaRPr lang="en-US" sz="1800" b="0" dirty="0">
              <a:latin typeface="+mn-lt"/>
            </a:endParaRPr>
          </a:p>
          <a:p>
            <a:endParaRPr lang="en-US" sz="1800" b="0" dirty="0">
              <a:latin typeface="+mn-lt"/>
            </a:endParaRPr>
          </a:p>
          <a:p>
            <a:r>
              <a:rPr lang="tr-TR" sz="1800" b="0" dirty="0">
                <a:latin typeface="+mn-lt"/>
              </a:rPr>
              <a:t>Ancak, 2011 yılında yükselen emtia fiyatlarıyla birlikte büyüyen Rus ekonomisinde refahın artmasıyla birlikte </a:t>
            </a:r>
            <a:r>
              <a:rPr lang="tr-TR" sz="1800" b="0" dirty="0" err="1">
                <a:latin typeface="+mn-lt"/>
              </a:rPr>
              <a:t>tükeci</a:t>
            </a:r>
            <a:r>
              <a:rPr lang="tr-TR" sz="1800" b="0" dirty="0">
                <a:latin typeface="+mn-lt"/>
              </a:rPr>
              <a:t> tercihleri daha üst ürün gruplarına yöneldi. </a:t>
            </a:r>
            <a:endParaRPr lang="en-US" sz="1800" b="0" dirty="0">
              <a:latin typeface="+mn-lt"/>
            </a:endParaRPr>
          </a:p>
          <a:p>
            <a:endParaRPr lang="en-US" sz="1800" b="0" dirty="0">
              <a:latin typeface="+mn-lt"/>
            </a:endParaRPr>
          </a:p>
          <a:p>
            <a:r>
              <a:rPr lang="tr-TR" sz="1800" b="0" dirty="0">
                <a:latin typeface="+mn-lt"/>
              </a:rPr>
              <a:t>Anadolu Efes bu taleplere karşılık vermek için </a:t>
            </a:r>
            <a:r>
              <a:rPr lang="tr-TR" sz="1800" b="0" dirty="0" err="1">
                <a:latin typeface="+mn-lt"/>
              </a:rPr>
              <a:t>SAABMiller’in</a:t>
            </a:r>
            <a:r>
              <a:rPr lang="tr-TR" sz="1800" b="0" dirty="0">
                <a:latin typeface="+mn-lt"/>
              </a:rPr>
              <a:t> uluslararası markalarına ve bunların sunduğu yeni ürünlere –rekabetçi avantajlara- erişme stratejisini de uyguladı (</a:t>
            </a:r>
            <a:r>
              <a:rPr lang="tr-TR" sz="1800" b="0" dirty="0" err="1">
                <a:latin typeface="+mn-lt"/>
              </a:rPr>
              <a:t>a.g.e</a:t>
            </a:r>
            <a:r>
              <a:rPr lang="tr-TR" sz="1800" b="0" dirty="0">
                <a:latin typeface="+mn-lt"/>
              </a:rPr>
              <a:t>.). </a:t>
            </a:r>
            <a:r>
              <a:rPr lang="tr-TR" sz="1800" b="0" dirty="0" err="1">
                <a:latin typeface="+mn-lt"/>
              </a:rPr>
              <a:t>SAABMiller</a:t>
            </a:r>
            <a:r>
              <a:rPr lang="tr-TR" sz="1800" b="0" dirty="0">
                <a:latin typeface="+mn-lt"/>
              </a:rPr>
              <a:t> ise Anadolu Efes’in pazar bilgisi ve dağıtım kanallarına erişmeyi hedefledi.</a:t>
            </a:r>
            <a:endParaRPr lang="en-GB" sz="1800" b="0" dirty="0">
              <a:latin typeface="+mn-lt"/>
            </a:endParaRPr>
          </a:p>
          <a:p>
            <a:endParaRPr lang="tr-TR" dirty="0"/>
          </a:p>
        </p:txBody>
      </p:sp>
    </p:spTree>
    <p:extLst>
      <p:ext uri="{BB962C8B-B14F-4D97-AF65-F5344CB8AC3E}">
        <p14:creationId xmlns:p14="http://schemas.microsoft.com/office/powerpoint/2010/main" val="1468790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DADA8-9C68-69AB-869A-6CA99B778899}"/>
              </a:ext>
            </a:extLst>
          </p:cNvPr>
          <p:cNvSpPr>
            <a:spLocks noGrp="1"/>
          </p:cNvSpPr>
          <p:nvPr>
            <p:ph type="title"/>
          </p:nvPr>
        </p:nvSpPr>
        <p:spPr>
          <a:xfrm>
            <a:off x="1790700" y="0"/>
            <a:ext cx="5829300" cy="990600"/>
          </a:xfrm>
        </p:spPr>
        <p:txBody>
          <a:bodyPr/>
          <a:lstStyle/>
          <a:p>
            <a:r>
              <a:rPr lang="en-US" sz="1800" dirty="0">
                <a:hlinkClick r:id="rId2"/>
              </a:rPr>
              <a:t>Turkish brewer to acquire AB InBev stake in Russian joint venture (ft.com)</a:t>
            </a:r>
            <a:endParaRPr lang="tr-TR" sz="1800" dirty="0"/>
          </a:p>
        </p:txBody>
      </p:sp>
      <p:sp>
        <p:nvSpPr>
          <p:cNvPr id="3" name="Text Placeholder 2">
            <a:extLst>
              <a:ext uri="{FF2B5EF4-FFF2-40B4-BE49-F238E27FC236}">
                <a16:creationId xmlns:a16="http://schemas.microsoft.com/office/drawing/2014/main" id="{9B23BE49-F120-6D97-2899-4CCDA5C3EE73}"/>
              </a:ext>
            </a:extLst>
          </p:cNvPr>
          <p:cNvSpPr>
            <a:spLocks noGrp="1"/>
          </p:cNvSpPr>
          <p:nvPr>
            <p:ph type="body" idx="1"/>
          </p:nvPr>
        </p:nvSpPr>
        <p:spPr/>
        <p:txBody>
          <a:bodyPr/>
          <a:lstStyle/>
          <a:p>
            <a:pPr algn="just"/>
            <a:endParaRPr lang="tr-TR" dirty="0"/>
          </a:p>
          <a:p>
            <a:pPr algn="just"/>
            <a:r>
              <a:rPr lang="tr-TR" dirty="0"/>
              <a:t>Rusya’nın Ukrayna işgali ve batının Rusya’ya yaptırımları Anadolu Efes’i nasıl etkilemiştir?</a:t>
            </a:r>
          </a:p>
        </p:txBody>
      </p:sp>
      <p:sp>
        <p:nvSpPr>
          <p:cNvPr id="4" name="Slide Number Placeholder 3">
            <a:extLst>
              <a:ext uri="{FF2B5EF4-FFF2-40B4-BE49-F238E27FC236}">
                <a16:creationId xmlns:a16="http://schemas.microsoft.com/office/drawing/2014/main" id="{9424EDD9-CB35-4AE6-4B11-FA25C6CC47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52</a:t>
            </a:fld>
            <a:endParaRPr lang="tr-TR"/>
          </a:p>
        </p:txBody>
      </p:sp>
    </p:spTree>
    <p:extLst>
      <p:ext uri="{BB962C8B-B14F-4D97-AF65-F5344CB8AC3E}">
        <p14:creationId xmlns:p14="http://schemas.microsoft.com/office/powerpoint/2010/main" val="3135010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D75A21-38BD-DF68-35A2-A492B7C018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53</a:t>
            </a:fld>
            <a:endParaRPr lang="tr-TR"/>
          </a:p>
        </p:txBody>
      </p:sp>
      <p:pic>
        <p:nvPicPr>
          <p:cNvPr id="4" name="Picture 3">
            <a:extLst>
              <a:ext uri="{FF2B5EF4-FFF2-40B4-BE49-F238E27FC236}">
                <a16:creationId xmlns:a16="http://schemas.microsoft.com/office/drawing/2014/main" id="{F496A71F-6279-4C60-867F-FB92E88375A9}"/>
              </a:ext>
            </a:extLst>
          </p:cNvPr>
          <p:cNvPicPr>
            <a:picLocks noChangeAspect="1"/>
          </p:cNvPicPr>
          <p:nvPr/>
        </p:nvPicPr>
        <p:blipFill>
          <a:blip r:embed="rId2"/>
          <a:stretch>
            <a:fillRect/>
          </a:stretch>
        </p:blipFill>
        <p:spPr>
          <a:xfrm>
            <a:off x="38100" y="1266825"/>
            <a:ext cx="9144000" cy="5143500"/>
          </a:xfrm>
          <a:prstGeom prst="rect">
            <a:avLst/>
          </a:prstGeom>
        </p:spPr>
      </p:pic>
    </p:spTree>
    <p:extLst>
      <p:ext uri="{BB962C8B-B14F-4D97-AF65-F5344CB8AC3E}">
        <p14:creationId xmlns:p14="http://schemas.microsoft.com/office/powerpoint/2010/main" val="13826361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E69F2-6BDD-8008-1CE5-25BA2B603F9D}"/>
              </a:ext>
            </a:extLst>
          </p:cNvPr>
          <p:cNvSpPr>
            <a:spLocks noGrp="1"/>
          </p:cNvSpPr>
          <p:nvPr>
            <p:ph type="title"/>
          </p:nvPr>
        </p:nvSpPr>
        <p:spPr/>
        <p:txBody>
          <a:bodyPr/>
          <a:lstStyle/>
          <a:p>
            <a:endParaRPr lang="tr-TR" dirty="0"/>
          </a:p>
        </p:txBody>
      </p:sp>
      <p:sp>
        <p:nvSpPr>
          <p:cNvPr id="3" name="Text Placeholder 2">
            <a:extLst>
              <a:ext uri="{FF2B5EF4-FFF2-40B4-BE49-F238E27FC236}">
                <a16:creationId xmlns:a16="http://schemas.microsoft.com/office/drawing/2014/main" id="{0BE238B2-6AC5-2FD7-BF22-CCAD4786D148}"/>
              </a:ext>
            </a:extLst>
          </p:cNvPr>
          <p:cNvSpPr>
            <a:spLocks noGrp="1"/>
          </p:cNvSpPr>
          <p:nvPr>
            <p:ph type="body" idx="1"/>
          </p:nvPr>
        </p:nvSpPr>
        <p:spPr/>
        <p:txBody>
          <a:bodyPr/>
          <a:lstStyle/>
          <a:p>
            <a:r>
              <a:rPr lang="tr-TR" sz="5400" dirty="0"/>
              <a:t>Küresel Piyasalarda gelişmeler</a:t>
            </a:r>
          </a:p>
        </p:txBody>
      </p:sp>
      <p:sp>
        <p:nvSpPr>
          <p:cNvPr id="4" name="Slide Number Placeholder 3">
            <a:extLst>
              <a:ext uri="{FF2B5EF4-FFF2-40B4-BE49-F238E27FC236}">
                <a16:creationId xmlns:a16="http://schemas.microsoft.com/office/drawing/2014/main" id="{01FA0CB0-2DB7-89C1-B908-917CEE754A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54</a:t>
            </a:fld>
            <a:endParaRPr lang="tr-TR"/>
          </a:p>
        </p:txBody>
      </p:sp>
    </p:spTree>
    <p:extLst>
      <p:ext uri="{BB962C8B-B14F-4D97-AF65-F5344CB8AC3E}">
        <p14:creationId xmlns:p14="http://schemas.microsoft.com/office/powerpoint/2010/main" val="2943726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71"/>
          <p:cNvSpPr txBox="1">
            <a:spLocks noGrp="1"/>
          </p:cNvSpPr>
          <p:nvPr>
            <p:ph type="title"/>
          </p:nvPr>
        </p:nvSpPr>
        <p:spPr>
          <a:xfrm>
            <a:off x="1236900" y="0"/>
            <a:ext cx="7373700"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1500" dirty="0">
                <a:solidFill>
                  <a:schemeClr val="dk1"/>
                </a:solidFill>
              </a:rPr>
              <a:t>Toplam Küresel Borç</a:t>
            </a:r>
            <a:r>
              <a:rPr lang="en-US" sz="1500" dirty="0">
                <a:solidFill>
                  <a:schemeClr val="dk1"/>
                </a:solidFill>
              </a:rPr>
              <a:t> </a:t>
            </a:r>
            <a:r>
              <a:rPr lang="en-US" sz="1500" dirty="0" err="1">
                <a:solidFill>
                  <a:schemeClr val="dk1"/>
                </a:solidFill>
              </a:rPr>
              <a:t>nasil</a:t>
            </a:r>
            <a:r>
              <a:rPr lang="en-US" sz="1500" dirty="0">
                <a:solidFill>
                  <a:schemeClr val="dk1"/>
                </a:solidFill>
              </a:rPr>
              <a:t> </a:t>
            </a:r>
            <a:r>
              <a:rPr lang="en-US" sz="1500" dirty="0" err="1">
                <a:solidFill>
                  <a:schemeClr val="dk1"/>
                </a:solidFill>
              </a:rPr>
              <a:t>cevrilir</a:t>
            </a:r>
            <a:r>
              <a:rPr lang="en-US" sz="1500" dirty="0">
                <a:solidFill>
                  <a:schemeClr val="dk1"/>
                </a:solidFill>
              </a:rPr>
              <a:t>? (</a:t>
            </a:r>
            <a:r>
              <a:rPr lang="en-US" sz="1500" dirty="0" err="1">
                <a:solidFill>
                  <a:schemeClr val="dk1"/>
                </a:solidFill>
              </a:rPr>
              <a:t>borclanarak</a:t>
            </a:r>
            <a:r>
              <a:rPr lang="en-US" sz="1500" dirty="0">
                <a:solidFill>
                  <a:schemeClr val="dk1"/>
                </a:solidFill>
              </a:rPr>
              <a:t> ve </a:t>
            </a:r>
            <a:r>
              <a:rPr lang="en-US" sz="1500" dirty="0" err="1">
                <a:solidFill>
                  <a:schemeClr val="dk1"/>
                </a:solidFill>
              </a:rPr>
              <a:t>verimlilik</a:t>
            </a:r>
            <a:r>
              <a:rPr lang="en-US" sz="1500" dirty="0">
                <a:solidFill>
                  <a:schemeClr val="dk1"/>
                </a:solidFill>
              </a:rPr>
              <a:t> </a:t>
            </a:r>
            <a:r>
              <a:rPr lang="en-US" sz="1500" dirty="0" err="1">
                <a:solidFill>
                  <a:schemeClr val="dk1"/>
                </a:solidFill>
              </a:rPr>
              <a:t>artirip</a:t>
            </a:r>
            <a:r>
              <a:rPr lang="en-US" sz="1500" dirty="0">
                <a:solidFill>
                  <a:schemeClr val="dk1"/>
                </a:solidFill>
              </a:rPr>
              <a:t> </a:t>
            </a:r>
            <a:r>
              <a:rPr lang="en-US" sz="1500" dirty="0" err="1">
                <a:solidFill>
                  <a:schemeClr val="dk1"/>
                </a:solidFill>
              </a:rPr>
              <a:t>buyuyerek</a:t>
            </a:r>
            <a:r>
              <a:rPr lang="en-US" sz="1500" dirty="0">
                <a:solidFill>
                  <a:schemeClr val="dk1"/>
                </a:solidFill>
              </a:rPr>
              <a:t>; </a:t>
            </a:r>
            <a:r>
              <a:rPr lang="en-US" sz="1500" dirty="0" err="1">
                <a:solidFill>
                  <a:schemeClr val="dk1"/>
                </a:solidFill>
              </a:rPr>
              <a:t>borclanirken</a:t>
            </a:r>
            <a:r>
              <a:rPr lang="en-US" sz="1500" dirty="0">
                <a:solidFill>
                  <a:schemeClr val="dk1"/>
                </a:solidFill>
              </a:rPr>
              <a:t> de </a:t>
            </a:r>
            <a:r>
              <a:rPr lang="en-US" sz="1500" dirty="0" err="1">
                <a:solidFill>
                  <a:schemeClr val="dk1"/>
                </a:solidFill>
              </a:rPr>
              <a:t>faizi</a:t>
            </a:r>
            <a:r>
              <a:rPr lang="en-US" sz="1500" dirty="0">
                <a:solidFill>
                  <a:schemeClr val="dk1"/>
                </a:solidFill>
              </a:rPr>
              <a:t> </a:t>
            </a:r>
            <a:r>
              <a:rPr lang="en-US" sz="1500" dirty="0" err="1">
                <a:solidFill>
                  <a:schemeClr val="dk1"/>
                </a:solidFill>
              </a:rPr>
              <a:t>dusurecekler</a:t>
            </a:r>
            <a:r>
              <a:rPr lang="en-US" sz="1500" dirty="0">
                <a:solidFill>
                  <a:schemeClr val="dk1"/>
                </a:solidFill>
              </a:rPr>
              <a:t> </a:t>
            </a:r>
            <a:r>
              <a:rPr lang="en-US" sz="1500" dirty="0" err="1">
                <a:solidFill>
                  <a:schemeClr val="dk1"/>
                </a:solidFill>
              </a:rPr>
              <a:t>borc</a:t>
            </a:r>
            <a:r>
              <a:rPr lang="en-US" sz="1500" dirty="0">
                <a:solidFill>
                  <a:schemeClr val="dk1"/>
                </a:solidFill>
              </a:rPr>
              <a:t> </a:t>
            </a:r>
            <a:r>
              <a:rPr lang="en-US" sz="1500" dirty="0" err="1">
                <a:solidFill>
                  <a:schemeClr val="dk1"/>
                </a:solidFill>
              </a:rPr>
              <a:t>stokunu</a:t>
            </a:r>
            <a:r>
              <a:rPr lang="en-US" sz="1500" dirty="0">
                <a:solidFill>
                  <a:schemeClr val="dk1"/>
                </a:solidFill>
              </a:rPr>
              <a:t> </a:t>
            </a:r>
            <a:r>
              <a:rPr lang="en-US" sz="1500" dirty="0" err="1">
                <a:solidFill>
                  <a:schemeClr val="dk1"/>
                </a:solidFill>
              </a:rPr>
              <a:t>eritmek</a:t>
            </a:r>
            <a:r>
              <a:rPr lang="en-US" sz="1500" dirty="0">
                <a:solidFill>
                  <a:schemeClr val="dk1"/>
                </a:solidFill>
              </a:rPr>
              <a:t> icin, </a:t>
            </a:r>
            <a:r>
              <a:rPr lang="en-US" sz="1500" dirty="0" err="1">
                <a:solidFill>
                  <a:schemeClr val="dk1"/>
                </a:solidFill>
              </a:rPr>
              <a:t>harcamaya</a:t>
            </a:r>
            <a:r>
              <a:rPr lang="en-US" sz="1500" dirty="0">
                <a:solidFill>
                  <a:schemeClr val="dk1"/>
                </a:solidFill>
              </a:rPr>
              <a:t> </a:t>
            </a:r>
            <a:r>
              <a:rPr lang="en-US" sz="1500" dirty="0" err="1">
                <a:solidFill>
                  <a:schemeClr val="dk1"/>
                </a:solidFill>
              </a:rPr>
              <a:t>devam</a:t>
            </a:r>
            <a:r>
              <a:rPr lang="en-US" sz="1500" dirty="0">
                <a:solidFill>
                  <a:schemeClr val="dk1"/>
                </a:solidFill>
              </a:rPr>
              <a:t> </a:t>
            </a:r>
            <a:r>
              <a:rPr lang="en-US" sz="1500" dirty="0" err="1">
                <a:solidFill>
                  <a:schemeClr val="dk1"/>
                </a:solidFill>
              </a:rPr>
              <a:t>dusuk</a:t>
            </a:r>
            <a:r>
              <a:rPr lang="en-US" sz="1500" dirty="0">
                <a:solidFill>
                  <a:schemeClr val="dk1"/>
                </a:solidFill>
              </a:rPr>
              <a:t> </a:t>
            </a:r>
            <a:r>
              <a:rPr lang="en-US" sz="1500" dirty="0" err="1">
                <a:solidFill>
                  <a:schemeClr val="dk1"/>
                </a:solidFill>
              </a:rPr>
              <a:t>faizle</a:t>
            </a:r>
            <a:r>
              <a:rPr lang="en-US" sz="1500" dirty="0">
                <a:solidFill>
                  <a:schemeClr val="dk1"/>
                </a:solidFill>
              </a:rPr>
              <a:t> </a:t>
            </a:r>
            <a:r>
              <a:rPr lang="en-US" sz="1500" dirty="0" err="1">
                <a:solidFill>
                  <a:schemeClr val="dk1"/>
                </a:solidFill>
              </a:rPr>
              <a:t>borclanarak</a:t>
            </a:r>
            <a:r>
              <a:rPr lang="en-US" sz="1500" dirty="0">
                <a:solidFill>
                  <a:schemeClr val="dk1"/>
                </a:solidFill>
              </a:rPr>
              <a:t>)</a:t>
            </a:r>
            <a:endParaRPr sz="1500" dirty="0">
              <a:solidFill>
                <a:schemeClr val="dk1"/>
              </a:solidFill>
            </a:endParaRPr>
          </a:p>
        </p:txBody>
      </p:sp>
      <p:sp>
        <p:nvSpPr>
          <p:cNvPr id="635" name="Google Shape;635;p71"/>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55</a:t>
            </a:fld>
            <a:endParaRPr/>
          </a:p>
        </p:txBody>
      </p:sp>
      <p:sp>
        <p:nvSpPr>
          <p:cNvPr id="636" name="Google Shape;636;p71"/>
          <p:cNvSpPr txBox="1"/>
          <p:nvPr/>
        </p:nvSpPr>
        <p:spPr>
          <a:xfrm>
            <a:off x="1047575" y="6468200"/>
            <a:ext cx="6918900" cy="2286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endParaRPr sz="1300">
              <a:solidFill>
                <a:schemeClr val="dk1"/>
              </a:solidFill>
            </a:endParaRPr>
          </a:p>
        </p:txBody>
      </p:sp>
      <p:pic>
        <p:nvPicPr>
          <p:cNvPr id="637" name="Google Shape;637;p71"/>
          <p:cNvPicPr preferRelativeResize="0"/>
          <p:nvPr/>
        </p:nvPicPr>
        <p:blipFill>
          <a:blip r:embed="rId3">
            <a:alphaModFix/>
          </a:blip>
          <a:stretch>
            <a:fillRect/>
          </a:stretch>
        </p:blipFill>
        <p:spPr>
          <a:xfrm>
            <a:off x="859838" y="1143000"/>
            <a:ext cx="7294363" cy="51728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6"/>
          <p:cNvSpPr txBox="1">
            <a:spLocks noGrp="1"/>
          </p:cNvSpPr>
          <p:nvPr>
            <p:ph type="title"/>
          </p:nvPr>
        </p:nvSpPr>
        <p:spPr>
          <a:xfrm>
            <a:off x="1511275" y="0"/>
            <a:ext cx="6705600"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1500" dirty="0">
                <a:latin typeface="Roboto"/>
                <a:ea typeface="Roboto"/>
                <a:cs typeface="Roboto"/>
                <a:sym typeface="Roboto"/>
              </a:rPr>
              <a:t>Küresel Likidite Art</a:t>
            </a:r>
            <a:r>
              <a:rPr lang="en-US" sz="1500" dirty="0" err="1">
                <a:latin typeface="Roboto"/>
                <a:ea typeface="Roboto"/>
                <a:cs typeface="Roboto"/>
                <a:sym typeface="Roboto"/>
              </a:rPr>
              <a:t>inca</a:t>
            </a:r>
            <a:r>
              <a:rPr lang="en-US" sz="1500" dirty="0">
                <a:latin typeface="Roboto"/>
                <a:ea typeface="Roboto"/>
                <a:cs typeface="Roboto"/>
                <a:sym typeface="Roboto"/>
              </a:rPr>
              <a:t> </a:t>
            </a:r>
            <a:r>
              <a:rPr lang="tr-TR" sz="1500" dirty="0">
                <a:latin typeface="Roboto"/>
                <a:ea typeface="Roboto"/>
                <a:cs typeface="Roboto"/>
                <a:sym typeface="Roboto"/>
              </a:rPr>
              <a:t>Bitcoin</a:t>
            </a:r>
            <a:r>
              <a:rPr lang="en-US" sz="1500" dirty="0">
                <a:latin typeface="Roboto"/>
                <a:ea typeface="Roboto"/>
                <a:cs typeface="Roboto"/>
                <a:sym typeface="Roboto"/>
              </a:rPr>
              <a:t> </a:t>
            </a:r>
            <a:r>
              <a:rPr lang="en-US" sz="1500" dirty="0" err="1">
                <a:latin typeface="Roboto"/>
                <a:ea typeface="Roboto"/>
                <a:cs typeface="Roboto"/>
                <a:sym typeface="Roboto"/>
              </a:rPr>
              <a:t>yukari</a:t>
            </a:r>
            <a:r>
              <a:rPr lang="en-US" sz="1500" dirty="0">
                <a:latin typeface="Roboto"/>
                <a:ea typeface="Roboto"/>
                <a:cs typeface="Roboto"/>
                <a:sym typeface="Roboto"/>
              </a:rPr>
              <a:t>!</a:t>
            </a:r>
            <a:endParaRPr sz="1500" dirty="0">
              <a:latin typeface="Roboto"/>
              <a:ea typeface="Roboto"/>
              <a:cs typeface="Roboto"/>
              <a:sym typeface="Roboto"/>
            </a:endParaRPr>
          </a:p>
        </p:txBody>
      </p:sp>
      <p:sp>
        <p:nvSpPr>
          <p:cNvPr id="422" name="Google Shape;422;p46"/>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56</a:t>
            </a:fld>
            <a:endParaRPr/>
          </a:p>
        </p:txBody>
      </p:sp>
      <p:pic>
        <p:nvPicPr>
          <p:cNvPr id="423" name="Google Shape;423;p46"/>
          <p:cNvPicPr preferRelativeResize="0"/>
          <p:nvPr/>
        </p:nvPicPr>
        <p:blipFill>
          <a:blip r:embed="rId3">
            <a:alphaModFix/>
          </a:blip>
          <a:stretch>
            <a:fillRect/>
          </a:stretch>
        </p:blipFill>
        <p:spPr>
          <a:xfrm>
            <a:off x="152400" y="1143000"/>
            <a:ext cx="8839204" cy="4825308"/>
          </a:xfrm>
          <a:prstGeom prst="rect">
            <a:avLst/>
          </a:prstGeom>
          <a:noFill/>
          <a:ln>
            <a:noFill/>
          </a:ln>
        </p:spPr>
      </p:pic>
      <p:sp>
        <p:nvSpPr>
          <p:cNvPr id="424" name="Google Shape;424;p46"/>
          <p:cNvSpPr txBox="1"/>
          <p:nvPr/>
        </p:nvSpPr>
        <p:spPr>
          <a:xfrm>
            <a:off x="1754100" y="6346400"/>
            <a:ext cx="5201400" cy="2829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tr-TR" sz="1300" u="sng">
                <a:solidFill>
                  <a:schemeClr val="hlink"/>
                </a:solidFill>
                <a:highlight>
                  <a:srgbClr val="FFFFFF"/>
                </a:highlight>
                <a:hlinkClick r:id="rId4"/>
              </a:rPr>
              <a:t>https://x.com/BittelJulien/status/1839011477337825526</a:t>
            </a:r>
            <a:endParaRPr sz="1300">
              <a:solidFill>
                <a:schemeClr val="dk1"/>
              </a:solidFill>
            </a:endParaRPr>
          </a:p>
        </p:txBody>
      </p:sp>
    </p:spTree>
    <p:extLst>
      <p:ext uri="{BB962C8B-B14F-4D97-AF65-F5344CB8AC3E}">
        <p14:creationId xmlns:p14="http://schemas.microsoft.com/office/powerpoint/2010/main" val="2493427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7"/>
          <p:cNvSpPr txBox="1">
            <a:spLocks noGrp="1"/>
          </p:cNvSpPr>
          <p:nvPr>
            <p:ph type="title"/>
          </p:nvPr>
        </p:nvSpPr>
        <p:spPr>
          <a:xfrm>
            <a:off x="914400" y="0"/>
            <a:ext cx="8028300"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2000" dirty="0">
                <a:solidFill>
                  <a:schemeClr val="dk1"/>
                </a:solidFill>
              </a:rPr>
              <a:t>Küresel toplam likidite ile Bitcoin fiyatı yakın ilişki halinde</a:t>
            </a:r>
            <a:endParaRPr sz="2000" dirty="0">
              <a:solidFill>
                <a:schemeClr val="dk1"/>
              </a:solidFill>
            </a:endParaRPr>
          </a:p>
        </p:txBody>
      </p:sp>
      <p:sp>
        <p:nvSpPr>
          <p:cNvPr id="431" name="Google Shape;431;p47"/>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57</a:t>
            </a:fld>
            <a:endParaRPr/>
          </a:p>
        </p:txBody>
      </p:sp>
      <p:pic>
        <p:nvPicPr>
          <p:cNvPr id="433" name="Google Shape;433;p47"/>
          <p:cNvPicPr preferRelativeResize="0"/>
          <p:nvPr/>
        </p:nvPicPr>
        <p:blipFill>
          <a:blip r:embed="rId3">
            <a:alphaModFix/>
          </a:blip>
          <a:stretch>
            <a:fillRect/>
          </a:stretch>
        </p:blipFill>
        <p:spPr>
          <a:xfrm>
            <a:off x="0" y="1146273"/>
            <a:ext cx="9144000" cy="5483127"/>
          </a:xfrm>
          <a:prstGeom prst="rect">
            <a:avLst/>
          </a:prstGeom>
          <a:noFill/>
          <a:ln>
            <a:noFill/>
          </a:ln>
        </p:spPr>
      </p:pic>
    </p:spTree>
    <p:extLst>
      <p:ext uri="{BB962C8B-B14F-4D97-AF65-F5344CB8AC3E}">
        <p14:creationId xmlns:p14="http://schemas.microsoft.com/office/powerpoint/2010/main" val="25980770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6"/>
          <p:cNvSpPr txBox="1">
            <a:spLocks noGrp="1"/>
          </p:cNvSpPr>
          <p:nvPr>
            <p:ph type="title"/>
          </p:nvPr>
        </p:nvSpPr>
        <p:spPr>
          <a:xfrm>
            <a:off x="1181100" y="0"/>
            <a:ext cx="7035775"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2400" dirty="0">
                <a:latin typeface="Roboto"/>
                <a:ea typeface="Roboto"/>
                <a:cs typeface="Roboto"/>
                <a:sym typeface="Roboto"/>
              </a:rPr>
              <a:t>2025 ortasına kadar iyi olur</a:t>
            </a:r>
            <a:endParaRPr sz="2400" dirty="0">
              <a:latin typeface="Roboto"/>
              <a:ea typeface="Roboto"/>
              <a:cs typeface="Roboto"/>
              <a:sym typeface="Roboto"/>
            </a:endParaRPr>
          </a:p>
        </p:txBody>
      </p:sp>
      <p:sp>
        <p:nvSpPr>
          <p:cNvPr id="422" name="Google Shape;422;p46"/>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58</a:t>
            </a:fld>
            <a:endParaRPr/>
          </a:p>
        </p:txBody>
      </p:sp>
      <p:sp>
        <p:nvSpPr>
          <p:cNvPr id="424" name="Google Shape;424;p46"/>
          <p:cNvSpPr txBox="1"/>
          <p:nvPr/>
        </p:nvSpPr>
        <p:spPr>
          <a:xfrm>
            <a:off x="1754100" y="6562724"/>
            <a:ext cx="5201400" cy="295275"/>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tr-TR" sz="1300" u="sng" dirty="0">
                <a:solidFill>
                  <a:schemeClr val="hlink"/>
                </a:solidFill>
                <a:highlight>
                  <a:srgbClr val="FFFFFF"/>
                </a:highlight>
                <a:hlinkClick r:id="rId3"/>
              </a:rPr>
              <a:t>https://x.com/BittelJulien/status/1839011477337825526</a:t>
            </a:r>
            <a:endParaRPr sz="1300" dirty="0">
              <a:solidFill>
                <a:schemeClr val="dk1"/>
              </a:solidFill>
            </a:endParaRPr>
          </a:p>
        </p:txBody>
      </p:sp>
      <p:pic>
        <p:nvPicPr>
          <p:cNvPr id="2" name="Google Shape;432;p47">
            <a:extLst>
              <a:ext uri="{FF2B5EF4-FFF2-40B4-BE49-F238E27FC236}">
                <a16:creationId xmlns:a16="http://schemas.microsoft.com/office/drawing/2014/main" id="{6BF641DE-517C-AF02-BEF1-3A97D679E2E5}"/>
              </a:ext>
            </a:extLst>
          </p:cNvPr>
          <p:cNvPicPr preferRelativeResize="0"/>
          <p:nvPr/>
        </p:nvPicPr>
        <p:blipFill>
          <a:blip r:embed="rId4">
            <a:alphaModFix/>
          </a:blip>
          <a:stretch>
            <a:fillRect/>
          </a:stretch>
        </p:blipFill>
        <p:spPr>
          <a:xfrm>
            <a:off x="1" y="1133475"/>
            <a:ext cx="9144000" cy="5286375"/>
          </a:xfrm>
          <a:prstGeom prst="rect">
            <a:avLst/>
          </a:prstGeom>
          <a:noFill/>
          <a:ln>
            <a:noFill/>
          </a:ln>
        </p:spPr>
      </p:pic>
    </p:spTree>
    <p:extLst>
      <p:ext uri="{BB962C8B-B14F-4D97-AF65-F5344CB8AC3E}">
        <p14:creationId xmlns:p14="http://schemas.microsoft.com/office/powerpoint/2010/main" val="2124434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87"/>
          <p:cNvSpPr txBox="1">
            <a:spLocks noGrp="1"/>
          </p:cNvSpPr>
          <p:nvPr>
            <p:ph type="title"/>
          </p:nvPr>
        </p:nvSpPr>
        <p:spPr>
          <a:xfrm>
            <a:off x="1504950" y="0"/>
            <a:ext cx="7105650"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2000" dirty="0"/>
              <a:t>Global </a:t>
            </a:r>
            <a:r>
              <a:rPr lang="tr-TR" sz="2000" dirty="0" err="1"/>
              <a:t>Liquidity</a:t>
            </a:r>
            <a:r>
              <a:rPr lang="tr-TR" sz="2000" dirty="0"/>
              <a:t> Index</a:t>
            </a:r>
            <a:br>
              <a:rPr lang="en-US" sz="2000" dirty="0"/>
            </a:br>
            <a:r>
              <a:rPr lang="en-US" sz="2000" dirty="0"/>
              <a:t>(2025 </a:t>
            </a:r>
            <a:r>
              <a:rPr lang="en-US" sz="2000" dirty="0" err="1"/>
              <a:t>ortasindan</a:t>
            </a:r>
            <a:r>
              <a:rPr lang="en-US" sz="2000" dirty="0"/>
              <a:t> </a:t>
            </a:r>
            <a:r>
              <a:rPr lang="en-US" sz="2000" dirty="0" err="1"/>
              <a:t>sonra</a:t>
            </a:r>
            <a:r>
              <a:rPr lang="en-US" sz="2000" dirty="0"/>
              <a:t> </a:t>
            </a:r>
            <a:r>
              <a:rPr lang="en-US" sz="2000" dirty="0" err="1"/>
              <a:t>kursel</a:t>
            </a:r>
            <a:r>
              <a:rPr lang="en-US" sz="2000" dirty="0"/>
              <a:t> </a:t>
            </a:r>
            <a:r>
              <a:rPr lang="en-US" sz="2000" dirty="0" err="1"/>
              <a:t>piyasalara</a:t>
            </a:r>
            <a:r>
              <a:rPr lang="en-US" sz="2000" dirty="0"/>
              <a:t> </a:t>
            </a:r>
            <a:r>
              <a:rPr lang="en-US" sz="2000" dirty="0" err="1"/>
              <a:t>dikkat</a:t>
            </a:r>
            <a:r>
              <a:rPr lang="en-US" sz="2000" dirty="0"/>
              <a:t>)</a:t>
            </a:r>
            <a:endParaRPr sz="2000" dirty="0"/>
          </a:p>
        </p:txBody>
      </p:sp>
      <p:sp>
        <p:nvSpPr>
          <p:cNvPr id="781" name="Google Shape;781;p87"/>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59</a:t>
            </a:fld>
            <a:endParaRPr/>
          </a:p>
        </p:txBody>
      </p:sp>
      <p:pic>
        <p:nvPicPr>
          <p:cNvPr id="782" name="Google Shape;782;p87"/>
          <p:cNvPicPr preferRelativeResize="0"/>
          <p:nvPr/>
        </p:nvPicPr>
        <p:blipFill>
          <a:blip r:embed="rId3">
            <a:alphaModFix/>
          </a:blip>
          <a:stretch>
            <a:fillRect/>
          </a:stretch>
        </p:blipFill>
        <p:spPr>
          <a:xfrm>
            <a:off x="914388" y="1170450"/>
            <a:ext cx="7442769" cy="5562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86"/>
          <p:cNvSpPr txBox="1">
            <a:spLocks noGrp="1"/>
          </p:cNvSpPr>
          <p:nvPr>
            <p:ph type="title"/>
          </p:nvPr>
        </p:nvSpPr>
        <p:spPr>
          <a:xfrm>
            <a:off x="1228724" y="0"/>
            <a:ext cx="7305676"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en-US" sz="1500" dirty="0"/>
              <a:t>Bir </a:t>
            </a:r>
            <a:r>
              <a:rPr lang="en-US" sz="1500" dirty="0" err="1"/>
              <a:t>sonraki</a:t>
            </a:r>
            <a:r>
              <a:rPr lang="en-US" sz="1500" dirty="0"/>
              <a:t> </a:t>
            </a:r>
            <a:r>
              <a:rPr lang="en-US" sz="1500" dirty="0" err="1"/>
              <a:t>kayip</a:t>
            </a:r>
            <a:r>
              <a:rPr lang="en-US" sz="1500" dirty="0"/>
              <a:t> 10 </a:t>
            </a:r>
            <a:r>
              <a:rPr lang="en-US" sz="1500" dirty="0" err="1"/>
              <a:t>yil</a:t>
            </a:r>
            <a:r>
              <a:rPr lang="en-US" sz="1500" dirty="0"/>
              <a:t> 2026 ve </a:t>
            </a:r>
            <a:r>
              <a:rPr lang="en-US" sz="1500" dirty="0" err="1"/>
              <a:t>sonrasi</a:t>
            </a:r>
            <a:r>
              <a:rPr lang="en-US" sz="1500" dirty="0"/>
              <a:t> mi?</a:t>
            </a:r>
            <a:endParaRPr sz="1500" dirty="0"/>
          </a:p>
        </p:txBody>
      </p:sp>
      <p:sp>
        <p:nvSpPr>
          <p:cNvPr id="773" name="Google Shape;773;p86"/>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60</a:t>
            </a:fld>
            <a:endParaRPr/>
          </a:p>
        </p:txBody>
      </p:sp>
      <p:pic>
        <p:nvPicPr>
          <p:cNvPr id="774" name="Google Shape;774;p86"/>
          <p:cNvPicPr preferRelativeResize="0"/>
          <p:nvPr/>
        </p:nvPicPr>
        <p:blipFill>
          <a:blip r:embed="rId3">
            <a:alphaModFix/>
          </a:blip>
          <a:stretch>
            <a:fillRect/>
          </a:stretch>
        </p:blipFill>
        <p:spPr>
          <a:xfrm>
            <a:off x="161925" y="1153150"/>
            <a:ext cx="8877300" cy="55626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81"/>
          <p:cNvSpPr txBox="1">
            <a:spLocks noGrp="1"/>
          </p:cNvSpPr>
          <p:nvPr>
            <p:ph type="title"/>
          </p:nvPr>
        </p:nvSpPr>
        <p:spPr>
          <a:xfrm>
            <a:off x="1219200" y="0"/>
            <a:ext cx="6705600" cy="990600"/>
          </a:xfrm>
          <a:prstGeom prst="rect">
            <a:avLst/>
          </a:prstGeom>
        </p:spPr>
        <p:txBody>
          <a:bodyPr spcFirstLastPara="1" wrap="square" lIns="45700" tIns="47625" rIns="91425" bIns="47625" anchor="ctr" anchorCtr="0">
            <a:noAutofit/>
          </a:bodyPr>
          <a:lstStyle/>
          <a:p>
            <a:pPr marL="0" lvl="0" indent="0" algn="ctr" rtl="0">
              <a:spcBef>
                <a:spcPct val="0"/>
              </a:spcBef>
              <a:spcAft>
                <a:spcPct val="0"/>
              </a:spcAft>
              <a:buNone/>
            </a:pPr>
            <a:r>
              <a:rPr lang="tr-TR" sz="1500" dirty="0">
                <a:solidFill>
                  <a:schemeClr val="dk1"/>
                </a:solidFill>
              </a:rPr>
              <a:t>2024 Seçim Tahmini:</a:t>
            </a:r>
            <a:r>
              <a:rPr lang="en-US" sz="1500" dirty="0">
                <a:solidFill>
                  <a:schemeClr val="dk1"/>
                </a:solidFill>
              </a:rPr>
              <a:t> (</a:t>
            </a:r>
            <a:r>
              <a:rPr lang="en-US" sz="1500" dirty="0" err="1">
                <a:solidFill>
                  <a:schemeClr val="dk1"/>
                </a:solidFill>
              </a:rPr>
              <a:t>eylul</a:t>
            </a:r>
            <a:r>
              <a:rPr lang="en-US" sz="1500" dirty="0">
                <a:solidFill>
                  <a:schemeClr val="dk1"/>
                </a:solidFill>
              </a:rPr>
              <a:t> 2024)</a:t>
            </a:r>
            <a:br>
              <a:rPr lang="en-US" sz="1500" dirty="0">
                <a:solidFill>
                  <a:schemeClr val="dk1"/>
                </a:solidFill>
              </a:rPr>
            </a:br>
            <a:r>
              <a:rPr lang="tr-TR" sz="1500" dirty="0">
                <a:solidFill>
                  <a:schemeClr val="dk1"/>
                </a:solidFill>
              </a:rPr>
              <a:t> Trump'ın farkı %2,4</a:t>
            </a:r>
            <a:endParaRPr sz="1500" dirty="0">
              <a:solidFill>
                <a:schemeClr val="dk1"/>
              </a:solidFill>
            </a:endParaRPr>
          </a:p>
        </p:txBody>
      </p:sp>
      <p:sp>
        <p:nvSpPr>
          <p:cNvPr id="726" name="Google Shape;726;p81"/>
          <p:cNvSpPr txBox="1">
            <a:spLocks noGrp="1"/>
          </p:cNvSpPr>
          <p:nvPr>
            <p:ph type="sldNum" idx="12"/>
          </p:nvPr>
        </p:nvSpPr>
        <p:spPr>
          <a:xfrm>
            <a:off x="8610600" y="6629400"/>
            <a:ext cx="533400" cy="228600"/>
          </a:xfrm>
          <a:prstGeom prst="rect">
            <a:avLst/>
          </a:prstGeom>
        </p:spPr>
        <p:txBody>
          <a:bodyPr spcFirstLastPara="1" wrap="square" lIns="91425" tIns="45700" rIns="91425" bIns="45700" anchor="t" anchorCtr="0">
            <a:noAutofit/>
          </a:bodyPr>
          <a:lstStyle/>
          <a:p>
            <a:pPr marL="0" lvl="0" indent="0" algn="r" rtl="0">
              <a:spcBef>
                <a:spcPct val="0"/>
              </a:spcBef>
              <a:spcAft>
                <a:spcPct val="0"/>
              </a:spcAft>
              <a:buClr>
                <a:srgbClr val="000000"/>
              </a:buClr>
              <a:buSzPts val="1000"/>
              <a:buFont typeface="Arial"/>
              <a:buNone/>
            </a:pPr>
            <a:fld id="{00000000-1234-1234-1234-123412341234}" type="slidenum">
              <a:rPr lang="tr-TR"/>
              <a:t>61</a:t>
            </a:fld>
            <a:endParaRPr/>
          </a:p>
        </p:txBody>
      </p:sp>
      <p:sp>
        <p:nvSpPr>
          <p:cNvPr id="727" name="Google Shape;727;p81"/>
          <p:cNvSpPr txBox="1"/>
          <p:nvPr/>
        </p:nvSpPr>
        <p:spPr>
          <a:xfrm>
            <a:off x="1297950" y="6380150"/>
            <a:ext cx="6548100" cy="3357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tr-TR" sz="1300" u="sng">
                <a:solidFill>
                  <a:schemeClr val="hlink"/>
                </a:solidFill>
                <a:highlight>
                  <a:srgbClr val="FFFFFF"/>
                </a:highlight>
                <a:hlinkClick r:id="rId3"/>
              </a:rPr>
              <a:t>https://x.com/stats_feed/status/1842854316886892781</a:t>
            </a:r>
            <a:endParaRPr sz="1300" u="sng">
              <a:solidFill>
                <a:schemeClr val="dk1"/>
              </a:solidFill>
            </a:endParaRPr>
          </a:p>
        </p:txBody>
      </p:sp>
      <p:pic>
        <p:nvPicPr>
          <p:cNvPr id="728" name="Google Shape;728;p81"/>
          <p:cNvPicPr preferRelativeResize="0"/>
          <p:nvPr/>
        </p:nvPicPr>
        <p:blipFill>
          <a:blip r:embed="rId4">
            <a:alphaModFix/>
          </a:blip>
          <a:stretch>
            <a:fillRect/>
          </a:stretch>
        </p:blipFill>
        <p:spPr>
          <a:xfrm>
            <a:off x="609600" y="1295400"/>
            <a:ext cx="8267699" cy="50847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145A-8864-F63A-660B-F563C735DC5A}"/>
              </a:ext>
            </a:extLst>
          </p:cNvPr>
          <p:cNvSpPr>
            <a:spLocks noGrp="1"/>
          </p:cNvSpPr>
          <p:nvPr>
            <p:ph type="title"/>
          </p:nvPr>
        </p:nvSpPr>
        <p:spPr/>
        <p:txBody>
          <a:bodyPr/>
          <a:lstStyle/>
          <a:p>
            <a:endParaRPr lang="tr-TR" dirty="0"/>
          </a:p>
        </p:txBody>
      </p:sp>
      <p:sp>
        <p:nvSpPr>
          <p:cNvPr id="3" name="Text Placeholder 2">
            <a:extLst>
              <a:ext uri="{FF2B5EF4-FFF2-40B4-BE49-F238E27FC236}">
                <a16:creationId xmlns:a16="http://schemas.microsoft.com/office/drawing/2014/main" id="{F02A500C-F6CA-FB32-80BA-6B9D89482C3C}"/>
              </a:ext>
            </a:extLst>
          </p:cNvPr>
          <p:cNvSpPr>
            <a:spLocks noGrp="1"/>
          </p:cNvSpPr>
          <p:nvPr>
            <p:ph type="body" idx="1"/>
          </p:nvPr>
        </p:nvSpPr>
        <p:spPr/>
        <p:txBody>
          <a:bodyPr/>
          <a:lstStyle/>
          <a:p>
            <a:pPr algn="ctr"/>
            <a:endParaRPr lang="tr-TR" sz="5400" dirty="0"/>
          </a:p>
          <a:p>
            <a:pPr algn="ctr"/>
            <a:endParaRPr lang="tr-TR" sz="5400" dirty="0"/>
          </a:p>
          <a:p>
            <a:pPr algn="ctr"/>
            <a:r>
              <a:rPr lang="tr-TR" sz="6600" dirty="0"/>
              <a:t>Teşekkürler!!</a:t>
            </a:r>
          </a:p>
        </p:txBody>
      </p:sp>
      <p:sp>
        <p:nvSpPr>
          <p:cNvPr id="4" name="Slide Number Placeholder 3">
            <a:extLst>
              <a:ext uri="{FF2B5EF4-FFF2-40B4-BE49-F238E27FC236}">
                <a16:creationId xmlns:a16="http://schemas.microsoft.com/office/drawing/2014/main" id="{089BD40D-0DAC-2C0B-06EA-E64573E2D1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tr-TR" smtClean="0"/>
              <a:t>62</a:t>
            </a:fld>
            <a:endParaRPr lang="tr-TR"/>
          </a:p>
        </p:txBody>
      </p:sp>
    </p:spTree>
    <p:extLst>
      <p:ext uri="{BB962C8B-B14F-4D97-AF65-F5344CB8AC3E}">
        <p14:creationId xmlns:p14="http://schemas.microsoft.com/office/powerpoint/2010/main" val="1303291263"/>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7804611AC1542BCACB5FCE92F39CE" ma:contentTypeVersion="15" ma:contentTypeDescription="Create a new document." ma:contentTypeScope="" ma:versionID="10611bbf5f52316e7844a1accd9d83bd">
  <xsd:schema xmlns:xsd="http://www.w3.org/2001/XMLSchema" xmlns:xs="http://www.w3.org/2001/XMLSchema" xmlns:p="http://schemas.microsoft.com/office/2006/metadata/properties" xmlns:ns2="6eca1787-4b26-44bd-998a-a4ae4921659d" xmlns:ns3="bfc0a8b9-ba26-4630-837a-2b3e85f45d55" xmlns:ns4="1920bc34-99ca-4f69-96ea-a61c11244507" targetNamespace="http://schemas.microsoft.com/office/2006/metadata/properties" ma:root="true" ma:fieldsID="ecb8ddbc74f2d3977d0986d1b0366624" ns2:_="" ns3:_="" ns4:_="">
    <xsd:import namespace="6eca1787-4b26-44bd-998a-a4ae4921659d"/>
    <xsd:import namespace="bfc0a8b9-ba26-4630-837a-2b3e85f45d55"/>
    <xsd:import namespace="1920bc34-99ca-4f69-96ea-a61c11244507"/>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ca1787-4b26-44bd-998a-a4ae4921659d"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9" nillable="true" ma:displayName="Taxonomy Catch All Column" ma:hidden="true" ma:list="{a256b132-3c72-43ea-b7eb-40fbc3ab10e6}" ma:internalName="TaxCatchAll" ma:showField="CatchAllData" ma:web="6eca1787-4b26-44bd-998a-a4ae4921659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fc0a8b9-ba26-4630-837a-2b3e85f45d5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7e24e12-4a8c-4aa6-8a98-f6849860fe1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20bc34-99ca-4f69-96ea-a61c11244507" elementFormDefault="qualified">
    <xsd:import namespace="http://schemas.microsoft.com/office/2006/documentManagement/types"/>
    <xsd:import namespace="http://schemas.microsoft.com/office/infopath/2007/PartnerControls"/>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fc0a8b9-ba26-4630-837a-2b3e85f45d55">
      <Terms xmlns="http://schemas.microsoft.com/office/infopath/2007/PartnerControls"/>
    </lcf76f155ced4ddcb4097134ff3c332f>
    <TaxCatchAll xmlns="6eca1787-4b26-44bd-998a-a4ae4921659d" xsi:nil="true"/>
    <_dlc_DocId xmlns="6eca1787-4b26-44bd-998a-a4ae4921659d">XSQRAJFWAJA5-1659304900-405176</_dlc_DocId>
    <_dlc_DocIdUrl xmlns="6eca1787-4b26-44bd-998a-a4ae4921659d">
      <Url>https://kocuni.sharepoint.com/sites/DC/enstituler/gsb/_layouts/15/DocIdRedir.aspx?ID=XSQRAJFWAJA5-1659304900-405176</Url>
      <Description>XSQRAJFWAJA5-1659304900-405176</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403F8855-E5C6-4D09-9B4B-DDB867470E38}"/>
</file>

<file path=customXml/itemProps2.xml><?xml version="1.0" encoding="utf-8"?>
<ds:datastoreItem xmlns:ds="http://schemas.openxmlformats.org/officeDocument/2006/customXml" ds:itemID="{561E6257-6F91-4FAD-B115-FD34FE06F2A8}">
  <ds:schemaRefs>
    <ds:schemaRef ds:uri="http://schemas.microsoft.com/sharepoint/v3/contenttype/forms"/>
  </ds:schemaRefs>
</ds:datastoreItem>
</file>

<file path=customXml/itemProps3.xml><?xml version="1.0" encoding="utf-8"?>
<ds:datastoreItem xmlns:ds="http://schemas.openxmlformats.org/officeDocument/2006/customXml" ds:itemID="{5929923F-3ACC-4216-B8B8-7C13441012E3}">
  <ds:schemaRefs>
    <ds:schemaRef ds:uri="http://purl.org/dc/terms/"/>
    <ds:schemaRef ds:uri="http://schemas.openxmlformats.org/package/2006/metadata/core-properties"/>
    <ds:schemaRef ds:uri="http://schemas.microsoft.com/office/2006/documentManagement/types"/>
    <ds:schemaRef ds:uri="940a9268-590f-4931-84d4-5544b0a6cfa6"/>
    <ds:schemaRef ds:uri="http://purl.org/dc/elements/1.1/"/>
    <ds:schemaRef ds:uri="http://schemas.microsoft.com/office/2006/metadata/properties"/>
    <ds:schemaRef ds:uri="http://schemas.microsoft.com/office/infopath/2007/PartnerControls"/>
    <ds:schemaRef ds:uri="9ea77122-60e5-4ff5-9f84-2e815f8e44f1"/>
    <ds:schemaRef ds:uri="http://www.w3.org/XML/1998/namespace"/>
    <ds:schemaRef ds:uri="http://purl.org/dc/dcmitype/"/>
  </ds:schemaRefs>
</ds:datastoreItem>
</file>

<file path=customXml/itemProps4.xml><?xml version="1.0" encoding="utf-8"?>
<ds:datastoreItem xmlns:ds="http://schemas.openxmlformats.org/officeDocument/2006/customXml" ds:itemID="{56ED3F30-EF4D-4607-9767-62F113C75875}"/>
</file>

<file path=docProps/app.xml><?xml version="1.0" encoding="utf-8"?>
<Properties xmlns="http://schemas.openxmlformats.org/officeDocument/2006/extended-properties" xmlns:vt="http://schemas.openxmlformats.org/officeDocument/2006/docPropsVTypes">
  <TotalTime>18717</TotalTime>
  <Words>2786</Words>
  <Application>Microsoft Office PowerPoint</Application>
  <PresentationFormat>On-screen Show (4:3)</PresentationFormat>
  <Paragraphs>547</Paragraphs>
  <Slides>62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Calibri</vt:lpstr>
      <vt:lpstr>Roboto</vt:lpstr>
      <vt:lpstr>Times New Roman</vt:lpstr>
      <vt:lpstr>Times</vt:lpstr>
      <vt:lpstr>Cambria</vt:lpstr>
      <vt:lpstr>Noto Sans Symbols</vt:lpstr>
      <vt:lpstr>Arial</vt:lpstr>
      <vt:lpstr>Blank</vt:lpstr>
      <vt:lpstr>Şirketinizin rekabetçi avantajları neler?</vt:lpstr>
      <vt:lpstr>Dış Yatırım</vt:lpstr>
      <vt:lpstr>PowerPoint Presentation</vt:lpstr>
      <vt:lpstr>Pazara girme stratejileri</vt:lpstr>
      <vt:lpstr>TR En Büyük Holdinglerin Bünyelerindeki Şirketler</vt:lpstr>
      <vt:lpstr>PowerPoint Presentation</vt:lpstr>
      <vt:lpstr>Doğrudan dış yatırım (mavi/sol eksen) ve yabancıların konut alımı (kırmızı/sağ eksen)</vt:lpstr>
      <vt:lpstr>Doğrudan dış yatırım stoku ve akımı, 2000-2013 (Milyon Dolar)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Greenfield OFDI  2003-2013</vt:lpstr>
      <vt:lpstr>Greenfield investment trend, 2003-2011</vt:lpstr>
      <vt:lpstr>Number of projects by type </vt:lpstr>
      <vt:lpstr>FDI trends by sector </vt:lpstr>
      <vt:lpstr>Greenfield investments are concentrated in Real Estate (72%)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Yatırımın ardındaki motivasyonlar</vt:lpstr>
      <vt:lpstr>Uluslararasılaşma stratejileri</vt:lpstr>
      <vt:lpstr>Motivasyonlara örnek</vt:lpstr>
      <vt:lpstr>PowerPoint Presentation</vt:lpstr>
      <vt:lpstr>TCUS satinalma ve ortaklik ornekleri</vt:lpstr>
      <vt:lpstr>PowerPoint Presentation</vt:lpstr>
      <vt:lpstr>Kale seramik Italya yatırımların sonrasında şirketin pazara erişim ve lojistik konularında rekabetçi avantajlar yakaladığı anlaşılıyor.</vt:lpstr>
      <vt:lpstr>Yıldız Holding</vt:lpstr>
      <vt:lpstr>Yıldız Holding</vt:lpstr>
      <vt:lpstr>Yıldız Holding</vt:lpstr>
      <vt:lpstr>Yapısal faktörler</vt:lpstr>
      <vt:lpstr>PowerPoint Presentation</vt:lpstr>
      <vt:lpstr>Yapısal faktörler</vt:lpstr>
      <vt:lpstr> Şirkete özgü avantajları elde etme stratejilerine ve pazara erişim </vt:lpstr>
      <vt:lpstr>Anadolu Efes ile SAABMiller</vt:lpstr>
      <vt:lpstr>Turkish brewer to acquire AB InBev stake in Russian joint venture (ft.com)</vt:lpstr>
      <vt:lpstr>PowerPoint Presentation</vt:lpstr>
      <vt:lpstr>PowerPoint Presentation</vt:lpstr>
      <vt:lpstr>Toplam Küresel Borç nasil cevrilir? (borclanarak ve verimlilik artirip buyuyerek; borclanirken de faizi dusurecekler borc stokunu eritmek icin, harcamaya devam dusuk faizle borclanarak)</vt:lpstr>
      <vt:lpstr>Küresel Likidite Artinca Bitcoin yukari!</vt:lpstr>
      <vt:lpstr>Küresel toplam likidite ile Bitcoin fiyatı yakın ilişki halinde</vt:lpstr>
      <vt:lpstr>2025 ortasına kadar iyi olur</vt:lpstr>
      <vt:lpstr>Global Liquidity Index (2025 ortasindan sonra kursel piyasalara dikkat)</vt:lpstr>
      <vt:lpstr>Bir sonraki kayip 10 yil 2026 ve sonrasi mi?</vt:lpstr>
      <vt:lpstr>2024 Seçim Tahmini: (eylul 2024)  Trump'ın farkı %2,4</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ebarutcu</dc:creator>
  <cp:lastModifiedBy>Caner Bakır</cp:lastModifiedBy>
  <cp:revision>47</cp:revision>
  <dcterms:created xsi:type="dcterms:W3CDTF">2014-01-04T14:38:35Z</dcterms:created>
  <dcterms:modified xsi:type="dcterms:W3CDTF">2024-11-05T10:54:02Z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0x010100AC57804611AC1542BCACB5FCE92F39CE</vt:lpwstr>
  </property>
  <property fmtid="{D5CDD505-2E9C-101B-9397-08002B2CF9AE}" pid="3" name="_dlc_DocIdItemGuid">
    <vt:lpwstr>3a7ec713-9f48-46d4-a343-b97787ac921a</vt:lpwstr>
  </property>
</Properties>
</file>