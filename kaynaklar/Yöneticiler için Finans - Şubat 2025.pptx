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9"/>
  </p:notesMasterIdLst>
  <p:handoutMasterIdLst>
    <p:handoutMasterId r:id="rId170"/>
  </p:handoutMasterIdLst>
  <p:sldIdLst>
    <p:sldId id="256" r:id="rId2"/>
    <p:sldId id="2020" r:id="rId3"/>
    <p:sldId id="1426" r:id="rId4"/>
    <p:sldId id="1488" r:id="rId5"/>
    <p:sldId id="1895" r:id="rId6"/>
    <p:sldId id="1896" r:id="rId7"/>
    <p:sldId id="1897" r:id="rId8"/>
    <p:sldId id="1898" r:id="rId9"/>
    <p:sldId id="1351" r:id="rId10"/>
    <p:sldId id="1900" r:id="rId11"/>
    <p:sldId id="1130" r:id="rId12"/>
    <p:sldId id="1132" r:id="rId13"/>
    <p:sldId id="1901" r:id="rId14"/>
    <p:sldId id="1462" r:id="rId15"/>
    <p:sldId id="1902" r:id="rId16"/>
    <p:sldId id="2018" r:id="rId17"/>
    <p:sldId id="1904" r:id="rId18"/>
    <p:sldId id="1905" r:id="rId19"/>
    <p:sldId id="1906" r:id="rId20"/>
    <p:sldId id="1907" r:id="rId21"/>
    <p:sldId id="1908" r:id="rId22"/>
    <p:sldId id="1909" r:id="rId23"/>
    <p:sldId id="1910" r:id="rId24"/>
    <p:sldId id="1911" r:id="rId25"/>
    <p:sldId id="1912" r:id="rId26"/>
    <p:sldId id="1913" r:id="rId27"/>
    <p:sldId id="1914" r:id="rId28"/>
    <p:sldId id="1915" r:id="rId29"/>
    <p:sldId id="1916" r:id="rId30"/>
    <p:sldId id="1917" r:id="rId31"/>
    <p:sldId id="1918" r:id="rId32"/>
    <p:sldId id="1919" r:id="rId33"/>
    <p:sldId id="1920" r:id="rId34"/>
    <p:sldId id="1921" r:id="rId35"/>
    <p:sldId id="1922" r:id="rId36"/>
    <p:sldId id="1923" r:id="rId37"/>
    <p:sldId id="1924" r:id="rId38"/>
    <p:sldId id="1925" r:id="rId39"/>
    <p:sldId id="1926" r:id="rId40"/>
    <p:sldId id="1927" r:id="rId41"/>
    <p:sldId id="2019" r:id="rId42"/>
    <p:sldId id="1929" r:id="rId43"/>
    <p:sldId id="1930" r:id="rId44"/>
    <p:sldId id="1931" r:id="rId45"/>
    <p:sldId id="1932" r:id="rId46"/>
    <p:sldId id="1933" r:id="rId47"/>
    <p:sldId id="1934" r:id="rId48"/>
    <p:sldId id="1935" r:id="rId49"/>
    <p:sldId id="1936" r:id="rId50"/>
    <p:sldId id="2022" r:id="rId51"/>
    <p:sldId id="1937" r:id="rId52"/>
    <p:sldId id="1938" r:id="rId53"/>
    <p:sldId id="1939" r:id="rId54"/>
    <p:sldId id="1940" r:id="rId55"/>
    <p:sldId id="1941" r:id="rId56"/>
    <p:sldId id="1942" r:id="rId57"/>
    <p:sldId id="1943" r:id="rId58"/>
    <p:sldId id="1944" r:id="rId59"/>
    <p:sldId id="1945" r:id="rId60"/>
    <p:sldId id="1946" r:id="rId61"/>
    <p:sldId id="1947" r:id="rId62"/>
    <p:sldId id="2021" r:id="rId63"/>
    <p:sldId id="1948" r:id="rId64"/>
    <p:sldId id="1949" r:id="rId65"/>
    <p:sldId id="1950" r:id="rId66"/>
    <p:sldId id="1951" r:id="rId67"/>
    <p:sldId id="1952" r:id="rId68"/>
    <p:sldId id="1953" r:id="rId69"/>
    <p:sldId id="1954" r:id="rId70"/>
    <p:sldId id="1956" r:id="rId71"/>
    <p:sldId id="1957" r:id="rId72"/>
    <p:sldId id="1958" r:id="rId73"/>
    <p:sldId id="1959" r:id="rId74"/>
    <p:sldId id="1960" r:id="rId75"/>
    <p:sldId id="1961" r:id="rId76"/>
    <p:sldId id="1962" r:id="rId77"/>
    <p:sldId id="1963" r:id="rId78"/>
    <p:sldId id="1964" r:id="rId79"/>
    <p:sldId id="1965" r:id="rId80"/>
    <p:sldId id="1966" r:id="rId81"/>
    <p:sldId id="1967" r:id="rId82"/>
    <p:sldId id="1968" r:id="rId83"/>
    <p:sldId id="1969" r:id="rId84"/>
    <p:sldId id="1970" r:id="rId85"/>
    <p:sldId id="1971" r:id="rId86"/>
    <p:sldId id="1972" r:id="rId87"/>
    <p:sldId id="1973" r:id="rId88"/>
    <p:sldId id="1974" r:id="rId89"/>
    <p:sldId id="1975" r:id="rId90"/>
    <p:sldId id="1976" r:id="rId91"/>
    <p:sldId id="1977" r:id="rId92"/>
    <p:sldId id="1978" r:id="rId93"/>
    <p:sldId id="1979" r:id="rId94"/>
    <p:sldId id="1980" r:id="rId95"/>
    <p:sldId id="1981" r:id="rId96"/>
    <p:sldId id="1982" r:id="rId97"/>
    <p:sldId id="1983" r:id="rId98"/>
    <p:sldId id="1984" r:id="rId99"/>
    <p:sldId id="1985" r:id="rId100"/>
    <p:sldId id="1988" r:id="rId101"/>
    <p:sldId id="1989" r:id="rId102"/>
    <p:sldId id="1990" r:id="rId103"/>
    <p:sldId id="1991" r:id="rId104"/>
    <p:sldId id="1992" r:id="rId105"/>
    <p:sldId id="1993" r:id="rId106"/>
    <p:sldId id="1994" r:id="rId107"/>
    <p:sldId id="1995" r:id="rId108"/>
    <p:sldId id="1997" r:id="rId109"/>
    <p:sldId id="1998" r:id="rId110"/>
    <p:sldId id="1999" r:id="rId111"/>
    <p:sldId id="2000" r:id="rId112"/>
    <p:sldId id="2001" r:id="rId113"/>
    <p:sldId id="2002" r:id="rId114"/>
    <p:sldId id="2003" r:id="rId115"/>
    <p:sldId id="1048" r:id="rId116"/>
    <p:sldId id="1059" r:id="rId117"/>
    <p:sldId id="1060" r:id="rId118"/>
    <p:sldId id="1262" r:id="rId119"/>
    <p:sldId id="1263" r:id="rId120"/>
    <p:sldId id="1255" r:id="rId121"/>
    <p:sldId id="1264" r:id="rId122"/>
    <p:sldId id="984" r:id="rId123"/>
    <p:sldId id="1214" r:id="rId124"/>
    <p:sldId id="1215" r:id="rId125"/>
    <p:sldId id="1216" r:id="rId126"/>
    <p:sldId id="1217" r:id="rId127"/>
    <p:sldId id="1218" r:id="rId128"/>
    <p:sldId id="1219" r:id="rId129"/>
    <p:sldId id="1222" r:id="rId130"/>
    <p:sldId id="1223" r:id="rId131"/>
    <p:sldId id="1224" r:id="rId132"/>
    <p:sldId id="1225" r:id="rId133"/>
    <p:sldId id="1226" r:id="rId134"/>
    <p:sldId id="1227" r:id="rId135"/>
    <p:sldId id="1228" r:id="rId136"/>
    <p:sldId id="1230" r:id="rId137"/>
    <p:sldId id="1266" r:id="rId138"/>
    <p:sldId id="1231" r:id="rId139"/>
    <p:sldId id="1236" r:id="rId140"/>
    <p:sldId id="1008" r:id="rId141"/>
    <p:sldId id="1007" r:id="rId142"/>
    <p:sldId id="1237" r:id="rId143"/>
    <p:sldId id="1238" r:id="rId144"/>
    <p:sldId id="1239" r:id="rId145"/>
    <p:sldId id="1240" r:id="rId146"/>
    <p:sldId id="1241" r:id="rId147"/>
    <p:sldId id="1242" r:id="rId148"/>
    <p:sldId id="1243" r:id="rId149"/>
    <p:sldId id="1244" r:id="rId150"/>
    <p:sldId id="1245" r:id="rId151"/>
    <p:sldId id="1246" r:id="rId152"/>
    <p:sldId id="1247" r:id="rId153"/>
    <p:sldId id="1248" r:id="rId154"/>
    <p:sldId id="1249" r:id="rId155"/>
    <p:sldId id="1022" r:id="rId156"/>
    <p:sldId id="1023" r:id="rId157"/>
    <p:sldId id="1024" r:id="rId158"/>
    <p:sldId id="1025" r:id="rId159"/>
    <p:sldId id="1026" r:id="rId160"/>
    <p:sldId id="1027" r:id="rId161"/>
    <p:sldId id="1113" r:id="rId162"/>
    <p:sldId id="1250" r:id="rId163"/>
    <p:sldId id="1251" r:id="rId164"/>
    <p:sldId id="1252" r:id="rId165"/>
    <p:sldId id="1254" r:id="rId166"/>
    <p:sldId id="1404" r:id="rId167"/>
    <p:sldId id="1110" r:id="rId168"/>
  </p:sldIdLst>
  <p:sldSz cx="9144000" cy="6858000" type="screen4x3"/>
  <p:notesSz cx="6883400" cy="9906000"/>
  <p:defaultTextStyle>
    <a:defPPr>
      <a:defRPr lang="tr-T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0">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CC"/>
    <a:srgbClr val="0C0000"/>
    <a:srgbClr val="C10B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7" autoAdjust="0"/>
    <p:restoredTop sz="94598" autoAdjust="0"/>
  </p:normalViewPr>
  <p:slideViewPr>
    <p:cSldViewPr>
      <p:cViewPr varScale="1">
        <p:scale>
          <a:sx n="92" d="100"/>
          <a:sy n="92" d="100"/>
        </p:scale>
        <p:origin x="1195"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2" d="100"/>
          <a:sy n="52" d="100"/>
        </p:scale>
        <p:origin x="-2970" y="-108"/>
      </p:cViewPr>
      <p:guideLst>
        <p:guide orient="horz" pos="3120"/>
        <p:guide pos="2168"/>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presProps" Target="pres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898901" y="9409113"/>
            <a:ext cx="2982913" cy="495300"/>
          </a:xfrm>
          <a:prstGeom prst="rect">
            <a:avLst/>
          </a:prstGeom>
        </p:spPr>
        <p:txBody>
          <a:bodyPr vert="horz" lIns="91440" tIns="45720" rIns="91440" bIns="45720" rtlCol="0" anchor="b"/>
          <a:lstStyle>
            <a:lvl1pPr algn="r">
              <a:defRPr sz="1200"/>
            </a:lvl1pPr>
          </a:lstStyle>
          <a:p>
            <a:fld id="{F6780026-D675-4E61-928B-7DF95B57526A}" type="slidenum">
              <a:rPr lang="tr-TR" smtClean="0"/>
              <a:pPr/>
              <a:t>‹#›</a:t>
            </a:fld>
            <a:endParaRPr lang="tr-TR"/>
          </a:p>
        </p:txBody>
      </p:sp>
    </p:spTree>
    <p:extLst>
      <p:ext uri="{BB962C8B-B14F-4D97-AF65-F5344CB8AC3E}">
        <p14:creationId xmlns:p14="http://schemas.microsoft.com/office/powerpoint/2010/main" val="111551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2807" cy="495300"/>
          </a:xfrm>
          <a:prstGeom prst="rect">
            <a:avLst/>
          </a:prstGeom>
        </p:spPr>
        <p:txBody>
          <a:bodyPr vert="horz" lIns="95939" tIns="47969" rIns="95939" bIns="47969" rtlCol="0"/>
          <a:lstStyle>
            <a:lvl1pPr algn="l" fontAlgn="auto">
              <a:spcBef>
                <a:spcPts val="0"/>
              </a:spcBef>
              <a:spcAft>
                <a:spcPts val="0"/>
              </a:spcAft>
              <a:defRPr sz="1300">
                <a:latin typeface="+mn-lt"/>
              </a:defRPr>
            </a:lvl1pPr>
          </a:lstStyle>
          <a:p>
            <a:pPr>
              <a:defRPr/>
            </a:pPr>
            <a:endParaRPr lang="tr-TR"/>
          </a:p>
        </p:txBody>
      </p:sp>
      <p:sp>
        <p:nvSpPr>
          <p:cNvPr id="3" name="Date Placeholder 2"/>
          <p:cNvSpPr>
            <a:spLocks noGrp="1"/>
          </p:cNvSpPr>
          <p:nvPr>
            <p:ph type="dt" idx="1"/>
          </p:nvPr>
        </p:nvSpPr>
        <p:spPr>
          <a:xfrm>
            <a:off x="3899001" y="0"/>
            <a:ext cx="2982807" cy="495300"/>
          </a:xfrm>
          <a:prstGeom prst="rect">
            <a:avLst/>
          </a:prstGeom>
        </p:spPr>
        <p:txBody>
          <a:bodyPr vert="horz" lIns="95939" tIns="47969" rIns="95939" bIns="47969" rtlCol="0"/>
          <a:lstStyle>
            <a:lvl1pPr algn="r" fontAlgn="auto">
              <a:spcBef>
                <a:spcPts val="0"/>
              </a:spcBef>
              <a:spcAft>
                <a:spcPts val="0"/>
              </a:spcAft>
              <a:defRPr sz="1300">
                <a:latin typeface="+mn-lt"/>
              </a:defRPr>
            </a:lvl1pPr>
          </a:lstStyle>
          <a:p>
            <a:pPr>
              <a:defRPr/>
            </a:pPr>
            <a:fld id="{D10C725B-B2E9-414A-A750-5C01390752CB}" type="datetimeFigureOut">
              <a:rPr lang="tr-TR"/>
              <a:pPr>
                <a:defRPr/>
              </a:pPr>
              <a:t>18.02.2025</a:t>
            </a:fld>
            <a:endParaRPr lang="tr-TR"/>
          </a:p>
        </p:txBody>
      </p:sp>
      <p:sp>
        <p:nvSpPr>
          <p:cNvPr id="4" name="Slide Image Placeholder 3"/>
          <p:cNvSpPr>
            <a:spLocks noGrp="1" noRot="1" noChangeAspect="1"/>
          </p:cNvSpPr>
          <p:nvPr>
            <p:ph type="sldImg" idx="2"/>
          </p:nvPr>
        </p:nvSpPr>
        <p:spPr>
          <a:xfrm>
            <a:off x="965200" y="742950"/>
            <a:ext cx="4953000" cy="3714750"/>
          </a:xfrm>
          <a:prstGeom prst="rect">
            <a:avLst/>
          </a:prstGeom>
          <a:noFill/>
          <a:ln w="12700">
            <a:solidFill>
              <a:prstClr val="black"/>
            </a:solidFill>
          </a:ln>
        </p:spPr>
        <p:txBody>
          <a:bodyPr vert="horz" lIns="95939" tIns="47969" rIns="95939" bIns="47969" rtlCol="0" anchor="ctr"/>
          <a:lstStyle/>
          <a:p>
            <a:pPr lvl="0"/>
            <a:endParaRPr lang="tr-TR" noProof="0"/>
          </a:p>
        </p:txBody>
      </p:sp>
      <p:sp>
        <p:nvSpPr>
          <p:cNvPr id="5" name="Notes Placeholder 4"/>
          <p:cNvSpPr>
            <a:spLocks noGrp="1"/>
          </p:cNvSpPr>
          <p:nvPr>
            <p:ph type="body" sz="quarter" idx="3"/>
          </p:nvPr>
        </p:nvSpPr>
        <p:spPr>
          <a:xfrm>
            <a:off x="688340" y="4705350"/>
            <a:ext cx="5506720" cy="4457700"/>
          </a:xfrm>
          <a:prstGeom prst="rect">
            <a:avLst/>
          </a:prstGeom>
        </p:spPr>
        <p:txBody>
          <a:bodyPr vert="horz" lIns="95939" tIns="47969" rIns="95939" bIns="4796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tr-TR" noProof="0"/>
          </a:p>
        </p:txBody>
      </p:sp>
      <p:sp>
        <p:nvSpPr>
          <p:cNvPr id="6" name="Footer Placeholder 5"/>
          <p:cNvSpPr>
            <a:spLocks noGrp="1"/>
          </p:cNvSpPr>
          <p:nvPr>
            <p:ph type="ftr" sz="quarter" idx="4"/>
          </p:nvPr>
        </p:nvSpPr>
        <p:spPr>
          <a:xfrm>
            <a:off x="1" y="9408982"/>
            <a:ext cx="2982807" cy="495300"/>
          </a:xfrm>
          <a:prstGeom prst="rect">
            <a:avLst/>
          </a:prstGeom>
        </p:spPr>
        <p:txBody>
          <a:bodyPr vert="horz" lIns="95939" tIns="47969" rIns="95939" bIns="47969" rtlCol="0" anchor="b"/>
          <a:lstStyle>
            <a:lvl1pPr algn="l" fontAlgn="auto">
              <a:spcBef>
                <a:spcPts val="0"/>
              </a:spcBef>
              <a:spcAft>
                <a:spcPts val="0"/>
              </a:spcAft>
              <a:defRPr sz="1300">
                <a:latin typeface="+mn-lt"/>
              </a:defRPr>
            </a:lvl1pPr>
          </a:lstStyle>
          <a:p>
            <a:pPr>
              <a:defRPr/>
            </a:pPr>
            <a:endParaRPr lang="tr-TR"/>
          </a:p>
        </p:txBody>
      </p:sp>
      <p:sp>
        <p:nvSpPr>
          <p:cNvPr id="7" name="Slide Number Placeholder 6"/>
          <p:cNvSpPr>
            <a:spLocks noGrp="1"/>
          </p:cNvSpPr>
          <p:nvPr>
            <p:ph type="sldNum" sz="quarter" idx="5"/>
          </p:nvPr>
        </p:nvSpPr>
        <p:spPr>
          <a:xfrm>
            <a:off x="3899001" y="9408982"/>
            <a:ext cx="2982807" cy="495300"/>
          </a:xfrm>
          <a:prstGeom prst="rect">
            <a:avLst/>
          </a:prstGeom>
        </p:spPr>
        <p:txBody>
          <a:bodyPr vert="horz" lIns="95939" tIns="47969" rIns="95939" bIns="47969" rtlCol="0" anchor="b"/>
          <a:lstStyle>
            <a:lvl1pPr algn="r" fontAlgn="auto">
              <a:spcBef>
                <a:spcPts val="0"/>
              </a:spcBef>
              <a:spcAft>
                <a:spcPts val="0"/>
              </a:spcAft>
              <a:defRPr sz="1300">
                <a:latin typeface="+mn-lt"/>
              </a:defRPr>
            </a:lvl1pPr>
          </a:lstStyle>
          <a:p>
            <a:pPr>
              <a:defRPr/>
            </a:pPr>
            <a:fld id="{1A4205A0-F6F5-433A-A790-EEE57C12C16E}" type="slidenum">
              <a:rPr lang="tr-TR"/>
              <a:pPr>
                <a:defRPr/>
              </a:pPr>
              <a:t>‹#›</a:t>
            </a:fld>
            <a:endParaRPr lang="tr-TR"/>
          </a:p>
        </p:txBody>
      </p:sp>
    </p:spTree>
    <p:extLst>
      <p:ext uri="{BB962C8B-B14F-4D97-AF65-F5344CB8AC3E}">
        <p14:creationId xmlns:p14="http://schemas.microsoft.com/office/powerpoint/2010/main" val="95338998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xfrm>
            <a:off x="965200" y="742950"/>
            <a:ext cx="4953000" cy="3714750"/>
          </a:xfrm>
          <a:noFill/>
          <a:ln>
            <a:solidFill>
              <a:srgbClr val="000000"/>
            </a:solidFill>
            <a:miter lim="800000"/>
            <a:headEnd/>
            <a:tailEnd/>
          </a:ln>
        </p:spPr>
      </p:sp>
      <p:sp>
        <p:nvSpPr>
          <p:cNvPr id="102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tr-TR"/>
          </a:p>
        </p:txBody>
      </p:sp>
      <p:sp>
        <p:nvSpPr>
          <p:cNvPr id="1536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C448CA4-6FA2-42FC-ABC2-9D5510FE2306}" type="slidenum">
              <a:rPr lang="tr-TR" smtClean="0"/>
              <a:pPr fontAlgn="base">
                <a:spcBef>
                  <a:spcPct val="0"/>
                </a:spcBef>
                <a:spcAft>
                  <a:spcPct val="0"/>
                </a:spcAft>
                <a:defRPr/>
              </a:pPr>
              <a:t>1</a:t>
            </a:fld>
            <a:endParaRPr lang="tr-TR"/>
          </a:p>
        </p:txBody>
      </p:sp>
    </p:spTree>
    <p:extLst>
      <p:ext uri="{BB962C8B-B14F-4D97-AF65-F5344CB8AC3E}">
        <p14:creationId xmlns:p14="http://schemas.microsoft.com/office/powerpoint/2010/main" val="3160209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2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b="1">
                <a:solidFill>
                  <a:schemeClr val="tx1"/>
                </a:solidFill>
                <a:latin typeface="Garamond" pitchFamily="18" charset="0"/>
              </a:defRPr>
            </a:lvl1pPr>
            <a:lvl2pPr marL="742950" indent="-285750" defTabSz="931863" eaLnBrk="0" hangingPunct="0">
              <a:defRPr sz="1600" b="1">
                <a:solidFill>
                  <a:schemeClr val="tx1"/>
                </a:solidFill>
                <a:latin typeface="Garamond" pitchFamily="18" charset="0"/>
              </a:defRPr>
            </a:lvl2pPr>
            <a:lvl3pPr marL="1143000" indent="-228600" defTabSz="931863" eaLnBrk="0" hangingPunct="0">
              <a:defRPr sz="1600" b="1">
                <a:solidFill>
                  <a:schemeClr val="tx1"/>
                </a:solidFill>
                <a:latin typeface="Garamond" pitchFamily="18" charset="0"/>
              </a:defRPr>
            </a:lvl3pPr>
            <a:lvl4pPr marL="1600200" indent="-228600" defTabSz="931863" eaLnBrk="0" hangingPunct="0">
              <a:defRPr sz="1600" b="1">
                <a:solidFill>
                  <a:schemeClr val="tx1"/>
                </a:solidFill>
                <a:latin typeface="Garamond" pitchFamily="18" charset="0"/>
              </a:defRPr>
            </a:lvl4pPr>
            <a:lvl5pPr marL="2057400" indent="-228600" defTabSz="931863" eaLnBrk="0" hangingPunct="0">
              <a:defRPr sz="1600" b="1">
                <a:solidFill>
                  <a:schemeClr val="tx1"/>
                </a:solidFill>
                <a:latin typeface="Garamond" pitchFamily="18" charset="0"/>
              </a:defRPr>
            </a:lvl5pPr>
            <a:lvl6pPr marL="2514600" indent="-228600" defTabSz="931863" eaLnBrk="0" fontAlgn="base" hangingPunct="0">
              <a:spcBef>
                <a:spcPct val="0"/>
              </a:spcBef>
              <a:spcAft>
                <a:spcPct val="0"/>
              </a:spcAft>
              <a:defRPr sz="1600" b="1">
                <a:solidFill>
                  <a:schemeClr val="tx1"/>
                </a:solidFill>
                <a:latin typeface="Garamond" pitchFamily="18" charset="0"/>
              </a:defRPr>
            </a:lvl6pPr>
            <a:lvl7pPr marL="2971800" indent="-228600" defTabSz="931863" eaLnBrk="0" fontAlgn="base" hangingPunct="0">
              <a:spcBef>
                <a:spcPct val="0"/>
              </a:spcBef>
              <a:spcAft>
                <a:spcPct val="0"/>
              </a:spcAft>
              <a:defRPr sz="1600" b="1">
                <a:solidFill>
                  <a:schemeClr val="tx1"/>
                </a:solidFill>
                <a:latin typeface="Garamond" pitchFamily="18" charset="0"/>
              </a:defRPr>
            </a:lvl7pPr>
            <a:lvl8pPr marL="3429000" indent="-228600" defTabSz="931863" eaLnBrk="0" fontAlgn="base" hangingPunct="0">
              <a:spcBef>
                <a:spcPct val="0"/>
              </a:spcBef>
              <a:spcAft>
                <a:spcPct val="0"/>
              </a:spcAft>
              <a:defRPr sz="1600" b="1">
                <a:solidFill>
                  <a:schemeClr val="tx1"/>
                </a:solidFill>
                <a:latin typeface="Garamond" pitchFamily="18" charset="0"/>
              </a:defRPr>
            </a:lvl8pPr>
            <a:lvl9pPr marL="3886200" indent="-228600" defTabSz="931863" eaLnBrk="0" fontAlgn="base" hangingPunct="0">
              <a:spcBef>
                <a:spcPct val="0"/>
              </a:spcBef>
              <a:spcAft>
                <a:spcPct val="0"/>
              </a:spcAft>
              <a:defRPr sz="1600" b="1">
                <a:solidFill>
                  <a:schemeClr val="tx1"/>
                </a:solidFill>
                <a:latin typeface="Garamond" pitchFamily="18" charset="0"/>
              </a:defRPr>
            </a:lvl9pPr>
          </a:lstStyle>
          <a:p>
            <a:pPr eaLnBrk="1" hangingPunct="1"/>
            <a:fld id="{C92F3842-DAA7-404E-8EC3-2CF93F57DE81}" type="slidenum">
              <a:rPr lang="en-US" sz="1200" b="0">
                <a:latin typeface="Arial" charset="0"/>
              </a:rPr>
              <a:pPr eaLnBrk="1" hangingPunct="1"/>
              <a:t>87</a:t>
            </a:fld>
            <a:endParaRPr lang="en-US" sz="1200" b="0">
              <a:latin typeface="Arial" charset="0"/>
            </a:endParaRPr>
          </a:p>
        </p:txBody>
      </p:sp>
    </p:spTree>
    <p:extLst>
      <p:ext uri="{BB962C8B-B14F-4D97-AF65-F5344CB8AC3E}">
        <p14:creationId xmlns:p14="http://schemas.microsoft.com/office/powerpoint/2010/main" val="3369166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b="1">
                <a:solidFill>
                  <a:schemeClr val="tx1"/>
                </a:solidFill>
                <a:latin typeface="Garamond" pitchFamily="18" charset="0"/>
              </a:defRPr>
            </a:lvl1pPr>
            <a:lvl2pPr marL="742950" indent="-285750" defTabSz="931863" eaLnBrk="0" hangingPunct="0">
              <a:defRPr sz="1600" b="1">
                <a:solidFill>
                  <a:schemeClr val="tx1"/>
                </a:solidFill>
                <a:latin typeface="Garamond" pitchFamily="18" charset="0"/>
              </a:defRPr>
            </a:lvl2pPr>
            <a:lvl3pPr marL="1143000" indent="-228600" defTabSz="931863" eaLnBrk="0" hangingPunct="0">
              <a:defRPr sz="1600" b="1">
                <a:solidFill>
                  <a:schemeClr val="tx1"/>
                </a:solidFill>
                <a:latin typeface="Garamond" pitchFamily="18" charset="0"/>
              </a:defRPr>
            </a:lvl3pPr>
            <a:lvl4pPr marL="1600200" indent="-228600" defTabSz="931863" eaLnBrk="0" hangingPunct="0">
              <a:defRPr sz="1600" b="1">
                <a:solidFill>
                  <a:schemeClr val="tx1"/>
                </a:solidFill>
                <a:latin typeface="Garamond" pitchFamily="18" charset="0"/>
              </a:defRPr>
            </a:lvl4pPr>
            <a:lvl5pPr marL="2057400" indent="-228600" defTabSz="931863" eaLnBrk="0" hangingPunct="0">
              <a:defRPr sz="1600" b="1">
                <a:solidFill>
                  <a:schemeClr val="tx1"/>
                </a:solidFill>
                <a:latin typeface="Garamond" pitchFamily="18" charset="0"/>
              </a:defRPr>
            </a:lvl5pPr>
            <a:lvl6pPr marL="2514600" indent="-228600" defTabSz="931863" eaLnBrk="0" fontAlgn="base" hangingPunct="0">
              <a:spcBef>
                <a:spcPct val="0"/>
              </a:spcBef>
              <a:spcAft>
                <a:spcPct val="0"/>
              </a:spcAft>
              <a:defRPr sz="1600" b="1">
                <a:solidFill>
                  <a:schemeClr val="tx1"/>
                </a:solidFill>
                <a:latin typeface="Garamond" pitchFamily="18" charset="0"/>
              </a:defRPr>
            </a:lvl6pPr>
            <a:lvl7pPr marL="2971800" indent="-228600" defTabSz="931863" eaLnBrk="0" fontAlgn="base" hangingPunct="0">
              <a:spcBef>
                <a:spcPct val="0"/>
              </a:spcBef>
              <a:spcAft>
                <a:spcPct val="0"/>
              </a:spcAft>
              <a:defRPr sz="1600" b="1">
                <a:solidFill>
                  <a:schemeClr val="tx1"/>
                </a:solidFill>
                <a:latin typeface="Garamond" pitchFamily="18" charset="0"/>
              </a:defRPr>
            </a:lvl7pPr>
            <a:lvl8pPr marL="3429000" indent="-228600" defTabSz="931863" eaLnBrk="0" fontAlgn="base" hangingPunct="0">
              <a:spcBef>
                <a:spcPct val="0"/>
              </a:spcBef>
              <a:spcAft>
                <a:spcPct val="0"/>
              </a:spcAft>
              <a:defRPr sz="1600" b="1">
                <a:solidFill>
                  <a:schemeClr val="tx1"/>
                </a:solidFill>
                <a:latin typeface="Garamond" pitchFamily="18" charset="0"/>
              </a:defRPr>
            </a:lvl8pPr>
            <a:lvl9pPr marL="3886200" indent="-228600" defTabSz="931863" eaLnBrk="0" fontAlgn="base" hangingPunct="0">
              <a:spcBef>
                <a:spcPct val="0"/>
              </a:spcBef>
              <a:spcAft>
                <a:spcPct val="0"/>
              </a:spcAft>
              <a:defRPr sz="1600" b="1">
                <a:solidFill>
                  <a:schemeClr val="tx1"/>
                </a:solidFill>
                <a:latin typeface="Garamond" pitchFamily="18" charset="0"/>
              </a:defRPr>
            </a:lvl9pPr>
          </a:lstStyle>
          <a:p>
            <a:pPr eaLnBrk="1" hangingPunct="1"/>
            <a:fld id="{9806D26F-FF23-4E75-9B68-791BBAEC977E}" type="slidenum">
              <a:rPr lang="en-US" sz="1200" b="0">
                <a:latin typeface="Arial" charset="0"/>
              </a:rPr>
              <a:pPr eaLnBrk="1" hangingPunct="1"/>
              <a:t>88</a:t>
            </a:fld>
            <a:endParaRPr lang="en-US" sz="1200" b="0">
              <a:latin typeface="Arial" charset="0"/>
            </a:endParaRPr>
          </a:p>
        </p:txBody>
      </p:sp>
    </p:spTree>
    <p:extLst>
      <p:ext uri="{BB962C8B-B14F-4D97-AF65-F5344CB8AC3E}">
        <p14:creationId xmlns:p14="http://schemas.microsoft.com/office/powerpoint/2010/main" val="530010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b="1">
                <a:solidFill>
                  <a:schemeClr val="tx1"/>
                </a:solidFill>
                <a:latin typeface="Garamond" pitchFamily="18" charset="0"/>
              </a:defRPr>
            </a:lvl1pPr>
            <a:lvl2pPr marL="742950" indent="-285750" defTabSz="931863" eaLnBrk="0" hangingPunct="0">
              <a:defRPr sz="1600" b="1">
                <a:solidFill>
                  <a:schemeClr val="tx1"/>
                </a:solidFill>
                <a:latin typeface="Garamond" pitchFamily="18" charset="0"/>
              </a:defRPr>
            </a:lvl2pPr>
            <a:lvl3pPr marL="1143000" indent="-228600" defTabSz="931863" eaLnBrk="0" hangingPunct="0">
              <a:defRPr sz="1600" b="1">
                <a:solidFill>
                  <a:schemeClr val="tx1"/>
                </a:solidFill>
                <a:latin typeface="Garamond" pitchFamily="18" charset="0"/>
              </a:defRPr>
            </a:lvl3pPr>
            <a:lvl4pPr marL="1600200" indent="-228600" defTabSz="931863" eaLnBrk="0" hangingPunct="0">
              <a:defRPr sz="1600" b="1">
                <a:solidFill>
                  <a:schemeClr val="tx1"/>
                </a:solidFill>
                <a:latin typeface="Garamond" pitchFamily="18" charset="0"/>
              </a:defRPr>
            </a:lvl4pPr>
            <a:lvl5pPr marL="2057400" indent="-228600" defTabSz="931863" eaLnBrk="0" hangingPunct="0">
              <a:defRPr sz="1600" b="1">
                <a:solidFill>
                  <a:schemeClr val="tx1"/>
                </a:solidFill>
                <a:latin typeface="Garamond" pitchFamily="18" charset="0"/>
              </a:defRPr>
            </a:lvl5pPr>
            <a:lvl6pPr marL="2514600" indent="-228600" defTabSz="931863" eaLnBrk="0" fontAlgn="base" hangingPunct="0">
              <a:spcBef>
                <a:spcPct val="0"/>
              </a:spcBef>
              <a:spcAft>
                <a:spcPct val="0"/>
              </a:spcAft>
              <a:defRPr sz="1600" b="1">
                <a:solidFill>
                  <a:schemeClr val="tx1"/>
                </a:solidFill>
                <a:latin typeface="Garamond" pitchFamily="18" charset="0"/>
              </a:defRPr>
            </a:lvl6pPr>
            <a:lvl7pPr marL="2971800" indent="-228600" defTabSz="931863" eaLnBrk="0" fontAlgn="base" hangingPunct="0">
              <a:spcBef>
                <a:spcPct val="0"/>
              </a:spcBef>
              <a:spcAft>
                <a:spcPct val="0"/>
              </a:spcAft>
              <a:defRPr sz="1600" b="1">
                <a:solidFill>
                  <a:schemeClr val="tx1"/>
                </a:solidFill>
                <a:latin typeface="Garamond" pitchFamily="18" charset="0"/>
              </a:defRPr>
            </a:lvl7pPr>
            <a:lvl8pPr marL="3429000" indent="-228600" defTabSz="931863" eaLnBrk="0" fontAlgn="base" hangingPunct="0">
              <a:spcBef>
                <a:spcPct val="0"/>
              </a:spcBef>
              <a:spcAft>
                <a:spcPct val="0"/>
              </a:spcAft>
              <a:defRPr sz="1600" b="1">
                <a:solidFill>
                  <a:schemeClr val="tx1"/>
                </a:solidFill>
                <a:latin typeface="Garamond" pitchFamily="18" charset="0"/>
              </a:defRPr>
            </a:lvl8pPr>
            <a:lvl9pPr marL="3886200" indent="-228600" defTabSz="931863" eaLnBrk="0" fontAlgn="base" hangingPunct="0">
              <a:spcBef>
                <a:spcPct val="0"/>
              </a:spcBef>
              <a:spcAft>
                <a:spcPct val="0"/>
              </a:spcAft>
              <a:defRPr sz="1600" b="1">
                <a:solidFill>
                  <a:schemeClr val="tx1"/>
                </a:solidFill>
                <a:latin typeface="Garamond" pitchFamily="18" charset="0"/>
              </a:defRPr>
            </a:lvl9pPr>
          </a:lstStyle>
          <a:p>
            <a:pPr eaLnBrk="1" hangingPunct="1"/>
            <a:fld id="{9806D26F-FF23-4E75-9B68-791BBAEC977E}" type="slidenum">
              <a:rPr lang="en-US" sz="1200" b="0">
                <a:latin typeface="Arial" charset="0"/>
              </a:rPr>
              <a:pPr eaLnBrk="1" hangingPunct="1"/>
              <a:t>89</a:t>
            </a:fld>
            <a:endParaRPr lang="en-US" sz="1200" b="0">
              <a:latin typeface="Arial" charset="0"/>
            </a:endParaRPr>
          </a:p>
        </p:txBody>
      </p:sp>
    </p:spTree>
    <p:extLst>
      <p:ext uri="{BB962C8B-B14F-4D97-AF65-F5344CB8AC3E}">
        <p14:creationId xmlns:p14="http://schemas.microsoft.com/office/powerpoint/2010/main" val="2527384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C4E4EEA-BEAC-C94C-8891-3B3FB5D01986}" type="slidenum">
              <a:rPr lang="en-US" smtClean="0"/>
              <a:pPr/>
              <a:t>118</a:t>
            </a:fld>
            <a:endParaRPr lang="en-US"/>
          </a:p>
        </p:txBody>
      </p:sp>
    </p:spTree>
    <p:extLst>
      <p:ext uri="{BB962C8B-B14F-4D97-AF65-F5344CB8AC3E}">
        <p14:creationId xmlns:p14="http://schemas.microsoft.com/office/powerpoint/2010/main" val="1796273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C4E4EEA-BEAC-C94C-8891-3B3FB5D01986}" type="slidenum">
              <a:rPr lang="en-US" smtClean="0"/>
              <a:pPr/>
              <a:t>119</a:t>
            </a:fld>
            <a:endParaRPr lang="en-US"/>
          </a:p>
        </p:txBody>
      </p:sp>
    </p:spTree>
    <p:extLst>
      <p:ext uri="{BB962C8B-B14F-4D97-AF65-F5344CB8AC3E}">
        <p14:creationId xmlns:p14="http://schemas.microsoft.com/office/powerpoint/2010/main" val="1554864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p:spPr>
        <p:txBody>
          <a:bodyPr/>
          <a:lstStyle/>
          <a:p>
            <a:fld id="{057E9E79-C446-4204-B945-9D485EF1A01C}" type="slidenum">
              <a:rPr lang="tr-TR" smtClean="0"/>
              <a:pPr/>
              <a:t>125</a:t>
            </a:fld>
            <a:endParaRPr lang="tr-TR"/>
          </a:p>
        </p:txBody>
      </p:sp>
      <p:sp>
        <p:nvSpPr>
          <p:cNvPr id="233475" name="Rectangle 2"/>
          <p:cNvSpPr>
            <a:spLocks noChangeArrowheads="1"/>
          </p:cNvSpPr>
          <p:nvPr/>
        </p:nvSpPr>
        <p:spPr bwMode="auto">
          <a:xfrm>
            <a:off x="3851400" y="0"/>
            <a:ext cx="2946275" cy="496672"/>
          </a:xfrm>
          <a:prstGeom prst="rect">
            <a:avLst/>
          </a:prstGeom>
          <a:noFill/>
          <a:ln w="12700">
            <a:noFill/>
            <a:miter lim="800000"/>
            <a:headEnd/>
            <a:tailEnd/>
          </a:ln>
        </p:spPr>
        <p:txBody>
          <a:bodyPr wrap="none" lIns="93177" tIns="46589" rIns="93177" bIns="46589" anchor="ctr"/>
          <a:lstStyle/>
          <a:p>
            <a:endParaRPr lang="en-US"/>
          </a:p>
        </p:txBody>
      </p:sp>
      <p:sp>
        <p:nvSpPr>
          <p:cNvPr id="233476" name="Rectangle 3"/>
          <p:cNvSpPr>
            <a:spLocks noChangeArrowheads="1"/>
          </p:cNvSpPr>
          <p:nvPr/>
        </p:nvSpPr>
        <p:spPr bwMode="auto">
          <a:xfrm>
            <a:off x="3851400" y="9429968"/>
            <a:ext cx="2946275" cy="496671"/>
          </a:xfrm>
          <a:prstGeom prst="rect">
            <a:avLst/>
          </a:prstGeom>
          <a:noFill/>
          <a:ln w="12700">
            <a:noFill/>
            <a:miter lim="800000"/>
            <a:headEnd/>
            <a:tailEnd/>
          </a:ln>
        </p:spPr>
        <p:txBody>
          <a:bodyPr lIns="19412" tIns="0" rIns="19412" bIns="0" anchor="b"/>
          <a:lstStyle/>
          <a:p>
            <a:pPr algn="r" eaLnBrk="0" hangingPunct="0"/>
            <a:r>
              <a:rPr lang="en-US" sz="1000" i="1">
                <a:latin typeface="Times New Roman" pitchFamily="18" charset="0"/>
              </a:rPr>
              <a:t>23</a:t>
            </a:r>
          </a:p>
        </p:txBody>
      </p:sp>
      <p:sp>
        <p:nvSpPr>
          <p:cNvPr id="233477" name="Rectangle 4"/>
          <p:cNvSpPr>
            <a:spLocks noChangeArrowheads="1"/>
          </p:cNvSpPr>
          <p:nvPr/>
        </p:nvSpPr>
        <p:spPr bwMode="auto">
          <a:xfrm>
            <a:off x="1" y="9429968"/>
            <a:ext cx="2946275" cy="496671"/>
          </a:xfrm>
          <a:prstGeom prst="rect">
            <a:avLst/>
          </a:prstGeom>
          <a:noFill/>
          <a:ln w="12700">
            <a:noFill/>
            <a:miter lim="800000"/>
            <a:headEnd/>
            <a:tailEnd/>
          </a:ln>
        </p:spPr>
        <p:txBody>
          <a:bodyPr wrap="none" lIns="93177" tIns="46589" rIns="93177" bIns="46589" anchor="ctr"/>
          <a:lstStyle/>
          <a:p>
            <a:endParaRPr lang="en-US"/>
          </a:p>
        </p:txBody>
      </p:sp>
      <p:sp>
        <p:nvSpPr>
          <p:cNvPr id="233478" name="Rectangle 5"/>
          <p:cNvSpPr>
            <a:spLocks noChangeArrowheads="1"/>
          </p:cNvSpPr>
          <p:nvPr/>
        </p:nvSpPr>
        <p:spPr bwMode="auto">
          <a:xfrm>
            <a:off x="1" y="0"/>
            <a:ext cx="2946275" cy="496672"/>
          </a:xfrm>
          <a:prstGeom prst="rect">
            <a:avLst/>
          </a:prstGeom>
          <a:noFill/>
          <a:ln w="12700">
            <a:noFill/>
            <a:miter lim="800000"/>
            <a:headEnd/>
            <a:tailEnd/>
          </a:ln>
        </p:spPr>
        <p:txBody>
          <a:bodyPr wrap="none" lIns="93177" tIns="46589" rIns="93177" bIns="46589" anchor="ctr"/>
          <a:lstStyle/>
          <a:p>
            <a:endParaRPr lang="en-US"/>
          </a:p>
        </p:txBody>
      </p:sp>
      <p:sp>
        <p:nvSpPr>
          <p:cNvPr id="233479" name="Rectangle 6"/>
          <p:cNvSpPr>
            <a:spLocks noGrp="1" noRot="1" noChangeAspect="1" noChangeArrowheads="1" noTextEdit="1"/>
          </p:cNvSpPr>
          <p:nvPr>
            <p:ph type="sldImg"/>
          </p:nvPr>
        </p:nvSpPr>
        <p:spPr>
          <a:xfrm>
            <a:off x="925513" y="750888"/>
            <a:ext cx="4946650" cy="3709987"/>
          </a:xfrm>
          <a:ln w="12700" cap="flat">
            <a:solidFill>
              <a:schemeClr val="tx1"/>
            </a:solidFill>
          </a:ln>
        </p:spPr>
      </p:sp>
      <p:sp>
        <p:nvSpPr>
          <p:cNvPr id="233480" name="Rectangle 7"/>
          <p:cNvSpPr>
            <a:spLocks noGrp="1" noChangeArrowheads="1"/>
          </p:cNvSpPr>
          <p:nvPr>
            <p:ph type="body" idx="1"/>
          </p:nvPr>
        </p:nvSpPr>
        <p:spPr>
          <a:xfrm>
            <a:off x="906665" y="4715832"/>
            <a:ext cx="4984346" cy="4466648"/>
          </a:xfrm>
          <a:noFill/>
          <a:ln/>
        </p:spPr>
        <p:txBody>
          <a:bodyPr lIns="92207" tIns="45295" rIns="92207" bIns="45295"/>
          <a:lstStyle/>
          <a:p>
            <a:pPr eaLnBrk="1" hangingPunct="1"/>
            <a:endParaRPr lang="en-US"/>
          </a:p>
        </p:txBody>
      </p:sp>
    </p:spTree>
    <p:extLst>
      <p:ext uri="{BB962C8B-B14F-4D97-AF65-F5344CB8AC3E}">
        <p14:creationId xmlns:p14="http://schemas.microsoft.com/office/powerpoint/2010/main" val="3771203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p:spPr>
        <p:txBody>
          <a:bodyPr/>
          <a:lstStyle/>
          <a:p>
            <a:fld id="{057E9E79-C446-4204-B945-9D485EF1A01C}" type="slidenum">
              <a:rPr lang="tr-TR" smtClean="0"/>
              <a:pPr/>
              <a:t>126</a:t>
            </a:fld>
            <a:endParaRPr lang="tr-TR"/>
          </a:p>
        </p:txBody>
      </p:sp>
      <p:sp>
        <p:nvSpPr>
          <p:cNvPr id="233475" name="Rectangle 2"/>
          <p:cNvSpPr>
            <a:spLocks noChangeArrowheads="1"/>
          </p:cNvSpPr>
          <p:nvPr/>
        </p:nvSpPr>
        <p:spPr bwMode="auto">
          <a:xfrm>
            <a:off x="3851400" y="0"/>
            <a:ext cx="2946275" cy="496672"/>
          </a:xfrm>
          <a:prstGeom prst="rect">
            <a:avLst/>
          </a:prstGeom>
          <a:noFill/>
          <a:ln w="12700">
            <a:noFill/>
            <a:miter lim="800000"/>
            <a:headEnd/>
            <a:tailEnd/>
          </a:ln>
        </p:spPr>
        <p:txBody>
          <a:bodyPr wrap="none" lIns="93177" tIns="46589" rIns="93177" bIns="46589" anchor="ctr"/>
          <a:lstStyle/>
          <a:p>
            <a:endParaRPr lang="en-US"/>
          </a:p>
        </p:txBody>
      </p:sp>
      <p:sp>
        <p:nvSpPr>
          <p:cNvPr id="233476" name="Rectangle 3"/>
          <p:cNvSpPr>
            <a:spLocks noChangeArrowheads="1"/>
          </p:cNvSpPr>
          <p:nvPr/>
        </p:nvSpPr>
        <p:spPr bwMode="auto">
          <a:xfrm>
            <a:off x="3851400" y="9429968"/>
            <a:ext cx="2946275" cy="496671"/>
          </a:xfrm>
          <a:prstGeom prst="rect">
            <a:avLst/>
          </a:prstGeom>
          <a:noFill/>
          <a:ln w="12700">
            <a:noFill/>
            <a:miter lim="800000"/>
            <a:headEnd/>
            <a:tailEnd/>
          </a:ln>
        </p:spPr>
        <p:txBody>
          <a:bodyPr lIns="19412" tIns="0" rIns="19412" bIns="0" anchor="b"/>
          <a:lstStyle/>
          <a:p>
            <a:pPr algn="r" eaLnBrk="0" hangingPunct="0"/>
            <a:r>
              <a:rPr lang="en-US" sz="1000" i="1">
                <a:latin typeface="Times New Roman" pitchFamily="18" charset="0"/>
              </a:rPr>
              <a:t>23</a:t>
            </a:r>
          </a:p>
        </p:txBody>
      </p:sp>
      <p:sp>
        <p:nvSpPr>
          <p:cNvPr id="233477" name="Rectangle 4"/>
          <p:cNvSpPr>
            <a:spLocks noChangeArrowheads="1"/>
          </p:cNvSpPr>
          <p:nvPr/>
        </p:nvSpPr>
        <p:spPr bwMode="auto">
          <a:xfrm>
            <a:off x="1" y="9429968"/>
            <a:ext cx="2946275" cy="496671"/>
          </a:xfrm>
          <a:prstGeom prst="rect">
            <a:avLst/>
          </a:prstGeom>
          <a:noFill/>
          <a:ln w="12700">
            <a:noFill/>
            <a:miter lim="800000"/>
            <a:headEnd/>
            <a:tailEnd/>
          </a:ln>
        </p:spPr>
        <p:txBody>
          <a:bodyPr wrap="none" lIns="93177" tIns="46589" rIns="93177" bIns="46589" anchor="ctr"/>
          <a:lstStyle/>
          <a:p>
            <a:endParaRPr lang="en-US"/>
          </a:p>
        </p:txBody>
      </p:sp>
      <p:sp>
        <p:nvSpPr>
          <p:cNvPr id="233478" name="Rectangle 5"/>
          <p:cNvSpPr>
            <a:spLocks noChangeArrowheads="1"/>
          </p:cNvSpPr>
          <p:nvPr/>
        </p:nvSpPr>
        <p:spPr bwMode="auto">
          <a:xfrm>
            <a:off x="1" y="0"/>
            <a:ext cx="2946275" cy="496672"/>
          </a:xfrm>
          <a:prstGeom prst="rect">
            <a:avLst/>
          </a:prstGeom>
          <a:noFill/>
          <a:ln w="12700">
            <a:noFill/>
            <a:miter lim="800000"/>
            <a:headEnd/>
            <a:tailEnd/>
          </a:ln>
        </p:spPr>
        <p:txBody>
          <a:bodyPr wrap="none" lIns="93177" tIns="46589" rIns="93177" bIns="46589" anchor="ctr"/>
          <a:lstStyle/>
          <a:p>
            <a:endParaRPr lang="en-US"/>
          </a:p>
        </p:txBody>
      </p:sp>
      <p:sp>
        <p:nvSpPr>
          <p:cNvPr id="233479" name="Rectangle 6"/>
          <p:cNvSpPr>
            <a:spLocks noGrp="1" noRot="1" noChangeAspect="1" noChangeArrowheads="1" noTextEdit="1"/>
          </p:cNvSpPr>
          <p:nvPr>
            <p:ph type="sldImg"/>
          </p:nvPr>
        </p:nvSpPr>
        <p:spPr>
          <a:xfrm>
            <a:off x="925513" y="750888"/>
            <a:ext cx="4946650" cy="3709987"/>
          </a:xfrm>
          <a:ln w="12700" cap="flat">
            <a:solidFill>
              <a:schemeClr val="tx1"/>
            </a:solidFill>
          </a:ln>
        </p:spPr>
      </p:sp>
      <p:sp>
        <p:nvSpPr>
          <p:cNvPr id="233480" name="Rectangle 7"/>
          <p:cNvSpPr>
            <a:spLocks noGrp="1" noChangeArrowheads="1"/>
          </p:cNvSpPr>
          <p:nvPr>
            <p:ph type="body" idx="1"/>
          </p:nvPr>
        </p:nvSpPr>
        <p:spPr>
          <a:xfrm>
            <a:off x="906665" y="4715832"/>
            <a:ext cx="4984346" cy="4466648"/>
          </a:xfrm>
          <a:noFill/>
          <a:ln/>
        </p:spPr>
        <p:txBody>
          <a:bodyPr lIns="92207" tIns="45295" rIns="92207" bIns="45295"/>
          <a:lstStyle/>
          <a:p>
            <a:pPr eaLnBrk="1" hangingPunct="1"/>
            <a:endParaRPr lang="en-US"/>
          </a:p>
        </p:txBody>
      </p:sp>
    </p:spTree>
    <p:extLst>
      <p:ext uri="{BB962C8B-B14F-4D97-AF65-F5344CB8AC3E}">
        <p14:creationId xmlns:p14="http://schemas.microsoft.com/office/powerpoint/2010/main" val="652673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a:noFill/>
        </p:spPr>
        <p:txBody>
          <a:bodyPr/>
          <a:lstStyle/>
          <a:p>
            <a:fld id="{7D65B061-75CF-4183-AB99-F1E33121F327}" type="slidenum">
              <a:rPr lang="tr-TR" smtClean="0"/>
              <a:pPr/>
              <a:t>149</a:t>
            </a:fld>
            <a:endParaRPr lang="tr-TR"/>
          </a:p>
        </p:txBody>
      </p:sp>
      <p:sp>
        <p:nvSpPr>
          <p:cNvPr id="239619" name="Rectangle 2"/>
          <p:cNvSpPr>
            <a:spLocks noGrp="1" noRot="1" noChangeAspect="1" noChangeArrowheads="1" noTextEdit="1"/>
          </p:cNvSpPr>
          <p:nvPr>
            <p:ph type="sldImg"/>
          </p:nvPr>
        </p:nvSpPr>
        <p:spPr>
          <a:ln w="12700" cap="flat">
            <a:solidFill>
              <a:schemeClr val="tx1"/>
            </a:solidFill>
          </a:ln>
        </p:spPr>
      </p:sp>
      <p:sp>
        <p:nvSpPr>
          <p:cNvPr id="239620" name="Rectangle 3"/>
          <p:cNvSpPr>
            <a:spLocks noGrp="1" noChangeArrowheads="1"/>
          </p:cNvSpPr>
          <p:nvPr>
            <p:ph type="body" idx="1"/>
          </p:nvPr>
        </p:nvSpPr>
        <p:spPr>
          <a:xfrm>
            <a:off x="906665" y="4715832"/>
            <a:ext cx="4984346" cy="4466648"/>
          </a:xfrm>
          <a:noFill/>
          <a:ln/>
        </p:spPr>
        <p:txBody>
          <a:bodyPr lIns="93824" tIns="46913" rIns="93824" bIns="46913"/>
          <a:lstStyle/>
          <a:p>
            <a:pPr eaLnBrk="1" hangingPunct="1"/>
            <a:endParaRPr lang="en-US"/>
          </a:p>
        </p:txBody>
      </p:sp>
    </p:spTree>
    <p:extLst>
      <p:ext uri="{BB962C8B-B14F-4D97-AF65-F5344CB8AC3E}">
        <p14:creationId xmlns:p14="http://schemas.microsoft.com/office/powerpoint/2010/main" val="2422564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p:cNvSpPr>
            <a:spLocks noGrp="1" noChangeArrowheads="1"/>
          </p:cNvSpPr>
          <p:nvPr>
            <p:ph type="sldNum" sz="quarter" idx="5"/>
          </p:nvPr>
        </p:nvSpPr>
        <p:spPr>
          <a:noFill/>
        </p:spPr>
        <p:txBody>
          <a:bodyPr/>
          <a:lstStyle/>
          <a:p>
            <a:fld id="{198519B5-61A4-4BB8-BC73-AAA0B80C3B55}" type="slidenum">
              <a:rPr lang="tr-TR" smtClean="0"/>
              <a:pPr/>
              <a:t>150</a:t>
            </a:fld>
            <a:endParaRPr lang="tr-TR"/>
          </a:p>
        </p:txBody>
      </p:sp>
      <p:sp>
        <p:nvSpPr>
          <p:cNvPr id="240643" name="Rectangle 2"/>
          <p:cNvSpPr>
            <a:spLocks noGrp="1" noRot="1" noChangeAspect="1" noChangeArrowheads="1" noTextEdit="1"/>
          </p:cNvSpPr>
          <p:nvPr>
            <p:ph type="sldImg"/>
          </p:nvPr>
        </p:nvSpPr>
        <p:spPr>
          <a:ln w="12700" cap="flat">
            <a:solidFill>
              <a:schemeClr val="tx1"/>
            </a:solidFill>
          </a:ln>
        </p:spPr>
      </p:sp>
      <p:sp>
        <p:nvSpPr>
          <p:cNvPr id="240644" name="Rectangle 3"/>
          <p:cNvSpPr>
            <a:spLocks noGrp="1" noChangeArrowheads="1"/>
          </p:cNvSpPr>
          <p:nvPr>
            <p:ph type="body" idx="1"/>
          </p:nvPr>
        </p:nvSpPr>
        <p:spPr>
          <a:xfrm>
            <a:off x="906665" y="4715832"/>
            <a:ext cx="4984346" cy="4466648"/>
          </a:xfrm>
          <a:noFill/>
          <a:ln/>
        </p:spPr>
        <p:txBody>
          <a:bodyPr lIns="93824" tIns="46913" rIns="93824" bIns="46913"/>
          <a:lstStyle/>
          <a:p>
            <a:pPr eaLnBrk="1" hangingPunct="1"/>
            <a:endParaRPr lang="en-US"/>
          </a:p>
        </p:txBody>
      </p:sp>
    </p:spTree>
    <p:extLst>
      <p:ext uri="{BB962C8B-B14F-4D97-AF65-F5344CB8AC3E}">
        <p14:creationId xmlns:p14="http://schemas.microsoft.com/office/powerpoint/2010/main" val="2482115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2" descr="J:\Burak\zivir\vector vs vs\logo.dik.tr_beyaz_transparent.png"/>
          <p:cNvPicPr>
            <a:picLocks noChangeAspect="1" noChangeArrowheads="1"/>
          </p:cNvPicPr>
          <p:nvPr userDrawn="1"/>
        </p:nvPicPr>
        <p:blipFill>
          <a:blip r:embed="rId2" cstate="print"/>
          <a:srcRect/>
          <a:stretch>
            <a:fillRect/>
          </a:stretch>
        </p:blipFill>
        <p:spPr bwMode="auto">
          <a:xfrm>
            <a:off x="3160714" y="2457450"/>
            <a:ext cx="2822575" cy="19431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cxnSp>
        <p:nvCxnSpPr>
          <p:cNvPr id="4" name="Straight Connector 3"/>
          <p:cNvCxnSpPr/>
          <p:nvPr userDrawn="1"/>
        </p:nvCxnSpPr>
        <p:spPr>
          <a:xfrm flipH="1">
            <a:off x="0" y="1052513"/>
            <a:ext cx="9144000" cy="0"/>
          </a:xfrm>
          <a:prstGeom prst="line">
            <a:avLst/>
          </a:prstGeom>
          <a:ln w="82550">
            <a:solidFill>
              <a:srgbClr val="C10B25"/>
            </a:solidFill>
          </a:ln>
        </p:spPr>
        <p:style>
          <a:lnRef idx="1">
            <a:schemeClr val="accent1"/>
          </a:lnRef>
          <a:fillRef idx="0">
            <a:schemeClr val="accent1"/>
          </a:fillRef>
          <a:effectRef idx="0">
            <a:schemeClr val="accent1"/>
          </a:effectRef>
          <a:fontRef idx="minor">
            <a:schemeClr val="tx1"/>
          </a:fontRef>
        </p:style>
      </p:cxnSp>
      <p:pic>
        <p:nvPicPr>
          <p:cNvPr id="5" name="Picture 2"/>
          <p:cNvPicPr>
            <a:picLocks noChangeAspect="1" noChangeArrowheads="1"/>
          </p:cNvPicPr>
          <p:nvPr userDrawn="1"/>
        </p:nvPicPr>
        <p:blipFill>
          <a:blip r:embed="rId2" cstate="print"/>
          <a:srcRect/>
          <a:stretch>
            <a:fillRect/>
          </a:stretch>
        </p:blipFill>
        <p:spPr bwMode="auto">
          <a:xfrm>
            <a:off x="192089" y="115888"/>
            <a:ext cx="963612" cy="792162"/>
          </a:xfrm>
          <a:prstGeom prst="rect">
            <a:avLst/>
          </a:prstGeom>
          <a:noFill/>
          <a:ln w="9525">
            <a:noFill/>
            <a:miter lim="800000"/>
            <a:headEnd/>
            <a:tailEnd/>
          </a:ln>
        </p:spPr>
      </p:pic>
      <p:sp>
        <p:nvSpPr>
          <p:cNvPr id="9" name="Content Placeholder 2"/>
          <p:cNvSpPr>
            <a:spLocks noGrp="1"/>
          </p:cNvSpPr>
          <p:nvPr>
            <p:ph idx="10"/>
          </p:nvPr>
        </p:nvSpPr>
        <p:spPr>
          <a:xfrm>
            <a:off x="395536" y="1495326"/>
            <a:ext cx="8229600" cy="4525963"/>
          </a:xfrm>
          <a:prstGeom prst="rect">
            <a:avLst/>
          </a:prstGeom>
        </p:spPr>
        <p:txBody>
          <a:bodyPr/>
          <a:lstStyle>
            <a:lvl1pPr>
              <a:buFont typeface="Wingdings" pitchFamily="2" charset="2"/>
              <a:buChar char="§"/>
              <a:defRPr b="1">
                <a:solidFill>
                  <a:srgbClr val="C00000"/>
                </a:solidFill>
                <a:latin typeface="Arial" pitchFamily="34" charset="0"/>
                <a:cs typeface="Arial" pitchFamily="34" charset="0"/>
              </a:defRPr>
            </a:lvl1pPr>
            <a:lvl2pPr>
              <a:buFont typeface="Wingdings" pitchFamily="2" charset="2"/>
              <a:buChar char="§"/>
              <a:defRPr sz="3200" b="1">
                <a:latin typeface="Arial" pitchFamily="34" charset="0"/>
                <a:cs typeface="Arial" pitchFamily="34" charset="0"/>
              </a:defRPr>
            </a:lvl2pPr>
            <a:lvl3pPr>
              <a:buFont typeface="Wingdings" pitchFamily="2" charset="2"/>
              <a:buChar char="§"/>
              <a:defRPr b="1">
                <a:latin typeface="Arial" pitchFamily="34" charset="0"/>
                <a:cs typeface="Arial" pitchFamily="34" charset="0"/>
              </a:defRPr>
            </a:lvl3pPr>
            <a:lvl4pPr>
              <a:buFont typeface="Wingdings" pitchFamily="2" charset="2"/>
              <a:buChar char="§"/>
              <a:defRPr>
                <a:latin typeface="Arial" pitchFamily="34" charset="0"/>
                <a:cs typeface="Arial" pitchFamily="34" charset="0"/>
              </a:defRPr>
            </a:lvl4pPr>
            <a:lvl5pPr>
              <a:buFont typeface="Arial" pitchFamily="34" charset="0"/>
              <a:buChar char="•"/>
              <a:defRPr>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tr-TR" dirty="0"/>
          </a:p>
        </p:txBody>
      </p:sp>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tr-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5">
        <p:tmplLst>
          <p:tmpl lvl="1">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10B25"/>
        </a:solidFill>
        <a:effectLst/>
      </p:bgPr>
    </p:bg>
    <p:spTree>
      <p:nvGrpSpPr>
        <p:cNvPr id="1" name=""/>
        <p:cNvGrpSpPr/>
        <p:nvPr/>
      </p:nvGrpSpPr>
      <p:grpSpPr>
        <a:xfrm>
          <a:off x="0" y="0"/>
          <a:ext cx="0" cy="0"/>
          <a:chOff x="0" y="0"/>
          <a:chExt cx="0" cy="0"/>
        </a:xfrm>
      </p:grpSpPr>
      <p:pic>
        <p:nvPicPr>
          <p:cNvPr id="1026" name="Picture 2" descr="J:\Burak\zivir\vector vs vs\logo.dik.tr_beyaz_transparent.png"/>
          <p:cNvPicPr>
            <a:picLocks noChangeAspect="1" noChangeArrowheads="1"/>
          </p:cNvPicPr>
          <p:nvPr/>
        </p:nvPicPr>
        <p:blipFill>
          <a:blip r:embed="rId8" cstate="print"/>
          <a:srcRect/>
          <a:stretch>
            <a:fillRect/>
          </a:stretch>
        </p:blipFill>
        <p:spPr bwMode="auto">
          <a:xfrm>
            <a:off x="3160714" y="2457450"/>
            <a:ext cx="2822575" cy="19431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fortune.com/2019/08/22/ge-stock-buybacks-financials/"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w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4.emf"/></Relationships>
</file>

<file path=ppt/slides/_rels/slide11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6.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8.emf"/></Relationships>
</file>

<file path=ppt/slides/_rels/slide1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9.wmf"/></Relationships>
</file>

<file path=ppt/slides/_rels/slide1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0.wmf"/><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1.emf"/></Relationships>
</file>

<file path=ppt/slides/_rels/slide1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2.wmf"/><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3.wmf"/><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4.emf"/></Relationships>
</file>

<file path=ppt/slides/_rels/slide150.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6.wmf"/><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7.wmf"/><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4294967295"/>
          </p:nvPr>
        </p:nvSpPr>
        <p:spPr>
          <a:xfrm>
            <a:off x="1620043" y="260648"/>
            <a:ext cx="6048375" cy="865187"/>
          </a:xfrm>
          <a:prstGeom prst="rect">
            <a:avLst/>
          </a:prstGeom>
        </p:spPr>
        <p:txBody>
          <a:bodyPr/>
          <a:lstStyle/>
          <a:p>
            <a:pPr algn="ctr">
              <a:lnSpc>
                <a:spcPct val="80000"/>
              </a:lnSpc>
              <a:buNone/>
            </a:pPr>
            <a:r>
              <a:rPr lang="tr-TR" sz="3600" b="1" dirty="0">
                <a:solidFill>
                  <a:srgbClr val="3333CC"/>
                </a:solidFill>
              </a:rPr>
              <a:t>Yöneticiler için Finans</a:t>
            </a:r>
            <a:endParaRPr lang="tr-TR" sz="2800" b="1" dirty="0">
              <a:solidFill>
                <a:srgbClr val="3333CC"/>
              </a:solidFill>
            </a:endParaRPr>
          </a:p>
          <a:p>
            <a:pPr algn="ctr">
              <a:lnSpc>
                <a:spcPct val="80000"/>
              </a:lnSpc>
              <a:buNone/>
            </a:pPr>
            <a:endParaRPr lang="tr-TR" sz="2800" b="1" dirty="0">
              <a:solidFill>
                <a:srgbClr val="3333CC"/>
              </a:solidFill>
            </a:endParaRPr>
          </a:p>
          <a:p>
            <a:pPr algn="ctr">
              <a:lnSpc>
                <a:spcPct val="80000"/>
              </a:lnSpc>
              <a:buNone/>
            </a:pPr>
            <a:endParaRPr lang="tr-TR" sz="2000" kern="0" dirty="0"/>
          </a:p>
          <a:p>
            <a:pPr algn="ctr">
              <a:lnSpc>
                <a:spcPct val="80000"/>
              </a:lnSpc>
              <a:buNone/>
            </a:pPr>
            <a:r>
              <a:rPr lang="tr-TR" sz="2000" kern="0" dirty="0">
                <a:solidFill>
                  <a:srgbClr val="FF0000"/>
                </a:solidFill>
              </a:rPr>
              <a:t>“Çalışanlar modern finans prensip ve uygulamalarını net bir şekilde anlamadıkça etkili yönetici olamazlar.” </a:t>
            </a:r>
          </a:p>
          <a:p>
            <a:pPr algn="ctr" eaLnBrk="1" hangingPunct="1">
              <a:lnSpc>
                <a:spcPct val="80000"/>
              </a:lnSpc>
              <a:buFont typeface="Wingdings" pitchFamily="2" charset="2"/>
              <a:buNone/>
            </a:pPr>
            <a:endParaRPr lang="tr-TR" sz="2400" b="1" dirty="0">
              <a:solidFill>
                <a:srgbClr val="3333CC"/>
              </a:solidFill>
            </a:endParaRPr>
          </a:p>
          <a:p>
            <a:pPr algn="ctr" eaLnBrk="1" hangingPunct="1">
              <a:lnSpc>
                <a:spcPct val="80000"/>
              </a:lnSpc>
              <a:buFont typeface="Wingdings" pitchFamily="2" charset="2"/>
              <a:buNone/>
            </a:pPr>
            <a:endParaRPr lang="tr-TR" sz="2400" b="1" dirty="0">
              <a:solidFill>
                <a:srgbClr val="3333CC"/>
              </a:solidFill>
            </a:endParaRPr>
          </a:p>
          <a:p>
            <a:pPr algn="ctr" eaLnBrk="1" hangingPunct="1">
              <a:lnSpc>
                <a:spcPct val="80000"/>
              </a:lnSpc>
              <a:buFont typeface="Wingdings" pitchFamily="2" charset="2"/>
              <a:buNone/>
            </a:pPr>
            <a:endParaRPr lang="tr-TR" sz="2400" b="1" dirty="0">
              <a:solidFill>
                <a:srgbClr val="3333CC"/>
              </a:solidFill>
            </a:endParaRPr>
          </a:p>
          <a:p>
            <a:pPr algn="ctr" eaLnBrk="1" hangingPunct="1">
              <a:lnSpc>
                <a:spcPct val="80000"/>
              </a:lnSpc>
              <a:buFont typeface="Wingdings" pitchFamily="2" charset="2"/>
              <a:buNone/>
            </a:pPr>
            <a:endParaRPr lang="tr-TR" sz="2400" b="1" dirty="0">
              <a:solidFill>
                <a:srgbClr val="3333CC"/>
              </a:solidFill>
            </a:endParaRPr>
          </a:p>
          <a:p>
            <a:pPr algn="ctr" eaLnBrk="1" hangingPunct="1">
              <a:lnSpc>
                <a:spcPct val="80000"/>
              </a:lnSpc>
              <a:buFont typeface="Wingdings" pitchFamily="2" charset="2"/>
              <a:buNone/>
            </a:pPr>
            <a:endParaRPr lang="tr-TR" sz="2400" b="1" dirty="0">
              <a:solidFill>
                <a:srgbClr val="3333CC"/>
              </a:solidFill>
            </a:endParaRPr>
          </a:p>
          <a:p>
            <a:pPr algn="ctr" eaLnBrk="1" hangingPunct="1">
              <a:lnSpc>
                <a:spcPct val="80000"/>
              </a:lnSpc>
              <a:buFont typeface="Wingdings" pitchFamily="2" charset="2"/>
              <a:buNone/>
            </a:pPr>
            <a:endParaRPr lang="tr-TR" sz="2400" b="1" dirty="0">
              <a:solidFill>
                <a:srgbClr val="3333CC"/>
              </a:solidFill>
            </a:endParaRPr>
          </a:p>
          <a:p>
            <a:pPr algn="ctr" eaLnBrk="1" hangingPunct="1">
              <a:lnSpc>
                <a:spcPct val="80000"/>
              </a:lnSpc>
              <a:buFont typeface="Wingdings" pitchFamily="2" charset="2"/>
              <a:buNone/>
            </a:pPr>
            <a:endParaRPr lang="tr-TR" sz="2400" b="1" dirty="0">
              <a:solidFill>
                <a:srgbClr val="3333CC"/>
              </a:solidFill>
            </a:endParaRPr>
          </a:p>
          <a:p>
            <a:pPr algn="just">
              <a:lnSpc>
                <a:spcPct val="90000"/>
              </a:lnSpc>
              <a:spcAft>
                <a:spcPct val="30000"/>
              </a:spcAft>
            </a:pPr>
            <a:endParaRPr lang="tr-TR" sz="2400" dirty="0"/>
          </a:p>
          <a:p>
            <a:pPr algn="ctr" eaLnBrk="1" hangingPunct="1">
              <a:lnSpc>
                <a:spcPct val="80000"/>
              </a:lnSpc>
              <a:buFont typeface="Wingdings" pitchFamily="2" charset="2"/>
              <a:buNone/>
            </a:pPr>
            <a:endParaRPr lang="tr-TR" sz="2400" b="1" dirty="0">
              <a:solidFill>
                <a:srgbClr val="3333CC"/>
              </a:solidFill>
            </a:endParaRPr>
          </a:p>
          <a:p>
            <a:pPr algn="ctr" eaLnBrk="1" hangingPunct="1">
              <a:lnSpc>
                <a:spcPct val="80000"/>
              </a:lnSpc>
              <a:buFont typeface="Wingdings" pitchFamily="2" charset="2"/>
              <a:buNone/>
            </a:pPr>
            <a:r>
              <a:rPr lang="tr-TR" sz="2200" dirty="0"/>
              <a:t>Dr. Cüneyt Demirgüreş</a:t>
            </a:r>
          </a:p>
          <a:p>
            <a:pPr algn="ctr" eaLnBrk="1" hangingPunct="1">
              <a:lnSpc>
                <a:spcPct val="80000"/>
              </a:lnSpc>
              <a:buFont typeface="Wingdings" pitchFamily="2" charset="2"/>
              <a:buNone/>
            </a:pPr>
            <a:r>
              <a:rPr lang="tr-TR" sz="2200" dirty="0"/>
              <a:t>Kıdemli Öğretim Görevlisi</a:t>
            </a:r>
          </a:p>
        </p:txBody>
      </p:sp>
      <p:sp>
        <p:nvSpPr>
          <p:cNvPr id="7" name="Rectangle 3"/>
          <p:cNvSpPr txBox="1">
            <a:spLocks noChangeArrowheads="1"/>
          </p:cNvSpPr>
          <p:nvPr/>
        </p:nvSpPr>
        <p:spPr bwMode="auto">
          <a:xfrm>
            <a:off x="468313" y="3356992"/>
            <a:ext cx="8351837" cy="2304256"/>
          </a:xfrm>
          <a:prstGeom prst="rect">
            <a:avLst/>
          </a:prstGeom>
          <a:noFill/>
          <a:ln w="9525">
            <a:noFill/>
            <a:miter lim="800000"/>
            <a:headEnd/>
            <a:tailEnd/>
          </a:ln>
        </p:spPr>
        <p:txBody>
          <a:bodyPr/>
          <a:lstStyle/>
          <a:p>
            <a:pPr algn="just">
              <a:lnSpc>
                <a:spcPct val="90000"/>
              </a:lnSpc>
              <a:spcBef>
                <a:spcPct val="20000"/>
              </a:spcBef>
              <a:buClr>
                <a:schemeClr val="bg2"/>
              </a:buClr>
              <a:buSzPct val="75000"/>
              <a:buFont typeface="Wingdings" pitchFamily="2" charset="2"/>
              <a:buNone/>
              <a:defRPr/>
            </a:pPr>
            <a:r>
              <a:rPr lang="tr-TR" sz="2000" b="0" kern="0">
                <a:latin typeface="+mn-lt"/>
              </a:rPr>
              <a:t>Bu eğitimin amacı finansal yönetime giriş yapmak ve yöneticilerin aldıkları kararların şirket değerine etkisini finansal açıdan değerlendirebilmelerini sağlamaktır. Bu amaçla şirketlerin finansal durum teşhisini yapabilen, dolayısı ile likidite, operasyonel verimlilik, karlılık, ve nakit yaratımı analizlerini gerçekleştirebilen, paranın zaman değeri kavramını pratiğe dönüştürebilen, proje değerlendirebilen, ve bu sayede şirketin değişik birimlerinin şirket değerine etkisini kavramış yöneticiler yetiştirmektir.</a:t>
            </a: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8424" y="6141148"/>
            <a:ext cx="648072" cy="656278"/>
          </a:xfrm>
          <a:prstGeom prst="rect">
            <a:avLst/>
          </a:prstGeom>
          <a:noFill/>
          <a:ln>
            <a:noFill/>
          </a:ln>
        </p:spPr>
      </p:pic>
    </p:spTree>
    <p:extLst>
      <p:ext uri="{BB962C8B-B14F-4D97-AF65-F5344CB8AC3E}">
        <p14:creationId xmlns:p14="http://schemas.microsoft.com/office/powerpoint/2010/main" val="293121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body" idx="4294967295"/>
          </p:nvPr>
        </p:nvSpPr>
        <p:spPr>
          <a:xfrm>
            <a:off x="457200" y="1268413"/>
            <a:ext cx="8229600" cy="4862512"/>
          </a:xfrm>
          <a:prstGeom prst="rect">
            <a:avLst/>
          </a:prstGeom>
        </p:spPr>
        <p:txBody>
          <a:bodyPr/>
          <a:lstStyle/>
          <a:p>
            <a:pPr eaLnBrk="1" hangingPunct="1">
              <a:lnSpc>
                <a:spcPct val="80000"/>
              </a:lnSpc>
            </a:pPr>
            <a:endParaRPr lang="tr-TR" sz="2400" b="1"/>
          </a:p>
          <a:p>
            <a:pPr eaLnBrk="1" hangingPunct="1">
              <a:lnSpc>
                <a:spcPct val="80000"/>
              </a:lnSpc>
            </a:pPr>
            <a:endParaRPr lang="tr-TR" sz="2400" b="1"/>
          </a:p>
          <a:p>
            <a:pPr eaLnBrk="1" hangingPunct="1">
              <a:lnSpc>
                <a:spcPct val="80000"/>
              </a:lnSpc>
              <a:spcAft>
                <a:spcPct val="20000"/>
              </a:spcAft>
            </a:pPr>
            <a:r>
              <a:rPr lang="tr-TR" sz="2400" b="1"/>
              <a:t>Eğitmen</a:t>
            </a:r>
            <a:r>
              <a:rPr lang="en-US" sz="2400"/>
              <a:t>:		Dr. </a:t>
            </a:r>
            <a:r>
              <a:rPr lang="en-US" sz="2400" err="1"/>
              <a:t>Cüneyt</a:t>
            </a:r>
            <a:r>
              <a:rPr lang="en-US" sz="2400"/>
              <a:t> </a:t>
            </a:r>
            <a:r>
              <a:rPr lang="en-US" sz="2400" err="1"/>
              <a:t>Demirgüreş</a:t>
            </a:r>
            <a:endParaRPr lang="en-US" sz="2400" b="1"/>
          </a:p>
          <a:p>
            <a:pPr eaLnBrk="1" hangingPunct="1">
              <a:lnSpc>
                <a:spcPct val="80000"/>
              </a:lnSpc>
              <a:spcAft>
                <a:spcPct val="20000"/>
              </a:spcAft>
            </a:pPr>
            <a:endParaRPr lang="tr-TR" sz="2400" b="1"/>
          </a:p>
          <a:p>
            <a:pPr eaLnBrk="1" hangingPunct="1">
              <a:lnSpc>
                <a:spcPct val="80000"/>
              </a:lnSpc>
              <a:spcAft>
                <a:spcPct val="20000"/>
              </a:spcAft>
            </a:pPr>
            <a:r>
              <a:rPr lang="tr-TR" sz="2400" b="1"/>
              <a:t>Ofis: 		</a:t>
            </a:r>
            <a:r>
              <a:rPr lang="tr-TR" sz="2400"/>
              <a:t>Sarıyer Yerleşkesi / Case 112</a:t>
            </a:r>
            <a:endParaRPr lang="en-US" sz="2400"/>
          </a:p>
          <a:p>
            <a:pPr eaLnBrk="1" hangingPunct="1">
              <a:lnSpc>
                <a:spcPct val="80000"/>
              </a:lnSpc>
              <a:spcAft>
                <a:spcPct val="20000"/>
              </a:spcAft>
            </a:pPr>
            <a:endParaRPr lang="tr-TR" sz="2400" b="1"/>
          </a:p>
          <a:p>
            <a:pPr eaLnBrk="1" hangingPunct="1">
              <a:lnSpc>
                <a:spcPct val="80000"/>
              </a:lnSpc>
              <a:spcAft>
                <a:spcPct val="20000"/>
              </a:spcAft>
            </a:pPr>
            <a:r>
              <a:rPr lang="en-US" sz="2400" b="1"/>
              <a:t>Tele</a:t>
            </a:r>
            <a:r>
              <a:rPr lang="tr-TR" sz="2400" b="1"/>
              <a:t>fon (İş/cep)</a:t>
            </a:r>
            <a:r>
              <a:rPr lang="en-US" sz="2400"/>
              <a:t>:	</a:t>
            </a:r>
            <a:r>
              <a:rPr lang="tr-TR" sz="2400"/>
              <a:t>212 338 1884 / </a:t>
            </a:r>
            <a:r>
              <a:rPr lang="en-US" sz="2400"/>
              <a:t>532 6</a:t>
            </a:r>
            <a:r>
              <a:rPr lang="tr-TR" sz="2400"/>
              <a:t>14 3627</a:t>
            </a:r>
            <a:endParaRPr lang="it-IT" sz="2400" b="1"/>
          </a:p>
          <a:p>
            <a:pPr eaLnBrk="1" hangingPunct="1">
              <a:lnSpc>
                <a:spcPct val="80000"/>
              </a:lnSpc>
              <a:spcAft>
                <a:spcPct val="20000"/>
              </a:spcAft>
            </a:pPr>
            <a:endParaRPr lang="tr-TR" sz="2400" b="1"/>
          </a:p>
          <a:p>
            <a:pPr eaLnBrk="1" hangingPunct="1">
              <a:lnSpc>
                <a:spcPct val="80000"/>
              </a:lnSpc>
              <a:spcAft>
                <a:spcPct val="20000"/>
              </a:spcAft>
            </a:pPr>
            <a:r>
              <a:rPr lang="it-IT" sz="2400" b="1"/>
              <a:t>E-mail: 		</a:t>
            </a:r>
            <a:r>
              <a:rPr lang="tr-TR" sz="2400" b="1">
                <a:solidFill>
                  <a:srgbClr val="3333CC"/>
                </a:solidFill>
              </a:rPr>
              <a:t>cdemirgures</a:t>
            </a:r>
            <a:r>
              <a:rPr lang="it-IT" sz="2400" b="1">
                <a:solidFill>
                  <a:srgbClr val="3333CC"/>
                </a:solidFill>
              </a:rPr>
              <a:t>@</a:t>
            </a:r>
            <a:r>
              <a:rPr lang="tr-TR" sz="2400" b="1">
                <a:solidFill>
                  <a:srgbClr val="3333CC"/>
                </a:solidFill>
              </a:rPr>
              <a:t>ku.edu.tr</a:t>
            </a:r>
            <a:endParaRPr lang="en-US" sz="2400" b="1">
              <a:solidFill>
                <a:srgbClr val="FF0000"/>
              </a:solidFill>
            </a:endParaRPr>
          </a:p>
        </p:txBody>
      </p:sp>
      <p:sp>
        <p:nvSpPr>
          <p:cNvPr id="3075" name="Title 5"/>
          <p:cNvSpPr>
            <a:spLocks noGrp="1"/>
          </p:cNvSpPr>
          <p:nvPr>
            <p:ph type="title"/>
          </p:nvPr>
        </p:nvSpPr>
        <p:spPr>
          <a:xfrm>
            <a:off x="457200" y="260648"/>
            <a:ext cx="8229600" cy="576064"/>
          </a:xfrm>
        </p:spPr>
        <p:txBody>
          <a:bodyPr/>
          <a:lstStyle/>
          <a:p>
            <a:r>
              <a:rPr lang="tr-TR" sz="4000"/>
              <a:t>İletişim</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4428" y="6165304"/>
            <a:ext cx="648072" cy="656278"/>
          </a:xfrm>
          <a:prstGeom prst="rect">
            <a:avLst/>
          </a:prstGeom>
          <a:noFill/>
          <a:ln>
            <a:noFill/>
          </a:ln>
        </p:spPr>
      </p:pic>
    </p:spTree>
    <p:extLst>
      <p:ext uri="{BB962C8B-B14F-4D97-AF65-F5344CB8AC3E}">
        <p14:creationId xmlns:p14="http://schemas.microsoft.com/office/powerpoint/2010/main" val="3238462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0"/>
          </p:nvPr>
        </p:nvSpPr>
        <p:spPr>
          <a:xfrm>
            <a:off x="8676456" y="6443612"/>
            <a:ext cx="324036" cy="360040"/>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BA2AA410-935E-4566-A8A6-DAA6235777C8}" type="slidenum">
              <a:rPr lang="tr-TR" sz="1200">
                <a:solidFill>
                  <a:schemeClr val="tx2"/>
                </a:solidFill>
                <a:latin typeface="Verdana" pitchFamily="34" charset="0"/>
              </a:rPr>
              <a:pPr marL="0" indent="0" eaLnBrk="1" hangingPunct="1">
                <a:buNone/>
              </a:pPr>
              <a:t>4</a:t>
            </a:fld>
            <a:endParaRPr lang="tr-TR" sz="1200">
              <a:solidFill>
                <a:schemeClr val="tx2"/>
              </a:solidFill>
              <a:latin typeface="Verdana" pitchFamily="34" charset="0"/>
            </a:endParaRPr>
          </a:p>
        </p:txBody>
      </p:sp>
      <p:sp>
        <p:nvSpPr>
          <p:cNvPr id="10243" name="Rectangle 3"/>
          <p:cNvSpPr>
            <a:spLocks noGrp="1" noChangeArrowheads="1"/>
          </p:cNvSpPr>
          <p:nvPr>
            <p:ph type="body" idx="4294967295"/>
          </p:nvPr>
        </p:nvSpPr>
        <p:spPr>
          <a:xfrm>
            <a:off x="457200" y="1124744"/>
            <a:ext cx="8229600" cy="5040560"/>
          </a:xfrm>
          <a:prstGeom prst="rect">
            <a:avLst/>
          </a:prstGeom>
        </p:spPr>
        <p:txBody>
          <a:bodyPr/>
          <a:lstStyle/>
          <a:p>
            <a:pPr>
              <a:lnSpc>
                <a:spcPct val="150000"/>
              </a:lnSpc>
              <a:spcBef>
                <a:spcPct val="10000"/>
              </a:spcBef>
              <a:spcAft>
                <a:spcPts val="600"/>
              </a:spcAft>
            </a:pPr>
            <a:r>
              <a:rPr lang="tr-TR" altLang="ko-KR" sz="1800" b="1" dirty="0">
                <a:latin typeface="Verdana" pitchFamily="34" charset="0"/>
                <a:ea typeface="Verdana" pitchFamily="34" charset="0"/>
                <a:cs typeface="Verdana" pitchFamily="34" charset="0"/>
              </a:rPr>
              <a:t>Finansal Yönetim – Değer Yaratmak</a:t>
            </a:r>
          </a:p>
          <a:p>
            <a:pPr>
              <a:lnSpc>
                <a:spcPct val="150000"/>
              </a:lnSpc>
              <a:spcBef>
                <a:spcPct val="10000"/>
              </a:spcBef>
              <a:spcAft>
                <a:spcPts val="600"/>
              </a:spcAft>
            </a:pPr>
            <a:r>
              <a:rPr lang="tr-TR" altLang="ko-KR" sz="1800" b="1" dirty="0">
                <a:latin typeface="Verdana" pitchFamily="34" charset="0"/>
                <a:ea typeface="Verdana" pitchFamily="34" charset="0"/>
                <a:cs typeface="Verdana" pitchFamily="34" charset="0"/>
              </a:rPr>
              <a:t>Finansal Analiz</a:t>
            </a:r>
            <a:endParaRPr lang="tr-TR" altLang="ko-KR" sz="1800" dirty="0">
              <a:latin typeface="Verdana" pitchFamily="34" charset="0"/>
              <a:ea typeface="Verdana" pitchFamily="34" charset="0"/>
              <a:cs typeface="Verdana" pitchFamily="34" charset="0"/>
            </a:endParaRPr>
          </a:p>
          <a:p>
            <a:pPr lvl="1">
              <a:lnSpc>
                <a:spcPct val="150000"/>
              </a:lnSpc>
              <a:spcBef>
                <a:spcPct val="10000"/>
              </a:spcBef>
              <a:spcAft>
                <a:spcPts val="600"/>
              </a:spcAft>
            </a:pPr>
            <a:r>
              <a:rPr lang="tr-TR" altLang="ko-KR" sz="1400" dirty="0">
                <a:latin typeface="Verdana" pitchFamily="34" charset="0"/>
                <a:ea typeface="Verdana" pitchFamily="34" charset="0"/>
                <a:cs typeface="Verdana" pitchFamily="34" charset="0"/>
              </a:rPr>
              <a:t>Bilanço &amp; Gelir Tablosu</a:t>
            </a:r>
          </a:p>
          <a:p>
            <a:pPr lvl="1">
              <a:lnSpc>
                <a:spcPct val="150000"/>
              </a:lnSpc>
              <a:spcBef>
                <a:spcPct val="10000"/>
              </a:spcBef>
              <a:spcAft>
                <a:spcPts val="600"/>
              </a:spcAft>
            </a:pPr>
            <a:r>
              <a:rPr lang="tr-TR" altLang="ko-KR" sz="1400" dirty="0">
                <a:latin typeface="Verdana" pitchFamily="34" charset="0"/>
                <a:ea typeface="Verdana" pitchFamily="34" charset="0"/>
                <a:cs typeface="Verdana" pitchFamily="34" charset="0"/>
              </a:rPr>
              <a:t>İşletme Sermayesi ve Yönetici Bilançosu</a:t>
            </a:r>
          </a:p>
          <a:p>
            <a:pPr lvl="1">
              <a:lnSpc>
                <a:spcPct val="200000"/>
              </a:lnSpc>
              <a:spcBef>
                <a:spcPct val="10000"/>
              </a:spcBef>
            </a:pPr>
            <a:r>
              <a:rPr lang="tr-TR" altLang="ko-KR" sz="1400" dirty="0">
                <a:latin typeface="Verdana" pitchFamily="34" charset="0"/>
                <a:ea typeface="Verdana" pitchFamily="34" charset="0"/>
                <a:cs typeface="Verdana" pitchFamily="34" charset="0"/>
              </a:rPr>
              <a:t>Finansal Durum ve Likidite Analizi</a:t>
            </a:r>
          </a:p>
          <a:p>
            <a:pPr lvl="1">
              <a:lnSpc>
                <a:spcPct val="200000"/>
              </a:lnSpc>
              <a:spcBef>
                <a:spcPct val="10000"/>
              </a:spcBef>
            </a:pPr>
            <a:r>
              <a:rPr lang="tr-TR" altLang="ko-KR" sz="1400" dirty="0">
                <a:latin typeface="Verdana" pitchFamily="34" charset="0"/>
                <a:ea typeface="Verdana" pitchFamily="34" charset="0"/>
                <a:cs typeface="Verdana" pitchFamily="34" charset="0"/>
              </a:rPr>
              <a:t>Nakit Döngüsü ve Operasyonel Verimlilik Analizi</a:t>
            </a:r>
          </a:p>
          <a:p>
            <a:pPr lvl="1">
              <a:lnSpc>
                <a:spcPct val="200000"/>
              </a:lnSpc>
              <a:spcBef>
                <a:spcPct val="10000"/>
              </a:spcBef>
            </a:pPr>
            <a:r>
              <a:rPr lang="tr-TR" altLang="ko-KR" sz="1400" dirty="0">
                <a:latin typeface="Verdana" pitchFamily="34" charset="0"/>
                <a:ea typeface="Verdana" pitchFamily="34" charset="0"/>
                <a:cs typeface="Verdana" pitchFamily="34" charset="0"/>
              </a:rPr>
              <a:t>Nakit Akım Analizi ve Serbest Nakit Akımı</a:t>
            </a:r>
            <a:endParaRPr lang="tr-TR" altLang="ko-KR" sz="1400" b="1" dirty="0">
              <a:latin typeface="Verdana" pitchFamily="34" charset="0"/>
              <a:ea typeface="Verdana" pitchFamily="34" charset="0"/>
              <a:cs typeface="Verdana" pitchFamily="34" charset="0"/>
            </a:endParaRPr>
          </a:p>
          <a:p>
            <a:pPr lvl="1">
              <a:lnSpc>
                <a:spcPct val="200000"/>
              </a:lnSpc>
              <a:spcBef>
                <a:spcPct val="10000"/>
              </a:spcBef>
            </a:pPr>
            <a:r>
              <a:rPr lang="tr-TR" altLang="ko-KR" sz="1400" dirty="0">
                <a:latin typeface="Verdana" pitchFamily="34" charset="0"/>
                <a:ea typeface="Verdana" pitchFamily="34" charset="0"/>
                <a:cs typeface="Verdana" pitchFamily="34" charset="0"/>
              </a:rPr>
              <a:t>Karlılık Analizi </a:t>
            </a:r>
            <a:r>
              <a:rPr lang="tr-TR" altLang="ko-KR" sz="1400">
                <a:latin typeface="Verdana" pitchFamily="34" charset="0"/>
                <a:ea typeface="Verdana" pitchFamily="34" charset="0"/>
                <a:cs typeface="Verdana" pitchFamily="34" charset="0"/>
              </a:rPr>
              <a:t>ve Finansal </a:t>
            </a:r>
            <a:r>
              <a:rPr lang="tr-TR" altLang="ko-KR" sz="1400" dirty="0">
                <a:latin typeface="Verdana" pitchFamily="34" charset="0"/>
                <a:ea typeface="Verdana" pitchFamily="34" charset="0"/>
                <a:cs typeface="Verdana" pitchFamily="34" charset="0"/>
              </a:rPr>
              <a:t>Risk</a:t>
            </a:r>
          </a:p>
          <a:p>
            <a:pPr>
              <a:lnSpc>
                <a:spcPct val="150000"/>
              </a:lnSpc>
              <a:spcBef>
                <a:spcPct val="10000"/>
              </a:spcBef>
              <a:spcAft>
                <a:spcPts val="600"/>
              </a:spcAft>
            </a:pPr>
            <a:r>
              <a:rPr lang="tr-TR" sz="1800" b="1" dirty="0">
                <a:latin typeface="Verdana" pitchFamily="34" charset="0"/>
                <a:ea typeface="Verdana" pitchFamily="34" charset="0"/>
                <a:cs typeface="Verdana" pitchFamily="34" charset="0"/>
              </a:rPr>
              <a:t>Sermaye Maliyeti</a:t>
            </a:r>
            <a:r>
              <a:rPr lang="tr-TR" altLang="ko-KR" sz="1800" b="1" dirty="0">
                <a:latin typeface="Verdana" pitchFamily="34" charset="0"/>
                <a:ea typeface="Verdana" pitchFamily="34" charset="0"/>
                <a:cs typeface="Verdana" pitchFamily="34" charset="0"/>
              </a:rPr>
              <a:t> </a:t>
            </a:r>
          </a:p>
          <a:p>
            <a:pPr>
              <a:lnSpc>
                <a:spcPct val="150000"/>
              </a:lnSpc>
              <a:spcBef>
                <a:spcPct val="10000"/>
              </a:spcBef>
              <a:spcAft>
                <a:spcPts val="600"/>
              </a:spcAft>
            </a:pPr>
            <a:r>
              <a:rPr lang="tr-TR" altLang="ko-KR" sz="1800" b="1" dirty="0">
                <a:latin typeface="Verdana" pitchFamily="34" charset="0"/>
                <a:ea typeface="Verdana" pitchFamily="34" charset="0"/>
                <a:cs typeface="Verdana" pitchFamily="34" charset="0"/>
              </a:rPr>
              <a:t>Paranın Zaman Değeri </a:t>
            </a:r>
          </a:p>
          <a:p>
            <a:pPr>
              <a:lnSpc>
                <a:spcPct val="150000"/>
              </a:lnSpc>
              <a:spcBef>
                <a:spcPct val="10000"/>
              </a:spcBef>
              <a:spcAft>
                <a:spcPts val="600"/>
              </a:spcAft>
            </a:pPr>
            <a:r>
              <a:rPr lang="tr-TR" altLang="ko-KR" sz="1800" b="1" dirty="0">
                <a:latin typeface="Verdana" pitchFamily="34" charset="0"/>
                <a:ea typeface="Verdana" pitchFamily="34" charset="0"/>
                <a:cs typeface="Verdana" pitchFamily="34" charset="0"/>
              </a:rPr>
              <a:t>Yatırım Kararı Yöntemleri</a:t>
            </a:r>
            <a:endParaRPr lang="tr-TR" altLang="ko-KR" sz="1800" dirty="0">
              <a:latin typeface="Verdana" pitchFamily="34" charset="0"/>
              <a:ea typeface="Verdana" pitchFamily="34" charset="0"/>
              <a:cs typeface="Verdana" pitchFamily="34" charset="0"/>
            </a:endParaRPr>
          </a:p>
          <a:p>
            <a:pPr>
              <a:lnSpc>
                <a:spcPct val="150000"/>
              </a:lnSpc>
              <a:spcBef>
                <a:spcPct val="10000"/>
              </a:spcBef>
              <a:spcAft>
                <a:spcPts val="600"/>
              </a:spcAft>
            </a:pPr>
            <a:r>
              <a:rPr lang="tr-TR" altLang="ko-KR" sz="1800" b="1" dirty="0">
                <a:latin typeface="Verdana" pitchFamily="34" charset="0"/>
                <a:ea typeface="Verdana" pitchFamily="34" charset="0"/>
                <a:cs typeface="Verdana" pitchFamily="34" charset="0"/>
              </a:rPr>
              <a:t>Proje Değerlemesi</a:t>
            </a: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8" name="Rectangle 6"/>
          <p:cNvSpPr>
            <a:spLocks noGrp="1" noChangeArrowheads="1"/>
          </p:cNvSpPr>
          <p:nvPr>
            <p:ph type="title"/>
          </p:nvPr>
        </p:nvSpPr>
        <p:spPr>
          <a:xfrm>
            <a:off x="518864" y="280895"/>
            <a:ext cx="8229600" cy="710952"/>
          </a:xfrm>
          <a:noFill/>
        </p:spPr>
        <p:txBody>
          <a:bodyPr/>
          <a:lstStyle/>
          <a:p>
            <a:pPr algn="ctr">
              <a:lnSpc>
                <a:spcPct val="80000"/>
              </a:lnSpc>
              <a:buNone/>
            </a:pPr>
            <a:r>
              <a:rPr lang="tr-TR" sz="4000" b="1" dirty="0">
                <a:solidFill>
                  <a:srgbClr val="3333CC"/>
                </a:solidFill>
              </a:rPr>
              <a:t>Yöneticiler için Finans</a:t>
            </a:r>
          </a:p>
        </p:txBody>
      </p:sp>
    </p:spTree>
    <p:extLst>
      <p:ext uri="{BB962C8B-B14F-4D97-AF65-F5344CB8AC3E}">
        <p14:creationId xmlns:p14="http://schemas.microsoft.com/office/powerpoint/2010/main" val="1035442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8260" y="6390769"/>
            <a:ext cx="504056" cy="432048"/>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78256F5-4340-4309-BD6A-53340D9E6213}" type="slidenum">
              <a:rPr lang="tr-TR" sz="1200">
                <a:solidFill>
                  <a:schemeClr val="tx2"/>
                </a:solidFill>
                <a:latin typeface="Verdana" pitchFamily="34" charset="0"/>
              </a:rPr>
              <a:pPr marL="0" indent="0" eaLnBrk="1" hangingPunct="1">
                <a:buNone/>
              </a:pPr>
              <a:t>5</a:t>
            </a:fld>
            <a:endParaRPr lang="tr-TR" sz="1200">
              <a:solidFill>
                <a:schemeClr val="tx2"/>
              </a:solidFill>
              <a:latin typeface="Verdana" pitchFamily="34" charset="0"/>
            </a:endParaRPr>
          </a:p>
        </p:txBody>
      </p:sp>
      <p:sp>
        <p:nvSpPr>
          <p:cNvPr id="11268" name="Rectangle 2"/>
          <p:cNvSpPr>
            <a:spLocks noGrp="1" noChangeArrowheads="1"/>
          </p:cNvSpPr>
          <p:nvPr>
            <p:ph type="body" idx="4294967295"/>
          </p:nvPr>
        </p:nvSpPr>
        <p:spPr>
          <a:xfrm>
            <a:off x="457200" y="1268413"/>
            <a:ext cx="8229600" cy="4862512"/>
          </a:xfrm>
          <a:prstGeom prst="rect">
            <a:avLst/>
          </a:prstGeom>
        </p:spPr>
        <p:txBody>
          <a:bodyPr/>
          <a:lstStyle/>
          <a:p>
            <a:pPr marL="0" indent="0" algn="just" eaLnBrk="1" hangingPunct="1">
              <a:spcBef>
                <a:spcPct val="50000"/>
              </a:spcBef>
              <a:buFontTx/>
              <a:buChar char="-"/>
            </a:pPr>
            <a:endParaRPr lang="tr-TR" altLang="ko-KR" sz="1800">
              <a:latin typeface="Verdana" pitchFamily="34" charset="0"/>
              <a:ea typeface="Verdana" pitchFamily="34" charset="0"/>
              <a:cs typeface="Verdana" pitchFamily="34" charset="0"/>
            </a:endParaRPr>
          </a:p>
          <a:p>
            <a:pPr marL="0" indent="0" algn="just" eaLnBrk="1" hangingPunct="1">
              <a:spcBef>
                <a:spcPct val="50000"/>
              </a:spcBef>
              <a:buFontTx/>
              <a:buChar char="-"/>
            </a:pPr>
            <a:r>
              <a:rPr lang="tr-TR" altLang="ko-KR" sz="1800">
                <a:latin typeface="Verdana" pitchFamily="34" charset="0"/>
                <a:ea typeface="Verdana" pitchFamily="34" charset="0"/>
                <a:cs typeface="Verdana" pitchFamily="34" charset="0"/>
              </a:rPr>
              <a:t>Yöneticiler şirket kaynaklarını şirketin </a:t>
            </a:r>
            <a:r>
              <a:rPr lang="tr-TR" altLang="ko-KR" sz="1800" b="1">
                <a:solidFill>
                  <a:srgbClr val="3333CC"/>
                </a:solidFill>
                <a:latin typeface="Verdana" pitchFamily="34" charset="0"/>
                <a:ea typeface="Verdana" pitchFamily="34" charset="0"/>
                <a:cs typeface="Verdana" pitchFamily="34" charset="0"/>
              </a:rPr>
              <a:t>piyasa değerini yükseltme</a:t>
            </a:r>
            <a:r>
              <a:rPr lang="tr-TR" altLang="ko-KR" sz="1800">
                <a:latin typeface="Verdana" pitchFamily="34" charset="0"/>
                <a:ea typeface="Verdana" pitchFamily="34" charset="0"/>
                <a:cs typeface="Verdana" pitchFamily="34" charset="0"/>
              </a:rPr>
              <a:t> hedefi çerçevesinde yönetmelidirler.</a:t>
            </a:r>
          </a:p>
          <a:p>
            <a:pPr marL="0" indent="0" algn="just" eaLnBrk="1" hangingPunct="1">
              <a:spcBef>
                <a:spcPct val="50000"/>
              </a:spcBef>
              <a:buNone/>
            </a:pPr>
            <a:endParaRPr lang="tr-TR" altLang="ko-KR" sz="1800">
              <a:latin typeface="Verdana" pitchFamily="34" charset="0"/>
              <a:ea typeface="Verdana" pitchFamily="34" charset="0"/>
              <a:cs typeface="Verdana" pitchFamily="34" charset="0"/>
            </a:endParaRPr>
          </a:p>
          <a:p>
            <a:pPr marL="0" indent="0" algn="just" eaLnBrk="1" hangingPunct="1">
              <a:spcBef>
                <a:spcPct val="10000"/>
              </a:spcBef>
              <a:buFont typeface="Wingdings" pitchFamily="2" charset="2"/>
              <a:buNone/>
            </a:pPr>
            <a:r>
              <a:rPr lang="tr-TR" altLang="ko-KR" sz="1800">
                <a:latin typeface="Verdana" pitchFamily="34" charset="0"/>
                <a:ea typeface="Verdana" pitchFamily="34" charset="0"/>
                <a:cs typeface="Verdana" pitchFamily="34" charset="0"/>
              </a:rPr>
              <a:t>- Yatırımcılarına değer yaratma amacı ile yönetilen şirketler aynı zamanda </a:t>
            </a:r>
            <a:r>
              <a:rPr lang="tr-TR" altLang="ko-KR" sz="1800" b="1">
                <a:solidFill>
                  <a:srgbClr val="3333CC"/>
                </a:solidFill>
                <a:latin typeface="Verdana" pitchFamily="34" charset="0"/>
                <a:ea typeface="Verdana" pitchFamily="34" charset="0"/>
                <a:cs typeface="Verdana" pitchFamily="34" charset="0"/>
              </a:rPr>
              <a:t>müşteriler, çalışanlar, ve tedarikçiler</a:t>
            </a:r>
            <a:r>
              <a:rPr lang="tr-TR" altLang="ko-KR" sz="1800">
                <a:latin typeface="Verdana" pitchFamily="34" charset="0"/>
                <a:ea typeface="Verdana" pitchFamily="34" charset="0"/>
                <a:cs typeface="Verdana" pitchFamily="34" charset="0"/>
              </a:rPr>
              <a:t> ile güçlü ve uzun süreli ilişkiler yaratabilen şirketlerdir.</a:t>
            </a:r>
          </a:p>
          <a:p>
            <a:pPr marL="0" indent="0" algn="just" eaLnBrk="1" hangingPunct="1">
              <a:spcBef>
                <a:spcPct val="10000"/>
              </a:spcBef>
              <a:buFontTx/>
              <a:buChar char="-"/>
            </a:pPr>
            <a:endParaRPr lang="tr-TR" altLang="ko-KR" sz="1800">
              <a:latin typeface="Verdana" pitchFamily="34" charset="0"/>
              <a:ea typeface="Verdana" pitchFamily="34" charset="0"/>
              <a:cs typeface="Verdana" pitchFamily="34" charset="0"/>
            </a:endParaRPr>
          </a:p>
          <a:p>
            <a:pPr marL="0" indent="0" algn="just" eaLnBrk="1" hangingPunct="1">
              <a:spcBef>
                <a:spcPct val="10000"/>
              </a:spcBef>
              <a:buFontTx/>
              <a:buChar char="-"/>
            </a:pPr>
            <a:r>
              <a:rPr lang="tr-TR" altLang="ko-KR" sz="1800">
                <a:latin typeface="Verdana" pitchFamily="34" charset="0"/>
                <a:ea typeface="Verdana" pitchFamily="34" charset="0"/>
                <a:cs typeface="Verdana" pitchFamily="34" charset="0"/>
              </a:rPr>
              <a:t>Ancak müşterilerini, çalışanlarını, ve tedarikçilerini mutlu etmesi şirketin yatırımcılarına değer yaratması için yeterli değildir.</a:t>
            </a:r>
          </a:p>
          <a:p>
            <a:pPr marL="0" indent="0" algn="just" eaLnBrk="1" hangingPunct="1">
              <a:spcBef>
                <a:spcPct val="10000"/>
              </a:spcBef>
              <a:buFontTx/>
              <a:buChar char="-"/>
            </a:pPr>
            <a:endParaRPr lang="tr-TR" altLang="ko-KR" sz="1800">
              <a:latin typeface="Verdana" pitchFamily="34" charset="0"/>
              <a:ea typeface="Verdana" pitchFamily="34" charset="0"/>
              <a:cs typeface="Verdana" pitchFamily="34" charset="0"/>
            </a:endParaRPr>
          </a:p>
          <a:p>
            <a:pPr marL="0" indent="0" algn="just">
              <a:spcBef>
                <a:spcPct val="10000"/>
              </a:spcBef>
              <a:buFontTx/>
              <a:buChar char="-"/>
            </a:pPr>
            <a:r>
              <a:rPr lang="tr-TR" altLang="ko-KR" sz="1800">
                <a:latin typeface="Verdana" pitchFamily="34" charset="0"/>
                <a:ea typeface="Verdana" pitchFamily="34" charset="0"/>
                <a:cs typeface="Verdana" pitchFamily="34" charset="0"/>
              </a:rPr>
              <a:t>Krizlerden alınan ders sonrası yukarıdaki tanımı değiştirebiliriz:</a:t>
            </a:r>
          </a:p>
          <a:p>
            <a:pPr marL="0" indent="0" algn="just">
              <a:spcBef>
                <a:spcPct val="10000"/>
              </a:spcBef>
              <a:buNone/>
            </a:pPr>
            <a:endParaRPr lang="tr-TR" altLang="ko-KR" sz="1800">
              <a:latin typeface="Verdana" pitchFamily="34" charset="0"/>
              <a:ea typeface="Verdana" pitchFamily="34" charset="0"/>
              <a:cs typeface="Verdana" pitchFamily="34" charset="0"/>
            </a:endParaRPr>
          </a:p>
          <a:p>
            <a:pPr marL="0" indent="0" algn="just">
              <a:spcBef>
                <a:spcPct val="10000"/>
              </a:spcBef>
              <a:buFontTx/>
              <a:buChar char="-"/>
            </a:pPr>
            <a:r>
              <a:rPr lang="tr-TR" altLang="ko-KR" sz="1800">
                <a:latin typeface="Verdana" pitchFamily="34" charset="0"/>
                <a:ea typeface="Verdana" pitchFamily="34" charset="0"/>
                <a:cs typeface="Verdana" pitchFamily="34" charset="0"/>
              </a:rPr>
              <a:t>Yöneticiler şirket kaynaklarını şirketin </a:t>
            </a:r>
            <a:r>
              <a:rPr lang="tr-TR" altLang="ko-KR" sz="1800" b="1">
                <a:solidFill>
                  <a:srgbClr val="3333CC"/>
                </a:solidFill>
                <a:latin typeface="Verdana" pitchFamily="34" charset="0"/>
                <a:ea typeface="Verdana" pitchFamily="34" charset="0"/>
                <a:cs typeface="Verdana" pitchFamily="34" charset="0"/>
              </a:rPr>
              <a:t>piyasa değerini</a:t>
            </a:r>
            <a:r>
              <a:rPr lang="tr-TR" altLang="ko-KR" sz="1800" b="1">
                <a:solidFill>
                  <a:srgbClr val="FF0000"/>
                </a:solidFill>
                <a:latin typeface="Verdana" pitchFamily="34" charset="0"/>
                <a:ea typeface="Verdana" pitchFamily="34" charset="0"/>
                <a:cs typeface="Verdana" pitchFamily="34" charset="0"/>
              </a:rPr>
              <a:t> istikrarlı bir şekilde </a:t>
            </a:r>
            <a:r>
              <a:rPr lang="tr-TR" altLang="ko-KR" sz="1800" b="1">
                <a:solidFill>
                  <a:srgbClr val="3333CC"/>
                </a:solidFill>
                <a:latin typeface="Verdana" pitchFamily="34" charset="0"/>
                <a:ea typeface="Verdana" pitchFamily="34" charset="0"/>
                <a:cs typeface="Verdana" pitchFamily="34" charset="0"/>
              </a:rPr>
              <a:t>yükseltme</a:t>
            </a:r>
            <a:r>
              <a:rPr lang="tr-TR" altLang="ko-KR" sz="1800">
                <a:latin typeface="Verdana" pitchFamily="34" charset="0"/>
                <a:ea typeface="Verdana" pitchFamily="34" charset="0"/>
                <a:cs typeface="Verdana" pitchFamily="34" charset="0"/>
              </a:rPr>
              <a:t> hedefi çerçevesinde yönetmelidirler.</a:t>
            </a:r>
          </a:p>
        </p:txBody>
      </p:sp>
      <p:sp>
        <p:nvSpPr>
          <p:cNvPr id="11269" name="Rectangle 3"/>
          <p:cNvSpPr>
            <a:spLocks noGrp="1" noChangeArrowheads="1"/>
          </p:cNvSpPr>
          <p:nvPr>
            <p:ph type="title"/>
          </p:nvPr>
        </p:nvSpPr>
        <p:spPr>
          <a:xfrm>
            <a:off x="457200" y="260648"/>
            <a:ext cx="8229600" cy="1143000"/>
          </a:xfrm>
          <a:noFill/>
        </p:spPr>
        <p:txBody>
          <a:bodyPr/>
          <a:lstStyle/>
          <a:p>
            <a:pPr eaLnBrk="1" hangingPunct="1"/>
            <a:r>
              <a:rPr lang="tr-TR" altLang="ko-KR" sz="3600"/>
              <a:t>Finansal Yönetime Genel Bir Bakış</a:t>
            </a:r>
            <a:endParaRPr lang="tr-TR" sz="3600"/>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88650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4"/>
          <p:cNvSpPr>
            <a:spLocks noGrp="1"/>
          </p:cNvSpPr>
          <p:nvPr>
            <p:ph type="sldNum" sz="quarter" idx="11"/>
          </p:nvPr>
        </p:nvSpPr>
        <p:spPr/>
        <p:txBody>
          <a:bodyPr/>
          <a:lstStyle>
            <a:lvl1pPr eaLnBrk="0" hangingPunct="0">
              <a:defRPr>
                <a:solidFill>
                  <a:schemeClr val="tx1"/>
                </a:solidFill>
                <a:latin typeface="Garamond" panose="02020404030301010803" pitchFamily="18" charset="0"/>
              </a:defRPr>
            </a:lvl1pPr>
            <a:lvl2pPr marL="742950" indent="-285750" eaLnBrk="0" hangingPunct="0">
              <a:defRPr>
                <a:solidFill>
                  <a:schemeClr val="tx1"/>
                </a:solidFill>
                <a:latin typeface="Garamond" panose="02020404030301010803" pitchFamily="18" charset="0"/>
              </a:defRPr>
            </a:lvl2pPr>
            <a:lvl3pPr marL="1143000" indent="-228600" eaLnBrk="0" hangingPunct="0">
              <a:defRPr>
                <a:solidFill>
                  <a:schemeClr val="tx1"/>
                </a:solidFill>
                <a:latin typeface="Garamond" panose="02020404030301010803" pitchFamily="18" charset="0"/>
              </a:defRPr>
            </a:lvl3pPr>
            <a:lvl4pPr marL="1600200" indent="-228600" eaLnBrk="0" hangingPunct="0">
              <a:defRPr>
                <a:solidFill>
                  <a:schemeClr val="tx1"/>
                </a:solidFill>
                <a:latin typeface="Garamond" panose="02020404030301010803" pitchFamily="18" charset="0"/>
              </a:defRPr>
            </a:lvl4pPr>
            <a:lvl5pPr marL="2057400" indent="-228600" eaLnBrk="0" hangingPunct="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fld id="{22206B44-F66D-4FC5-9CA6-5EEFD3AFB2F9}" type="slidenum">
              <a:rPr lang="tr-TR" altLang="tr-TR">
                <a:solidFill>
                  <a:schemeClr val="tx2"/>
                </a:solidFill>
                <a:latin typeface="Verdana" panose="020B0604030504040204" pitchFamily="34" charset="0"/>
              </a:rPr>
              <a:pPr eaLnBrk="1" hangingPunct="1"/>
              <a:t>6</a:t>
            </a:fld>
            <a:endParaRPr lang="tr-TR" altLang="tr-TR">
              <a:solidFill>
                <a:schemeClr val="tx2"/>
              </a:solidFill>
              <a:latin typeface="Verdana" panose="020B0604030504040204" pitchFamily="34" charset="0"/>
            </a:endParaRPr>
          </a:p>
        </p:txBody>
      </p:sp>
      <p:pic>
        <p:nvPicPr>
          <p:cNvPr id="2" name="Picture 1">
            <a:extLst>
              <a:ext uri="{FF2B5EF4-FFF2-40B4-BE49-F238E27FC236}">
                <a16:creationId xmlns:a16="http://schemas.microsoft.com/office/drawing/2014/main" id="{7F46B85A-29C0-4392-A003-7CABB10EA870}"/>
              </a:ext>
            </a:extLst>
          </p:cNvPr>
          <p:cNvPicPr>
            <a:picLocks noChangeAspect="1"/>
          </p:cNvPicPr>
          <p:nvPr/>
        </p:nvPicPr>
        <p:blipFill rotWithShape="1">
          <a:blip r:embed="rId2"/>
          <a:srcRect l="14563" t="37001" r="38188" b="25200"/>
          <a:stretch/>
        </p:blipFill>
        <p:spPr>
          <a:xfrm>
            <a:off x="755576" y="2204864"/>
            <a:ext cx="7840871" cy="3528392"/>
          </a:xfrm>
          <a:prstGeom prst="rect">
            <a:avLst/>
          </a:prstGeom>
        </p:spPr>
      </p:pic>
      <p:sp>
        <p:nvSpPr>
          <p:cNvPr id="10" name="Title 1">
            <a:extLst>
              <a:ext uri="{FF2B5EF4-FFF2-40B4-BE49-F238E27FC236}">
                <a16:creationId xmlns:a16="http://schemas.microsoft.com/office/drawing/2014/main" id="{DC854EBB-4D1A-481C-99A7-8F27D19A3A99}"/>
              </a:ext>
            </a:extLst>
          </p:cNvPr>
          <p:cNvSpPr>
            <a:spLocks noGrp="1"/>
          </p:cNvSpPr>
          <p:nvPr>
            <p:ph type="title"/>
          </p:nvPr>
        </p:nvSpPr>
        <p:spPr>
          <a:xfrm>
            <a:off x="295054" y="1268760"/>
            <a:ext cx="8843672" cy="620688"/>
          </a:xfrm>
        </p:spPr>
        <p:txBody>
          <a:bodyPr>
            <a:noAutofit/>
          </a:bodyPr>
          <a:lstStyle/>
          <a:p>
            <a:r>
              <a:rPr lang="en-US" sz="2400" u="sng">
                <a:hlinkClick r:id="rId3"/>
              </a:rPr>
              <a:t>https://fortune.com/2019/08/22/ge-stock-buybacks-financials/</a:t>
            </a:r>
            <a:endParaRPr lang="en-US" sz="2400"/>
          </a:p>
        </p:txBody>
      </p:sp>
      <p:sp>
        <p:nvSpPr>
          <p:cNvPr id="5" name="Rectangle 3">
            <a:extLst>
              <a:ext uri="{FF2B5EF4-FFF2-40B4-BE49-F238E27FC236}">
                <a16:creationId xmlns:a16="http://schemas.microsoft.com/office/drawing/2014/main" id="{9ED2E6D0-9189-4208-8330-0BE35CA8469C}"/>
              </a:ext>
            </a:extLst>
          </p:cNvPr>
          <p:cNvSpPr txBox="1">
            <a:spLocks noChangeArrowheads="1"/>
          </p:cNvSpPr>
          <p:nvPr/>
        </p:nvSpPr>
        <p:spPr>
          <a:xfrm>
            <a:off x="457200" y="260648"/>
            <a:ext cx="8229600" cy="1143000"/>
          </a:xfrm>
          <a:prstGeom prst="rect">
            <a:avLst/>
          </a:prstGeom>
          <a:noFill/>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ko-KR" sz="3600" err="1"/>
              <a:t>Sürdürülebilirlik</a:t>
            </a:r>
            <a:endParaRPr lang="tr-TR" sz="3600"/>
          </a:p>
        </p:txBody>
      </p:sp>
      <p:sp>
        <p:nvSpPr>
          <p:cNvPr id="7" name="Slide Number Placeholder 4">
            <a:extLst>
              <a:ext uri="{FF2B5EF4-FFF2-40B4-BE49-F238E27FC236}">
                <a16:creationId xmlns:a16="http://schemas.microsoft.com/office/drawing/2014/main" id="{AB0FFBAF-0097-46A5-B60C-60901A393873}"/>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6</a:t>
            </a:fld>
            <a:endParaRPr lang="tr-TR" sz="1200">
              <a:solidFill>
                <a:schemeClr val="tx2"/>
              </a:solidFill>
              <a:latin typeface="Verdana" pitchFamily="34" charset="0"/>
            </a:endParaRPr>
          </a:p>
        </p:txBody>
      </p:sp>
      <p:pic>
        <p:nvPicPr>
          <p:cNvPr id="8" name="Picture 7">
            <a:extLst>
              <a:ext uri="{FF2B5EF4-FFF2-40B4-BE49-F238E27FC236}">
                <a16:creationId xmlns:a16="http://schemas.microsoft.com/office/drawing/2014/main" id="{A319E5CD-6B70-4876-94E8-F8439D678FE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856036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95AA51-165D-45F1-8479-373A9F4B1C0A}"/>
              </a:ext>
            </a:extLst>
          </p:cNvPr>
          <p:cNvSpPr>
            <a:spLocks noGrp="1"/>
          </p:cNvSpPr>
          <p:nvPr>
            <p:ph type="sldNum" sz="quarter" idx="11"/>
          </p:nvPr>
        </p:nvSpPr>
        <p:spPr/>
        <p:txBody>
          <a:bodyPr/>
          <a:lstStyle/>
          <a:p>
            <a:pPr eaLnBrk="1" hangingPunct="1"/>
            <a:fld id="{BA2AA410-935E-4566-A8A6-DAA6235777C8}" type="slidenum">
              <a:rPr lang="tr-TR" smtClean="0">
                <a:solidFill>
                  <a:schemeClr val="tx2"/>
                </a:solidFill>
              </a:rPr>
              <a:pPr eaLnBrk="1" hangingPunct="1"/>
              <a:t>7</a:t>
            </a:fld>
            <a:endParaRPr lang="tr-TR">
              <a:solidFill>
                <a:schemeClr val="tx2"/>
              </a:solidFill>
            </a:endParaRPr>
          </a:p>
        </p:txBody>
      </p:sp>
      <p:pic>
        <p:nvPicPr>
          <p:cNvPr id="5" name="Picture 4">
            <a:extLst>
              <a:ext uri="{FF2B5EF4-FFF2-40B4-BE49-F238E27FC236}">
                <a16:creationId xmlns:a16="http://schemas.microsoft.com/office/drawing/2014/main" id="{838850D3-F45D-4BFD-ACF7-04A5358ECC33}"/>
              </a:ext>
            </a:extLst>
          </p:cNvPr>
          <p:cNvPicPr>
            <a:picLocks noChangeAspect="1"/>
          </p:cNvPicPr>
          <p:nvPr/>
        </p:nvPicPr>
        <p:blipFill rotWithShape="1">
          <a:blip r:embed="rId2"/>
          <a:srcRect l="13775" t="16401" r="35039" b="27600"/>
          <a:stretch/>
        </p:blipFill>
        <p:spPr>
          <a:xfrm>
            <a:off x="1120116" y="1484784"/>
            <a:ext cx="7137793" cy="4392488"/>
          </a:xfrm>
          <a:prstGeom prst="rect">
            <a:avLst/>
          </a:prstGeom>
        </p:spPr>
      </p:pic>
      <p:sp>
        <p:nvSpPr>
          <p:cNvPr id="7" name="Rectangle 3">
            <a:extLst>
              <a:ext uri="{FF2B5EF4-FFF2-40B4-BE49-F238E27FC236}">
                <a16:creationId xmlns:a16="http://schemas.microsoft.com/office/drawing/2014/main" id="{5874AAC2-2FD9-4464-A072-C088D4D4AE40}"/>
              </a:ext>
            </a:extLst>
          </p:cNvPr>
          <p:cNvSpPr txBox="1">
            <a:spLocks noChangeArrowheads="1"/>
          </p:cNvSpPr>
          <p:nvPr/>
        </p:nvSpPr>
        <p:spPr>
          <a:xfrm>
            <a:off x="457200" y="260648"/>
            <a:ext cx="8229600" cy="1143000"/>
          </a:xfrm>
          <a:prstGeom prst="rect">
            <a:avLst/>
          </a:prstGeom>
          <a:noFill/>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ko-KR" sz="3600" err="1"/>
              <a:t>Sürdürülebilirlik</a:t>
            </a:r>
            <a:endParaRPr lang="tr-TR" sz="3600"/>
          </a:p>
        </p:txBody>
      </p:sp>
      <p:sp>
        <p:nvSpPr>
          <p:cNvPr id="8" name="Slide Number Placeholder 4">
            <a:extLst>
              <a:ext uri="{FF2B5EF4-FFF2-40B4-BE49-F238E27FC236}">
                <a16:creationId xmlns:a16="http://schemas.microsoft.com/office/drawing/2014/main" id="{5DE3AF1F-8292-4FD3-B364-6E0DBFD78F3D}"/>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7</a:t>
            </a:fld>
            <a:endParaRPr lang="tr-TR" sz="1200">
              <a:solidFill>
                <a:schemeClr val="tx2"/>
              </a:solidFill>
              <a:latin typeface="Verdana" pitchFamily="34" charset="0"/>
            </a:endParaRPr>
          </a:p>
        </p:txBody>
      </p:sp>
      <p:pic>
        <p:nvPicPr>
          <p:cNvPr id="9" name="Picture 8">
            <a:extLst>
              <a:ext uri="{FF2B5EF4-FFF2-40B4-BE49-F238E27FC236}">
                <a16:creationId xmlns:a16="http://schemas.microsoft.com/office/drawing/2014/main" id="{0FF37F55-AE41-4851-9493-B295B613C75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48037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8260" y="6390769"/>
            <a:ext cx="504056" cy="432048"/>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78256F5-4340-4309-BD6A-53340D9E6213}" type="slidenum">
              <a:rPr lang="tr-TR" sz="1200">
                <a:solidFill>
                  <a:schemeClr val="tx2"/>
                </a:solidFill>
                <a:latin typeface="Verdana" pitchFamily="34" charset="0"/>
              </a:rPr>
              <a:pPr marL="0" indent="0" eaLnBrk="1" hangingPunct="1">
                <a:buNone/>
              </a:pPr>
              <a:t>8</a:t>
            </a:fld>
            <a:endParaRPr lang="tr-TR" sz="1200">
              <a:solidFill>
                <a:schemeClr val="tx2"/>
              </a:solidFill>
              <a:latin typeface="Verdana" pitchFamily="34" charset="0"/>
            </a:endParaRPr>
          </a:p>
        </p:txBody>
      </p:sp>
      <p:sp>
        <p:nvSpPr>
          <p:cNvPr id="11268" name="Rectangle 2"/>
          <p:cNvSpPr>
            <a:spLocks noGrp="1" noChangeArrowheads="1"/>
          </p:cNvSpPr>
          <p:nvPr>
            <p:ph type="body" idx="4294967295"/>
          </p:nvPr>
        </p:nvSpPr>
        <p:spPr>
          <a:xfrm>
            <a:off x="457200" y="1446808"/>
            <a:ext cx="8229600" cy="4862512"/>
          </a:xfrm>
          <a:prstGeom prst="rect">
            <a:avLst/>
          </a:prstGeom>
        </p:spPr>
        <p:txBody>
          <a:bodyPr/>
          <a:lstStyle/>
          <a:p>
            <a:pPr marL="0" indent="0" algn="just" eaLnBrk="1" hangingPunct="1">
              <a:spcBef>
                <a:spcPct val="50000"/>
              </a:spcBef>
              <a:buFontTx/>
              <a:buChar char="-"/>
            </a:pPr>
            <a:r>
              <a:rPr lang="tr-TR" altLang="ko-KR" sz="2000">
                <a:latin typeface="Verdana" pitchFamily="34" charset="0"/>
                <a:ea typeface="Verdana" pitchFamily="34" charset="0"/>
                <a:cs typeface="Verdana" pitchFamily="34" charset="0"/>
              </a:rPr>
              <a:t> </a:t>
            </a:r>
            <a:r>
              <a:rPr lang="tr-TR" altLang="ko-KR" sz="1800">
                <a:latin typeface="Verdana" pitchFamily="34" charset="0"/>
                <a:ea typeface="Verdana" pitchFamily="34" charset="0"/>
                <a:cs typeface="Verdana" pitchFamily="34" charset="0"/>
              </a:rPr>
              <a:t>1980’lerde GM dünyanın en büyük üreticisi, ancak bilhassa Japonlar küçük, verimli ve ucuz otolarla rekabeti artırmakta…	</a:t>
            </a:r>
          </a:p>
          <a:p>
            <a:pPr marL="0" indent="0" algn="just" eaLnBrk="1" hangingPunct="1">
              <a:spcBef>
                <a:spcPct val="50000"/>
              </a:spcBef>
              <a:buFontTx/>
              <a:buChar char="-"/>
            </a:pPr>
            <a:r>
              <a:rPr lang="tr-TR" altLang="ko-KR" sz="1800">
                <a:latin typeface="Verdana" pitchFamily="34" charset="0"/>
                <a:ea typeface="Verdana" pitchFamily="34" charset="0"/>
                <a:cs typeface="Verdana" pitchFamily="34" charset="0"/>
              </a:rPr>
              <a:t> GM önlem olarak 1985’te Saturn markalı araç üretmek için yeni bir şirket kurar,</a:t>
            </a:r>
          </a:p>
          <a:p>
            <a:pPr marL="0" indent="0" algn="just" eaLnBrk="1" hangingPunct="1">
              <a:spcBef>
                <a:spcPct val="50000"/>
              </a:spcBef>
              <a:buFontTx/>
              <a:buChar char="-"/>
            </a:pPr>
            <a:r>
              <a:rPr lang="tr-TR" altLang="ko-KR" sz="1800">
                <a:latin typeface="Verdana" pitchFamily="34" charset="0"/>
                <a:ea typeface="Verdana" pitchFamily="34" charset="0"/>
                <a:cs typeface="Verdana" pitchFamily="34" charset="0"/>
              </a:rPr>
              <a:t>1990 senesinde zamanın en iyi uygulamalarını kullanarak çalışanları, satıcıları ve müşterileri çok memnun eden bir araç üretilir,</a:t>
            </a:r>
          </a:p>
          <a:p>
            <a:pPr marL="0" indent="0" algn="just" eaLnBrk="1" hangingPunct="1">
              <a:spcBef>
                <a:spcPct val="50000"/>
              </a:spcBef>
              <a:buFontTx/>
              <a:buChar char="-"/>
            </a:pPr>
            <a:r>
              <a:rPr lang="tr-TR" altLang="ko-KR" sz="1800">
                <a:latin typeface="Verdana" pitchFamily="34" charset="0"/>
                <a:ea typeface="Verdana" pitchFamily="34" charset="0"/>
                <a:cs typeface="Verdana" pitchFamily="34" charset="0"/>
              </a:rPr>
              <a:t> Ancak bu başarı GM hisselerinde beklenen etkiyi yapmaz,</a:t>
            </a:r>
          </a:p>
          <a:p>
            <a:pPr marL="0" indent="0" algn="just" eaLnBrk="1" hangingPunct="1">
              <a:spcBef>
                <a:spcPct val="50000"/>
              </a:spcBef>
              <a:buFontTx/>
              <a:buChar char="-"/>
            </a:pPr>
            <a:r>
              <a:rPr lang="tr-TR" altLang="ko-KR" sz="1800">
                <a:latin typeface="Verdana" pitchFamily="34" charset="0"/>
                <a:ea typeface="Verdana" pitchFamily="34" charset="0"/>
                <a:cs typeface="Verdana" pitchFamily="34" charset="0"/>
              </a:rPr>
              <a:t> Zira proje için harcanan 6 milyar dolar o kadar yüksektir ki, yatırımcılara değer yaratabilmek için hayat boyu tam kapasite ile çalışılmalı, standart kar marjının iki katı karla satılmalı, ve satış fiyatının %40’ı kadar serbest nakit akımı yaratabilmeliydi.   </a:t>
            </a:r>
            <a:endParaRPr lang="tr-TR" altLang="ko-KR" sz="1600">
              <a:latin typeface="Verdana" pitchFamily="34" charset="0"/>
              <a:ea typeface="Verdana" pitchFamily="34" charset="0"/>
              <a:cs typeface="Verdana" pitchFamily="34" charset="0"/>
            </a:endParaRPr>
          </a:p>
          <a:p>
            <a:pPr marL="0" indent="0" algn="just" eaLnBrk="1" hangingPunct="1">
              <a:spcBef>
                <a:spcPct val="10000"/>
              </a:spcBef>
              <a:buFontTx/>
              <a:buChar char="-"/>
            </a:pPr>
            <a:r>
              <a:rPr lang="tr-TR" altLang="ko-KR" sz="1800">
                <a:latin typeface="Verdana" pitchFamily="34" charset="0"/>
                <a:ea typeface="Verdana" pitchFamily="34" charset="0"/>
                <a:cs typeface="Verdana" pitchFamily="34" charset="0"/>
              </a:rPr>
              <a:t> 2010 senesinde GM Saturn üretimini durdurur ve bu projede 20 milyar dolar kaybettiğini açıklar.</a:t>
            </a:r>
            <a:endParaRPr lang="tr-TR" altLang="ko-KR" sz="2000">
              <a:latin typeface="Verdana" pitchFamily="34" charset="0"/>
              <a:ea typeface="Verdana" pitchFamily="34" charset="0"/>
              <a:cs typeface="Verdana" pitchFamily="34" charset="0"/>
            </a:endParaRPr>
          </a:p>
          <a:p>
            <a:pPr marL="0" indent="0" algn="just" eaLnBrk="1" hangingPunct="1">
              <a:spcBef>
                <a:spcPct val="10000"/>
              </a:spcBef>
              <a:buFont typeface="Wingdings" pitchFamily="2" charset="2"/>
              <a:buNone/>
            </a:pPr>
            <a:endParaRPr lang="tr-TR" altLang="ko-KR" sz="20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9" name="Rectangle 3">
            <a:extLst>
              <a:ext uri="{FF2B5EF4-FFF2-40B4-BE49-F238E27FC236}">
                <a16:creationId xmlns:a16="http://schemas.microsoft.com/office/drawing/2014/main" id="{FBF1C5CB-E1CE-4A5B-B511-9663DC8B6B15}"/>
              </a:ext>
            </a:extLst>
          </p:cNvPr>
          <p:cNvSpPr txBox="1">
            <a:spLocks noChangeArrowheads="1"/>
          </p:cNvSpPr>
          <p:nvPr/>
        </p:nvSpPr>
        <p:spPr>
          <a:xfrm>
            <a:off x="457200" y="260648"/>
            <a:ext cx="8229600" cy="1143000"/>
          </a:xfrm>
          <a:prstGeom prst="rect">
            <a:avLst/>
          </a:prstGeom>
          <a:noFill/>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en-US" altLang="ko-KR" sz="3600" err="1"/>
              <a:t>Sürdürülebilirlik</a:t>
            </a:r>
            <a:endParaRPr lang="tr-TR" sz="3600"/>
          </a:p>
        </p:txBody>
      </p:sp>
    </p:spTree>
    <p:extLst>
      <p:ext uri="{BB962C8B-B14F-4D97-AF65-F5344CB8AC3E}">
        <p14:creationId xmlns:p14="http://schemas.microsoft.com/office/powerpoint/2010/main" val="118434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2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648072"/>
          </a:xfrm>
        </p:spPr>
        <p:txBody>
          <a:bodyPr/>
          <a:lstStyle/>
          <a:p>
            <a:r>
              <a:rPr lang="tr-TR" altLang="ko-KR" sz="3600" b="0" kern="0"/>
              <a:t>Değer Yaratmak</a:t>
            </a:r>
            <a:endParaRPr lang="en-GB" sz="360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40352" y="6165304"/>
            <a:ext cx="648072" cy="656278"/>
          </a:xfrm>
          <a:prstGeom prst="rect">
            <a:avLst/>
          </a:prstGeom>
          <a:noFill/>
          <a:ln>
            <a:noFill/>
          </a:ln>
        </p:spPr>
      </p:pic>
      <p:sp>
        <p:nvSpPr>
          <p:cNvPr id="5" name="Slide Number Placeholder 4">
            <a:extLst>
              <a:ext uri="{FF2B5EF4-FFF2-40B4-BE49-F238E27FC236}">
                <a16:creationId xmlns:a16="http://schemas.microsoft.com/office/drawing/2014/main" id="{58855119-2659-48D3-8F9E-B6866BAC48C8}"/>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9</a:t>
            </a:fld>
            <a:endParaRPr lang="tr-TR" sz="1200">
              <a:solidFill>
                <a:schemeClr val="tx2"/>
              </a:solidFill>
              <a:latin typeface="Verdana" pitchFamily="34" charset="0"/>
            </a:endParaRPr>
          </a:p>
        </p:txBody>
      </p:sp>
      <p:graphicFrame>
        <p:nvGraphicFramePr>
          <p:cNvPr id="7" name="Object 6">
            <a:extLst>
              <a:ext uri="{FF2B5EF4-FFF2-40B4-BE49-F238E27FC236}">
                <a16:creationId xmlns:a16="http://schemas.microsoft.com/office/drawing/2014/main" id="{6FFA7F43-AADD-917E-1E66-AA3C2A78B3F4}"/>
              </a:ext>
            </a:extLst>
          </p:cNvPr>
          <p:cNvGraphicFramePr>
            <a:graphicFrameLocks noChangeAspect="1"/>
          </p:cNvGraphicFramePr>
          <p:nvPr/>
        </p:nvGraphicFramePr>
        <p:xfrm>
          <a:off x="609600" y="1124744"/>
          <a:ext cx="8077200" cy="5381625"/>
        </p:xfrm>
        <a:graphic>
          <a:graphicData uri="http://schemas.openxmlformats.org/presentationml/2006/ole">
            <mc:AlternateContent xmlns:mc="http://schemas.openxmlformats.org/markup-compatibility/2006">
              <mc:Choice xmlns:v="urn:schemas-microsoft-com:vml" Requires="v">
                <p:oleObj name="Chart" r:id="rId3" imgW="6096000" imgH="4053714" progId="MSGraph.Chart.8">
                  <p:embed followColorScheme="full"/>
                </p:oleObj>
              </mc:Choice>
              <mc:Fallback>
                <p:oleObj name="Chart" r:id="rId3" imgW="6096000" imgH="4053714" progId="MSGraph.Chart.8">
                  <p:embed followColorScheme="full"/>
                  <p:pic>
                    <p:nvPicPr>
                      <p:cNvPr id="7" name="Object 6">
                        <a:extLst>
                          <a:ext uri="{FF2B5EF4-FFF2-40B4-BE49-F238E27FC236}">
                            <a16:creationId xmlns:a16="http://schemas.microsoft.com/office/drawing/2014/main" id="{6FFA7F43-AADD-917E-1E66-AA3C2A78B3F4}"/>
                          </a:ext>
                        </a:extLst>
                      </p:cNvPr>
                      <p:cNvPicPr>
                        <a:picLocks noChangeAspect="1" noChangeArrowheads="1"/>
                      </p:cNvPicPr>
                      <p:nvPr/>
                    </p:nvPicPr>
                    <p:blipFill>
                      <a:blip r:embed="rId4"/>
                      <a:srcRect/>
                      <a:stretch>
                        <a:fillRect/>
                      </a:stretch>
                    </p:blipFill>
                    <p:spPr bwMode="auto">
                      <a:xfrm>
                        <a:off x="609600" y="1124744"/>
                        <a:ext cx="8077200" cy="538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05103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pPr eaLnBrk="1" hangingPunct="1"/>
            <a:r>
              <a:rPr lang="tr-TR" altLang="tr-TR"/>
              <a:t>Getiriler (ABD)</a:t>
            </a:r>
          </a:p>
        </p:txBody>
      </p:sp>
      <p:graphicFrame>
        <p:nvGraphicFramePr>
          <p:cNvPr id="7" name="Group 55"/>
          <p:cNvGraphicFramePr>
            <a:graphicFrameLocks noGrp="1"/>
          </p:cNvGraphicFramePr>
          <p:nvPr>
            <p:ph idx="4294967295"/>
            <p:extLst>
              <p:ext uri="{D42A27DB-BD31-4B8C-83A1-F6EECF244321}">
                <p14:modId xmlns:p14="http://schemas.microsoft.com/office/powerpoint/2010/main" val="3565858349"/>
              </p:ext>
            </p:extLst>
          </p:nvPr>
        </p:nvGraphicFramePr>
        <p:xfrm>
          <a:off x="1753071" y="1916832"/>
          <a:ext cx="5483225" cy="3672408"/>
        </p:xfrm>
        <a:graphic>
          <a:graphicData uri="http://schemas.openxmlformats.org/drawingml/2006/table">
            <a:tbl>
              <a:tblPr/>
              <a:tblGrid>
                <a:gridCol w="2057400">
                  <a:extLst>
                    <a:ext uri="{9D8B030D-6E8A-4147-A177-3AD203B41FA5}">
                      <a16:colId xmlns:a16="http://schemas.microsoft.com/office/drawing/2014/main" val="20000"/>
                    </a:ext>
                  </a:extLst>
                </a:gridCol>
                <a:gridCol w="3425825">
                  <a:extLst>
                    <a:ext uri="{9D8B030D-6E8A-4147-A177-3AD203B41FA5}">
                      <a16:colId xmlns:a16="http://schemas.microsoft.com/office/drawing/2014/main" val="20001"/>
                    </a:ext>
                  </a:extLst>
                </a:gridCol>
              </a:tblGrid>
              <a:tr h="75454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tr-TR" sz="2400" b="0" i="0" u="none" strike="noStrike" cap="none" normalizeH="0" baseline="0">
                        <a:ln>
                          <a:noFill/>
                        </a:ln>
                        <a:solidFill>
                          <a:schemeClr val="tx1"/>
                        </a:solidFill>
                        <a:effectLst/>
                        <a:latin typeface="Verdana" pitchFamily="34" charset="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tr-TR" sz="2400" b="1" i="0" u="none" strike="noStrike" cap="none" normalizeH="0" baseline="0">
                          <a:ln>
                            <a:noFill/>
                          </a:ln>
                          <a:solidFill>
                            <a:schemeClr val="tx1"/>
                          </a:solidFill>
                          <a:effectLst/>
                          <a:latin typeface="Verdana" pitchFamily="34" charset="0"/>
                        </a:rPr>
                        <a:t>Yıllık Getiri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7315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tr-TR" sz="2400" b="0" i="0" u="none" strike="noStrike" cap="none" normalizeH="0" baseline="0">
                          <a:ln>
                            <a:noFill/>
                          </a:ln>
                          <a:solidFill>
                            <a:schemeClr val="tx1"/>
                          </a:solidFill>
                          <a:effectLst/>
                          <a:latin typeface="Verdana" pitchFamily="34" charset="0"/>
                        </a:rPr>
                        <a:t>Hazine Bonosu</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tr-TR" sz="2400" b="0" i="0" u="none" strike="noStrike" cap="none" normalizeH="0" baseline="0">
                          <a:ln>
                            <a:noFill/>
                          </a:ln>
                          <a:solidFill>
                            <a:schemeClr val="tx1"/>
                          </a:solidFill>
                          <a:effectLst/>
                          <a:latin typeface="Verdana" pitchFamily="34" charset="0"/>
                        </a:rPr>
                        <a:t>4,0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7156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tr-TR" sz="2400" b="0" i="0" u="none" strike="noStrike" cap="none" normalizeH="0" baseline="0">
                          <a:ln>
                            <a:noFill/>
                          </a:ln>
                          <a:solidFill>
                            <a:schemeClr val="tx1"/>
                          </a:solidFill>
                          <a:effectLst/>
                          <a:latin typeface="Verdana" pitchFamily="34" charset="0"/>
                        </a:rPr>
                        <a:t>Devlet Tahvili</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tr-TR" sz="2400" b="0" i="0" u="none" strike="noStrike" cap="none" normalizeH="0" baseline="0">
                          <a:ln>
                            <a:noFill/>
                          </a:ln>
                          <a:solidFill>
                            <a:schemeClr val="tx1"/>
                          </a:solidFill>
                          <a:effectLst/>
                          <a:latin typeface="Verdana" pitchFamily="34" charset="0"/>
                        </a:rPr>
                        <a:t>5,2</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7315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tr-TR" sz="2400" b="0" i="0" u="none" strike="noStrike" cap="none" normalizeH="0" baseline="0">
                          <a:ln>
                            <a:noFill/>
                          </a:ln>
                          <a:solidFill>
                            <a:schemeClr val="tx1"/>
                          </a:solidFill>
                          <a:effectLst/>
                          <a:latin typeface="Verdana" pitchFamily="34" charset="0"/>
                        </a:rPr>
                        <a:t>Hisse senedi</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tr-TR" sz="2400" b="0" i="0" u="none" strike="noStrike" cap="none" normalizeH="0" baseline="0" dirty="0">
                          <a:ln>
                            <a:noFill/>
                          </a:ln>
                          <a:solidFill>
                            <a:schemeClr val="tx1"/>
                          </a:solidFill>
                          <a:effectLst/>
                          <a:latin typeface="Verdana" pitchFamily="34" charset="0"/>
                        </a:rPr>
                        <a:t>9,2</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TextBox 1"/>
          <p:cNvSpPr txBox="1"/>
          <p:nvPr/>
        </p:nvSpPr>
        <p:spPr>
          <a:xfrm>
            <a:off x="2672989" y="5805264"/>
            <a:ext cx="4405373" cy="461665"/>
          </a:xfrm>
          <a:prstGeom prst="rect">
            <a:avLst/>
          </a:prstGeom>
          <a:noFill/>
        </p:spPr>
        <p:txBody>
          <a:bodyPr wrap="none" rtlCol="0">
            <a:spAutoFit/>
          </a:bodyPr>
          <a:lstStyle/>
          <a:p>
            <a:r>
              <a:rPr lang="tr-TR" sz="2400" b="1">
                <a:solidFill>
                  <a:srgbClr val="0000CC"/>
                </a:solidFill>
              </a:rPr>
              <a:t>Hisse senedi risk primi ≈  5%</a:t>
            </a:r>
            <a:endParaRPr lang="en-US" sz="2400" b="1">
              <a:solidFill>
                <a:srgbClr val="0000CC"/>
              </a:solidFill>
            </a:endParaRPr>
          </a:p>
        </p:txBody>
      </p:sp>
      <p:sp>
        <p:nvSpPr>
          <p:cNvPr id="6" name="Slide Number Placeholder 4">
            <a:extLst>
              <a:ext uri="{FF2B5EF4-FFF2-40B4-BE49-F238E27FC236}">
                <a16:creationId xmlns:a16="http://schemas.microsoft.com/office/drawing/2014/main" id="{78B5FBE8-0F65-492B-A5EA-8CE061C6444A}"/>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10</a:t>
            </a:fld>
            <a:endParaRPr lang="tr-TR" sz="1200">
              <a:solidFill>
                <a:schemeClr val="tx2"/>
              </a:solidFill>
              <a:latin typeface="Verdana" pitchFamily="34" charset="0"/>
            </a:endParaRPr>
          </a:p>
        </p:txBody>
      </p:sp>
      <p:pic>
        <p:nvPicPr>
          <p:cNvPr id="8" name="Picture 7">
            <a:extLst>
              <a:ext uri="{FF2B5EF4-FFF2-40B4-BE49-F238E27FC236}">
                <a16:creationId xmlns:a16="http://schemas.microsoft.com/office/drawing/2014/main" id="{2F1847F9-0B46-4482-8935-BCA74251F29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700397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294967295"/>
          </p:nvPr>
        </p:nvSpPr>
        <p:spPr>
          <a:xfrm>
            <a:off x="8460432" y="6443612"/>
            <a:ext cx="540060" cy="360040"/>
          </a:xfrm>
          <a:prstGeom prst="rect">
            <a:avLst/>
          </a:prstGeom>
        </p:spPr>
        <p:txBody>
          <a:bodyPr/>
          <a:lstStyle>
            <a:lvl1pPr eaLnBrk="0" hangingPunct="0">
              <a:defRPr>
                <a:solidFill>
                  <a:schemeClr val="tx1"/>
                </a:solidFill>
                <a:latin typeface="Garamond" panose="02020404030301010803" pitchFamily="18" charset="0"/>
              </a:defRPr>
            </a:lvl1pPr>
            <a:lvl2pPr marL="742950" indent="-285750" eaLnBrk="0" hangingPunct="0">
              <a:defRPr>
                <a:solidFill>
                  <a:schemeClr val="tx1"/>
                </a:solidFill>
                <a:latin typeface="Garamond" panose="02020404030301010803" pitchFamily="18" charset="0"/>
              </a:defRPr>
            </a:lvl2pPr>
            <a:lvl3pPr marL="1143000" indent="-228600" eaLnBrk="0" hangingPunct="0">
              <a:defRPr>
                <a:solidFill>
                  <a:schemeClr val="tx1"/>
                </a:solidFill>
                <a:latin typeface="Garamond" panose="02020404030301010803" pitchFamily="18" charset="0"/>
              </a:defRPr>
            </a:lvl3pPr>
            <a:lvl4pPr marL="1600200" indent="-228600" eaLnBrk="0" hangingPunct="0">
              <a:defRPr>
                <a:solidFill>
                  <a:schemeClr val="tx1"/>
                </a:solidFill>
                <a:latin typeface="Garamond" panose="02020404030301010803" pitchFamily="18" charset="0"/>
              </a:defRPr>
            </a:lvl4pPr>
            <a:lvl5pPr marL="2057400" indent="-228600" eaLnBrk="0" hangingPunct="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fld id="{C46CCFC3-CB11-4B8E-8C36-F7DE25C7C8B9}" type="slidenum">
              <a:rPr lang="tr-TR" altLang="tr-TR">
                <a:solidFill>
                  <a:schemeClr val="tx2"/>
                </a:solidFill>
                <a:latin typeface="Verdana" panose="020B0604030504040204" pitchFamily="34" charset="0"/>
              </a:rPr>
              <a:pPr eaLnBrk="1" hangingPunct="1"/>
              <a:t>11</a:t>
            </a:fld>
            <a:endParaRPr lang="tr-TR" altLang="tr-TR">
              <a:solidFill>
                <a:schemeClr val="tx2"/>
              </a:solidFill>
              <a:latin typeface="Verdana" panose="020B0604030504040204" pitchFamily="34" charset="0"/>
            </a:endParaRPr>
          </a:p>
        </p:txBody>
      </p:sp>
      <p:sp>
        <p:nvSpPr>
          <p:cNvPr id="8196" name="Rectangle 2"/>
          <p:cNvSpPr>
            <a:spLocks noGrp="1" noChangeArrowheads="1"/>
          </p:cNvSpPr>
          <p:nvPr>
            <p:ph type="title"/>
          </p:nvPr>
        </p:nvSpPr>
        <p:spPr/>
        <p:txBody>
          <a:bodyPr/>
          <a:lstStyle/>
          <a:p>
            <a:pPr eaLnBrk="1" hangingPunct="1"/>
            <a:r>
              <a:rPr lang="tr-TR" altLang="tr-TR" sz="4000" dirty="0"/>
              <a:t>Hisse Senedi Risk Primi</a:t>
            </a:r>
          </a:p>
        </p:txBody>
      </p:sp>
      <p:pic>
        <p:nvPicPr>
          <p:cNvPr id="4" name="Picture 3"/>
          <p:cNvPicPr>
            <a:picLocks noChangeAspect="1"/>
          </p:cNvPicPr>
          <p:nvPr/>
        </p:nvPicPr>
        <p:blipFill>
          <a:blip r:embed="rId2"/>
          <a:stretch>
            <a:fillRect/>
          </a:stretch>
        </p:blipFill>
        <p:spPr>
          <a:xfrm>
            <a:off x="755576" y="1484784"/>
            <a:ext cx="7577476" cy="4608512"/>
          </a:xfrm>
          <a:prstGeom prst="rect">
            <a:avLst/>
          </a:prstGeom>
        </p:spPr>
      </p:pic>
    </p:spTree>
    <p:extLst>
      <p:ext uri="{BB962C8B-B14F-4D97-AF65-F5344CB8AC3E}">
        <p14:creationId xmlns:p14="http://schemas.microsoft.com/office/powerpoint/2010/main" val="3134377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294967295"/>
          </p:nvPr>
        </p:nvSpPr>
        <p:spPr>
          <a:xfrm>
            <a:off x="8460432" y="6443612"/>
            <a:ext cx="540060" cy="360040"/>
          </a:xfrm>
          <a:prstGeom prst="rect">
            <a:avLst/>
          </a:prstGeom>
        </p:spPr>
        <p:txBody>
          <a:bodyPr/>
          <a:lstStyle>
            <a:lvl1pPr eaLnBrk="0" hangingPunct="0">
              <a:defRPr>
                <a:solidFill>
                  <a:schemeClr val="tx1"/>
                </a:solidFill>
                <a:latin typeface="Garamond" panose="02020404030301010803" pitchFamily="18" charset="0"/>
              </a:defRPr>
            </a:lvl1pPr>
            <a:lvl2pPr marL="742950" indent="-285750" eaLnBrk="0" hangingPunct="0">
              <a:defRPr>
                <a:solidFill>
                  <a:schemeClr val="tx1"/>
                </a:solidFill>
                <a:latin typeface="Garamond" panose="02020404030301010803" pitchFamily="18" charset="0"/>
              </a:defRPr>
            </a:lvl2pPr>
            <a:lvl3pPr marL="1143000" indent="-228600" eaLnBrk="0" hangingPunct="0">
              <a:defRPr>
                <a:solidFill>
                  <a:schemeClr val="tx1"/>
                </a:solidFill>
                <a:latin typeface="Garamond" panose="02020404030301010803" pitchFamily="18" charset="0"/>
              </a:defRPr>
            </a:lvl3pPr>
            <a:lvl4pPr marL="1600200" indent="-228600" eaLnBrk="0" hangingPunct="0">
              <a:defRPr>
                <a:solidFill>
                  <a:schemeClr val="tx1"/>
                </a:solidFill>
                <a:latin typeface="Garamond" panose="02020404030301010803" pitchFamily="18" charset="0"/>
              </a:defRPr>
            </a:lvl4pPr>
            <a:lvl5pPr marL="2057400" indent="-228600" eaLnBrk="0" hangingPunct="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fld id="{C46CCFC3-CB11-4B8E-8C36-F7DE25C7C8B9}" type="slidenum">
              <a:rPr lang="tr-TR" altLang="tr-TR">
                <a:solidFill>
                  <a:schemeClr val="tx2"/>
                </a:solidFill>
                <a:latin typeface="Verdana" panose="020B0604030504040204" pitchFamily="34" charset="0"/>
              </a:rPr>
              <a:pPr eaLnBrk="1" hangingPunct="1"/>
              <a:t>12</a:t>
            </a:fld>
            <a:endParaRPr lang="tr-TR" altLang="tr-TR">
              <a:solidFill>
                <a:schemeClr val="tx2"/>
              </a:solidFill>
              <a:latin typeface="Verdana" panose="020B0604030504040204" pitchFamily="34" charset="0"/>
            </a:endParaRPr>
          </a:p>
        </p:txBody>
      </p:sp>
      <p:sp>
        <p:nvSpPr>
          <p:cNvPr id="8196" name="Rectangle 2"/>
          <p:cNvSpPr>
            <a:spLocks noGrp="1" noChangeArrowheads="1"/>
          </p:cNvSpPr>
          <p:nvPr>
            <p:ph type="title"/>
          </p:nvPr>
        </p:nvSpPr>
        <p:spPr/>
        <p:txBody>
          <a:bodyPr/>
          <a:lstStyle/>
          <a:p>
            <a:pPr eaLnBrk="1" hangingPunct="1"/>
            <a:r>
              <a:rPr lang="tr-TR" altLang="tr-TR" sz="4000" dirty="0"/>
              <a:t>Hisse Senedi Risk Primi</a:t>
            </a:r>
          </a:p>
        </p:txBody>
      </p:sp>
      <p:pic>
        <p:nvPicPr>
          <p:cNvPr id="2" name="Picture 1"/>
          <p:cNvPicPr>
            <a:picLocks noChangeAspect="1"/>
          </p:cNvPicPr>
          <p:nvPr/>
        </p:nvPicPr>
        <p:blipFill>
          <a:blip r:embed="rId2"/>
          <a:stretch>
            <a:fillRect/>
          </a:stretch>
        </p:blipFill>
        <p:spPr>
          <a:xfrm>
            <a:off x="1115616" y="1628800"/>
            <a:ext cx="7038483" cy="4294162"/>
          </a:xfrm>
          <a:prstGeom prst="rect">
            <a:avLst/>
          </a:prstGeom>
        </p:spPr>
      </p:pic>
    </p:spTree>
    <p:extLst>
      <p:ext uri="{BB962C8B-B14F-4D97-AF65-F5344CB8AC3E}">
        <p14:creationId xmlns:p14="http://schemas.microsoft.com/office/powerpoint/2010/main" val="2873016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body" idx="4294967295"/>
          </p:nvPr>
        </p:nvSpPr>
        <p:spPr>
          <a:xfrm>
            <a:off x="457200" y="1124744"/>
            <a:ext cx="8229600" cy="4862512"/>
          </a:xfrm>
          <a:prstGeom prst="rect">
            <a:avLst/>
          </a:prstGeom>
        </p:spPr>
        <p:txBody>
          <a:bodyPr/>
          <a:lstStyle/>
          <a:p>
            <a:pPr marL="0" indent="0" eaLnBrk="1" hangingPunct="1">
              <a:spcBef>
                <a:spcPct val="50000"/>
              </a:spcBef>
              <a:buFont typeface="Wingdings" pitchFamily="2" charset="2"/>
              <a:buNone/>
            </a:pPr>
            <a:r>
              <a:rPr lang="tr-TR" altLang="ko-KR" sz="1800">
                <a:latin typeface="Verdana" pitchFamily="34" charset="0"/>
                <a:ea typeface="Verdana" pitchFamily="34" charset="0"/>
                <a:cs typeface="Verdana" pitchFamily="34" charset="0"/>
              </a:rPr>
              <a:t>ABD’de yapılan bir araştırmada 10.000 yöneticiye şirketleri aşağıdaki kriterlere göre derecelendirmeleri istenmiş:</a:t>
            </a:r>
          </a:p>
          <a:p>
            <a:pPr marL="0" indent="0" eaLnBrk="1" hangingPunct="1">
              <a:spcBef>
                <a:spcPct val="50000"/>
              </a:spcBef>
              <a:buFont typeface="Wingdings" pitchFamily="2" charset="2"/>
              <a:buAutoNum type="arabicParenR"/>
            </a:pPr>
            <a:r>
              <a:rPr lang="tr-TR" altLang="ko-KR" sz="1800">
                <a:latin typeface="Verdana" pitchFamily="34" charset="0"/>
                <a:ea typeface="Verdana" pitchFamily="34" charset="0"/>
                <a:cs typeface="Verdana" pitchFamily="34" charset="0"/>
              </a:rPr>
              <a:t> Yönetim kalitesi</a:t>
            </a:r>
          </a:p>
          <a:p>
            <a:pPr marL="0" indent="0" eaLnBrk="1" hangingPunct="1">
              <a:spcBef>
                <a:spcPct val="50000"/>
              </a:spcBef>
              <a:buFont typeface="Wingdings" pitchFamily="2" charset="2"/>
              <a:buAutoNum type="arabicParenR"/>
            </a:pPr>
            <a:r>
              <a:rPr lang="tr-TR" altLang="ko-KR" sz="1800">
                <a:latin typeface="Verdana" pitchFamily="34" charset="0"/>
                <a:ea typeface="Verdana" pitchFamily="34" charset="0"/>
                <a:cs typeface="Verdana" pitchFamily="34" charset="0"/>
              </a:rPr>
              <a:t> Ürün ve servis kalitesi</a:t>
            </a:r>
          </a:p>
          <a:p>
            <a:pPr marL="0" indent="0" eaLnBrk="1" hangingPunct="1">
              <a:spcBef>
                <a:spcPct val="50000"/>
              </a:spcBef>
              <a:buFont typeface="Wingdings" pitchFamily="2" charset="2"/>
              <a:buAutoNum type="arabicParenR"/>
            </a:pPr>
            <a:r>
              <a:rPr lang="tr-TR" altLang="ko-KR" sz="1800">
                <a:latin typeface="Verdana" pitchFamily="34" charset="0"/>
                <a:ea typeface="Verdana" pitchFamily="34" charset="0"/>
                <a:cs typeface="Verdana" pitchFamily="34" charset="0"/>
              </a:rPr>
              <a:t> Yetenekli çalışanları kadroya katabilme, yetiştirebilme ve tutabilme</a:t>
            </a:r>
          </a:p>
          <a:p>
            <a:pPr marL="0" indent="0" eaLnBrk="1" hangingPunct="1">
              <a:spcBef>
                <a:spcPct val="50000"/>
              </a:spcBef>
              <a:buFont typeface="Wingdings" pitchFamily="2" charset="2"/>
              <a:buAutoNum type="arabicParenR"/>
            </a:pPr>
            <a:r>
              <a:rPr lang="tr-TR" altLang="ko-KR" sz="1800">
                <a:latin typeface="Verdana" pitchFamily="34" charset="0"/>
                <a:ea typeface="Verdana" pitchFamily="34" charset="0"/>
                <a:cs typeface="Verdana" pitchFamily="34" charset="0"/>
              </a:rPr>
              <a:t> Şirketin uzun vadeli yatırım değeri</a:t>
            </a:r>
          </a:p>
          <a:p>
            <a:pPr marL="0" indent="0" eaLnBrk="1" hangingPunct="1">
              <a:spcBef>
                <a:spcPct val="50000"/>
              </a:spcBef>
              <a:buFont typeface="Wingdings" pitchFamily="2" charset="2"/>
              <a:buAutoNum type="arabicParenR"/>
            </a:pPr>
            <a:r>
              <a:rPr lang="tr-TR" altLang="ko-KR" sz="1800">
                <a:latin typeface="Verdana" pitchFamily="34" charset="0"/>
                <a:ea typeface="Verdana" pitchFamily="34" charset="0"/>
                <a:cs typeface="Verdana" pitchFamily="34" charset="0"/>
              </a:rPr>
              <a:t> Şirket varlıklarının kullanımı</a:t>
            </a:r>
          </a:p>
          <a:p>
            <a:pPr marL="0" indent="0" eaLnBrk="1" hangingPunct="1">
              <a:spcBef>
                <a:spcPct val="50000"/>
              </a:spcBef>
              <a:buFont typeface="Wingdings" pitchFamily="2" charset="2"/>
              <a:buAutoNum type="arabicParenR"/>
            </a:pPr>
            <a:r>
              <a:rPr lang="tr-TR" altLang="ko-KR" sz="1800">
                <a:latin typeface="Verdana" pitchFamily="34" charset="0"/>
                <a:ea typeface="Verdana" pitchFamily="34" charset="0"/>
                <a:cs typeface="Verdana" pitchFamily="34" charset="0"/>
              </a:rPr>
              <a:t> Mali şeffaflık ve güçlülük </a:t>
            </a:r>
          </a:p>
          <a:p>
            <a:pPr marL="0" indent="0" eaLnBrk="1" hangingPunct="1">
              <a:spcBef>
                <a:spcPct val="50000"/>
              </a:spcBef>
              <a:buFont typeface="Wingdings" pitchFamily="2" charset="2"/>
              <a:buAutoNum type="arabicParenR"/>
            </a:pPr>
            <a:r>
              <a:rPr lang="tr-TR" altLang="ko-KR" sz="1800">
                <a:latin typeface="Verdana" pitchFamily="34" charset="0"/>
                <a:ea typeface="Verdana" pitchFamily="34" charset="0"/>
                <a:cs typeface="Verdana" pitchFamily="34" charset="0"/>
              </a:rPr>
              <a:t> Yenilik kapasitesi</a:t>
            </a:r>
          </a:p>
          <a:p>
            <a:pPr marL="0" indent="0" eaLnBrk="1" hangingPunct="1">
              <a:spcBef>
                <a:spcPct val="50000"/>
              </a:spcBef>
              <a:buFont typeface="Wingdings" pitchFamily="2" charset="2"/>
              <a:buAutoNum type="arabicParenR"/>
            </a:pPr>
            <a:r>
              <a:rPr lang="tr-TR" altLang="ko-KR" sz="1800">
                <a:latin typeface="Verdana" pitchFamily="34" charset="0"/>
                <a:ea typeface="Verdana" pitchFamily="34" charset="0"/>
                <a:cs typeface="Verdana" pitchFamily="34" charset="0"/>
              </a:rPr>
              <a:t> Sosyal ve çevresel sorumluluk</a:t>
            </a:r>
          </a:p>
          <a:p>
            <a:pPr marL="0" indent="0" eaLnBrk="1" hangingPunct="1">
              <a:spcBef>
                <a:spcPct val="50000"/>
              </a:spcBef>
              <a:buNone/>
            </a:pPr>
            <a:endParaRPr lang="tr-TR" altLang="ko-KR" sz="1200">
              <a:latin typeface="Verdana" pitchFamily="34" charset="0"/>
              <a:ea typeface="Verdana" pitchFamily="34" charset="0"/>
              <a:cs typeface="Verdana" pitchFamily="34" charset="0"/>
            </a:endParaRPr>
          </a:p>
          <a:p>
            <a:pPr marL="0" indent="0" eaLnBrk="1" hangingPunct="1">
              <a:spcBef>
                <a:spcPct val="50000"/>
              </a:spcBef>
              <a:buFont typeface="Wingdings" pitchFamily="2" charset="2"/>
              <a:buNone/>
            </a:pPr>
            <a:r>
              <a:rPr lang="tr-TR" altLang="ko-KR" sz="1600">
                <a:latin typeface="Verdana" pitchFamily="34" charset="0"/>
                <a:ea typeface="Verdana" pitchFamily="34" charset="0"/>
                <a:cs typeface="Verdana" pitchFamily="34" charset="0"/>
              </a:rPr>
              <a:t>En başarılı 10 şirket 1993-2004 arası yıllık ortalama 27% getiri sağlamış. Aynı dönem piyasa getirisi (S&amp;P 500) 8.6%.</a:t>
            </a:r>
          </a:p>
          <a:p>
            <a:pPr marL="0" indent="0" eaLnBrk="1" hangingPunct="1">
              <a:spcBef>
                <a:spcPct val="50000"/>
              </a:spcBef>
              <a:buFont typeface="Wingdings" pitchFamily="2" charset="2"/>
              <a:buNone/>
            </a:pPr>
            <a:r>
              <a:rPr lang="tr-TR" altLang="ko-KR" sz="1600">
                <a:latin typeface="Verdana" pitchFamily="34" charset="0"/>
                <a:ea typeface="Verdana" pitchFamily="34" charset="0"/>
                <a:cs typeface="Verdana" pitchFamily="34" charset="0"/>
              </a:rPr>
              <a:t>En başarısız 10 şirketin hisseleri ise yıllık ortalama 1.9% değer kaybettirmiş. </a:t>
            </a:r>
          </a:p>
        </p:txBody>
      </p:sp>
      <p:sp>
        <p:nvSpPr>
          <p:cNvPr id="12293" name="Rectangle 3"/>
          <p:cNvSpPr>
            <a:spLocks noGrp="1" noChangeArrowheads="1"/>
          </p:cNvSpPr>
          <p:nvPr>
            <p:ph type="title"/>
          </p:nvPr>
        </p:nvSpPr>
        <p:spPr>
          <a:noFill/>
        </p:spPr>
        <p:txBody>
          <a:bodyPr/>
          <a:lstStyle/>
          <a:p>
            <a:pPr eaLnBrk="1" hangingPunct="1"/>
            <a:r>
              <a:rPr lang="tr-TR" altLang="ko-KR" sz="3600"/>
              <a:t>Finansal Yönetime Genel Bir Bakış</a:t>
            </a:r>
            <a:endParaRPr lang="tr-TR" sz="3600"/>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16416" y="260648"/>
            <a:ext cx="648072" cy="656278"/>
          </a:xfrm>
          <a:prstGeom prst="rect">
            <a:avLst/>
          </a:prstGeom>
          <a:noFill/>
          <a:ln>
            <a:noFill/>
          </a:ln>
        </p:spPr>
      </p:pic>
      <p:sp>
        <p:nvSpPr>
          <p:cNvPr id="8"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13</a:t>
            </a:fld>
            <a:endParaRPr lang="tr-TR" sz="1200">
              <a:solidFill>
                <a:schemeClr val="tx2"/>
              </a:solidFill>
              <a:latin typeface="Verdana" pitchFamily="34" charset="0"/>
            </a:endParaRPr>
          </a:p>
        </p:txBody>
      </p:sp>
    </p:spTree>
    <p:extLst>
      <p:ext uri="{BB962C8B-B14F-4D97-AF65-F5344CB8AC3E}">
        <p14:creationId xmlns:p14="http://schemas.microsoft.com/office/powerpoint/2010/main" val="3908192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9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29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29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29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29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29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600" y="116632"/>
            <a:ext cx="8229600" cy="1143000"/>
          </a:xfrm>
        </p:spPr>
        <p:txBody>
          <a:bodyPr/>
          <a:lstStyle/>
          <a:p>
            <a:r>
              <a:rPr lang="tr-TR"/>
              <a:t>Fortune Most Admired Companies</a:t>
            </a:r>
            <a:endParaRPr lang="en-US"/>
          </a:p>
        </p:txBody>
      </p:sp>
      <p:pic>
        <p:nvPicPr>
          <p:cNvPr id="6" name="Picture 5"/>
          <p:cNvPicPr>
            <a:picLocks noChangeAspect="1"/>
          </p:cNvPicPr>
          <p:nvPr/>
        </p:nvPicPr>
        <p:blipFill rotWithShape="1">
          <a:blip r:embed="rId2"/>
          <a:srcRect l="18500" t="40279" r="66507" b="26200"/>
          <a:stretch/>
        </p:blipFill>
        <p:spPr>
          <a:xfrm>
            <a:off x="179512" y="1772816"/>
            <a:ext cx="1635610" cy="3816424"/>
          </a:xfrm>
          <a:prstGeom prst="rect">
            <a:avLst/>
          </a:prstGeom>
        </p:spPr>
      </p:pic>
      <p:sp>
        <p:nvSpPr>
          <p:cNvPr id="7" name="TextBox 6"/>
          <p:cNvSpPr txBox="1"/>
          <p:nvPr/>
        </p:nvSpPr>
        <p:spPr>
          <a:xfrm>
            <a:off x="539552" y="1124744"/>
            <a:ext cx="697627" cy="369332"/>
          </a:xfrm>
          <a:prstGeom prst="rect">
            <a:avLst/>
          </a:prstGeom>
          <a:noFill/>
        </p:spPr>
        <p:txBody>
          <a:bodyPr wrap="square" rtlCol="0">
            <a:spAutoFit/>
          </a:bodyPr>
          <a:lstStyle/>
          <a:p>
            <a:r>
              <a:rPr lang="tr-TR"/>
              <a:t>2019</a:t>
            </a:r>
          </a:p>
        </p:txBody>
      </p:sp>
      <p:sp>
        <p:nvSpPr>
          <p:cNvPr id="8" name="TextBox 7"/>
          <p:cNvSpPr txBox="1"/>
          <p:nvPr/>
        </p:nvSpPr>
        <p:spPr>
          <a:xfrm>
            <a:off x="2195736" y="1124744"/>
            <a:ext cx="697627" cy="369332"/>
          </a:xfrm>
          <a:prstGeom prst="rect">
            <a:avLst/>
          </a:prstGeom>
          <a:noFill/>
        </p:spPr>
        <p:txBody>
          <a:bodyPr wrap="none" rtlCol="0">
            <a:spAutoFit/>
          </a:bodyPr>
          <a:lstStyle/>
          <a:p>
            <a:r>
              <a:rPr lang="tr-TR" dirty="0"/>
              <a:t>2020</a:t>
            </a:r>
          </a:p>
        </p:txBody>
      </p:sp>
      <p:sp>
        <p:nvSpPr>
          <p:cNvPr id="9" name="TextBox 8"/>
          <p:cNvSpPr txBox="1"/>
          <p:nvPr/>
        </p:nvSpPr>
        <p:spPr>
          <a:xfrm>
            <a:off x="1907704" y="1685685"/>
            <a:ext cx="1512168" cy="4253537"/>
          </a:xfrm>
          <a:prstGeom prst="rect">
            <a:avLst/>
          </a:prstGeom>
          <a:noFill/>
        </p:spPr>
        <p:txBody>
          <a:bodyPr wrap="square" rtlCol="0">
            <a:spAutoFit/>
          </a:bodyPr>
          <a:lstStyle/>
          <a:p>
            <a:pPr marL="342900" indent="-342900">
              <a:lnSpc>
                <a:spcPct val="150000"/>
              </a:lnSpc>
              <a:buAutoNum type="arabicPeriod"/>
            </a:pPr>
            <a:r>
              <a:rPr lang="tr-TR" sz="1400" dirty="0"/>
              <a:t>Apple</a:t>
            </a:r>
          </a:p>
          <a:p>
            <a:pPr marL="342900" indent="-342900">
              <a:lnSpc>
                <a:spcPct val="150000"/>
              </a:lnSpc>
              <a:buAutoNum type="arabicPeriod"/>
            </a:pPr>
            <a:r>
              <a:rPr lang="tr-TR" sz="1400" dirty="0"/>
              <a:t>Amazon</a:t>
            </a:r>
          </a:p>
          <a:p>
            <a:pPr marL="342900" indent="-342900">
              <a:lnSpc>
                <a:spcPct val="150000"/>
              </a:lnSpc>
              <a:buAutoNum type="arabicPeriod"/>
            </a:pPr>
            <a:r>
              <a:rPr lang="tr-TR" sz="1400" dirty="0"/>
              <a:t>Microsoft</a:t>
            </a:r>
          </a:p>
          <a:p>
            <a:pPr marL="342900" indent="-342900">
              <a:lnSpc>
                <a:spcPct val="150000"/>
              </a:lnSpc>
              <a:buAutoNum type="arabicPeriod"/>
            </a:pPr>
            <a:r>
              <a:rPr lang="tr-TR" sz="1400" dirty="0"/>
              <a:t>Walt Disney</a:t>
            </a:r>
          </a:p>
          <a:p>
            <a:pPr marL="342900" indent="-342900">
              <a:lnSpc>
                <a:spcPct val="150000"/>
              </a:lnSpc>
              <a:buAutoNum type="arabicPeriod"/>
            </a:pPr>
            <a:r>
              <a:rPr lang="tr-TR" sz="1400" dirty="0" err="1"/>
              <a:t>Berkshire</a:t>
            </a:r>
            <a:r>
              <a:rPr lang="tr-TR" sz="1400" dirty="0"/>
              <a:t> Hathaway</a:t>
            </a:r>
          </a:p>
          <a:p>
            <a:pPr marL="342900" indent="-342900">
              <a:lnSpc>
                <a:spcPct val="150000"/>
              </a:lnSpc>
              <a:buAutoNum type="arabicPeriod"/>
            </a:pPr>
            <a:r>
              <a:rPr lang="tr-TR" sz="1400" dirty="0"/>
              <a:t>Starbucks</a:t>
            </a:r>
          </a:p>
          <a:p>
            <a:pPr marL="342900" indent="-342900">
              <a:lnSpc>
                <a:spcPct val="150000"/>
              </a:lnSpc>
              <a:buAutoNum type="arabicPeriod"/>
            </a:pPr>
            <a:r>
              <a:rPr lang="tr-TR" sz="1400" dirty="0" err="1"/>
              <a:t>Alphabet</a:t>
            </a:r>
            <a:endParaRPr lang="tr-TR" sz="1400" dirty="0"/>
          </a:p>
          <a:p>
            <a:pPr marL="342900" indent="-342900">
              <a:lnSpc>
                <a:spcPct val="150000"/>
              </a:lnSpc>
              <a:buAutoNum type="arabicPeriod"/>
            </a:pPr>
            <a:r>
              <a:rPr lang="tr-TR" sz="1400" dirty="0"/>
              <a:t>JP Morgan Chase</a:t>
            </a:r>
          </a:p>
          <a:p>
            <a:pPr marL="342900" indent="-342900">
              <a:lnSpc>
                <a:spcPct val="150000"/>
              </a:lnSpc>
              <a:buAutoNum type="arabicPeriod"/>
            </a:pPr>
            <a:r>
              <a:rPr lang="tr-TR" sz="1400" dirty="0" err="1"/>
              <a:t>Costco</a:t>
            </a:r>
            <a:r>
              <a:rPr lang="tr-TR" sz="1400" dirty="0"/>
              <a:t> </a:t>
            </a:r>
            <a:r>
              <a:rPr lang="tr-TR" sz="1400" dirty="0" err="1"/>
              <a:t>Wholesale</a:t>
            </a:r>
            <a:endParaRPr lang="tr-TR" sz="1400" dirty="0"/>
          </a:p>
          <a:p>
            <a:pPr marL="342900" indent="-342900">
              <a:lnSpc>
                <a:spcPct val="150000"/>
              </a:lnSpc>
              <a:buAutoNum type="arabicPeriod"/>
            </a:pPr>
            <a:r>
              <a:rPr lang="tr-TR" sz="1400" dirty="0" err="1"/>
              <a:t>Salesforce</a:t>
            </a:r>
            <a:endParaRPr lang="en-US" sz="1400" dirty="0"/>
          </a:p>
        </p:txBody>
      </p:sp>
      <p:pic>
        <p:nvPicPr>
          <p:cNvPr id="10" name="Picture 9">
            <a:extLst>
              <a:ext uri="{FF2B5EF4-FFF2-40B4-BE49-F238E27FC236}">
                <a16:creationId xmlns:a16="http://schemas.microsoft.com/office/drawing/2014/main" id="{AAB5BFDA-79A2-464E-BE65-644110C2943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11" name="Slide Number Placeholder 4">
            <a:extLst>
              <a:ext uri="{FF2B5EF4-FFF2-40B4-BE49-F238E27FC236}">
                <a16:creationId xmlns:a16="http://schemas.microsoft.com/office/drawing/2014/main" id="{370D5BFB-C063-4102-8295-FD3F7EF37FA5}"/>
              </a:ext>
            </a:extLst>
          </p:cNvPr>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14</a:t>
            </a:fld>
            <a:endParaRPr lang="tr-TR" sz="1200">
              <a:solidFill>
                <a:schemeClr val="tx2"/>
              </a:solidFill>
              <a:latin typeface="Verdana" pitchFamily="34" charset="0"/>
            </a:endParaRPr>
          </a:p>
        </p:txBody>
      </p:sp>
      <p:pic>
        <p:nvPicPr>
          <p:cNvPr id="12" name="Picture 11">
            <a:extLst>
              <a:ext uri="{FF2B5EF4-FFF2-40B4-BE49-F238E27FC236}">
                <a16:creationId xmlns:a16="http://schemas.microsoft.com/office/drawing/2014/main" id="{FDF1A378-EFA7-45CC-86D8-D16237A1A712}"/>
              </a:ext>
            </a:extLst>
          </p:cNvPr>
          <p:cNvPicPr>
            <a:picLocks noChangeAspect="1"/>
          </p:cNvPicPr>
          <p:nvPr/>
        </p:nvPicPr>
        <p:blipFill rotWithShape="1">
          <a:blip r:embed="rId4"/>
          <a:srcRect l="25588" t="25026" r="67483" b="10800"/>
          <a:stretch/>
        </p:blipFill>
        <p:spPr>
          <a:xfrm>
            <a:off x="3275856" y="1628800"/>
            <a:ext cx="1656184" cy="4313494"/>
          </a:xfrm>
          <a:prstGeom prst="rect">
            <a:avLst/>
          </a:prstGeom>
        </p:spPr>
      </p:pic>
      <p:sp>
        <p:nvSpPr>
          <p:cNvPr id="13" name="TextBox 12">
            <a:extLst>
              <a:ext uri="{FF2B5EF4-FFF2-40B4-BE49-F238E27FC236}">
                <a16:creationId xmlns:a16="http://schemas.microsoft.com/office/drawing/2014/main" id="{18AE9DF7-F9A6-4C05-B847-DC365E6B02AE}"/>
              </a:ext>
            </a:extLst>
          </p:cNvPr>
          <p:cNvSpPr txBox="1"/>
          <p:nvPr/>
        </p:nvSpPr>
        <p:spPr>
          <a:xfrm>
            <a:off x="3635896" y="1124744"/>
            <a:ext cx="697627" cy="369332"/>
          </a:xfrm>
          <a:prstGeom prst="rect">
            <a:avLst/>
          </a:prstGeom>
          <a:noFill/>
        </p:spPr>
        <p:txBody>
          <a:bodyPr wrap="none" rtlCol="0">
            <a:spAutoFit/>
          </a:bodyPr>
          <a:lstStyle/>
          <a:p>
            <a:r>
              <a:rPr lang="tr-TR" dirty="0"/>
              <a:t>2021</a:t>
            </a:r>
          </a:p>
        </p:txBody>
      </p:sp>
      <p:sp>
        <p:nvSpPr>
          <p:cNvPr id="2" name="TextBox 1">
            <a:extLst>
              <a:ext uri="{FF2B5EF4-FFF2-40B4-BE49-F238E27FC236}">
                <a16:creationId xmlns:a16="http://schemas.microsoft.com/office/drawing/2014/main" id="{C9AD65F0-22B1-12DD-EE49-C1CA8FD73918}"/>
              </a:ext>
            </a:extLst>
          </p:cNvPr>
          <p:cNvSpPr txBox="1"/>
          <p:nvPr/>
        </p:nvSpPr>
        <p:spPr>
          <a:xfrm>
            <a:off x="6250637" y="1124744"/>
            <a:ext cx="697627" cy="369332"/>
          </a:xfrm>
          <a:prstGeom prst="rect">
            <a:avLst/>
          </a:prstGeom>
          <a:noFill/>
        </p:spPr>
        <p:txBody>
          <a:bodyPr wrap="none" rtlCol="0">
            <a:spAutoFit/>
          </a:bodyPr>
          <a:lstStyle/>
          <a:p>
            <a:r>
              <a:rPr lang="tr-TR" dirty="0"/>
              <a:t>2023</a:t>
            </a:r>
          </a:p>
        </p:txBody>
      </p:sp>
      <p:pic>
        <p:nvPicPr>
          <p:cNvPr id="16" name="Picture 15">
            <a:extLst>
              <a:ext uri="{FF2B5EF4-FFF2-40B4-BE49-F238E27FC236}">
                <a16:creationId xmlns:a16="http://schemas.microsoft.com/office/drawing/2014/main" id="{0C0F378E-68A4-F05F-1BFC-E583ABD776C6}"/>
              </a:ext>
            </a:extLst>
          </p:cNvPr>
          <p:cNvPicPr>
            <a:picLocks noChangeAspect="1"/>
          </p:cNvPicPr>
          <p:nvPr/>
        </p:nvPicPr>
        <p:blipFill rotWithShape="1">
          <a:blip r:embed="rId5"/>
          <a:srcRect l="46215" t="21950" r="41338" b="4788"/>
          <a:stretch/>
        </p:blipFill>
        <p:spPr>
          <a:xfrm>
            <a:off x="6300192" y="1628800"/>
            <a:ext cx="1349028" cy="4466478"/>
          </a:xfrm>
          <a:prstGeom prst="rect">
            <a:avLst/>
          </a:prstGeom>
        </p:spPr>
      </p:pic>
      <p:sp>
        <p:nvSpPr>
          <p:cNvPr id="14" name="TextBox 13">
            <a:extLst>
              <a:ext uri="{FF2B5EF4-FFF2-40B4-BE49-F238E27FC236}">
                <a16:creationId xmlns:a16="http://schemas.microsoft.com/office/drawing/2014/main" id="{767E5CF2-DF00-5DD2-648F-8528CDE58917}"/>
              </a:ext>
            </a:extLst>
          </p:cNvPr>
          <p:cNvSpPr txBox="1"/>
          <p:nvPr/>
        </p:nvSpPr>
        <p:spPr>
          <a:xfrm>
            <a:off x="7834813" y="1124744"/>
            <a:ext cx="697627" cy="369332"/>
          </a:xfrm>
          <a:prstGeom prst="rect">
            <a:avLst/>
          </a:prstGeom>
          <a:noFill/>
        </p:spPr>
        <p:txBody>
          <a:bodyPr wrap="none" rtlCol="0">
            <a:spAutoFit/>
          </a:bodyPr>
          <a:lstStyle/>
          <a:p>
            <a:r>
              <a:rPr lang="tr-TR" dirty="0"/>
              <a:t>2024</a:t>
            </a:r>
          </a:p>
        </p:txBody>
      </p:sp>
      <p:pic>
        <p:nvPicPr>
          <p:cNvPr id="19" name="Picture 18">
            <a:extLst>
              <a:ext uri="{FF2B5EF4-FFF2-40B4-BE49-F238E27FC236}">
                <a16:creationId xmlns:a16="http://schemas.microsoft.com/office/drawing/2014/main" id="{0CE6955A-77E7-D360-2BE3-BB7D46D95467}"/>
              </a:ext>
            </a:extLst>
          </p:cNvPr>
          <p:cNvPicPr>
            <a:picLocks noChangeAspect="1"/>
          </p:cNvPicPr>
          <p:nvPr/>
        </p:nvPicPr>
        <p:blipFill rotWithShape="1">
          <a:blip r:embed="rId6"/>
          <a:srcRect l="28308" t="26200" r="59093" b="13163"/>
          <a:stretch/>
        </p:blipFill>
        <p:spPr>
          <a:xfrm>
            <a:off x="7543452" y="1772816"/>
            <a:ext cx="1349028" cy="3651878"/>
          </a:xfrm>
          <a:prstGeom prst="rect">
            <a:avLst/>
          </a:prstGeom>
        </p:spPr>
      </p:pic>
      <p:pic>
        <p:nvPicPr>
          <p:cNvPr id="22" name="Picture 21">
            <a:extLst>
              <a:ext uri="{FF2B5EF4-FFF2-40B4-BE49-F238E27FC236}">
                <a16:creationId xmlns:a16="http://schemas.microsoft.com/office/drawing/2014/main" id="{8C56991F-4167-FA55-5B12-261304E06895}"/>
              </a:ext>
            </a:extLst>
          </p:cNvPr>
          <p:cNvPicPr>
            <a:picLocks noChangeAspect="1"/>
          </p:cNvPicPr>
          <p:nvPr/>
        </p:nvPicPr>
        <p:blipFill>
          <a:blip r:embed="rId7"/>
          <a:srcRect l="24801" t="31981" r="58662" b="26200"/>
          <a:stretch/>
        </p:blipFill>
        <p:spPr>
          <a:xfrm>
            <a:off x="4695990" y="1608398"/>
            <a:ext cx="1554649" cy="4700922"/>
          </a:xfrm>
          <a:prstGeom prst="rect">
            <a:avLst/>
          </a:prstGeom>
        </p:spPr>
      </p:pic>
      <p:sp>
        <p:nvSpPr>
          <p:cNvPr id="23" name="TextBox 22">
            <a:extLst>
              <a:ext uri="{FF2B5EF4-FFF2-40B4-BE49-F238E27FC236}">
                <a16:creationId xmlns:a16="http://schemas.microsoft.com/office/drawing/2014/main" id="{3D195762-3436-A15E-C03D-03EC28848151}"/>
              </a:ext>
            </a:extLst>
          </p:cNvPr>
          <p:cNvSpPr txBox="1"/>
          <p:nvPr/>
        </p:nvSpPr>
        <p:spPr>
          <a:xfrm>
            <a:off x="4932040" y="1124744"/>
            <a:ext cx="697627" cy="369332"/>
          </a:xfrm>
          <a:prstGeom prst="rect">
            <a:avLst/>
          </a:prstGeom>
          <a:noFill/>
        </p:spPr>
        <p:txBody>
          <a:bodyPr wrap="none" rtlCol="0">
            <a:spAutoFit/>
          </a:bodyPr>
          <a:lstStyle/>
          <a:p>
            <a:r>
              <a:rPr lang="tr-TR" dirty="0"/>
              <a:t>2022</a:t>
            </a:r>
          </a:p>
        </p:txBody>
      </p:sp>
    </p:spTree>
    <p:extLst>
      <p:ext uri="{BB962C8B-B14F-4D97-AF65-F5344CB8AC3E}">
        <p14:creationId xmlns:p14="http://schemas.microsoft.com/office/powerpoint/2010/main" val="1839387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988840"/>
            <a:ext cx="8229600" cy="1143000"/>
          </a:xfrm>
        </p:spPr>
        <p:txBody>
          <a:bodyPr/>
          <a:lstStyle/>
          <a:p>
            <a:r>
              <a:rPr lang="tr-TR" b="1"/>
              <a:t>FİNANSAL ANALİZ</a:t>
            </a:r>
            <a:br>
              <a:rPr lang="tr-TR"/>
            </a:br>
            <a:br>
              <a:rPr lang="tr-TR"/>
            </a:br>
            <a:br>
              <a:rPr lang="tr-TR"/>
            </a:br>
            <a:r>
              <a:rPr lang="tr-TR"/>
              <a:t>BİLANÇO &amp; GELİR TABLOSU</a:t>
            </a:r>
            <a:endParaRPr lang="en-GB"/>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6"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15</a:t>
            </a:fld>
            <a:endParaRPr lang="tr-TR" sz="1200">
              <a:solidFill>
                <a:schemeClr val="tx2"/>
              </a:solidFill>
              <a:latin typeface="Verdana"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404010"/>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6A1301CB-32B8-4270-BB8E-517376A51352}" type="slidenum">
              <a:rPr lang="tr-TR" sz="1200">
                <a:solidFill>
                  <a:schemeClr val="tx2"/>
                </a:solidFill>
                <a:latin typeface="Verdana" pitchFamily="34" charset="0"/>
              </a:rPr>
              <a:pPr marL="0" indent="0" eaLnBrk="1" hangingPunct="1">
                <a:buNone/>
              </a:pPr>
              <a:t>16</a:t>
            </a:fld>
            <a:endParaRPr lang="tr-TR" sz="1200">
              <a:solidFill>
                <a:schemeClr val="tx2"/>
              </a:solidFill>
              <a:latin typeface="Verdana" pitchFamily="34" charset="0"/>
            </a:endParaRPr>
          </a:p>
        </p:txBody>
      </p:sp>
      <p:sp>
        <p:nvSpPr>
          <p:cNvPr id="13316" name="Rectangle 2"/>
          <p:cNvSpPr>
            <a:spLocks noGrp="1" noChangeArrowheads="1"/>
          </p:cNvSpPr>
          <p:nvPr>
            <p:ph type="title"/>
          </p:nvPr>
        </p:nvSpPr>
        <p:spPr>
          <a:xfrm>
            <a:off x="468313" y="260350"/>
            <a:ext cx="8229600" cy="774700"/>
          </a:xfrm>
        </p:spPr>
        <p:txBody>
          <a:bodyPr/>
          <a:lstStyle/>
          <a:p>
            <a:pPr eaLnBrk="1" hangingPunct="1"/>
            <a:r>
              <a:rPr lang="tr-TR" sz="4000"/>
              <a:t>Finansal Analiz</a:t>
            </a:r>
          </a:p>
        </p:txBody>
      </p:sp>
      <p:sp>
        <p:nvSpPr>
          <p:cNvPr id="13317" name="Rectangle 3"/>
          <p:cNvSpPr>
            <a:spLocks noGrp="1" noChangeArrowheads="1"/>
          </p:cNvSpPr>
          <p:nvPr>
            <p:ph type="body" idx="4294967295"/>
          </p:nvPr>
        </p:nvSpPr>
        <p:spPr>
          <a:xfrm>
            <a:off x="468313" y="1341438"/>
            <a:ext cx="8496300" cy="4862512"/>
          </a:xfrm>
          <a:prstGeom prst="rect">
            <a:avLst/>
          </a:prstGeom>
        </p:spPr>
        <p:txBody>
          <a:bodyPr/>
          <a:lstStyle/>
          <a:p>
            <a:pPr eaLnBrk="1" hangingPunct="1">
              <a:spcAft>
                <a:spcPct val="20000"/>
              </a:spcAft>
            </a:pPr>
            <a:r>
              <a:rPr lang="tr-TR" sz="1800">
                <a:latin typeface="Verdana" pitchFamily="34" charset="0"/>
                <a:ea typeface="Verdana" pitchFamily="34" charset="0"/>
                <a:cs typeface="Verdana" pitchFamily="34" charset="0"/>
              </a:rPr>
              <a:t>Amaç:</a:t>
            </a:r>
          </a:p>
          <a:p>
            <a:pPr lvl="1" eaLnBrk="1" hangingPunct="1">
              <a:spcAft>
                <a:spcPct val="20000"/>
              </a:spcAft>
            </a:pPr>
            <a:r>
              <a:rPr lang="tr-TR" sz="1800">
                <a:latin typeface="Verdana" pitchFamily="34" charset="0"/>
                <a:ea typeface="Verdana" pitchFamily="34" charset="0"/>
                <a:cs typeface="Verdana" pitchFamily="34" charset="0"/>
              </a:rPr>
              <a:t>Şirketin karlılık, sermaye verimliliği, mali yapısı ve gücünü incelemek,</a:t>
            </a:r>
          </a:p>
          <a:p>
            <a:pPr lvl="1" eaLnBrk="1" hangingPunct="1">
              <a:spcAft>
                <a:spcPct val="20000"/>
              </a:spcAft>
            </a:pPr>
            <a:r>
              <a:rPr lang="tr-TR" sz="1800">
                <a:latin typeface="Verdana" pitchFamily="34" charset="0"/>
                <a:ea typeface="Verdana" pitchFamily="34" charset="0"/>
                <a:cs typeface="Verdana" pitchFamily="34" charset="0"/>
              </a:rPr>
              <a:t>Şirketin mali tablolarındaki eğilimleri anlamak, </a:t>
            </a:r>
          </a:p>
          <a:p>
            <a:pPr lvl="1" eaLnBrk="1" hangingPunct="1">
              <a:spcAft>
                <a:spcPct val="20000"/>
              </a:spcAft>
            </a:pPr>
            <a:r>
              <a:rPr lang="tr-TR" sz="1800">
                <a:latin typeface="Verdana" pitchFamily="34" charset="0"/>
                <a:ea typeface="Verdana" pitchFamily="34" charset="0"/>
                <a:cs typeface="Verdana" pitchFamily="34" charset="0"/>
              </a:rPr>
              <a:t>Şirketin finansal geleceğine ait tahminlerde bulunabilmek,</a:t>
            </a:r>
          </a:p>
          <a:p>
            <a:pPr lvl="1" eaLnBrk="1" hangingPunct="1">
              <a:spcAft>
                <a:spcPct val="20000"/>
              </a:spcAft>
            </a:pPr>
            <a:r>
              <a:rPr lang="tr-TR" sz="1800">
                <a:latin typeface="Verdana" pitchFamily="34" charset="0"/>
                <a:ea typeface="Verdana" pitchFamily="34" charset="0"/>
                <a:cs typeface="Verdana" pitchFamily="34" charset="0"/>
              </a:rPr>
              <a:t>Diğer işletmelerin benzer sonuçları ile karşılaştırmaktır.</a:t>
            </a:r>
          </a:p>
          <a:p>
            <a:pPr eaLnBrk="1" hangingPunct="1">
              <a:spcAft>
                <a:spcPct val="20000"/>
              </a:spcAft>
            </a:pPr>
            <a:r>
              <a:rPr lang="tr-TR" sz="1800">
                <a:latin typeface="Verdana" pitchFamily="34" charset="0"/>
                <a:ea typeface="Verdana" pitchFamily="34" charset="0"/>
                <a:cs typeface="Verdana" pitchFamily="34" charset="0"/>
              </a:rPr>
              <a:t>Bu amaçla:</a:t>
            </a:r>
          </a:p>
          <a:p>
            <a:pPr lvl="1" algn="just" eaLnBrk="1" hangingPunct="1"/>
            <a:r>
              <a:rPr lang="tr-TR" sz="1800">
                <a:latin typeface="Verdana" pitchFamily="34" charset="0"/>
                <a:ea typeface="Verdana" pitchFamily="34" charset="0"/>
                <a:cs typeface="Verdana" pitchFamily="34" charset="0"/>
              </a:rPr>
              <a:t>Şirketin finansal bilgileri,</a:t>
            </a:r>
          </a:p>
          <a:p>
            <a:pPr lvl="2" algn="just" eaLnBrk="1" hangingPunct="1"/>
            <a:r>
              <a:rPr lang="tr-TR" sz="1800">
                <a:latin typeface="Verdana" pitchFamily="34" charset="0"/>
                <a:ea typeface="Verdana" pitchFamily="34" charset="0"/>
                <a:cs typeface="Verdana" pitchFamily="34" charset="0"/>
              </a:rPr>
              <a:t>Bilanço </a:t>
            </a:r>
          </a:p>
          <a:p>
            <a:pPr lvl="2" algn="just" eaLnBrk="1" hangingPunct="1"/>
            <a:r>
              <a:rPr lang="tr-TR" sz="1800">
                <a:latin typeface="Verdana" pitchFamily="34" charset="0"/>
                <a:ea typeface="Verdana" pitchFamily="34" charset="0"/>
                <a:cs typeface="Verdana" pitchFamily="34" charset="0"/>
              </a:rPr>
              <a:t>Gelir tablosu</a:t>
            </a:r>
          </a:p>
          <a:p>
            <a:pPr lvl="2" algn="just" eaLnBrk="1" hangingPunct="1"/>
            <a:r>
              <a:rPr lang="tr-TR" sz="1800">
                <a:latin typeface="Verdana" pitchFamily="34" charset="0"/>
                <a:ea typeface="Verdana" pitchFamily="34" charset="0"/>
                <a:cs typeface="Verdana" pitchFamily="34" charset="0"/>
              </a:rPr>
              <a:t>Faaliyet raporu</a:t>
            </a:r>
          </a:p>
          <a:p>
            <a:pPr lvl="1" algn="just" eaLnBrk="1" hangingPunct="1">
              <a:spcAft>
                <a:spcPct val="20000"/>
              </a:spcAft>
            </a:pPr>
            <a:r>
              <a:rPr lang="tr-TR" sz="1800">
                <a:latin typeface="Verdana" pitchFamily="34" charset="0"/>
                <a:ea typeface="Verdana" pitchFamily="34" charset="0"/>
                <a:cs typeface="Verdana" pitchFamily="34" charset="0"/>
              </a:rPr>
              <a:t>Sektörün finansal bilgileri analiz edilir &amp; yorumlanır.</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74301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31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31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31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31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31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build="p" bldLvl="3"/>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E4E2BCE2-E330-4F68-8A1D-F8B8626BBBF7}" type="slidenum">
              <a:rPr lang="tr-TR" sz="1200">
                <a:solidFill>
                  <a:schemeClr val="tx2"/>
                </a:solidFill>
                <a:latin typeface="Verdana" pitchFamily="34" charset="0"/>
              </a:rPr>
              <a:pPr marL="0" indent="0" eaLnBrk="1" hangingPunct="1">
                <a:buNone/>
              </a:pPr>
              <a:t>17</a:t>
            </a:fld>
            <a:endParaRPr lang="tr-TR" sz="1200">
              <a:solidFill>
                <a:schemeClr val="tx2"/>
              </a:solidFill>
              <a:latin typeface="Verdana" pitchFamily="34" charset="0"/>
            </a:endParaRPr>
          </a:p>
        </p:txBody>
      </p:sp>
      <p:sp>
        <p:nvSpPr>
          <p:cNvPr id="14340" name="Rectangle 2"/>
          <p:cNvSpPr>
            <a:spLocks noGrp="1" noChangeArrowheads="1"/>
          </p:cNvSpPr>
          <p:nvPr>
            <p:ph type="title"/>
          </p:nvPr>
        </p:nvSpPr>
        <p:spPr/>
        <p:txBody>
          <a:bodyPr/>
          <a:lstStyle/>
          <a:p>
            <a:pPr eaLnBrk="1" hangingPunct="1"/>
            <a:r>
              <a:rPr lang="tr-TR" sz="4000"/>
              <a:t>Bilanço</a:t>
            </a:r>
          </a:p>
        </p:txBody>
      </p:sp>
      <p:sp>
        <p:nvSpPr>
          <p:cNvPr id="14341" name="Rectangle 3"/>
          <p:cNvSpPr>
            <a:spLocks noGrp="1" noChangeArrowheads="1"/>
          </p:cNvSpPr>
          <p:nvPr>
            <p:ph type="body" idx="4294967295"/>
          </p:nvPr>
        </p:nvSpPr>
        <p:spPr>
          <a:xfrm>
            <a:off x="457200" y="1341438"/>
            <a:ext cx="8229600" cy="4789487"/>
          </a:xfrm>
          <a:prstGeom prst="rect">
            <a:avLst/>
          </a:prstGeom>
        </p:spPr>
        <p:txBody>
          <a:bodyPr/>
          <a:lstStyle/>
          <a:p>
            <a:pPr algn="just" eaLnBrk="1" hangingPunct="1">
              <a:spcAft>
                <a:spcPct val="20000"/>
              </a:spcAft>
            </a:pPr>
            <a:r>
              <a:rPr lang="tr-TR" sz="1800">
                <a:solidFill>
                  <a:schemeClr val="tx2"/>
                </a:solidFill>
                <a:latin typeface="Verdana" pitchFamily="34" charset="0"/>
                <a:ea typeface="Verdana" pitchFamily="34" charset="0"/>
                <a:cs typeface="Verdana" pitchFamily="34" charset="0"/>
              </a:rPr>
              <a:t>Bilanço</a:t>
            </a:r>
            <a:r>
              <a:rPr lang="tr-TR" sz="1800">
                <a:latin typeface="Verdana" pitchFamily="34" charset="0"/>
                <a:ea typeface="Verdana" pitchFamily="34" charset="0"/>
                <a:cs typeface="Verdana" pitchFamily="34" charset="0"/>
              </a:rPr>
              <a:t> bir işletmenin belli bir andaki mali durumunu gösteren tablodur. </a:t>
            </a:r>
          </a:p>
          <a:p>
            <a:pPr algn="just" eaLnBrk="1" hangingPunct="1">
              <a:spcAft>
                <a:spcPct val="20000"/>
              </a:spcAft>
            </a:pPr>
            <a:r>
              <a:rPr lang="tr-TR" sz="1800">
                <a:latin typeface="Verdana" pitchFamily="34" charset="0"/>
                <a:ea typeface="Verdana" pitchFamily="34" charset="0"/>
                <a:cs typeface="Verdana" pitchFamily="34" charset="0"/>
              </a:rPr>
              <a:t>Kısaca bilanço işletmenin </a:t>
            </a:r>
            <a:r>
              <a:rPr lang="tr-TR" sz="1800" b="1">
                <a:solidFill>
                  <a:srgbClr val="3333CC"/>
                </a:solidFill>
                <a:latin typeface="Verdana" pitchFamily="34" charset="0"/>
                <a:ea typeface="Verdana" pitchFamily="34" charset="0"/>
                <a:cs typeface="Verdana" pitchFamily="34" charset="0"/>
              </a:rPr>
              <a:t>belli bir andaki</a:t>
            </a:r>
            <a:r>
              <a:rPr lang="tr-TR" sz="1800">
                <a:solidFill>
                  <a:srgbClr val="3333CC"/>
                </a:solidFill>
                <a:latin typeface="Verdana" pitchFamily="34" charset="0"/>
                <a:ea typeface="Verdana" pitchFamily="34" charset="0"/>
                <a:cs typeface="Verdana" pitchFamily="34" charset="0"/>
              </a:rPr>
              <a:t> </a:t>
            </a:r>
            <a:r>
              <a:rPr lang="tr-TR" sz="1800">
                <a:latin typeface="Verdana" pitchFamily="34" charset="0"/>
                <a:ea typeface="Verdana" pitchFamily="34" charset="0"/>
                <a:cs typeface="Verdana" pitchFamily="34" charset="0"/>
              </a:rPr>
              <a:t>parasal kesitini göstermektedir.</a:t>
            </a:r>
          </a:p>
          <a:p>
            <a:pPr algn="just" eaLnBrk="1" hangingPunct="1">
              <a:spcAft>
                <a:spcPct val="20000"/>
              </a:spcAft>
            </a:pPr>
            <a:r>
              <a:rPr lang="tr-TR" sz="1800" b="1">
                <a:solidFill>
                  <a:srgbClr val="3333CC"/>
                </a:solidFill>
                <a:latin typeface="Verdana" pitchFamily="34" charset="0"/>
                <a:ea typeface="Verdana" pitchFamily="34" charset="0"/>
                <a:cs typeface="Verdana" pitchFamily="34" charset="0"/>
              </a:rPr>
              <a:t>Bilançonun temel ilkeleri şu şekilde belirlenebilir:</a:t>
            </a:r>
          </a:p>
          <a:p>
            <a:pPr lvl="1" algn="just" eaLnBrk="1" hangingPunct="1">
              <a:spcAft>
                <a:spcPct val="20000"/>
              </a:spcAft>
            </a:pPr>
            <a:r>
              <a:rPr lang="tr-TR" sz="1800">
                <a:latin typeface="Verdana" pitchFamily="34" charset="0"/>
                <a:ea typeface="Verdana" pitchFamily="34" charset="0"/>
                <a:cs typeface="Verdana" pitchFamily="34" charset="0"/>
              </a:rPr>
              <a:t>Ulusal para biriminin, bilançoda yer alan ekonomik değerler ile kaynakların ifade edilmesinde esas alınması,</a:t>
            </a:r>
          </a:p>
          <a:p>
            <a:pPr lvl="1" algn="just" eaLnBrk="1" hangingPunct="1">
              <a:spcAft>
                <a:spcPct val="20000"/>
              </a:spcAft>
            </a:pPr>
            <a:r>
              <a:rPr lang="tr-TR" sz="1800">
                <a:latin typeface="Verdana" pitchFamily="34" charset="0"/>
                <a:ea typeface="Verdana" pitchFamily="34" charset="0"/>
                <a:cs typeface="Verdana" pitchFamily="34" charset="0"/>
              </a:rPr>
              <a:t>Bilançonun, belli muhasebe kavramları ile genel kabul görmüş muhasebe ilkelerine uygun olarak düzenlenmesi,</a:t>
            </a:r>
          </a:p>
          <a:p>
            <a:pPr lvl="1" algn="just" eaLnBrk="1" hangingPunct="1">
              <a:spcAft>
                <a:spcPct val="20000"/>
              </a:spcAft>
            </a:pPr>
            <a:r>
              <a:rPr lang="tr-TR" sz="1800">
                <a:latin typeface="Verdana" pitchFamily="34" charset="0"/>
                <a:ea typeface="Verdana" pitchFamily="34" charset="0"/>
                <a:cs typeface="Verdana" pitchFamily="34" charset="0"/>
              </a:rPr>
              <a:t>Bilançonun, geçmiş dönem faaliyetlerine ilişkin bir belge olduğunun kabul edilmesi.</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607405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4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4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4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build="p" bldLvl="3"/>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6" name="Rectangle 2"/>
          <p:cNvSpPr>
            <a:spLocks noGrp="1" noChangeArrowheads="1"/>
          </p:cNvSpPr>
          <p:nvPr>
            <p:ph type="title"/>
          </p:nvPr>
        </p:nvSpPr>
        <p:spPr>
          <a:xfrm>
            <a:off x="457200" y="277813"/>
            <a:ext cx="8229600" cy="774700"/>
          </a:xfrm>
        </p:spPr>
        <p:txBody>
          <a:bodyPr/>
          <a:lstStyle/>
          <a:p>
            <a:pPr eaLnBrk="1" hangingPunct="1"/>
            <a:r>
              <a:rPr lang="tr-TR" sz="3600"/>
              <a:t>????? A.Ş.</a:t>
            </a:r>
          </a:p>
        </p:txBody>
      </p:sp>
      <p:sp>
        <p:nvSpPr>
          <p:cNvPr id="7" name="Rectangle 3"/>
          <p:cNvSpPr txBox="1">
            <a:spLocks noChangeArrowheads="1"/>
          </p:cNvSpPr>
          <p:nvPr/>
        </p:nvSpPr>
        <p:spPr>
          <a:xfrm>
            <a:off x="504825" y="1328738"/>
            <a:ext cx="4103688" cy="4795837"/>
          </a:xfrm>
          <a:prstGeom prst="rect">
            <a:avLst/>
          </a:prstGeom>
          <a:noFill/>
          <a:ln>
            <a:solidFill>
              <a:schemeClr val="tx1"/>
            </a:solidFill>
            <a:miter lim="800000"/>
            <a:headEnd/>
            <a:tailEnd/>
          </a:ln>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tr-TR" sz="2000" b="1">
                <a:solidFill>
                  <a:srgbClr val="3333CC"/>
                </a:solidFill>
                <a:latin typeface="Verdana" pitchFamily="34" charset="0"/>
                <a:ea typeface="Verdana" pitchFamily="34" charset="0"/>
                <a:cs typeface="Verdana" pitchFamily="34" charset="0"/>
              </a:rPr>
              <a:t>Yatırımlar</a:t>
            </a:r>
          </a:p>
          <a:p>
            <a:pPr lvl="1"/>
            <a:r>
              <a:rPr lang="tr-TR" sz="2000">
                <a:latin typeface="Verdana" pitchFamily="34" charset="0"/>
                <a:ea typeface="Verdana" pitchFamily="34" charset="0"/>
                <a:cs typeface="Verdana" pitchFamily="34" charset="0"/>
              </a:rPr>
              <a:t>Kısa Vade</a:t>
            </a:r>
          </a:p>
          <a:p>
            <a:pPr lvl="1"/>
            <a:r>
              <a:rPr lang="tr-TR" sz="2000">
                <a:latin typeface="Verdana" pitchFamily="34" charset="0"/>
                <a:ea typeface="Verdana" pitchFamily="34" charset="0"/>
                <a:cs typeface="Verdana" pitchFamily="34" charset="0"/>
              </a:rPr>
              <a:t>Uzun Vade</a:t>
            </a:r>
          </a:p>
        </p:txBody>
      </p:sp>
      <p:sp>
        <p:nvSpPr>
          <p:cNvPr id="8" name="Rectangle 4"/>
          <p:cNvSpPr txBox="1">
            <a:spLocks noChangeArrowheads="1"/>
          </p:cNvSpPr>
          <p:nvPr/>
        </p:nvSpPr>
        <p:spPr>
          <a:xfrm>
            <a:off x="4537075" y="1328738"/>
            <a:ext cx="4103688" cy="4795837"/>
          </a:xfrm>
          <a:prstGeom prst="rect">
            <a:avLst/>
          </a:prstGeom>
          <a:noFill/>
          <a:ln>
            <a:solidFill>
              <a:schemeClr val="tx1"/>
            </a:solidFill>
            <a:miter lim="800000"/>
            <a:headEnd/>
            <a:tailEnd/>
          </a:ln>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tr-TR" sz="2000" b="1">
                <a:solidFill>
                  <a:srgbClr val="3333CC"/>
                </a:solidFill>
                <a:latin typeface="Verdana" pitchFamily="34" charset="0"/>
                <a:ea typeface="Verdana" pitchFamily="34" charset="0"/>
                <a:cs typeface="Verdana" pitchFamily="34" charset="0"/>
              </a:rPr>
              <a:t>Finansman</a:t>
            </a:r>
          </a:p>
          <a:p>
            <a:pPr lvl="1"/>
            <a:r>
              <a:rPr lang="tr-TR" sz="2000">
                <a:latin typeface="Verdana" pitchFamily="34" charset="0"/>
                <a:ea typeface="Verdana" pitchFamily="34" charset="0"/>
                <a:cs typeface="Verdana" pitchFamily="34" charset="0"/>
              </a:rPr>
              <a:t>Kısa Vade</a:t>
            </a:r>
          </a:p>
          <a:p>
            <a:pPr lvl="2"/>
            <a:r>
              <a:rPr lang="tr-TR" sz="2000">
                <a:latin typeface="Verdana" pitchFamily="34" charset="0"/>
                <a:ea typeface="Verdana" pitchFamily="34" charset="0"/>
                <a:cs typeface="Verdana" pitchFamily="34" charset="0"/>
              </a:rPr>
              <a:t>Borç</a:t>
            </a:r>
          </a:p>
          <a:p>
            <a:pPr lvl="1"/>
            <a:r>
              <a:rPr lang="tr-TR" sz="2000">
                <a:latin typeface="Verdana" pitchFamily="34" charset="0"/>
                <a:ea typeface="Verdana" pitchFamily="34" charset="0"/>
                <a:cs typeface="Verdana" pitchFamily="34" charset="0"/>
              </a:rPr>
              <a:t>Uzun Vade</a:t>
            </a:r>
          </a:p>
          <a:p>
            <a:pPr lvl="2"/>
            <a:r>
              <a:rPr lang="tr-TR" sz="2000">
                <a:latin typeface="Verdana" pitchFamily="34" charset="0"/>
                <a:ea typeface="Verdana" pitchFamily="34" charset="0"/>
                <a:cs typeface="Verdana" pitchFamily="34" charset="0"/>
              </a:rPr>
              <a:t>Borç</a:t>
            </a:r>
          </a:p>
          <a:p>
            <a:pPr lvl="2"/>
            <a:r>
              <a:rPr lang="tr-TR" sz="2000">
                <a:latin typeface="Verdana" pitchFamily="34" charset="0"/>
                <a:ea typeface="Verdana" pitchFamily="34" charset="0"/>
                <a:cs typeface="Verdana" pitchFamily="34" charset="0"/>
              </a:rPr>
              <a:t>Özsermaye</a:t>
            </a:r>
          </a:p>
          <a:p>
            <a:pPr algn="ctr"/>
            <a:endParaRPr lang="tr-TR" sz="2000">
              <a:latin typeface="Verdana" pitchFamily="34" charset="0"/>
              <a:ea typeface="Verdana" pitchFamily="34" charset="0"/>
              <a:cs typeface="Verdana" pitchFamily="34" charset="0"/>
            </a:endParaRPr>
          </a:p>
          <a:p>
            <a:pPr algn="ctr">
              <a:buFont typeface="Wingdings" pitchFamily="2" charset="2"/>
              <a:buNone/>
            </a:pPr>
            <a:endParaRPr lang="tr-TR" sz="2000">
              <a:latin typeface="Verdana" pitchFamily="34" charset="0"/>
              <a:ea typeface="Verdana" pitchFamily="34" charset="0"/>
              <a:cs typeface="Verdana" pitchFamily="34" charset="0"/>
            </a:endParaRPr>
          </a:p>
        </p:txBody>
      </p:sp>
      <p:sp>
        <p:nvSpPr>
          <p:cNvPr id="9"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18</a:t>
            </a:fld>
            <a:endParaRPr lang="tr-TR" sz="1200">
              <a:solidFill>
                <a:schemeClr val="tx2"/>
              </a:solidFill>
              <a:latin typeface="Verdana"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19</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590872" y="277813"/>
            <a:ext cx="8229600" cy="774700"/>
          </a:xfrm>
        </p:spPr>
        <p:txBody>
          <a:bodyPr/>
          <a:lstStyle/>
          <a:p>
            <a:pPr eaLnBrk="1" hangingPunct="1"/>
            <a:r>
              <a:rPr lang="tr-TR" sz="3600"/>
              <a:t>????? A.Ş.</a:t>
            </a:r>
          </a:p>
        </p:txBody>
      </p:sp>
      <p:sp>
        <p:nvSpPr>
          <p:cNvPr id="7" name="Rectangle 3"/>
          <p:cNvSpPr txBox="1">
            <a:spLocks noChangeArrowheads="1"/>
          </p:cNvSpPr>
          <p:nvPr/>
        </p:nvSpPr>
        <p:spPr>
          <a:xfrm>
            <a:off x="504825" y="1328738"/>
            <a:ext cx="4103688" cy="4795837"/>
          </a:xfrm>
          <a:prstGeom prst="rect">
            <a:avLst/>
          </a:prstGeom>
          <a:noFill/>
          <a:ln>
            <a:solidFill>
              <a:schemeClr val="tx1"/>
            </a:solidFill>
            <a:miter lim="800000"/>
            <a:headEnd/>
            <a:tailEnd/>
          </a:ln>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tr-TR" sz="2000" b="1">
                <a:solidFill>
                  <a:srgbClr val="3333CC"/>
                </a:solidFill>
                <a:latin typeface="Verdana" pitchFamily="34" charset="0"/>
                <a:ea typeface="Verdana" pitchFamily="34" charset="0"/>
                <a:cs typeface="Verdana" pitchFamily="34" charset="0"/>
              </a:rPr>
              <a:t>Aktifler</a:t>
            </a:r>
          </a:p>
          <a:p>
            <a:endParaRPr lang="tr-TR" sz="2000">
              <a:latin typeface="Verdana" pitchFamily="34" charset="0"/>
              <a:ea typeface="Verdana" pitchFamily="34" charset="0"/>
              <a:cs typeface="Verdana" pitchFamily="34" charset="0"/>
            </a:endParaRPr>
          </a:p>
          <a:p>
            <a:pPr lvl="1"/>
            <a:r>
              <a:rPr lang="tr-TR" sz="2000">
                <a:latin typeface="Verdana" pitchFamily="34" charset="0"/>
                <a:ea typeface="Verdana" pitchFamily="34" charset="0"/>
                <a:cs typeface="Verdana" pitchFamily="34" charset="0"/>
              </a:rPr>
              <a:t>Dönen Varlıklar</a:t>
            </a:r>
          </a:p>
          <a:p>
            <a:pPr lvl="1">
              <a:buFont typeface="Wingdings" pitchFamily="2" charset="2"/>
              <a:buNone/>
            </a:pPr>
            <a:endParaRPr lang="tr-TR" sz="2000">
              <a:latin typeface="Verdana" pitchFamily="34" charset="0"/>
              <a:ea typeface="Verdana" pitchFamily="34" charset="0"/>
              <a:cs typeface="Verdana" pitchFamily="34" charset="0"/>
            </a:endParaRPr>
          </a:p>
          <a:p>
            <a:pPr lvl="1"/>
            <a:r>
              <a:rPr lang="tr-TR" sz="2000">
                <a:latin typeface="Verdana" pitchFamily="34" charset="0"/>
                <a:ea typeface="Verdana" pitchFamily="34" charset="0"/>
                <a:cs typeface="Verdana" pitchFamily="34" charset="0"/>
              </a:rPr>
              <a:t>Duran Varlıklar</a:t>
            </a:r>
          </a:p>
        </p:txBody>
      </p:sp>
      <p:sp>
        <p:nvSpPr>
          <p:cNvPr id="8" name="Rectangle 4"/>
          <p:cNvSpPr txBox="1">
            <a:spLocks noChangeArrowheads="1"/>
          </p:cNvSpPr>
          <p:nvPr/>
        </p:nvSpPr>
        <p:spPr>
          <a:xfrm>
            <a:off x="4537075" y="1328738"/>
            <a:ext cx="4103688" cy="4795837"/>
          </a:xfrm>
          <a:prstGeom prst="rect">
            <a:avLst/>
          </a:prstGeom>
          <a:noFill/>
          <a:ln>
            <a:solidFill>
              <a:schemeClr val="tx1"/>
            </a:solidFill>
            <a:miter lim="800000"/>
            <a:headEnd/>
            <a:tailEnd/>
          </a:ln>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tr-TR" sz="2000" b="1">
                <a:solidFill>
                  <a:srgbClr val="3333CC"/>
                </a:solidFill>
                <a:latin typeface="Verdana" pitchFamily="34" charset="0"/>
                <a:ea typeface="Verdana" pitchFamily="34" charset="0"/>
                <a:cs typeface="Verdana" pitchFamily="34" charset="0"/>
              </a:rPr>
              <a:t>Pasifler</a:t>
            </a:r>
          </a:p>
          <a:p>
            <a:pPr lvl="1"/>
            <a:endParaRPr lang="tr-TR" sz="2000">
              <a:latin typeface="Verdana" pitchFamily="34" charset="0"/>
              <a:ea typeface="Verdana" pitchFamily="34" charset="0"/>
              <a:cs typeface="Verdana" pitchFamily="34" charset="0"/>
            </a:endParaRPr>
          </a:p>
          <a:p>
            <a:pPr lvl="1"/>
            <a:r>
              <a:rPr lang="tr-TR" sz="2000">
                <a:latin typeface="Verdana" pitchFamily="34" charset="0"/>
                <a:ea typeface="Verdana" pitchFamily="34" charset="0"/>
                <a:cs typeface="Verdana" pitchFamily="34" charset="0"/>
              </a:rPr>
              <a:t>Borçlar</a:t>
            </a:r>
          </a:p>
          <a:p>
            <a:pPr lvl="1">
              <a:buFont typeface="Wingdings" pitchFamily="2" charset="2"/>
              <a:buNone/>
            </a:pPr>
            <a:endParaRPr lang="tr-TR" sz="2000">
              <a:latin typeface="Verdana" pitchFamily="34" charset="0"/>
              <a:ea typeface="Verdana" pitchFamily="34" charset="0"/>
              <a:cs typeface="Verdana" pitchFamily="34" charset="0"/>
            </a:endParaRPr>
          </a:p>
          <a:p>
            <a:pPr lvl="1"/>
            <a:r>
              <a:rPr lang="tr-TR" sz="2000">
                <a:latin typeface="Verdana" pitchFamily="34" charset="0"/>
                <a:ea typeface="Verdana" pitchFamily="34" charset="0"/>
                <a:cs typeface="Verdana" pitchFamily="34" charset="0"/>
              </a:rPr>
              <a:t>Özsermaye</a:t>
            </a:r>
          </a:p>
          <a:p>
            <a:pPr algn="ctr">
              <a:buFont typeface="Wingdings" pitchFamily="2" charset="2"/>
              <a:buNone/>
            </a:pPr>
            <a:endParaRPr lang="tr-TR" sz="200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78650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32439" y="6453336"/>
            <a:ext cx="596025" cy="40466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52488E9-A935-4DC8-AF51-E039B70CE7BB}" type="slidenum">
              <a:rPr lang="tr-TR" sz="1200">
                <a:solidFill>
                  <a:schemeClr val="tx2"/>
                </a:solidFill>
                <a:latin typeface="Verdana" pitchFamily="34" charset="0"/>
              </a:rPr>
              <a:pPr marL="0" indent="0" eaLnBrk="1" hangingPunct="1">
                <a:buNone/>
              </a:pPr>
              <a:t>20</a:t>
            </a:fld>
            <a:endParaRPr lang="tr-TR" sz="1200">
              <a:solidFill>
                <a:schemeClr val="tx2"/>
              </a:solidFill>
              <a:latin typeface="Verdana" pitchFamily="34" charset="0"/>
            </a:endParaRPr>
          </a:p>
        </p:txBody>
      </p:sp>
      <p:sp>
        <p:nvSpPr>
          <p:cNvPr id="19460" name="Rectangle 2"/>
          <p:cNvSpPr>
            <a:spLocks noGrp="1" noChangeArrowheads="1"/>
          </p:cNvSpPr>
          <p:nvPr>
            <p:ph type="title"/>
          </p:nvPr>
        </p:nvSpPr>
        <p:spPr/>
        <p:txBody>
          <a:bodyPr/>
          <a:lstStyle/>
          <a:p>
            <a:r>
              <a:rPr lang="tr-TR"/>
              <a:t>Pide A.Ş.</a:t>
            </a:r>
          </a:p>
        </p:txBody>
      </p:sp>
      <p:sp>
        <p:nvSpPr>
          <p:cNvPr id="19461" name="Rectangle 3"/>
          <p:cNvSpPr>
            <a:spLocks noGrp="1" noChangeArrowheads="1"/>
          </p:cNvSpPr>
          <p:nvPr>
            <p:ph type="body" idx="4294967295"/>
          </p:nvPr>
        </p:nvSpPr>
        <p:spPr>
          <a:xfrm>
            <a:off x="457200" y="1268413"/>
            <a:ext cx="8229600" cy="4862512"/>
          </a:xfrm>
          <a:prstGeom prst="rect">
            <a:avLst/>
          </a:prstGeom>
        </p:spPr>
        <p:txBody>
          <a:bodyPr/>
          <a:lstStyle/>
          <a:p>
            <a:r>
              <a:rPr lang="tr-TR" sz="2800" b="1">
                <a:solidFill>
                  <a:srgbClr val="0C0000"/>
                </a:solidFill>
                <a:latin typeface="+mj-lt"/>
                <a:ea typeface="Verdana" pitchFamily="34" charset="0"/>
                <a:cs typeface="Verdana" pitchFamily="34" charset="0"/>
              </a:rPr>
              <a:t>Vaka 1:</a:t>
            </a:r>
          </a:p>
          <a:p>
            <a:r>
              <a:rPr lang="tr-TR" sz="2800">
                <a:latin typeface="+mj-lt"/>
              </a:rPr>
              <a:t>100.000 TL nakit sermaye ile Pide A.Ş. isimli bir şirket kuralım.</a:t>
            </a:r>
            <a:endParaRPr lang="tr-TR" sz="2800">
              <a:latin typeface="+mj-lt"/>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75322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uild="p" bldLvl="2"/>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7" y="6469287"/>
            <a:ext cx="510489"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C61DA20A-06D4-406F-B32E-FB9A42660090}" type="slidenum">
              <a:rPr lang="tr-TR" sz="1200">
                <a:solidFill>
                  <a:schemeClr val="tx2"/>
                </a:solidFill>
                <a:latin typeface="Verdana" pitchFamily="34" charset="0"/>
              </a:rPr>
              <a:pPr marL="0" indent="0" eaLnBrk="1" hangingPunct="1">
                <a:buNone/>
              </a:pPr>
              <a:t>21</a:t>
            </a:fld>
            <a:endParaRPr lang="tr-TR" sz="1200">
              <a:solidFill>
                <a:schemeClr val="tx2"/>
              </a:solidFill>
              <a:latin typeface="Verdana" pitchFamily="34" charset="0"/>
            </a:endParaRPr>
          </a:p>
        </p:txBody>
      </p:sp>
      <p:sp>
        <p:nvSpPr>
          <p:cNvPr id="29700" name="Rectangle 2"/>
          <p:cNvSpPr>
            <a:spLocks noGrp="1" noChangeArrowheads="1"/>
          </p:cNvSpPr>
          <p:nvPr>
            <p:ph type="title"/>
          </p:nvPr>
        </p:nvSpPr>
        <p:spPr/>
        <p:txBody>
          <a:bodyPr/>
          <a:lstStyle/>
          <a:p>
            <a:pPr eaLnBrk="1" hangingPunct="1"/>
            <a:r>
              <a:rPr lang="tr-TR" sz="4000"/>
              <a:t>Özsermaye</a:t>
            </a:r>
          </a:p>
        </p:txBody>
      </p:sp>
      <p:sp>
        <p:nvSpPr>
          <p:cNvPr id="29701" name="Rectangle 3"/>
          <p:cNvSpPr>
            <a:spLocks noGrp="1" noChangeArrowheads="1"/>
          </p:cNvSpPr>
          <p:nvPr>
            <p:ph type="body" idx="4294967295"/>
          </p:nvPr>
        </p:nvSpPr>
        <p:spPr>
          <a:xfrm>
            <a:off x="457200" y="1412875"/>
            <a:ext cx="8229600" cy="4718050"/>
          </a:xfrm>
          <a:prstGeom prst="rect">
            <a:avLst/>
          </a:prstGeom>
        </p:spPr>
        <p:txBody>
          <a:bodyPr/>
          <a:lstStyle/>
          <a:p>
            <a:pPr algn="just" eaLnBrk="1" hangingPunct="1">
              <a:buFont typeface="Wingdings" pitchFamily="2" charset="2"/>
              <a:buNone/>
            </a:pPr>
            <a:r>
              <a:rPr lang="tr-TR" sz="1800" b="1">
                <a:solidFill>
                  <a:srgbClr val="3333CC"/>
                </a:solidFill>
                <a:latin typeface="Verdana" pitchFamily="34" charset="0"/>
                <a:ea typeface="Verdana" pitchFamily="34" charset="0"/>
                <a:cs typeface="Verdana" pitchFamily="34" charset="0"/>
              </a:rPr>
              <a:t>Şirketin defter değeridir.</a:t>
            </a:r>
          </a:p>
          <a:p>
            <a:pPr algn="just" eaLnBrk="1" hangingPunct="1"/>
            <a:endParaRPr lang="tr-TR" sz="1600">
              <a:latin typeface="Verdana" pitchFamily="34" charset="0"/>
              <a:ea typeface="Verdana" pitchFamily="34" charset="0"/>
              <a:cs typeface="Verdana" pitchFamily="34" charset="0"/>
            </a:endParaRPr>
          </a:p>
          <a:p>
            <a:pPr algn="just" eaLnBrk="1" hangingPunct="1">
              <a:spcAft>
                <a:spcPts val="1200"/>
              </a:spcAft>
            </a:pPr>
            <a:r>
              <a:rPr lang="tr-TR" sz="1600">
                <a:latin typeface="Verdana" pitchFamily="34" charset="0"/>
                <a:ea typeface="Verdana" pitchFamily="34" charset="0"/>
                <a:cs typeface="Verdana" pitchFamily="34" charset="0"/>
              </a:rPr>
              <a:t>Ödenmiş Sermaye</a:t>
            </a:r>
          </a:p>
          <a:p>
            <a:pPr algn="just">
              <a:spcAft>
                <a:spcPts val="1200"/>
              </a:spcAft>
            </a:pPr>
            <a:r>
              <a:rPr lang="tr-TR" sz="1600">
                <a:latin typeface="Verdana" pitchFamily="34" charset="0"/>
                <a:ea typeface="Verdana" pitchFamily="34" charset="0"/>
                <a:cs typeface="Verdana" pitchFamily="34" charset="0"/>
              </a:rPr>
              <a:t>Geri Alınmış Paylar (-)</a:t>
            </a:r>
          </a:p>
          <a:p>
            <a:pPr algn="just" eaLnBrk="1" hangingPunct="1">
              <a:spcAft>
                <a:spcPts val="1200"/>
              </a:spcAft>
            </a:pPr>
            <a:r>
              <a:rPr lang="tr-TR" sz="1600">
                <a:latin typeface="Verdana" pitchFamily="34" charset="0"/>
                <a:ea typeface="Verdana" pitchFamily="34" charset="0"/>
                <a:cs typeface="Verdana" pitchFamily="34" charset="0"/>
              </a:rPr>
              <a:t>Hisse Senedi İhraç Primleri (emisyon primi)</a:t>
            </a:r>
          </a:p>
          <a:p>
            <a:pPr algn="just" eaLnBrk="1" hangingPunct="1">
              <a:spcAft>
                <a:spcPts val="1200"/>
              </a:spcAft>
            </a:pPr>
            <a:r>
              <a:rPr lang="tr-TR" sz="1600">
                <a:latin typeface="Verdana" pitchFamily="34" charset="0"/>
                <a:ea typeface="Verdana" pitchFamily="34" charset="0"/>
                <a:cs typeface="Verdana" pitchFamily="34" charset="0"/>
              </a:rPr>
              <a:t>Yeniden Değerleme Değer Artış Fonu</a:t>
            </a:r>
          </a:p>
          <a:p>
            <a:pPr algn="just" eaLnBrk="1" hangingPunct="1">
              <a:spcAft>
                <a:spcPts val="1200"/>
              </a:spcAft>
            </a:pPr>
            <a:r>
              <a:rPr lang="tr-TR" sz="1600">
                <a:latin typeface="Verdana" pitchFamily="34" charset="0"/>
                <a:ea typeface="Verdana" pitchFamily="34" charset="0"/>
                <a:cs typeface="Verdana" pitchFamily="34" charset="0"/>
              </a:rPr>
              <a:t>Birikmiş Kazançlar</a:t>
            </a:r>
          </a:p>
          <a:p>
            <a:pPr marL="762000" lvl="1" indent="-304800" algn="just" eaLnBrk="1" hangingPunct="1">
              <a:spcAft>
                <a:spcPts val="1200"/>
              </a:spcAft>
            </a:pPr>
            <a:r>
              <a:rPr lang="tr-TR" sz="1600">
                <a:latin typeface="Verdana" pitchFamily="34" charset="0"/>
                <a:ea typeface="Verdana" pitchFamily="34" charset="0"/>
                <a:cs typeface="Verdana" pitchFamily="34" charset="0"/>
              </a:rPr>
              <a:t>Kar Yedekleri</a:t>
            </a:r>
          </a:p>
          <a:p>
            <a:pPr marL="762000" lvl="1" indent="-304800" algn="just" eaLnBrk="1" hangingPunct="1">
              <a:spcAft>
                <a:spcPts val="1200"/>
              </a:spcAft>
            </a:pPr>
            <a:r>
              <a:rPr lang="tr-TR" sz="1600">
                <a:latin typeface="Verdana" pitchFamily="34" charset="0"/>
                <a:ea typeface="Verdana" pitchFamily="34" charset="0"/>
                <a:cs typeface="Verdana" pitchFamily="34" charset="0"/>
              </a:rPr>
              <a:t>Geçmiş Yıllar Zararları</a:t>
            </a:r>
          </a:p>
          <a:p>
            <a:pPr algn="just" eaLnBrk="1" hangingPunct="1">
              <a:spcAft>
                <a:spcPts val="1200"/>
              </a:spcAft>
            </a:pPr>
            <a:r>
              <a:rPr lang="tr-TR" sz="1600">
                <a:latin typeface="Verdana" pitchFamily="34" charset="0"/>
                <a:ea typeface="Verdana" pitchFamily="34" charset="0"/>
                <a:cs typeface="Verdana" pitchFamily="34" charset="0"/>
              </a:rPr>
              <a:t>Net Dönem Karı (Zararı)</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5494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0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0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70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70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70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70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22</a:t>
            </a:fld>
            <a:endParaRPr lang="tr-TR" sz="1200">
              <a:solidFill>
                <a:schemeClr val="tx2"/>
              </a:solidFill>
              <a:latin typeface="Verdana" pitchFamily="34" charset="0"/>
            </a:endParaRPr>
          </a:p>
        </p:txBody>
      </p:sp>
      <p:sp>
        <p:nvSpPr>
          <p:cNvPr id="7" name="Rectangle 2"/>
          <p:cNvSpPr>
            <a:spLocks noGrp="1" noChangeArrowheads="1"/>
          </p:cNvSpPr>
          <p:nvPr>
            <p:ph type="title"/>
          </p:nvPr>
        </p:nvSpPr>
        <p:spPr>
          <a:xfrm>
            <a:off x="457200" y="277813"/>
            <a:ext cx="8229600" cy="774700"/>
          </a:xfrm>
        </p:spPr>
        <p:txBody>
          <a:bodyPr/>
          <a:lstStyle/>
          <a:p>
            <a:pPr eaLnBrk="1" hangingPunct="1"/>
            <a:r>
              <a:rPr lang="tr-TR" sz="4000"/>
              <a:t>Dönen Varlıklar  </a:t>
            </a:r>
          </a:p>
        </p:txBody>
      </p:sp>
      <p:sp>
        <p:nvSpPr>
          <p:cNvPr id="8" name="Rectangle 3"/>
          <p:cNvSpPr txBox="1">
            <a:spLocks noChangeArrowheads="1"/>
          </p:cNvSpPr>
          <p:nvPr/>
        </p:nvSpPr>
        <p:spPr>
          <a:xfrm>
            <a:off x="457200" y="1268412"/>
            <a:ext cx="8229600" cy="5112915"/>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spcAft>
                <a:spcPts val="1200"/>
              </a:spcAft>
            </a:pPr>
            <a:r>
              <a:rPr lang="tr-TR" sz="1800">
                <a:latin typeface="Verdana" pitchFamily="34" charset="0"/>
                <a:ea typeface="Verdana" pitchFamily="34" charset="0"/>
                <a:cs typeface="Verdana" pitchFamily="34" charset="0"/>
              </a:rPr>
              <a:t>Hazır Değerler</a:t>
            </a:r>
          </a:p>
          <a:p>
            <a:pPr lvl="1">
              <a:lnSpc>
                <a:spcPct val="80000"/>
              </a:lnSpc>
              <a:spcAft>
                <a:spcPts val="1200"/>
              </a:spcAft>
            </a:pPr>
            <a:r>
              <a:rPr lang="tr-TR" sz="1800">
                <a:latin typeface="Verdana" pitchFamily="34" charset="0"/>
                <a:ea typeface="Verdana" pitchFamily="34" charset="0"/>
                <a:cs typeface="Verdana" pitchFamily="34" charset="0"/>
              </a:rPr>
              <a:t>Kasa</a:t>
            </a:r>
          </a:p>
          <a:p>
            <a:pPr lvl="1">
              <a:lnSpc>
                <a:spcPct val="80000"/>
              </a:lnSpc>
              <a:spcAft>
                <a:spcPts val="1200"/>
              </a:spcAft>
            </a:pPr>
            <a:r>
              <a:rPr lang="tr-TR" sz="1800">
                <a:latin typeface="Verdana" pitchFamily="34" charset="0"/>
                <a:ea typeface="Verdana" pitchFamily="34" charset="0"/>
                <a:cs typeface="Verdana" pitchFamily="34" charset="0"/>
              </a:rPr>
              <a:t>Bankalar</a:t>
            </a:r>
          </a:p>
          <a:p>
            <a:pPr>
              <a:lnSpc>
                <a:spcPct val="80000"/>
              </a:lnSpc>
              <a:spcAft>
                <a:spcPts val="1200"/>
              </a:spcAft>
            </a:pPr>
            <a:r>
              <a:rPr lang="tr-TR" sz="1800">
                <a:latin typeface="Verdana" pitchFamily="34" charset="0"/>
                <a:ea typeface="Verdana" pitchFamily="34" charset="0"/>
                <a:cs typeface="Verdana" pitchFamily="34" charset="0"/>
              </a:rPr>
              <a:t>Menkul Kıymetler</a:t>
            </a:r>
          </a:p>
          <a:p>
            <a:pPr>
              <a:lnSpc>
                <a:spcPct val="80000"/>
              </a:lnSpc>
              <a:spcAft>
                <a:spcPts val="1200"/>
              </a:spcAft>
            </a:pPr>
            <a:r>
              <a:rPr lang="tr-TR" sz="1800">
                <a:latin typeface="Verdana" pitchFamily="34" charset="0"/>
                <a:ea typeface="Verdana" pitchFamily="34" charset="0"/>
                <a:cs typeface="Verdana" pitchFamily="34" charset="0"/>
              </a:rPr>
              <a:t>Kısa Vadeli Ticari Alacaklar</a:t>
            </a:r>
          </a:p>
          <a:p>
            <a:pPr>
              <a:lnSpc>
                <a:spcPct val="80000"/>
              </a:lnSpc>
              <a:spcAft>
                <a:spcPts val="1200"/>
              </a:spcAft>
            </a:pPr>
            <a:r>
              <a:rPr lang="tr-TR" sz="1800">
                <a:latin typeface="Verdana" pitchFamily="34" charset="0"/>
                <a:ea typeface="Verdana" pitchFamily="34" charset="0"/>
                <a:cs typeface="Verdana" pitchFamily="34" charset="0"/>
              </a:rPr>
              <a:t>Stoklar</a:t>
            </a:r>
          </a:p>
          <a:p>
            <a:pPr>
              <a:lnSpc>
                <a:spcPct val="80000"/>
              </a:lnSpc>
              <a:spcAft>
                <a:spcPts val="1200"/>
              </a:spcAft>
            </a:pPr>
            <a:r>
              <a:rPr lang="tr-TR" sz="1800">
                <a:latin typeface="Verdana" pitchFamily="34" charset="0"/>
                <a:ea typeface="Verdana" pitchFamily="34" charset="0"/>
                <a:cs typeface="Verdana" pitchFamily="34" charset="0"/>
              </a:rPr>
              <a:t>Peşin Ödenen Giderler </a:t>
            </a:r>
          </a:p>
          <a:p>
            <a:pPr>
              <a:lnSpc>
                <a:spcPct val="80000"/>
              </a:lnSpc>
              <a:spcAft>
                <a:spcPts val="1200"/>
              </a:spcAft>
            </a:pPr>
            <a:r>
              <a:rPr lang="tr-TR" sz="1800">
                <a:latin typeface="Verdana" pitchFamily="34" charset="0"/>
                <a:ea typeface="Verdana" pitchFamily="34" charset="0"/>
                <a:cs typeface="Verdana" pitchFamily="34" charset="0"/>
              </a:rPr>
              <a:t>Diğer Dönen Varlıklar</a:t>
            </a:r>
          </a:p>
        </p:txBody>
      </p:sp>
      <p:sp>
        <p:nvSpPr>
          <p:cNvPr id="9" name="Text Box 4"/>
          <p:cNvSpPr txBox="1">
            <a:spLocks noChangeArrowheads="1"/>
          </p:cNvSpPr>
          <p:nvPr/>
        </p:nvSpPr>
        <p:spPr bwMode="auto">
          <a:xfrm>
            <a:off x="5292725" y="2093913"/>
            <a:ext cx="3240088"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r>
              <a:rPr lang="tr-TR" sz="1800">
                <a:latin typeface="Verdana" pitchFamily="34" charset="0"/>
                <a:ea typeface="Verdana" pitchFamily="34" charset="0"/>
                <a:cs typeface="Verdana" pitchFamily="34" charset="0"/>
              </a:rPr>
              <a:t>Nakit olarak kasada ve bankada bulunan varlıklar ile bir faaliyet yılı içerisinde </a:t>
            </a:r>
            <a:r>
              <a:rPr lang="tr-TR" sz="1800" err="1">
                <a:latin typeface="Verdana" pitchFamily="34" charset="0"/>
                <a:ea typeface="Verdana" pitchFamily="34" charset="0"/>
                <a:cs typeface="Verdana" pitchFamily="34" charset="0"/>
              </a:rPr>
              <a:t>nakte</a:t>
            </a:r>
            <a:r>
              <a:rPr lang="tr-TR" sz="1800">
                <a:latin typeface="Verdana" pitchFamily="34" charset="0"/>
                <a:ea typeface="Verdana" pitchFamily="34" charset="0"/>
                <a:cs typeface="Verdana" pitchFamily="34" charset="0"/>
              </a:rPr>
              <a:t> dönüşecek hazır değerlerdir.</a:t>
            </a:r>
          </a:p>
        </p:txBody>
      </p:sp>
    </p:spTree>
    <p:extLst>
      <p:ext uri="{BB962C8B-B14F-4D97-AF65-F5344CB8AC3E}">
        <p14:creationId xmlns:p14="http://schemas.microsoft.com/office/powerpoint/2010/main" val="1904759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3"/>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53336"/>
            <a:ext cx="539552" cy="40466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74C53FC9-24F6-4044-BD11-5837A6997D11}" type="slidenum">
              <a:rPr lang="tr-TR" sz="1200">
                <a:solidFill>
                  <a:schemeClr val="tx2"/>
                </a:solidFill>
                <a:latin typeface="Verdana" pitchFamily="34" charset="0"/>
              </a:rPr>
              <a:pPr marL="0" indent="0" eaLnBrk="1" hangingPunct="1">
                <a:buNone/>
              </a:pPr>
              <a:t>23</a:t>
            </a:fld>
            <a:endParaRPr lang="tr-TR" sz="1200">
              <a:solidFill>
                <a:schemeClr val="tx2"/>
              </a:solidFill>
              <a:latin typeface="Verdana" pitchFamily="34" charset="0"/>
            </a:endParaRPr>
          </a:p>
        </p:txBody>
      </p:sp>
      <p:sp>
        <p:nvSpPr>
          <p:cNvPr id="21508" name="Rectangle 2"/>
          <p:cNvSpPr>
            <a:spLocks noGrp="1" noChangeArrowheads="1"/>
          </p:cNvSpPr>
          <p:nvPr>
            <p:ph type="title"/>
          </p:nvPr>
        </p:nvSpPr>
        <p:spPr/>
        <p:txBody>
          <a:bodyPr/>
          <a:lstStyle/>
          <a:p>
            <a:pPr eaLnBrk="1" hangingPunct="1"/>
            <a:r>
              <a:rPr lang="tr-TR" sz="4000"/>
              <a:t>Duran Varlıklar</a:t>
            </a:r>
          </a:p>
        </p:txBody>
      </p:sp>
      <p:sp>
        <p:nvSpPr>
          <p:cNvPr id="21509" name="Rectangle 3"/>
          <p:cNvSpPr>
            <a:spLocks noGrp="1" noChangeArrowheads="1"/>
          </p:cNvSpPr>
          <p:nvPr>
            <p:ph type="body" idx="4294967295"/>
          </p:nvPr>
        </p:nvSpPr>
        <p:spPr>
          <a:xfrm>
            <a:off x="457200" y="1268413"/>
            <a:ext cx="8229600" cy="4862512"/>
          </a:xfrm>
          <a:prstGeom prst="rect">
            <a:avLst/>
          </a:prstGeom>
        </p:spPr>
        <p:txBody>
          <a:bodyPr/>
          <a:lstStyle/>
          <a:p>
            <a:pPr eaLnBrk="1" hangingPunct="1">
              <a:buFont typeface="Wingdings" pitchFamily="2" charset="2"/>
              <a:buNone/>
            </a:pPr>
            <a:r>
              <a:rPr lang="tr-TR" sz="1600" b="1">
                <a:solidFill>
                  <a:srgbClr val="3333CC"/>
                </a:solidFill>
                <a:latin typeface="Verdana" pitchFamily="34" charset="0"/>
                <a:ea typeface="Verdana" pitchFamily="34" charset="0"/>
                <a:cs typeface="Verdana" pitchFamily="34" charset="0"/>
              </a:rPr>
              <a:t>	</a:t>
            </a:r>
            <a:r>
              <a:rPr lang="tr-TR" sz="1800" b="1">
                <a:solidFill>
                  <a:srgbClr val="0C0000"/>
                </a:solidFill>
                <a:latin typeface="Verdana" pitchFamily="34" charset="0"/>
                <a:ea typeface="Verdana" pitchFamily="34" charset="0"/>
                <a:cs typeface="Verdana" pitchFamily="34" charset="0"/>
              </a:rPr>
              <a:t>Bir hesap dönemi içerisinde paraya çevrilmesi veya tüketilmesi düşünülmeyen varlıklardır.</a:t>
            </a:r>
          </a:p>
          <a:p>
            <a:pPr eaLnBrk="1" hangingPunct="1">
              <a:buFont typeface="Wingdings" pitchFamily="2" charset="2"/>
              <a:buNone/>
            </a:pPr>
            <a:endParaRPr lang="tr-TR" sz="1600">
              <a:solidFill>
                <a:srgbClr val="3333CC"/>
              </a:solidFill>
              <a:latin typeface="Verdana" pitchFamily="34" charset="0"/>
              <a:ea typeface="Verdana" pitchFamily="34" charset="0"/>
              <a:cs typeface="Verdana" pitchFamily="34" charset="0"/>
            </a:endParaRPr>
          </a:p>
          <a:p>
            <a:pPr lvl="1" eaLnBrk="1" hangingPunct="1">
              <a:spcAft>
                <a:spcPts val="1200"/>
              </a:spcAft>
            </a:pPr>
            <a:r>
              <a:rPr lang="tr-TR" sz="2000" b="1">
                <a:solidFill>
                  <a:srgbClr val="0000CC"/>
                </a:solidFill>
                <a:latin typeface="Verdana" pitchFamily="34" charset="0"/>
                <a:ea typeface="Verdana" pitchFamily="34" charset="0"/>
                <a:cs typeface="Verdana" pitchFamily="34" charset="0"/>
              </a:rPr>
              <a:t>Maddi Duran Varlıklar	</a:t>
            </a:r>
          </a:p>
          <a:p>
            <a:pPr lvl="1" eaLnBrk="1" hangingPunct="1">
              <a:spcAft>
                <a:spcPts val="1200"/>
              </a:spcAft>
            </a:pPr>
            <a:endParaRPr lang="tr-TR" sz="2000" b="1">
              <a:solidFill>
                <a:srgbClr val="0000CC"/>
              </a:solidFill>
              <a:latin typeface="Verdana" pitchFamily="34" charset="0"/>
              <a:ea typeface="Verdana" pitchFamily="34" charset="0"/>
              <a:cs typeface="Verdana" pitchFamily="34" charset="0"/>
            </a:endParaRPr>
          </a:p>
          <a:p>
            <a:pPr lvl="1">
              <a:spcAft>
                <a:spcPts val="1200"/>
              </a:spcAft>
            </a:pPr>
            <a:r>
              <a:rPr lang="tr-TR" sz="2000" b="1">
                <a:solidFill>
                  <a:srgbClr val="0000CC"/>
                </a:solidFill>
                <a:latin typeface="Verdana" pitchFamily="34" charset="0"/>
                <a:ea typeface="Verdana" pitchFamily="34" charset="0"/>
                <a:cs typeface="Verdana" pitchFamily="34" charset="0"/>
              </a:rPr>
              <a:t>Maddi Olmayan Duran Varlıklar</a:t>
            </a:r>
          </a:p>
          <a:p>
            <a:pPr lvl="1" eaLnBrk="1" hangingPunct="1">
              <a:spcAft>
                <a:spcPts val="1200"/>
              </a:spcAft>
            </a:pPr>
            <a:endParaRPr lang="tr-TR" sz="2000" b="1">
              <a:solidFill>
                <a:srgbClr val="0000CC"/>
              </a:solidFill>
              <a:latin typeface="Verdana" pitchFamily="34" charset="0"/>
              <a:ea typeface="Verdana" pitchFamily="34" charset="0"/>
              <a:cs typeface="Verdana" pitchFamily="34" charset="0"/>
            </a:endParaRPr>
          </a:p>
          <a:p>
            <a:pPr lvl="1" eaLnBrk="1" hangingPunct="1">
              <a:spcAft>
                <a:spcPts val="1200"/>
              </a:spcAft>
            </a:pPr>
            <a:r>
              <a:rPr lang="tr-TR" sz="2000" b="1">
                <a:solidFill>
                  <a:srgbClr val="0000CC"/>
                </a:solidFill>
                <a:latin typeface="Verdana" pitchFamily="34" charset="0"/>
                <a:ea typeface="Verdana" pitchFamily="34" charset="0"/>
                <a:cs typeface="Verdana" pitchFamily="34" charset="0"/>
              </a:rPr>
              <a:t>Finansal Duran Varlıklar </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84368" y="6165305"/>
            <a:ext cx="648072" cy="656278"/>
          </a:xfrm>
          <a:prstGeom prst="rect">
            <a:avLst/>
          </a:prstGeom>
          <a:noFill/>
          <a:ln>
            <a:noFill/>
          </a:ln>
        </p:spPr>
      </p:pic>
    </p:spTree>
    <p:extLst>
      <p:ext uri="{BB962C8B-B14F-4D97-AF65-F5344CB8AC3E}">
        <p14:creationId xmlns:p14="http://schemas.microsoft.com/office/powerpoint/2010/main" val="3859519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50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build="p" bldLvl="3"/>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32440" y="6453336"/>
            <a:ext cx="584038" cy="40466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DAE43EDB-891A-4917-A984-57EA6FC8309A}" type="slidenum">
              <a:rPr lang="tr-TR" sz="1200">
                <a:solidFill>
                  <a:schemeClr val="tx2"/>
                </a:solidFill>
                <a:latin typeface="Verdana" pitchFamily="34" charset="0"/>
              </a:rPr>
              <a:pPr marL="0" indent="0" eaLnBrk="1" hangingPunct="1">
                <a:buNone/>
              </a:pPr>
              <a:t>24</a:t>
            </a:fld>
            <a:endParaRPr lang="tr-TR" sz="1200">
              <a:solidFill>
                <a:schemeClr val="tx2"/>
              </a:solidFill>
              <a:latin typeface="Verdana" pitchFamily="34" charset="0"/>
            </a:endParaRPr>
          </a:p>
        </p:txBody>
      </p:sp>
      <p:sp>
        <p:nvSpPr>
          <p:cNvPr id="22532" name="Rectangle 2"/>
          <p:cNvSpPr>
            <a:spLocks noGrp="1" noChangeArrowheads="1"/>
          </p:cNvSpPr>
          <p:nvPr>
            <p:ph type="title"/>
          </p:nvPr>
        </p:nvSpPr>
        <p:spPr/>
        <p:txBody>
          <a:bodyPr/>
          <a:lstStyle/>
          <a:p>
            <a:pPr eaLnBrk="1" hangingPunct="1"/>
            <a:r>
              <a:rPr lang="tr-TR" sz="4000"/>
              <a:t>Maddi Duran Varlıklar</a:t>
            </a:r>
          </a:p>
        </p:txBody>
      </p:sp>
      <p:sp>
        <p:nvSpPr>
          <p:cNvPr id="22533" name="Rectangle 3"/>
          <p:cNvSpPr>
            <a:spLocks noGrp="1" noChangeArrowheads="1"/>
          </p:cNvSpPr>
          <p:nvPr>
            <p:ph type="body" idx="4294967295"/>
          </p:nvPr>
        </p:nvSpPr>
        <p:spPr>
          <a:xfrm>
            <a:off x="457200" y="1268760"/>
            <a:ext cx="8229600" cy="4896544"/>
          </a:xfrm>
          <a:prstGeom prst="rect">
            <a:avLst/>
          </a:prstGeom>
        </p:spPr>
        <p:txBody>
          <a:bodyPr/>
          <a:lstStyle/>
          <a:p>
            <a:pPr algn="just" eaLnBrk="1" hangingPunct="1"/>
            <a:r>
              <a:rPr lang="tr-TR" sz="1600" b="1">
                <a:solidFill>
                  <a:srgbClr val="0C0000"/>
                </a:solidFill>
                <a:latin typeface="Verdana" pitchFamily="34" charset="0"/>
                <a:ea typeface="Verdana" pitchFamily="34" charset="0"/>
                <a:cs typeface="Verdana" pitchFamily="34" charset="0"/>
              </a:rPr>
              <a:t>Mal ve hizmet üretiminde kullanılmak, diğer işletmelere kiraya verilmek veya yönetim hizmetlerinde kullanılmak amacıyla elde bulundurulan fiziki varlık kalemleridir.</a:t>
            </a:r>
          </a:p>
          <a:p>
            <a:pPr lvl="1" algn="just" eaLnBrk="1" hangingPunct="1"/>
            <a:r>
              <a:rPr lang="tr-TR" sz="1600">
                <a:latin typeface="Verdana" pitchFamily="34" charset="0"/>
                <a:ea typeface="Verdana" pitchFamily="34" charset="0"/>
                <a:cs typeface="Verdana" pitchFamily="34" charset="0"/>
              </a:rPr>
              <a:t>Arazi ve Arsalar</a:t>
            </a:r>
          </a:p>
          <a:p>
            <a:pPr lvl="1" algn="just" eaLnBrk="1" hangingPunct="1"/>
            <a:r>
              <a:rPr lang="tr-TR" sz="1600">
                <a:latin typeface="Verdana" pitchFamily="34" charset="0"/>
                <a:ea typeface="Verdana" pitchFamily="34" charset="0"/>
                <a:cs typeface="Verdana" pitchFamily="34" charset="0"/>
              </a:rPr>
              <a:t>Yer altı ve Yerüstü Düzenleri</a:t>
            </a:r>
          </a:p>
          <a:p>
            <a:pPr lvl="1" algn="just" eaLnBrk="1" hangingPunct="1"/>
            <a:r>
              <a:rPr lang="tr-TR" sz="1600">
                <a:latin typeface="Verdana" pitchFamily="34" charset="0"/>
                <a:ea typeface="Verdana" pitchFamily="34" charset="0"/>
                <a:cs typeface="Verdana" pitchFamily="34" charset="0"/>
              </a:rPr>
              <a:t>Binalar </a:t>
            </a:r>
          </a:p>
          <a:p>
            <a:pPr lvl="1" algn="just" eaLnBrk="1" hangingPunct="1"/>
            <a:r>
              <a:rPr lang="tr-TR" sz="1600">
                <a:latin typeface="Verdana" pitchFamily="34" charset="0"/>
                <a:ea typeface="Verdana" pitchFamily="34" charset="0"/>
                <a:cs typeface="Verdana" pitchFamily="34" charset="0"/>
              </a:rPr>
              <a:t>Tesis, Makine ve Cihazlar</a:t>
            </a:r>
          </a:p>
          <a:p>
            <a:pPr lvl="1" algn="just" eaLnBrk="1" hangingPunct="1"/>
            <a:r>
              <a:rPr lang="tr-TR" sz="1600">
                <a:latin typeface="Verdana" pitchFamily="34" charset="0"/>
                <a:ea typeface="Verdana" pitchFamily="34" charset="0"/>
                <a:cs typeface="Verdana" pitchFamily="34" charset="0"/>
              </a:rPr>
              <a:t>Taşıtlar</a:t>
            </a:r>
          </a:p>
          <a:p>
            <a:pPr lvl="1" algn="just" eaLnBrk="1" hangingPunct="1"/>
            <a:r>
              <a:rPr lang="tr-TR" sz="1600">
                <a:latin typeface="Verdana" pitchFamily="34" charset="0"/>
                <a:ea typeface="Verdana" pitchFamily="34" charset="0"/>
                <a:cs typeface="Verdana" pitchFamily="34" charset="0"/>
              </a:rPr>
              <a:t>Demirbaşlar</a:t>
            </a:r>
          </a:p>
          <a:p>
            <a:pPr lvl="1" algn="just" eaLnBrk="1" hangingPunct="1"/>
            <a:r>
              <a:rPr lang="tr-TR" sz="1600">
                <a:latin typeface="Verdana" pitchFamily="34" charset="0"/>
                <a:ea typeface="Verdana" pitchFamily="34" charset="0"/>
                <a:cs typeface="Verdana" pitchFamily="34" charset="0"/>
              </a:rPr>
              <a:t>Yapılmakta Olan Yatırımlar</a:t>
            </a:r>
          </a:p>
          <a:p>
            <a:pPr lvl="1" algn="just" eaLnBrk="1" hangingPunct="1"/>
            <a:r>
              <a:rPr lang="tr-TR" sz="1600">
                <a:latin typeface="Verdana" pitchFamily="34" charset="0"/>
                <a:ea typeface="Verdana" pitchFamily="34" charset="0"/>
                <a:cs typeface="Verdana" pitchFamily="34" charset="0"/>
              </a:rPr>
              <a:t>Diğer Maddi Duran Varlıklar</a:t>
            </a:r>
          </a:p>
          <a:p>
            <a:pPr lvl="1" algn="just" eaLnBrk="1" hangingPunct="1"/>
            <a:r>
              <a:rPr lang="tr-TR" sz="1600">
                <a:latin typeface="Verdana" pitchFamily="34" charset="0"/>
                <a:ea typeface="Verdana" pitchFamily="34" charset="0"/>
                <a:cs typeface="Verdana" pitchFamily="34" charset="0"/>
              </a:rPr>
              <a:t>Birikmiş Amortismanlar (-)</a:t>
            </a:r>
          </a:p>
          <a:p>
            <a:pPr algn="just"/>
            <a:endParaRPr lang="tr-TR" sz="1800">
              <a:latin typeface="Verdana" pitchFamily="34" charset="0"/>
              <a:ea typeface="Verdana" pitchFamily="34" charset="0"/>
              <a:cs typeface="Verdana" pitchFamily="34" charset="0"/>
            </a:endParaRPr>
          </a:p>
          <a:p>
            <a:pPr algn="just"/>
            <a:r>
              <a:rPr lang="tr-TR" sz="1800">
                <a:latin typeface="Verdana" pitchFamily="34" charset="0"/>
                <a:ea typeface="Verdana" pitchFamily="34" charset="0"/>
                <a:cs typeface="Verdana" pitchFamily="34" charset="0"/>
              </a:rPr>
              <a:t>Genel terim:</a:t>
            </a:r>
          </a:p>
          <a:p>
            <a:pPr marL="457200" lvl="1" indent="0" algn="just">
              <a:buNone/>
            </a:pPr>
            <a:r>
              <a:rPr lang="tr-TR" sz="1800">
                <a:latin typeface="Verdana" pitchFamily="34" charset="0"/>
                <a:ea typeface="Verdana" pitchFamily="34" charset="0"/>
                <a:cs typeface="Verdana" pitchFamily="34" charset="0"/>
              </a:rPr>
              <a:t>Maddi Duran Varlık</a:t>
            </a:r>
            <a:r>
              <a:rPr lang="tr-TR" sz="1800" baseline="-25000">
                <a:latin typeface="Verdana" pitchFamily="34" charset="0"/>
                <a:ea typeface="Verdana" pitchFamily="34" charset="0"/>
                <a:cs typeface="Verdana" pitchFamily="34" charset="0"/>
              </a:rPr>
              <a:t>dönem sonu</a:t>
            </a:r>
            <a:r>
              <a:rPr lang="en-US" sz="1800">
                <a:latin typeface="Verdana" pitchFamily="34" charset="0"/>
                <a:ea typeface="Verdana" pitchFamily="34" charset="0"/>
                <a:cs typeface="Verdana" pitchFamily="34" charset="0"/>
              </a:rPr>
              <a:t> =</a:t>
            </a:r>
            <a:r>
              <a:rPr lang="tr-TR" sz="1800">
                <a:solidFill>
                  <a:srgbClr val="0000CC"/>
                </a:solidFill>
                <a:latin typeface="Verdana" pitchFamily="34" charset="0"/>
                <a:ea typeface="Verdana" pitchFamily="34" charset="0"/>
                <a:cs typeface="Verdana" pitchFamily="34" charset="0"/>
              </a:rPr>
              <a:t> </a:t>
            </a:r>
          </a:p>
          <a:p>
            <a:pPr marL="457200" lvl="1" indent="0" algn="just">
              <a:buNone/>
            </a:pPr>
            <a:r>
              <a:rPr lang="tr-TR" sz="1800">
                <a:solidFill>
                  <a:srgbClr val="0000CC"/>
                </a:solidFill>
                <a:latin typeface="Verdana" pitchFamily="34" charset="0"/>
                <a:ea typeface="Verdana" pitchFamily="34" charset="0"/>
                <a:cs typeface="Verdana" pitchFamily="34" charset="0"/>
              </a:rPr>
              <a:t>+ MDV</a:t>
            </a:r>
            <a:r>
              <a:rPr lang="tr-TR" sz="1800" baseline="-25000">
                <a:solidFill>
                  <a:srgbClr val="0000CC"/>
                </a:solidFill>
                <a:latin typeface="Verdana" pitchFamily="34" charset="0"/>
                <a:ea typeface="Verdana" pitchFamily="34" charset="0"/>
                <a:cs typeface="Verdana" pitchFamily="34" charset="0"/>
              </a:rPr>
              <a:t>dönem başı</a:t>
            </a:r>
            <a:r>
              <a:rPr lang="en-US" sz="1800">
                <a:solidFill>
                  <a:srgbClr val="0000CC"/>
                </a:solidFill>
                <a:latin typeface="Verdana" pitchFamily="34" charset="0"/>
                <a:ea typeface="Verdana" pitchFamily="34" charset="0"/>
                <a:cs typeface="Verdana" pitchFamily="34" charset="0"/>
              </a:rPr>
              <a:t> + </a:t>
            </a:r>
            <a:r>
              <a:rPr lang="tr-TR" sz="1800">
                <a:solidFill>
                  <a:srgbClr val="0000CC"/>
                </a:solidFill>
                <a:latin typeface="Verdana" pitchFamily="34" charset="0"/>
                <a:ea typeface="Verdana" pitchFamily="34" charset="0"/>
                <a:cs typeface="Verdana" pitchFamily="34" charset="0"/>
              </a:rPr>
              <a:t>dönemiçi yatırımlar </a:t>
            </a:r>
            <a:r>
              <a:rPr lang="en-US" sz="1800">
                <a:solidFill>
                  <a:srgbClr val="0000CC"/>
                </a:solidFill>
                <a:latin typeface="Verdana" pitchFamily="34" charset="0"/>
                <a:ea typeface="Verdana" pitchFamily="34" charset="0"/>
                <a:cs typeface="Verdana" pitchFamily="34" charset="0"/>
              </a:rPr>
              <a:t>– </a:t>
            </a:r>
            <a:r>
              <a:rPr lang="tr-TR" sz="1800">
                <a:solidFill>
                  <a:srgbClr val="0000CC"/>
                </a:solidFill>
                <a:latin typeface="Verdana" pitchFamily="34" charset="0"/>
                <a:ea typeface="Verdana" pitchFamily="34" charset="0"/>
                <a:cs typeface="Verdana" pitchFamily="34" charset="0"/>
              </a:rPr>
              <a:t>dönemiçi MDV satışları (net defter değeri) </a:t>
            </a:r>
            <a:r>
              <a:rPr lang="en-US" sz="1800">
                <a:solidFill>
                  <a:srgbClr val="0000CC"/>
                </a:solidFill>
                <a:latin typeface="Verdana" pitchFamily="34" charset="0"/>
                <a:ea typeface="Verdana" pitchFamily="34" charset="0"/>
                <a:cs typeface="Verdana" pitchFamily="34" charset="0"/>
              </a:rPr>
              <a:t>– </a:t>
            </a:r>
            <a:r>
              <a:rPr lang="tr-TR" sz="1800">
                <a:solidFill>
                  <a:srgbClr val="0000CC"/>
                </a:solidFill>
                <a:latin typeface="Verdana" pitchFamily="34" charset="0"/>
                <a:ea typeface="Verdana" pitchFamily="34" charset="0"/>
                <a:cs typeface="Verdana" pitchFamily="34" charset="0"/>
              </a:rPr>
              <a:t>dönem amortisman gideri</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818468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9" y="6453336"/>
            <a:ext cx="524016" cy="400438"/>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3CCAB0C5-AEEA-4E7B-9F95-C79EFA426BC0}" type="slidenum">
              <a:rPr lang="tr-TR" sz="1200">
                <a:solidFill>
                  <a:schemeClr val="tx2"/>
                </a:solidFill>
                <a:latin typeface="Verdana" pitchFamily="34" charset="0"/>
              </a:rPr>
              <a:pPr marL="0" indent="0" eaLnBrk="1" hangingPunct="1">
                <a:buNone/>
              </a:pPr>
              <a:t>25</a:t>
            </a:fld>
            <a:endParaRPr lang="tr-TR" sz="1200">
              <a:solidFill>
                <a:schemeClr val="tx2"/>
              </a:solidFill>
              <a:latin typeface="Verdana" pitchFamily="34" charset="0"/>
            </a:endParaRPr>
          </a:p>
        </p:txBody>
      </p:sp>
      <p:sp>
        <p:nvSpPr>
          <p:cNvPr id="23556" name="Rectangle 2"/>
          <p:cNvSpPr>
            <a:spLocks noGrp="1" noChangeArrowheads="1"/>
          </p:cNvSpPr>
          <p:nvPr>
            <p:ph type="title"/>
          </p:nvPr>
        </p:nvSpPr>
        <p:spPr/>
        <p:txBody>
          <a:bodyPr/>
          <a:lstStyle/>
          <a:p>
            <a:pPr eaLnBrk="1" hangingPunct="1"/>
            <a:r>
              <a:rPr lang="tr-TR" sz="4000"/>
              <a:t>Maddi Olmayan Duran Varlıklar</a:t>
            </a:r>
          </a:p>
        </p:txBody>
      </p:sp>
      <p:sp>
        <p:nvSpPr>
          <p:cNvPr id="23557" name="Rectangle 3"/>
          <p:cNvSpPr>
            <a:spLocks noGrp="1" noChangeArrowheads="1"/>
          </p:cNvSpPr>
          <p:nvPr>
            <p:ph type="body" idx="4294967295"/>
          </p:nvPr>
        </p:nvSpPr>
        <p:spPr>
          <a:xfrm>
            <a:off x="457200" y="1341438"/>
            <a:ext cx="8229600" cy="4789487"/>
          </a:xfrm>
          <a:prstGeom prst="rect">
            <a:avLst/>
          </a:prstGeom>
        </p:spPr>
        <p:txBody>
          <a:bodyPr/>
          <a:lstStyle/>
          <a:p>
            <a:pPr marL="533400" indent="-533400" algn="just" eaLnBrk="1" hangingPunct="1">
              <a:spcAft>
                <a:spcPct val="20000"/>
              </a:spcAft>
            </a:pPr>
            <a:r>
              <a:rPr lang="tr-TR" sz="1600" b="1">
                <a:latin typeface="Verdana" pitchFamily="34" charset="0"/>
                <a:ea typeface="Verdana" pitchFamily="34" charset="0"/>
                <a:cs typeface="Verdana" pitchFamily="34" charset="0"/>
              </a:rPr>
              <a:t>İşletmenin esas faaliyetlerini yürütebilmesi için belli bir şekilde yararlandığı veya yararlanmayı beklediği fiziksel yapıya sahip olmayan patent, </a:t>
            </a:r>
            <a:r>
              <a:rPr lang="tr-TR" sz="1600" b="1" err="1">
                <a:latin typeface="Verdana" pitchFamily="34" charset="0"/>
                <a:ea typeface="Verdana" pitchFamily="34" charset="0"/>
                <a:cs typeface="Verdana" pitchFamily="34" charset="0"/>
              </a:rPr>
              <a:t>know</a:t>
            </a:r>
            <a:r>
              <a:rPr lang="tr-TR" sz="1600" b="1">
                <a:latin typeface="Verdana" pitchFamily="34" charset="0"/>
                <a:ea typeface="Verdana" pitchFamily="34" charset="0"/>
                <a:cs typeface="Verdana" pitchFamily="34" charset="0"/>
              </a:rPr>
              <a:t>-how, lisans bedeli gibi varlıklardır. Maddi olmayan duran varlıklar için amortisman ayrılabilir. </a:t>
            </a:r>
          </a:p>
          <a:p>
            <a:pPr marL="914400" lvl="1" indent="-457200" algn="just" eaLnBrk="1" hangingPunct="1">
              <a:spcAft>
                <a:spcPct val="20000"/>
              </a:spcAft>
            </a:pPr>
            <a:r>
              <a:rPr lang="tr-TR" sz="1600">
                <a:latin typeface="Verdana" pitchFamily="34" charset="0"/>
                <a:ea typeface="Verdana" pitchFamily="34" charset="0"/>
                <a:cs typeface="Verdana" pitchFamily="34" charset="0"/>
              </a:rPr>
              <a:t>Haklar</a:t>
            </a:r>
          </a:p>
          <a:p>
            <a:pPr marL="914400" lvl="1" indent="-457200" eaLnBrk="1" hangingPunct="1">
              <a:spcAft>
                <a:spcPct val="20000"/>
              </a:spcAft>
            </a:pPr>
            <a:r>
              <a:rPr lang="tr-TR" sz="1600">
                <a:latin typeface="Verdana" pitchFamily="34" charset="0"/>
                <a:ea typeface="Verdana" pitchFamily="34" charset="0"/>
                <a:cs typeface="Verdana" pitchFamily="34" charset="0"/>
              </a:rPr>
              <a:t>Şerefiye</a:t>
            </a:r>
          </a:p>
          <a:p>
            <a:pPr marL="914400" lvl="1" indent="-457200" eaLnBrk="1" hangingPunct="1">
              <a:spcAft>
                <a:spcPct val="20000"/>
              </a:spcAft>
            </a:pPr>
            <a:r>
              <a:rPr lang="tr-TR" sz="1600">
                <a:latin typeface="Verdana" pitchFamily="34" charset="0"/>
                <a:ea typeface="Verdana" pitchFamily="34" charset="0"/>
                <a:cs typeface="Verdana" pitchFamily="34" charset="0"/>
              </a:rPr>
              <a:t>Kuruluş ve Örgütlenme Giderleri</a:t>
            </a:r>
          </a:p>
          <a:p>
            <a:pPr marL="914400" lvl="1" indent="-457200" eaLnBrk="1" hangingPunct="1">
              <a:spcAft>
                <a:spcPct val="20000"/>
              </a:spcAft>
            </a:pPr>
            <a:r>
              <a:rPr lang="tr-TR" sz="1600">
                <a:latin typeface="Verdana" pitchFamily="34" charset="0"/>
                <a:ea typeface="Verdana" pitchFamily="34" charset="0"/>
                <a:cs typeface="Verdana" pitchFamily="34" charset="0"/>
              </a:rPr>
              <a:t>Araştırma ve Geliştirme Giderleri</a:t>
            </a:r>
          </a:p>
          <a:p>
            <a:pPr marL="914400" lvl="1" indent="-457200" eaLnBrk="1" hangingPunct="1">
              <a:spcAft>
                <a:spcPct val="20000"/>
              </a:spcAft>
            </a:pPr>
            <a:r>
              <a:rPr lang="tr-TR" sz="1600">
                <a:latin typeface="Verdana" pitchFamily="34" charset="0"/>
                <a:ea typeface="Verdana" pitchFamily="34" charset="0"/>
                <a:cs typeface="Verdana" pitchFamily="34" charset="0"/>
              </a:rPr>
              <a:t>Diğer Maddi Olmayan Duran Varlıklar</a:t>
            </a:r>
          </a:p>
          <a:p>
            <a:pPr marL="914400" lvl="1" indent="-457200" eaLnBrk="1" hangingPunct="1">
              <a:spcAft>
                <a:spcPct val="20000"/>
              </a:spcAft>
            </a:pPr>
            <a:r>
              <a:rPr lang="tr-TR" sz="1600">
                <a:latin typeface="Verdana" pitchFamily="34" charset="0"/>
                <a:ea typeface="Verdana" pitchFamily="34" charset="0"/>
                <a:cs typeface="Verdana" pitchFamily="34" charset="0"/>
              </a:rPr>
              <a:t>Birikmiş İtfa ve Tükenme Payı (-)</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152773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93444"/>
            <a:ext cx="530010" cy="365597"/>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FDFF79B5-CB62-4576-9CC5-FE0CE7F8B2AE}" type="slidenum">
              <a:rPr lang="tr-TR" sz="1200">
                <a:solidFill>
                  <a:schemeClr val="tx2"/>
                </a:solidFill>
                <a:latin typeface="Verdana" pitchFamily="34" charset="0"/>
              </a:rPr>
              <a:pPr marL="0" indent="0" eaLnBrk="1" hangingPunct="1">
                <a:buNone/>
              </a:pPr>
              <a:t>26</a:t>
            </a:fld>
            <a:endParaRPr lang="tr-TR" sz="1200">
              <a:solidFill>
                <a:schemeClr val="tx2"/>
              </a:solidFill>
              <a:latin typeface="Verdana" pitchFamily="34" charset="0"/>
            </a:endParaRPr>
          </a:p>
        </p:txBody>
      </p:sp>
      <p:sp>
        <p:nvSpPr>
          <p:cNvPr id="24580" name="Rectangle 2"/>
          <p:cNvSpPr>
            <a:spLocks noGrp="1" noChangeArrowheads="1"/>
          </p:cNvSpPr>
          <p:nvPr>
            <p:ph type="title"/>
          </p:nvPr>
        </p:nvSpPr>
        <p:spPr/>
        <p:txBody>
          <a:bodyPr/>
          <a:lstStyle/>
          <a:p>
            <a:pPr eaLnBrk="1" hangingPunct="1"/>
            <a:r>
              <a:rPr lang="tr-TR" sz="4000"/>
              <a:t>Finansal Duran Değerler</a:t>
            </a:r>
          </a:p>
        </p:txBody>
      </p:sp>
      <p:sp>
        <p:nvSpPr>
          <p:cNvPr id="24581" name="Rectangle 3"/>
          <p:cNvSpPr>
            <a:spLocks noGrp="1" noChangeArrowheads="1"/>
          </p:cNvSpPr>
          <p:nvPr>
            <p:ph type="body" idx="4294967295"/>
          </p:nvPr>
        </p:nvSpPr>
        <p:spPr>
          <a:xfrm>
            <a:off x="468313" y="1268413"/>
            <a:ext cx="8229600" cy="4718050"/>
          </a:xfrm>
          <a:prstGeom prst="rect">
            <a:avLst/>
          </a:prstGeom>
        </p:spPr>
        <p:txBody>
          <a:bodyPr/>
          <a:lstStyle/>
          <a:p>
            <a:pPr algn="just" eaLnBrk="1" hangingPunct="1">
              <a:buFont typeface="Wingdings" pitchFamily="2" charset="2"/>
              <a:buNone/>
            </a:pPr>
            <a:r>
              <a:rPr lang="tr-TR" sz="1600">
                <a:solidFill>
                  <a:srgbClr val="3333CC"/>
                </a:solidFill>
                <a:latin typeface="Verdana" pitchFamily="34" charset="0"/>
                <a:ea typeface="Verdana" pitchFamily="34" charset="0"/>
                <a:cs typeface="Verdana" pitchFamily="34" charset="0"/>
              </a:rPr>
              <a:t>	</a:t>
            </a:r>
            <a:r>
              <a:rPr lang="tr-TR" sz="1600" b="1">
                <a:solidFill>
                  <a:srgbClr val="0C0000"/>
                </a:solidFill>
                <a:latin typeface="Verdana" pitchFamily="34" charset="0"/>
                <a:ea typeface="Verdana" pitchFamily="34" charset="0"/>
                <a:cs typeface="Verdana" pitchFamily="34" charset="0"/>
              </a:rPr>
              <a:t>Başka bir teşebbüse ortak olmak, sermayesine katılmak amacıyla edinilen sermaye payları ile, diğer uzun süreli araçlarla veya yasal zorunluluk nedeniyle elde tutulan menkul kıymetler veya kısa sürede paraya dönüşme niteliğini yitirmiş menkul değerlerdir.</a:t>
            </a:r>
          </a:p>
          <a:p>
            <a:pPr algn="just" eaLnBrk="1" hangingPunct="1">
              <a:buFont typeface="Wingdings" pitchFamily="2" charset="2"/>
              <a:buNone/>
            </a:pPr>
            <a:endParaRPr lang="tr-TR" sz="1600" b="1">
              <a:solidFill>
                <a:srgbClr val="3333CC"/>
              </a:solidFill>
              <a:latin typeface="Verdana" pitchFamily="34" charset="0"/>
              <a:ea typeface="Verdana" pitchFamily="34" charset="0"/>
              <a:cs typeface="Verdana" pitchFamily="34" charset="0"/>
            </a:endParaRPr>
          </a:p>
          <a:p>
            <a:pPr marL="762000" lvl="1" indent="-304800" algn="just" eaLnBrk="1" hangingPunct="1"/>
            <a:r>
              <a:rPr lang="tr-TR" sz="1600" b="1">
                <a:latin typeface="Verdana" pitchFamily="34" charset="0"/>
                <a:ea typeface="Verdana" pitchFamily="34" charset="0"/>
                <a:cs typeface="Verdana" pitchFamily="34" charset="0"/>
              </a:rPr>
              <a:t>Bağlı Menkul Kıymetler:</a:t>
            </a:r>
            <a:r>
              <a:rPr lang="tr-TR" sz="1600">
                <a:solidFill>
                  <a:srgbClr val="0000CC"/>
                </a:solidFill>
                <a:latin typeface="Verdana" pitchFamily="34" charset="0"/>
                <a:ea typeface="Verdana" pitchFamily="34" charset="0"/>
                <a:cs typeface="Verdana" pitchFamily="34" charset="0"/>
              </a:rPr>
              <a:t> </a:t>
            </a:r>
            <a:r>
              <a:rPr lang="tr-TR" sz="1600">
                <a:latin typeface="Verdana" pitchFamily="34" charset="0"/>
                <a:ea typeface="Verdana" pitchFamily="34" charset="0"/>
                <a:cs typeface="Verdana" pitchFamily="34" charset="0"/>
              </a:rPr>
              <a:t>İşletmenin doğrudan veya dolaylı olarak diğer şirket sermayelerinin en fazla %10’una iştirak ettiği hisse senetleridir.</a:t>
            </a:r>
            <a:r>
              <a:rPr lang="tr-TR" sz="1600" b="1">
                <a:latin typeface="Verdana" pitchFamily="34" charset="0"/>
                <a:ea typeface="Verdana" pitchFamily="34" charset="0"/>
                <a:cs typeface="Verdana" pitchFamily="34" charset="0"/>
              </a:rPr>
              <a:t> </a:t>
            </a:r>
          </a:p>
          <a:p>
            <a:pPr marL="762000" lvl="1" indent="-304800" algn="just" eaLnBrk="1" hangingPunct="1"/>
            <a:r>
              <a:rPr lang="tr-TR" sz="1600" b="1">
                <a:latin typeface="Verdana" pitchFamily="34" charset="0"/>
                <a:ea typeface="Verdana" pitchFamily="34" charset="0"/>
                <a:cs typeface="Verdana" pitchFamily="34" charset="0"/>
              </a:rPr>
              <a:t>İştirakler:</a:t>
            </a:r>
            <a:r>
              <a:rPr lang="tr-TR" sz="1600">
                <a:latin typeface="Verdana" pitchFamily="34" charset="0"/>
                <a:ea typeface="Verdana" pitchFamily="34" charset="0"/>
                <a:cs typeface="Verdana" pitchFamily="34" charset="0"/>
              </a:rPr>
              <a:t> İşletmenin doğrudan veya dolaylı olarak diğer şirketlerin yönetimine veya ortaklık politikalarının belirlenmesine katılmak amacıyla edindiği (en az %10 ve en fazla % 50 ye kadar olan sermaye payları) hisse senetleri ve ortaklık paylarının izlendiği hesaptır.</a:t>
            </a:r>
          </a:p>
          <a:p>
            <a:pPr marL="762000" lvl="1" indent="-304800" algn="just" eaLnBrk="1" hangingPunct="1"/>
            <a:r>
              <a:rPr lang="tr-TR" sz="1600" b="1">
                <a:latin typeface="Verdana" pitchFamily="34" charset="0"/>
                <a:ea typeface="Verdana" pitchFamily="34" charset="0"/>
                <a:cs typeface="Verdana" pitchFamily="34" charset="0"/>
              </a:rPr>
              <a:t>Bağlı Ortaklıklar:</a:t>
            </a:r>
            <a:r>
              <a:rPr lang="tr-TR" sz="1600">
                <a:latin typeface="Verdana" pitchFamily="34" charset="0"/>
                <a:ea typeface="Verdana" pitchFamily="34" charset="0"/>
                <a:cs typeface="Verdana" pitchFamily="34" charset="0"/>
              </a:rPr>
              <a:t> İşletmenin doğrudan veya dolaylı olarak en az %50 oranında oy hakkına veya en az bu oranda yönetim çoğunluğunu seçme hakkına sahip olduğu iştirakleri bağlı ortaklık olarak kabul edilir.</a:t>
            </a:r>
          </a:p>
          <a:p>
            <a:pPr marL="762000" lvl="1" indent="-304800" algn="just" eaLnBrk="1" hangingPunct="1"/>
            <a:endParaRPr lang="tr-TR" sz="16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29084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32439" y="6453336"/>
            <a:ext cx="596025" cy="40466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52488E9-A935-4DC8-AF51-E039B70CE7BB}" type="slidenum">
              <a:rPr lang="tr-TR" sz="1200">
                <a:solidFill>
                  <a:schemeClr val="tx2"/>
                </a:solidFill>
                <a:latin typeface="Verdana" pitchFamily="34" charset="0"/>
              </a:rPr>
              <a:pPr marL="0" indent="0" eaLnBrk="1" hangingPunct="1">
                <a:buNone/>
              </a:pPr>
              <a:t>27</a:t>
            </a:fld>
            <a:endParaRPr lang="tr-TR" sz="1200">
              <a:solidFill>
                <a:schemeClr val="tx2"/>
              </a:solidFill>
              <a:latin typeface="Verdana" pitchFamily="34" charset="0"/>
            </a:endParaRPr>
          </a:p>
        </p:txBody>
      </p:sp>
      <p:sp>
        <p:nvSpPr>
          <p:cNvPr id="19460" name="Rectangle 2"/>
          <p:cNvSpPr>
            <a:spLocks noGrp="1" noChangeArrowheads="1"/>
          </p:cNvSpPr>
          <p:nvPr>
            <p:ph type="title"/>
          </p:nvPr>
        </p:nvSpPr>
        <p:spPr/>
        <p:txBody>
          <a:bodyPr/>
          <a:lstStyle/>
          <a:p>
            <a:r>
              <a:rPr lang="tr-TR"/>
              <a:t>Pide A.Ş.</a:t>
            </a:r>
          </a:p>
        </p:txBody>
      </p:sp>
      <p:sp>
        <p:nvSpPr>
          <p:cNvPr id="19461" name="Rectangle 3"/>
          <p:cNvSpPr>
            <a:spLocks noGrp="1" noChangeArrowheads="1"/>
          </p:cNvSpPr>
          <p:nvPr>
            <p:ph type="body" idx="4294967295"/>
          </p:nvPr>
        </p:nvSpPr>
        <p:spPr>
          <a:xfrm>
            <a:off x="457200" y="1268413"/>
            <a:ext cx="8229600" cy="4862512"/>
          </a:xfrm>
          <a:prstGeom prst="rect">
            <a:avLst/>
          </a:prstGeom>
        </p:spPr>
        <p:txBody>
          <a:bodyPr/>
          <a:lstStyle/>
          <a:p>
            <a:r>
              <a:rPr lang="tr-TR" sz="2400" b="1">
                <a:solidFill>
                  <a:srgbClr val="0C0000"/>
                </a:solidFill>
                <a:latin typeface="Verdana" pitchFamily="34" charset="0"/>
                <a:ea typeface="Verdana" pitchFamily="34" charset="0"/>
                <a:cs typeface="Verdana" pitchFamily="34" charset="0"/>
              </a:rPr>
              <a:t>Vaka 2:</a:t>
            </a:r>
          </a:p>
          <a:p>
            <a:r>
              <a:rPr lang="tr-TR" sz="2400">
                <a:latin typeface="Verdana" pitchFamily="34" charset="0"/>
                <a:ea typeface="Verdana" pitchFamily="34" charset="0"/>
                <a:cs typeface="Verdana" pitchFamily="34" charset="0"/>
              </a:rPr>
              <a:t>Diyelim ki ikinci gün:</a:t>
            </a:r>
          </a:p>
          <a:p>
            <a:pPr lvl="1"/>
            <a:r>
              <a:rPr lang="tr-TR" sz="2000">
                <a:latin typeface="Verdana" pitchFamily="34" charset="0"/>
                <a:ea typeface="Verdana" pitchFamily="34" charset="0"/>
                <a:cs typeface="Verdana" pitchFamily="34" charset="0"/>
              </a:rPr>
              <a:t>Bir dükkan kiraladık ve bir yıl için 30.000 TL ödedik</a:t>
            </a:r>
          </a:p>
          <a:p>
            <a:pPr lvl="1"/>
            <a:r>
              <a:rPr lang="tr-TR" sz="2000">
                <a:latin typeface="Verdana" pitchFamily="34" charset="0"/>
                <a:ea typeface="Verdana" pitchFamily="34" charset="0"/>
                <a:cs typeface="Verdana" pitchFamily="34" charset="0"/>
              </a:rPr>
              <a:t>24.000 TL ödeyerek gerekli mobilya ve teçhizat satın aldık</a:t>
            </a:r>
          </a:p>
          <a:p>
            <a:pPr lvl="1"/>
            <a:r>
              <a:rPr lang="tr-TR" sz="2000">
                <a:latin typeface="Verdana" pitchFamily="34" charset="0"/>
                <a:ea typeface="Verdana" pitchFamily="34" charset="0"/>
                <a:cs typeface="Verdana" pitchFamily="34" charset="0"/>
              </a:rPr>
              <a:t>6.000 TL ile dışarı serviste kullanılmak üzere motor satın aldık</a:t>
            </a:r>
          </a:p>
          <a:p>
            <a:pPr lvl="1"/>
            <a:r>
              <a:rPr lang="tr-TR" sz="2000">
                <a:latin typeface="Verdana" pitchFamily="34" charset="0"/>
                <a:ea typeface="Verdana" pitchFamily="34" charset="0"/>
                <a:cs typeface="Verdana" pitchFamily="34" charset="0"/>
              </a:rPr>
              <a:t>20.000 TL ile 20 yıllığına Pide A.Ş. isim hakkını satın aldık.</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967867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6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6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uild="p" bldLvl="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6"/>
            <a:ext cx="539552"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5FBF0777-4260-4002-A6DF-DCF43FBEABBB}" type="slidenum">
              <a:rPr lang="tr-TR" sz="1200">
                <a:solidFill>
                  <a:schemeClr val="tx2"/>
                </a:solidFill>
                <a:latin typeface="Verdana" pitchFamily="34" charset="0"/>
              </a:rPr>
              <a:pPr marL="0" indent="0" eaLnBrk="1" hangingPunct="1">
                <a:buNone/>
              </a:pPr>
              <a:t>28</a:t>
            </a:fld>
            <a:endParaRPr lang="tr-TR" sz="1200">
              <a:solidFill>
                <a:schemeClr val="tx2"/>
              </a:solidFill>
              <a:latin typeface="Verdana" pitchFamily="34" charset="0"/>
            </a:endParaRPr>
          </a:p>
        </p:txBody>
      </p:sp>
      <p:sp>
        <p:nvSpPr>
          <p:cNvPr id="27652" name="Rectangle 2"/>
          <p:cNvSpPr>
            <a:spLocks noGrp="1" noChangeArrowheads="1"/>
          </p:cNvSpPr>
          <p:nvPr>
            <p:ph type="title"/>
          </p:nvPr>
        </p:nvSpPr>
        <p:spPr/>
        <p:txBody>
          <a:bodyPr/>
          <a:lstStyle/>
          <a:p>
            <a:pPr eaLnBrk="1" hangingPunct="1"/>
            <a:r>
              <a:rPr lang="tr-TR" sz="4000"/>
              <a:t>Kısa Vadeli Borçlar</a:t>
            </a:r>
          </a:p>
        </p:txBody>
      </p:sp>
      <p:sp>
        <p:nvSpPr>
          <p:cNvPr id="27653" name="Rectangle 3"/>
          <p:cNvSpPr>
            <a:spLocks noGrp="1" noChangeArrowheads="1"/>
          </p:cNvSpPr>
          <p:nvPr>
            <p:ph type="body" idx="4294967295"/>
          </p:nvPr>
        </p:nvSpPr>
        <p:spPr>
          <a:xfrm>
            <a:off x="457200" y="1268413"/>
            <a:ext cx="8229600" cy="4862512"/>
          </a:xfrm>
          <a:prstGeom prst="rect">
            <a:avLst/>
          </a:prstGeom>
        </p:spPr>
        <p:txBody>
          <a:bodyPr/>
          <a:lstStyle/>
          <a:p>
            <a:pPr algn="just" eaLnBrk="1" hangingPunct="1">
              <a:buFont typeface="Wingdings" pitchFamily="2" charset="2"/>
              <a:buNone/>
            </a:pPr>
            <a:r>
              <a:rPr lang="tr-TR" sz="1800" b="1">
                <a:solidFill>
                  <a:srgbClr val="0C0000"/>
                </a:solidFill>
                <a:latin typeface="Verdana" pitchFamily="34" charset="0"/>
                <a:ea typeface="Verdana" pitchFamily="34" charset="0"/>
                <a:cs typeface="Verdana" pitchFamily="34" charset="0"/>
              </a:rPr>
              <a:t>Vadesi bir yıl içerisinde gelecek olan borç kalemleridir.</a:t>
            </a:r>
          </a:p>
          <a:p>
            <a:pPr algn="just" eaLnBrk="1" hangingPunct="1">
              <a:buFont typeface="Wingdings" pitchFamily="2" charset="2"/>
              <a:buNone/>
            </a:pPr>
            <a:endParaRPr lang="tr-TR" sz="1600" b="1">
              <a:solidFill>
                <a:srgbClr val="3333CC"/>
              </a:solidFill>
              <a:latin typeface="Verdana" pitchFamily="34" charset="0"/>
              <a:ea typeface="Verdana" pitchFamily="34" charset="0"/>
              <a:cs typeface="Verdana" pitchFamily="34" charset="0"/>
            </a:endParaRPr>
          </a:p>
          <a:p>
            <a:pPr algn="just" eaLnBrk="1" hangingPunct="1"/>
            <a:r>
              <a:rPr lang="tr-TR" sz="1600">
                <a:latin typeface="Verdana" pitchFamily="34" charset="0"/>
                <a:ea typeface="Verdana" pitchFamily="34" charset="0"/>
                <a:cs typeface="Verdana" pitchFamily="34" charset="0"/>
              </a:rPr>
              <a:t>Mali Borçlar:</a:t>
            </a:r>
          </a:p>
          <a:p>
            <a:pPr lvl="1" algn="just" eaLnBrk="1" hangingPunct="1"/>
            <a:r>
              <a:rPr lang="tr-TR" sz="1600">
                <a:latin typeface="Verdana" pitchFamily="34" charset="0"/>
                <a:ea typeface="Verdana" pitchFamily="34" charset="0"/>
                <a:cs typeface="Verdana" pitchFamily="34" charset="0"/>
              </a:rPr>
              <a:t>Banka Kredileri</a:t>
            </a:r>
          </a:p>
          <a:p>
            <a:pPr lvl="1" algn="just" eaLnBrk="1" hangingPunct="1"/>
            <a:r>
              <a:rPr lang="tr-TR" sz="1600">
                <a:latin typeface="Verdana" pitchFamily="34" charset="0"/>
                <a:ea typeface="Verdana" pitchFamily="34" charset="0"/>
                <a:cs typeface="Verdana" pitchFamily="34" charset="0"/>
              </a:rPr>
              <a:t>Uzun Vadeli Kredilerin Anapara, Taksit ve Faizleri</a:t>
            </a:r>
          </a:p>
          <a:p>
            <a:pPr lvl="1" algn="just" eaLnBrk="1" hangingPunct="1"/>
            <a:r>
              <a:rPr lang="tr-TR" sz="1600">
                <a:latin typeface="Verdana" pitchFamily="34" charset="0"/>
                <a:ea typeface="Verdana" pitchFamily="34" charset="0"/>
                <a:cs typeface="Verdana" pitchFamily="34" charset="0"/>
              </a:rPr>
              <a:t>Çıkarılmış Menkul Kıymetler</a:t>
            </a:r>
          </a:p>
          <a:p>
            <a:pPr algn="just" eaLnBrk="1" hangingPunct="1"/>
            <a:r>
              <a:rPr lang="tr-TR" sz="1600">
                <a:latin typeface="Verdana" pitchFamily="34" charset="0"/>
                <a:ea typeface="Verdana" pitchFamily="34" charset="0"/>
                <a:cs typeface="Verdana" pitchFamily="34" charset="0"/>
              </a:rPr>
              <a:t>Kısa Vadeli Ticari Borçlar</a:t>
            </a:r>
          </a:p>
          <a:p>
            <a:pPr lvl="1" algn="just" eaLnBrk="1" hangingPunct="1"/>
            <a:r>
              <a:rPr lang="tr-TR" sz="1600">
                <a:latin typeface="Verdana" pitchFamily="34" charset="0"/>
                <a:ea typeface="Verdana" pitchFamily="34" charset="0"/>
                <a:cs typeface="Verdana" pitchFamily="34" charset="0"/>
              </a:rPr>
              <a:t>Satıcılara Borçlar </a:t>
            </a:r>
          </a:p>
          <a:p>
            <a:pPr lvl="1" algn="just" eaLnBrk="1" hangingPunct="1"/>
            <a:r>
              <a:rPr lang="tr-TR" sz="1600">
                <a:latin typeface="Verdana" pitchFamily="34" charset="0"/>
                <a:ea typeface="Verdana" pitchFamily="34" charset="0"/>
                <a:cs typeface="Verdana" pitchFamily="34" charset="0"/>
              </a:rPr>
              <a:t>Grup Şirketlerine Borçlar</a:t>
            </a:r>
          </a:p>
          <a:p>
            <a:pPr algn="just" eaLnBrk="1" hangingPunct="1"/>
            <a:r>
              <a:rPr lang="tr-TR" sz="1600">
                <a:latin typeface="Verdana" pitchFamily="34" charset="0"/>
                <a:ea typeface="Verdana" pitchFamily="34" charset="0"/>
                <a:cs typeface="Verdana" pitchFamily="34" charset="0"/>
              </a:rPr>
              <a:t>Diğer Kısa Vadeli Borçlar</a:t>
            </a:r>
          </a:p>
          <a:p>
            <a:pPr lvl="1" algn="just" eaLnBrk="1" hangingPunct="1"/>
            <a:r>
              <a:rPr lang="tr-TR" sz="1600">
                <a:latin typeface="Verdana" pitchFamily="34" charset="0"/>
                <a:ea typeface="Verdana" pitchFamily="34" charset="0"/>
                <a:cs typeface="Verdana" pitchFamily="34" charset="0"/>
              </a:rPr>
              <a:t>Ortaklara Borçlar</a:t>
            </a:r>
          </a:p>
          <a:p>
            <a:pPr lvl="1" algn="just" eaLnBrk="1" hangingPunct="1"/>
            <a:r>
              <a:rPr lang="tr-TR" sz="1600">
                <a:latin typeface="Verdana" pitchFamily="34" charset="0"/>
                <a:ea typeface="Verdana" pitchFamily="34" charset="0"/>
                <a:cs typeface="Verdana" pitchFamily="34" charset="0"/>
              </a:rPr>
              <a:t>Grup Şirketlerine Borçlar</a:t>
            </a:r>
          </a:p>
          <a:p>
            <a:pPr lvl="1" algn="just" eaLnBrk="1" hangingPunct="1"/>
            <a:r>
              <a:rPr lang="tr-TR" sz="1600">
                <a:latin typeface="Verdana" pitchFamily="34" charset="0"/>
                <a:ea typeface="Verdana" pitchFamily="34" charset="0"/>
                <a:cs typeface="Verdana" pitchFamily="34" charset="0"/>
              </a:rPr>
              <a:t>Personele Borçlar</a:t>
            </a:r>
          </a:p>
          <a:p>
            <a:pPr lvl="1" algn="just" eaLnBrk="1" hangingPunct="1"/>
            <a:r>
              <a:rPr lang="tr-TR" sz="1600">
                <a:latin typeface="Verdana" pitchFamily="34" charset="0"/>
                <a:ea typeface="Verdana" pitchFamily="34" charset="0"/>
                <a:cs typeface="Verdana" pitchFamily="34" charset="0"/>
              </a:rPr>
              <a:t>Alınan Avanslar</a:t>
            </a:r>
          </a:p>
          <a:p>
            <a:pPr lvl="1" algn="just" eaLnBrk="1" hangingPunct="1"/>
            <a:r>
              <a:rPr lang="tr-TR" sz="1600">
                <a:latin typeface="Verdana" pitchFamily="34" charset="0"/>
                <a:ea typeface="Verdana" pitchFamily="34" charset="0"/>
                <a:cs typeface="Verdana" pitchFamily="34" charset="0"/>
              </a:rPr>
              <a:t>Ödenecek Vergi ve Yükümlülükler</a:t>
            </a:r>
          </a:p>
          <a:p>
            <a:pPr lvl="1" algn="just" eaLnBrk="1" hangingPunct="1"/>
            <a:r>
              <a:rPr lang="tr-TR" sz="1600">
                <a:latin typeface="Verdana" pitchFamily="34" charset="0"/>
                <a:ea typeface="Verdana" pitchFamily="34" charset="0"/>
                <a:cs typeface="Verdana" pitchFamily="34" charset="0"/>
              </a:rPr>
              <a:t>Ödenecek Temettüler</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69215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65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65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65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65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65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65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65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65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65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765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765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build="p" bldLvl="3"/>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32439" y="6453336"/>
            <a:ext cx="596025" cy="40466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52488E9-A935-4DC8-AF51-E039B70CE7BB}" type="slidenum">
              <a:rPr lang="tr-TR" sz="1200">
                <a:solidFill>
                  <a:schemeClr val="tx2"/>
                </a:solidFill>
                <a:latin typeface="Verdana" pitchFamily="34" charset="0"/>
              </a:rPr>
              <a:pPr marL="0" indent="0" eaLnBrk="1" hangingPunct="1">
                <a:buNone/>
              </a:pPr>
              <a:t>29</a:t>
            </a:fld>
            <a:endParaRPr lang="tr-TR" sz="1200">
              <a:solidFill>
                <a:schemeClr val="tx2"/>
              </a:solidFill>
              <a:latin typeface="Verdana" pitchFamily="34" charset="0"/>
            </a:endParaRPr>
          </a:p>
        </p:txBody>
      </p:sp>
      <p:sp>
        <p:nvSpPr>
          <p:cNvPr id="19460" name="Rectangle 2"/>
          <p:cNvSpPr>
            <a:spLocks noGrp="1" noChangeArrowheads="1"/>
          </p:cNvSpPr>
          <p:nvPr>
            <p:ph type="title"/>
          </p:nvPr>
        </p:nvSpPr>
        <p:spPr/>
        <p:txBody>
          <a:bodyPr/>
          <a:lstStyle/>
          <a:p>
            <a:r>
              <a:rPr lang="tr-TR"/>
              <a:t>Pide A.Ş.</a:t>
            </a:r>
          </a:p>
        </p:txBody>
      </p:sp>
      <p:sp>
        <p:nvSpPr>
          <p:cNvPr id="19461" name="Rectangle 3"/>
          <p:cNvSpPr>
            <a:spLocks noGrp="1" noChangeArrowheads="1"/>
          </p:cNvSpPr>
          <p:nvPr>
            <p:ph type="body" idx="4294967295"/>
          </p:nvPr>
        </p:nvSpPr>
        <p:spPr>
          <a:xfrm>
            <a:off x="457200" y="1268413"/>
            <a:ext cx="8229600" cy="4862512"/>
          </a:xfrm>
          <a:prstGeom prst="rect">
            <a:avLst/>
          </a:prstGeom>
        </p:spPr>
        <p:txBody>
          <a:bodyPr/>
          <a:lstStyle/>
          <a:p>
            <a:r>
              <a:rPr lang="tr-TR" sz="2400" b="1">
                <a:solidFill>
                  <a:srgbClr val="0C0000"/>
                </a:solidFill>
                <a:latin typeface="Verdana" pitchFamily="34" charset="0"/>
                <a:ea typeface="Verdana" pitchFamily="34" charset="0"/>
                <a:cs typeface="Verdana" pitchFamily="34" charset="0"/>
              </a:rPr>
              <a:t>Vaka 3:</a:t>
            </a:r>
          </a:p>
          <a:p>
            <a:r>
              <a:rPr lang="tr-TR" sz="2400">
                <a:latin typeface="Verdana" pitchFamily="34" charset="0"/>
                <a:ea typeface="Verdana" pitchFamily="34" charset="0"/>
                <a:cs typeface="Verdana" pitchFamily="34" charset="0"/>
              </a:rPr>
              <a:t>Diyelim ki üçüncü gün:</a:t>
            </a:r>
          </a:p>
          <a:p>
            <a:pPr lvl="1"/>
            <a:r>
              <a:rPr lang="tr-TR" sz="2000">
                <a:latin typeface="Verdana" pitchFamily="34" charset="0"/>
                <a:ea typeface="Verdana" pitchFamily="34" charset="0"/>
                <a:cs typeface="Verdana" pitchFamily="34" charset="0"/>
              </a:rPr>
              <a:t>2.000 TL ile gerekli malzemeleri aldık.</a:t>
            </a:r>
          </a:p>
          <a:p>
            <a:pPr lvl="1"/>
            <a:r>
              <a:rPr lang="tr-TR" sz="2000">
                <a:latin typeface="Verdana" pitchFamily="34" charset="0"/>
                <a:ea typeface="Verdana" pitchFamily="34" charset="0"/>
                <a:cs typeface="Verdana" pitchFamily="34" charset="0"/>
              </a:rPr>
              <a:t>Bu alımların yarısını nakit ile, kalanını ay sonunda ödemek üzere veresiye aldık.</a:t>
            </a:r>
          </a:p>
          <a:p>
            <a:pPr lvl="1"/>
            <a:r>
              <a:rPr lang="tr-TR" sz="2000">
                <a:latin typeface="Verdana" pitchFamily="34" charset="0"/>
                <a:ea typeface="Verdana" pitchFamily="34" charset="0"/>
                <a:cs typeface="Verdana" pitchFamily="34" charset="0"/>
              </a:rPr>
              <a:t>Dağıtımda kullandığımız motorlar için yıllık 2.400 TL sigorta primi ödedik. </a:t>
            </a:r>
          </a:p>
          <a:p>
            <a:pPr lvl="1"/>
            <a:r>
              <a:rPr lang="tr-TR" sz="2000">
                <a:latin typeface="Verdana" pitchFamily="34" charset="0"/>
                <a:ea typeface="Verdana" pitchFamily="34" charset="0"/>
                <a:cs typeface="Verdana" pitchFamily="34" charset="0"/>
              </a:rPr>
              <a:t>Paramızın 10.000 TL’sini mevduat hesabına yatırdık.</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980458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6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6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uild="p" bldLvl="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76456" y="6469287"/>
            <a:ext cx="446742"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D9E29108-8B6B-40BF-B8B9-B8AFA62FF94F}" type="slidenum">
              <a:rPr lang="tr-TR" sz="1200">
                <a:solidFill>
                  <a:schemeClr val="tx2"/>
                </a:solidFill>
                <a:latin typeface="Verdana" pitchFamily="34" charset="0"/>
              </a:rPr>
              <a:pPr marL="0" indent="0" eaLnBrk="1" hangingPunct="1">
                <a:buNone/>
              </a:pPr>
              <a:t>30</a:t>
            </a:fld>
            <a:endParaRPr lang="tr-TR" sz="1200">
              <a:solidFill>
                <a:schemeClr val="tx2"/>
              </a:solidFill>
              <a:latin typeface="Verdana" pitchFamily="34" charset="0"/>
            </a:endParaRPr>
          </a:p>
        </p:txBody>
      </p:sp>
      <p:sp>
        <p:nvSpPr>
          <p:cNvPr id="28676" name="Rectangle 2"/>
          <p:cNvSpPr>
            <a:spLocks noGrp="1" noChangeArrowheads="1"/>
          </p:cNvSpPr>
          <p:nvPr>
            <p:ph type="title"/>
          </p:nvPr>
        </p:nvSpPr>
        <p:spPr/>
        <p:txBody>
          <a:bodyPr/>
          <a:lstStyle/>
          <a:p>
            <a:pPr eaLnBrk="1" hangingPunct="1"/>
            <a:r>
              <a:rPr lang="tr-TR" sz="4000"/>
              <a:t>Uzun Vadeli Borçlar</a:t>
            </a:r>
          </a:p>
        </p:txBody>
      </p:sp>
      <p:sp>
        <p:nvSpPr>
          <p:cNvPr id="28677" name="Rectangle 3"/>
          <p:cNvSpPr>
            <a:spLocks noGrp="1" noChangeArrowheads="1"/>
          </p:cNvSpPr>
          <p:nvPr>
            <p:ph type="body" idx="4294967295"/>
          </p:nvPr>
        </p:nvSpPr>
        <p:spPr>
          <a:xfrm>
            <a:off x="323528" y="1268413"/>
            <a:ext cx="8568951" cy="4718050"/>
          </a:xfrm>
          <a:prstGeom prst="rect">
            <a:avLst/>
          </a:prstGeom>
        </p:spPr>
        <p:txBody>
          <a:bodyPr/>
          <a:lstStyle/>
          <a:p>
            <a:pPr algn="just" eaLnBrk="1" hangingPunct="1">
              <a:lnSpc>
                <a:spcPct val="90000"/>
              </a:lnSpc>
              <a:buFont typeface="Wingdings" pitchFamily="2" charset="2"/>
              <a:buNone/>
            </a:pPr>
            <a:r>
              <a:rPr lang="tr-TR" sz="1800" b="1">
                <a:solidFill>
                  <a:srgbClr val="0C0000"/>
                </a:solidFill>
                <a:latin typeface="Verdana" pitchFamily="34" charset="0"/>
                <a:ea typeface="Verdana" pitchFamily="34" charset="0"/>
                <a:cs typeface="Verdana" pitchFamily="34" charset="0"/>
              </a:rPr>
              <a:t>Vadeleri bir yıldan daha uzun süreli olan borçları kapsamaktadır.</a:t>
            </a:r>
          </a:p>
          <a:p>
            <a:pPr algn="just" eaLnBrk="1" hangingPunct="1">
              <a:lnSpc>
                <a:spcPct val="90000"/>
              </a:lnSpc>
              <a:buFont typeface="Wingdings" pitchFamily="2" charset="2"/>
              <a:buNone/>
            </a:pPr>
            <a:endParaRPr lang="tr-TR" sz="1600" b="1">
              <a:solidFill>
                <a:srgbClr val="3333CC"/>
              </a:solidFill>
              <a:latin typeface="Verdana" pitchFamily="34" charset="0"/>
              <a:ea typeface="Verdana" pitchFamily="34" charset="0"/>
              <a:cs typeface="Verdana" pitchFamily="34" charset="0"/>
            </a:endParaRPr>
          </a:p>
          <a:p>
            <a:pPr algn="just" eaLnBrk="1" hangingPunct="1">
              <a:lnSpc>
                <a:spcPct val="90000"/>
              </a:lnSpc>
              <a:spcAft>
                <a:spcPts val="1200"/>
              </a:spcAft>
            </a:pPr>
            <a:r>
              <a:rPr lang="tr-TR" sz="1600">
                <a:latin typeface="Verdana" pitchFamily="34" charset="0"/>
                <a:ea typeface="Verdana" pitchFamily="34" charset="0"/>
                <a:cs typeface="Verdana" pitchFamily="34" charset="0"/>
              </a:rPr>
              <a:t>Mali Borçlar</a:t>
            </a:r>
          </a:p>
          <a:p>
            <a:pPr lvl="1" algn="just" eaLnBrk="1" hangingPunct="1">
              <a:lnSpc>
                <a:spcPct val="90000"/>
              </a:lnSpc>
              <a:spcAft>
                <a:spcPts val="1200"/>
              </a:spcAft>
            </a:pPr>
            <a:r>
              <a:rPr lang="tr-TR" sz="1600">
                <a:latin typeface="Verdana" pitchFamily="34" charset="0"/>
                <a:ea typeface="Verdana" pitchFamily="34" charset="0"/>
                <a:cs typeface="Verdana" pitchFamily="34" charset="0"/>
              </a:rPr>
              <a:t>Banka Kredileri</a:t>
            </a:r>
          </a:p>
          <a:p>
            <a:pPr lvl="1" algn="just" eaLnBrk="1" hangingPunct="1">
              <a:lnSpc>
                <a:spcPct val="90000"/>
              </a:lnSpc>
              <a:spcAft>
                <a:spcPts val="1200"/>
              </a:spcAft>
            </a:pPr>
            <a:r>
              <a:rPr lang="tr-TR" sz="1600">
                <a:latin typeface="Verdana" pitchFamily="34" charset="0"/>
                <a:ea typeface="Verdana" pitchFamily="34" charset="0"/>
                <a:cs typeface="Verdana" pitchFamily="34" charset="0"/>
              </a:rPr>
              <a:t>Çıkarılmış Tahviller ve Diğer Menkul Kıymetler</a:t>
            </a:r>
          </a:p>
          <a:p>
            <a:pPr algn="just" eaLnBrk="1" hangingPunct="1">
              <a:lnSpc>
                <a:spcPct val="90000"/>
              </a:lnSpc>
              <a:spcAft>
                <a:spcPts val="1200"/>
              </a:spcAft>
            </a:pPr>
            <a:r>
              <a:rPr lang="tr-TR" sz="1600">
                <a:latin typeface="Verdana" pitchFamily="34" charset="0"/>
                <a:ea typeface="Verdana" pitchFamily="34" charset="0"/>
                <a:cs typeface="Verdana" pitchFamily="34" charset="0"/>
              </a:rPr>
              <a:t>Ticari Borçlar</a:t>
            </a:r>
          </a:p>
          <a:p>
            <a:pPr algn="just" eaLnBrk="1" hangingPunct="1">
              <a:lnSpc>
                <a:spcPct val="90000"/>
              </a:lnSpc>
              <a:spcAft>
                <a:spcPts val="1200"/>
              </a:spcAft>
            </a:pPr>
            <a:r>
              <a:rPr lang="tr-TR" sz="1600">
                <a:latin typeface="Verdana" pitchFamily="34" charset="0"/>
                <a:ea typeface="Verdana" pitchFamily="34" charset="0"/>
                <a:cs typeface="Verdana" pitchFamily="34" charset="0"/>
              </a:rPr>
              <a:t>Alınan Avanslar</a:t>
            </a:r>
          </a:p>
          <a:p>
            <a:pPr algn="just" eaLnBrk="1" hangingPunct="1">
              <a:lnSpc>
                <a:spcPct val="90000"/>
              </a:lnSpc>
              <a:spcAft>
                <a:spcPts val="1200"/>
              </a:spcAft>
            </a:pPr>
            <a:r>
              <a:rPr lang="tr-TR" sz="1600">
                <a:latin typeface="Verdana" pitchFamily="34" charset="0"/>
                <a:ea typeface="Verdana" pitchFamily="34" charset="0"/>
                <a:cs typeface="Verdana" pitchFamily="34" charset="0"/>
              </a:rPr>
              <a:t>Kıdem Tazminatı Karşılığı</a:t>
            </a:r>
          </a:p>
          <a:p>
            <a:pPr algn="just" eaLnBrk="1" hangingPunct="1">
              <a:lnSpc>
                <a:spcPct val="90000"/>
              </a:lnSpc>
              <a:spcAft>
                <a:spcPts val="1200"/>
              </a:spcAft>
            </a:pPr>
            <a:r>
              <a:rPr lang="tr-TR" sz="1600">
                <a:latin typeface="Verdana" pitchFamily="34" charset="0"/>
                <a:ea typeface="Verdana" pitchFamily="34" charset="0"/>
                <a:cs typeface="Verdana" pitchFamily="34" charset="0"/>
              </a:rPr>
              <a:t>Diğer Borç ve Gider Karşılıkları</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012466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43042" y="6469287"/>
            <a:ext cx="565462" cy="370588"/>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6152B146-F197-434B-8229-D90A6D2E2F44}" type="slidenum">
              <a:rPr lang="tr-TR" sz="1200">
                <a:solidFill>
                  <a:schemeClr val="tx2"/>
                </a:solidFill>
                <a:latin typeface="Verdana" pitchFamily="34" charset="0"/>
              </a:rPr>
              <a:pPr marL="0" indent="0" eaLnBrk="1" hangingPunct="1">
                <a:buNone/>
              </a:pPr>
              <a:t>31</a:t>
            </a:fld>
            <a:endParaRPr lang="tr-TR" sz="1200">
              <a:solidFill>
                <a:schemeClr val="tx2"/>
              </a:solidFill>
              <a:latin typeface="Verdana" pitchFamily="34" charset="0"/>
            </a:endParaRPr>
          </a:p>
        </p:txBody>
      </p:sp>
      <p:sp>
        <p:nvSpPr>
          <p:cNvPr id="40964" name="Rectangle 2"/>
          <p:cNvSpPr>
            <a:spLocks noGrp="1" noChangeArrowheads="1"/>
          </p:cNvSpPr>
          <p:nvPr>
            <p:ph type="title"/>
          </p:nvPr>
        </p:nvSpPr>
        <p:spPr/>
        <p:txBody>
          <a:bodyPr/>
          <a:lstStyle/>
          <a:p>
            <a:r>
              <a:rPr lang="tr-TR"/>
              <a:t>Pide A.Ş.</a:t>
            </a:r>
          </a:p>
        </p:txBody>
      </p:sp>
      <p:sp>
        <p:nvSpPr>
          <p:cNvPr id="40965" name="Rectangle 3"/>
          <p:cNvSpPr>
            <a:spLocks noGrp="1" noChangeArrowheads="1"/>
          </p:cNvSpPr>
          <p:nvPr>
            <p:ph type="body" idx="4294967295"/>
          </p:nvPr>
        </p:nvSpPr>
        <p:spPr>
          <a:xfrm>
            <a:off x="518864" y="1556445"/>
            <a:ext cx="8229600" cy="3456731"/>
          </a:xfrm>
          <a:prstGeom prst="rect">
            <a:avLst/>
          </a:prstGeom>
        </p:spPr>
        <p:txBody>
          <a:bodyPr/>
          <a:lstStyle/>
          <a:p>
            <a:r>
              <a:rPr lang="tr-TR" sz="2400" b="1">
                <a:solidFill>
                  <a:srgbClr val="0C0000"/>
                </a:solidFill>
                <a:latin typeface="Verdana" pitchFamily="34" charset="0"/>
                <a:ea typeface="Verdana" pitchFamily="34" charset="0"/>
                <a:cs typeface="Verdana" pitchFamily="34" charset="0"/>
              </a:rPr>
              <a:t>Vaka 4:</a:t>
            </a:r>
          </a:p>
          <a:p>
            <a:pPr lvl="1"/>
            <a:r>
              <a:rPr lang="tr-TR" sz="2000">
                <a:latin typeface="Verdana" pitchFamily="34" charset="0"/>
                <a:ea typeface="Verdana" pitchFamily="34" charset="0"/>
                <a:cs typeface="Verdana" pitchFamily="34" charset="0"/>
              </a:rPr>
              <a:t>Yatırımlarımız için yıllık %8 faizle $25.000 uzun vadeli kredi aldık. (1$=2TL) Faiz her sene sonunda ödenecek.</a:t>
            </a:r>
          </a:p>
          <a:p>
            <a:pPr lvl="1"/>
            <a:r>
              <a:rPr lang="tr-TR" sz="2000">
                <a:latin typeface="Verdana" pitchFamily="34" charset="0"/>
                <a:ea typeface="Verdana" pitchFamily="34" charset="0"/>
                <a:cs typeface="Verdana" pitchFamily="34" charset="0"/>
              </a:rPr>
              <a:t>Bir başka semtte bir şube açmak için bize ortaklık teklifi geldi. 50,000 TL sermaye ile kurulan bu şirkete 40% ortak olduk. Payımıza düşen sermayeyi nakit olarak ödedik.</a:t>
            </a:r>
          </a:p>
          <a:p>
            <a:pPr lvl="1"/>
            <a:r>
              <a:rPr lang="tr-TR" sz="2000">
                <a:latin typeface="Verdana" pitchFamily="34" charset="0"/>
                <a:ea typeface="Verdana" pitchFamily="34" charset="0"/>
                <a:cs typeface="Verdana" pitchFamily="34" charset="0"/>
              </a:rPr>
              <a:t>Diğer yatırımlar zaman alacağından 30.000 TL’yi 1 ay vadeli bir hazine bonosuna yatırdık.</a:t>
            </a:r>
            <a:endParaRPr lang="tr-TR" sz="2400">
              <a:latin typeface="Verdana" pitchFamily="34" charset="0"/>
              <a:ea typeface="Verdana" pitchFamily="34" charset="0"/>
              <a:cs typeface="Verdana" pitchFamily="34" charset="0"/>
            </a:endParaRPr>
          </a:p>
          <a:p>
            <a:pPr lvl="1"/>
            <a:r>
              <a:rPr lang="tr-TR" sz="2000">
                <a:latin typeface="Verdana" pitchFamily="34" charset="0"/>
                <a:ea typeface="Verdana" pitchFamily="34" charset="0"/>
                <a:cs typeface="Verdana" pitchFamily="34" charset="0"/>
              </a:rPr>
              <a:t>4.gün satışlara başladık.</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91228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96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build="p" bldLvl="2"/>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41000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76458093-3333-4A40-9F3A-FAAD4F54F2D4}" type="slidenum">
              <a:rPr lang="tr-TR" sz="1200">
                <a:solidFill>
                  <a:schemeClr val="tx2"/>
                </a:solidFill>
                <a:latin typeface="Verdana" pitchFamily="34" charset="0"/>
              </a:rPr>
              <a:pPr marL="0" indent="0" eaLnBrk="1" hangingPunct="1">
                <a:buNone/>
              </a:pPr>
              <a:t>32</a:t>
            </a:fld>
            <a:endParaRPr lang="tr-TR" sz="1200">
              <a:solidFill>
                <a:schemeClr val="tx2"/>
              </a:solidFill>
              <a:latin typeface="Verdana" pitchFamily="34" charset="0"/>
            </a:endParaRPr>
          </a:p>
        </p:txBody>
      </p:sp>
      <p:sp>
        <p:nvSpPr>
          <p:cNvPr id="31748" name="Rectangle 2"/>
          <p:cNvSpPr>
            <a:spLocks noGrp="1" noChangeArrowheads="1"/>
          </p:cNvSpPr>
          <p:nvPr>
            <p:ph type="title"/>
          </p:nvPr>
        </p:nvSpPr>
        <p:spPr/>
        <p:txBody>
          <a:bodyPr/>
          <a:lstStyle/>
          <a:p>
            <a:r>
              <a:rPr lang="tr-TR"/>
              <a:t>Gelir Tablosu</a:t>
            </a:r>
          </a:p>
        </p:txBody>
      </p:sp>
      <p:sp>
        <p:nvSpPr>
          <p:cNvPr id="31749" name="Rectangle 3"/>
          <p:cNvSpPr>
            <a:spLocks noGrp="1" noChangeArrowheads="1"/>
          </p:cNvSpPr>
          <p:nvPr>
            <p:ph type="body" idx="4294967295"/>
          </p:nvPr>
        </p:nvSpPr>
        <p:spPr>
          <a:xfrm>
            <a:off x="457200" y="1124744"/>
            <a:ext cx="8229600" cy="4862512"/>
          </a:xfrm>
          <a:prstGeom prst="rect">
            <a:avLst/>
          </a:prstGeom>
        </p:spPr>
        <p:txBody>
          <a:bodyPr/>
          <a:lstStyle/>
          <a:p>
            <a:pPr algn="just"/>
            <a:r>
              <a:rPr lang="tr-TR" sz="2000">
                <a:solidFill>
                  <a:srgbClr val="0C0000"/>
                </a:solidFill>
                <a:latin typeface="Verdana" pitchFamily="34" charset="0"/>
                <a:ea typeface="Verdana" pitchFamily="34" charset="0"/>
                <a:cs typeface="Verdana" pitchFamily="34" charset="0"/>
              </a:rPr>
              <a:t>Brüt Satışlar:</a:t>
            </a:r>
            <a:endParaRPr lang="tr-TR" sz="1200">
              <a:solidFill>
                <a:srgbClr val="0C0000"/>
              </a:solidFill>
              <a:latin typeface="Verdana" pitchFamily="34" charset="0"/>
              <a:ea typeface="Verdana" pitchFamily="34" charset="0"/>
              <a:cs typeface="Verdana" pitchFamily="34" charset="0"/>
            </a:endParaRPr>
          </a:p>
          <a:p>
            <a:pPr algn="just"/>
            <a:r>
              <a:rPr lang="tr-TR" sz="2000">
                <a:solidFill>
                  <a:srgbClr val="0C0000"/>
                </a:solidFill>
                <a:latin typeface="Verdana" pitchFamily="34" charset="0"/>
                <a:ea typeface="Verdana" pitchFamily="34" charset="0"/>
                <a:cs typeface="Verdana" pitchFamily="34" charset="0"/>
              </a:rPr>
              <a:t>Satış İndirimler ve İadeler (-) </a:t>
            </a:r>
          </a:p>
          <a:p>
            <a:pPr algn="just"/>
            <a:r>
              <a:rPr lang="tr-TR" sz="2000" b="1">
                <a:latin typeface="Verdana" pitchFamily="34" charset="0"/>
                <a:ea typeface="Verdana" pitchFamily="34" charset="0"/>
                <a:cs typeface="Verdana" pitchFamily="34" charset="0"/>
              </a:rPr>
              <a:t>Net Satışlar</a:t>
            </a:r>
          </a:p>
          <a:p>
            <a:pPr algn="just"/>
            <a:r>
              <a:rPr lang="tr-TR" sz="2000">
                <a:solidFill>
                  <a:srgbClr val="0C0000"/>
                </a:solidFill>
                <a:latin typeface="Verdana" pitchFamily="34" charset="0"/>
                <a:ea typeface="Verdana" pitchFamily="34" charset="0"/>
                <a:cs typeface="Verdana" pitchFamily="34" charset="0"/>
              </a:rPr>
              <a:t>Satışların Maliyeti (-)</a:t>
            </a:r>
          </a:p>
          <a:p>
            <a:pPr lvl="1" algn="just"/>
            <a:r>
              <a:rPr lang="tr-TR" sz="1600">
                <a:solidFill>
                  <a:srgbClr val="0000CC"/>
                </a:solidFill>
                <a:latin typeface="Verdana" pitchFamily="34" charset="0"/>
                <a:ea typeface="Verdana" pitchFamily="34" charset="0"/>
                <a:cs typeface="Verdana" pitchFamily="34" charset="0"/>
              </a:rPr>
              <a:t>Hammadde</a:t>
            </a:r>
          </a:p>
          <a:p>
            <a:pPr lvl="1" algn="just"/>
            <a:r>
              <a:rPr lang="tr-TR" sz="1600">
                <a:solidFill>
                  <a:srgbClr val="0000CC"/>
                </a:solidFill>
                <a:latin typeface="Verdana" pitchFamily="34" charset="0"/>
                <a:ea typeface="Verdana" pitchFamily="34" charset="0"/>
                <a:cs typeface="Verdana" pitchFamily="34" charset="0"/>
              </a:rPr>
              <a:t>İşçilik</a:t>
            </a:r>
          </a:p>
          <a:p>
            <a:pPr lvl="1" algn="just"/>
            <a:r>
              <a:rPr lang="tr-TR" sz="1600">
                <a:solidFill>
                  <a:srgbClr val="0000CC"/>
                </a:solidFill>
                <a:latin typeface="Verdana" pitchFamily="34" charset="0"/>
                <a:ea typeface="Verdana" pitchFamily="34" charset="0"/>
                <a:cs typeface="Verdana" pitchFamily="34" charset="0"/>
              </a:rPr>
              <a:t>Enerji</a:t>
            </a:r>
          </a:p>
          <a:p>
            <a:pPr lvl="1" algn="just"/>
            <a:r>
              <a:rPr lang="tr-TR" sz="1600">
                <a:solidFill>
                  <a:srgbClr val="0000CC"/>
                </a:solidFill>
                <a:latin typeface="Verdana" pitchFamily="34" charset="0"/>
                <a:ea typeface="Verdana" pitchFamily="34" charset="0"/>
                <a:cs typeface="Verdana" pitchFamily="34" charset="0"/>
              </a:rPr>
              <a:t>Amortisman</a:t>
            </a:r>
          </a:p>
          <a:p>
            <a:pPr algn="just"/>
            <a:r>
              <a:rPr lang="tr-TR" sz="2000">
                <a:solidFill>
                  <a:srgbClr val="0C0000"/>
                </a:solidFill>
                <a:latin typeface="Verdana" pitchFamily="34" charset="0"/>
                <a:ea typeface="Verdana" pitchFamily="34" charset="0"/>
                <a:cs typeface="Verdana" pitchFamily="34" charset="0"/>
              </a:rPr>
              <a:t>Brüt Satış Kar/Zararı</a:t>
            </a:r>
          </a:p>
          <a:p>
            <a:pPr algn="just">
              <a:spcAft>
                <a:spcPct val="15000"/>
              </a:spcAft>
            </a:pPr>
            <a:r>
              <a:rPr lang="tr-TR" sz="2000">
                <a:solidFill>
                  <a:srgbClr val="0C0000"/>
                </a:solidFill>
                <a:latin typeface="Verdana" pitchFamily="34" charset="0"/>
                <a:ea typeface="Verdana" pitchFamily="34" charset="0"/>
                <a:cs typeface="Verdana" pitchFamily="34" charset="0"/>
              </a:rPr>
              <a:t>Faaliyet Giderleri (-)</a:t>
            </a:r>
          </a:p>
          <a:p>
            <a:pPr marL="762000" lvl="1" indent="-304800" algn="just">
              <a:spcAft>
                <a:spcPct val="15000"/>
              </a:spcAft>
            </a:pPr>
            <a:r>
              <a:rPr lang="tr-TR" sz="1600">
                <a:solidFill>
                  <a:srgbClr val="0000CC"/>
                </a:solidFill>
                <a:latin typeface="Verdana" pitchFamily="34" charset="0"/>
                <a:ea typeface="Verdana" pitchFamily="34" charset="0"/>
                <a:cs typeface="Verdana" pitchFamily="34" charset="0"/>
              </a:rPr>
              <a:t>Araştırma ve Geliştirme Giderleri</a:t>
            </a:r>
          </a:p>
          <a:p>
            <a:pPr marL="762000" lvl="1" indent="-304800" algn="just">
              <a:spcAft>
                <a:spcPct val="15000"/>
              </a:spcAft>
            </a:pPr>
            <a:r>
              <a:rPr lang="tr-TR" sz="1600">
                <a:solidFill>
                  <a:srgbClr val="0000CC"/>
                </a:solidFill>
                <a:latin typeface="Verdana" pitchFamily="34" charset="0"/>
                <a:ea typeface="Verdana" pitchFamily="34" charset="0"/>
                <a:cs typeface="Verdana" pitchFamily="34" charset="0"/>
              </a:rPr>
              <a:t>Pazarlama Satış ve Dağıtım Giderleri</a:t>
            </a:r>
          </a:p>
          <a:p>
            <a:pPr marL="762000" lvl="1" indent="-304800" algn="just">
              <a:spcAft>
                <a:spcPct val="15000"/>
              </a:spcAft>
            </a:pPr>
            <a:r>
              <a:rPr lang="tr-TR" sz="1600">
                <a:solidFill>
                  <a:srgbClr val="0000CC"/>
                </a:solidFill>
                <a:latin typeface="Verdana" pitchFamily="34" charset="0"/>
                <a:ea typeface="Verdana" pitchFamily="34" charset="0"/>
                <a:cs typeface="Verdana" pitchFamily="34" charset="0"/>
              </a:rPr>
              <a:t>Genel Yönetim Giderleri</a:t>
            </a:r>
          </a:p>
          <a:p>
            <a:pPr marL="762000" lvl="1" indent="-304800" algn="just">
              <a:spcAft>
                <a:spcPct val="15000"/>
              </a:spcAft>
            </a:pPr>
            <a:r>
              <a:rPr lang="tr-TR" sz="1600">
                <a:solidFill>
                  <a:srgbClr val="0000CC"/>
                </a:solidFill>
                <a:latin typeface="Verdana" pitchFamily="34" charset="0"/>
                <a:ea typeface="Verdana" pitchFamily="34" charset="0"/>
                <a:cs typeface="Verdana" pitchFamily="34" charset="0"/>
              </a:rPr>
              <a:t>Amortisman	</a:t>
            </a:r>
          </a:p>
          <a:p>
            <a:pPr algn="just">
              <a:spcAft>
                <a:spcPct val="15000"/>
              </a:spcAft>
            </a:pPr>
            <a:r>
              <a:rPr lang="tr-TR" sz="2000" b="1">
                <a:solidFill>
                  <a:srgbClr val="0000CC"/>
                </a:solidFill>
                <a:latin typeface="Verdana" pitchFamily="34" charset="0"/>
                <a:ea typeface="Verdana" pitchFamily="34" charset="0"/>
                <a:cs typeface="Verdana" pitchFamily="34" charset="0"/>
              </a:rPr>
              <a:t>Faaliyet Kar veya Zararı (FVÖK)</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19558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74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749">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749">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749">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74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74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749">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749">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749">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749">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749">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74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32439" y="6469287"/>
            <a:ext cx="608011"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D709DAD2-62ED-4D1F-A301-4912652B6098}" type="slidenum">
              <a:rPr lang="tr-TR" sz="1200">
                <a:solidFill>
                  <a:schemeClr val="tx2"/>
                </a:solidFill>
                <a:latin typeface="Verdana" pitchFamily="34" charset="0"/>
              </a:rPr>
              <a:pPr marL="0" indent="0" eaLnBrk="1" hangingPunct="1">
                <a:buNone/>
              </a:pPr>
              <a:t>33</a:t>
            </a:fld>
            <a:endParaRPr lang="tr-TR" sz="1200">
              <a:solidFill>
                <a:schemeClr val="tx2"/>
              </a:solidFill>
              <a:latin typeface="Verdana" pitchFamily="34" charset="0"/>
            </a:endParaRPr>
          </a:p>
        </p:txBody>
      </p:sp>
      <p:sp>
        <p:nvSpPr>
          <p:cNvPr id="35844" name="Rectangle 2"/>
          <p:cNvSpPr>
            <a:spLocks noGrp="1" noChangeArrowheads="1"/>
          </p:cNvSpPr>
          <p:nvPr>
            <p:ph type="title"/>
          </p:nvPr>
        </p:nvSpPr>
        <p:spPr/>
        <p:txBody>
          <a:bodyPr/>
          <a:lstStyle/>
          <a:p>
            <a:r>
              <a:rPr lang="tr-TR"/>
              <a:t>Gelir Tablosu</a:t>
            </a:r>
          </a:p>
        </p:txBody>
      </p:sp>
      <p:sp>
        <p:nvSpPr>
          <p:cNvPr id="35845" name="Rectangle 3"/>
          <p:cNvSpPr>
            <a:spLocks noGrp="1" noChangeArrowheads="1"/>
          </p:cNvSpPr>
          <p:nvPr>
            <p:ph type="body" idx="4294967295"/>
          </p:nvPr>
        </p:nvSpPr>
        <p:spPr>
          <a:xfrm>
            <a:off x="457200" y="1268760"/>
            <a:ext cx="8229600" cy="4789487"/>
          </a:xfrm>
          <a:prstGeom prst="rect">
            <a:avLst/>
          </a:prstGeom>
        </p:spPr>
        <p:txBody>
          <a:bodyPr/>
          <a:lstStyle/>
          <a:p>
            <a:pPr algn="just">
              <a:spcAft>
                <a:spcPct val="15000"/>
              </a:spcAft>
            </a:pPr>
            <a:r>
              <a:rPr lang="tr-TR" sz="2000">
                <a:solidFill>
                  <a:srgbClr val="0C0000"/>
                </a:solidFill>
                <a:latin typeface="Verdana" pitchFamily="34" charset="0"/>
                <a:ea typeface="Verdana" pitchFamily="34" charset="0"/>
                <a:cs typeface="Verdana" pitchFamily="34" charset="0"/>
              </a:rPr>
              <a:t>Diğer Gelir ve Karlar: </a:t>
            </a:r>
          </a:p>
          <a:p>
            <a:pPr marL="762000" lvl="1" indent="-304800" algn="just">
              <a:spcAft>
                <a:spcPct val="15000"/>
              </a:spcAft>
            </a:pPr>
            <a:r>
              <a:rPr lang="tr-TR" sz="1800">
                <a:solidFill>
                  <a:srgbClr val="0C0000"/>
                </a:solidFill>
                <a:latin typeface="Verdana" pitchFamily="34" charset="0"/>
                <a:ea typeface="Verdana" pitchFamily="34" charset="0"/>
                <a:cs typeface="Verdana" pitchFamily="34" charset="0"/>
              </a:rPr>
              <a:t>İştiraklerden Temettü Geliri</a:t>
            </a:r>
          </a:p>
          <a:p>
            <a:pPr marL="762000" lvl="1" indent="-304800" algn="just">
              <a:spcAft>
                <a:spcPct val="15000"/>
              </a:spcAft>
            </a:pPr>
            <a:r>
              <a:rPr lang="tr-TR" sz="1800">
                <a:solidFill>
                  <a:srgbClr val="0C0000"/>
                </a:solidFill>
                <a:latin typeface="Verdana" pitchFamily="34" charset="0"/>
                <a:ea typeface="Verdana" pitchFamily="34" charset="0"/>
                <a:cs typeface="Verdana" pitchFamily="34" charset="0"/>
              </a:rPr>
              <a:t>Faiz Gelirleri</a:t>
            </a:r>
          </a:p>
          <a:p>
            <a:pPr marL="762000" lvl="1" indent="-304800" algn="just">
              <a:spcAft>
                <a:spcPct val="15000"/>
              </a:spcAft>
            </a:pPr>
            <a:r>
              <a:rPr lang="tr-TR" sz="1800">
                <a:solidFill>
                  <a:srgbClr val="0C0000"/>
                </a:solidFill>
                <a:latin typeface="Verdana" pitchFamily="34" charset="0"/>
                <a:ea typeface="Verdana" pitchFamily="34" charset="0"/>
                <a:cs typeface="Verdana" pitchFamily="34" charset="0"/>
              </a:rPr>
              <a:t>Komisyon Gelirleri </a:t>
            </a:r>
          </a:p>
          <a:p>
            <a:pPr marL="762000" lvl="1" indent="-304800" algn="just">
              <a:spcAft>
                <a:spcPct val="15000"/>
              </a:spcAft>
            </a:pPr>
            <a:r>
              <a:rPr lang="tr-TR" sz="1800">
                <a:solidFill>
                  <a:srgbClr val="0C0000"/>
                </a:solidFill>
                <a:latin typeface="Verdana" pitchFamily="34" charset="0"/>
                <a:ea typeface="Verdana" pitchFamily="34" charset="0"/>
                <a:cs typeface="Verdana" pitchFamily="34" charset="0"/>
              </a:rPr>
              <a:t>Menkul Kıymet Satış Karları</a:t>
            </a:r>
          </a:p>
          <a:p>
            <a:pPr marL="762000" lvl="1" indent="-304800" algn="just">
              <a:spcAft>
                <a:spcPct val="15000"/>
              </a:spcAft>
            </a:pPr>
            <a:r>
              <a:rPr lang="tr-TR" sz="1800">
                <a:solidFill>
                  <a:srgbClr val="0C0000"/>
                </a:solidFill>
                <a:latin typeface="Verdana" pitchFamily="34" charset="0"/>
                <a:ea typeface="Verdana" pitchFamily="34" charset="0"/>
                <a:cs typeface="Verdana" pitchFamily="34" charset="0"/>
              </a:rPr>
              <a:t>Kambiyo Karları</a:t>
            </a:r>
          </a:p>
          <a:p>
            <a:pPr marL="762000" lvl="1" indent="-304800" algn="just">
              <a:spcAft>
                <a:spcPct val="15000"/>
              </a:spcAft>
            </a:pPr>
            <a:r>
              <a:rPr lang="tr-TR" sz="1800">
                <a:solidFill>
                  <a:srgbClr val="0C0000"/>
                </a:solidFill>
                <a:latin typeface="Verdana" pitchFamily="34" charset="0"/>
                <a:ea typeface="Verdana" pitchFamily="34" charset="0"/>
                <a:cs typeface="Verdana" pitchFamily="34" charset="0"/>
              </a:rPr>
              <a:t>Kira Gelirleri</a:t>
            </a:r>
            <a:endParaRPr lang="tr-TR" sz="1600">
              <a:solidFill>
                <a:srgbClr val="0C0000"/>
              </a:solidFill>
              <a:latin typeface="Verdana" pitchFamily="34" charset="0"/>
              <a:ea typeface="Verdana" pitchFamily="34" charset="0"/>
              <a:cs typeface="Verdana" pitchFamily="34" charset="0"/>
            </a:endParaRPr>
          </a:p>
          <a:p>
            <a:pPr algn="just">
              <a:spcAft>
                <a:spcPct val="15000"/>
              </a:spcAft>
            </a:pPr>
            <a:r>
              <a:rPr lang="tr-TR" sz="2000">
                <a:solidFill>
                  <a:srgbClr val="0C0000"/>
                </a:solidFill>
                <a:latin typeface="Verdana" pitchFamily="34" charset="0"/>
                <a:ea typeface="Verdana" pitchFamily="34" charset="0"/>
                <a:cs typeface="Verdana" pitchFamily="34" charset="0"/>
              </a:rPr>
              <a:t>Diğer Gider ve Zararlar</a:t>
            </a:r>
          </a:p>
          <a:p>
            <a:pPr algn="just"/>
            <a:r>
              <a:rPr lang="tr-TR" sz="2000">
                <a:solidFill>
                  <a:srgbClr val="0C0000"/>
                </a:solidFill>
                <a:latin typeface="Verdana" pitchFamily="34" charset="0"/>
                <a:ea typeface="Verdana" pitchFamily="34" charset="0"/>
                <a:cs typeface="Verdana" pitchFamily="34" charset="0"/>
              </a:rPr>
              <a:t>Finansman Giderleri (-)</a:t>
            </a:r>
          </a:p>
          <a:p>
            <a:pPr algn="just"/>
            <a:r>
              <a:rPr lang="tr-TR" sz="2000">
                <a:solidFill>
                  <a:srgbClr val="0C0000"/>
                </a:solidFill>
                <a:latin typeface="Verdana" pitchFamily="34" charset="0"/>
                <a:ea typeface="Verdana" pitchFamily="34" charset="0"/>
                <a:cs typeface="Verdana" pitchFamily="34" charset="0"/>
              </a:rPr>
              <a:t>Olağan Dışı Gelir/Giderler</a:t>
            </a:r>
          </a:p>
          <a:p>
            <a:pPr algn="just"/>
            <a:r>
              <a:rPr lang="tr-TR" sz="2000">
                <a:solidFill>
                  <a:srgbClr val="0C0000"/>
                </a:solidFill>
                <a:latin typeface="Verdana" pitchFamily="34" charset="0"/>
                <a:ea typeface="Verdana" pitchFamily="34" charset="0"/>
                <a:cs typeface="Verdana" pitchFamily="34" charset="0"/>
              </a:rPr>
              <a:t>Vergi Öncesi Dönem Karı veya Zararı (VÖK)</a:t>
            </a:r>
          </a:p>
          <a:p>
            <a:pPr algn="just">
              <a:lnSpc>
                <a:spcPct val="90000"/>
              </a:lnSpc>
              <a:spcAft>
                <a:spcPct val="20000"/>
              </a:spcAft>
            </a:pPr>
            <a:r>
              <a:rPr lang="tr-TR" sz="2000">
                <a:solidFill>
                  <a:srgbClr val="0C0000"/>
                </a:solidFill>
                <a:latin typeface="Verdana" pitchFamily="34" charset="0"/>
                <a:ea typeface="Verdana" pitchFamily="34" charset="0"/>
                <a:cs typeface="Verdana" pitchFamily="34" charset="0"/>
              </a:rPr>
              <a:t>Vergi Karşılıkları (-)</a:t>
            </a:r>
          </a:p>
          <a:p>
            <a:pPr algn="just">
              <a:lnSpc>
                <a:spcPct val="90000"/>
              </a:lnSpc>
              <a:spcAft>
                <a:spcPct val="20000"/>
              </a:spcAft>
            </a:pPr>
            <a:r>
              <a:rPr lang="tr-TR" sz="2000" b="1">
                <a:solidFill>
                  <a:srgbClr val="0C0000"/>
                </a:solidFill>
                <a:latin typeface="Verdana" pitchFamily="34" charset="0"/>
                <a:ea typeface="Verdana" pitchFamily="34" charset="0"/>
                <a:cs typeface="Verdana" pitchFamily="34" charset="0"/>
              </a:rPr>
              <a:t>Net Dönem Karı veya Zararı</a:t>
            </a:r>
          </a:p>
          <a:p>
            <a:pPr algn="just">
              <a:spcAft>
                <a:spcPct val="15000"/>
              </a:spcAft>
            </a:pPr>
            <a:endParaRPr lang="tr-TR" sz="20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6702748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7" y="6506890"/>
            <a:ext cx="532061" cy="37849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7B2F31D-133D-4EE0-840A-77DC6DADB38F}" type="slidenum">
              <a:rPr lang="tr-TR" sz="1200">
                <a:solidFill>
                  <a:schemeClr val="tx2"/>
                </a:solidFill>
                <a:latin typeface="Verdana" pitchFamily="34" charset="0"/>
              </a:rPr>
              <a:pPr marL="0" indent="0" eaLnBrk="1" hangingPunct="1">
                <a:buNone/>
              </a:pPr>
              <a:t>34</a:t>
            </a:fld>
            <a:endParaRPr lang="tr-TR" sz="1200">
              <a:solidFill>
                <a:schemeClr val="tx2"/>
              </a:solidFill>
              <a:latin typeface="Verdana" pitchFamily="34" charset="0"/>
            </a:endParaRPr>
          </a:p>
        </p:txBody>
      </p:sp>
      <p:sp>
        <p:nvSpPr>
          <p:cNvPr id="30724" name="Rectangle 2"/>
          <p:cNvSpPr>
            <a:spLocks noGrp="1" noChangeArrowheads="1"/>
          </p:cNvSpPr>
          <p:nvPr>
            <p:ph type="title"/>
          </p:nvPr>
        </p:nvSpPr>
        <p:spPr/>
        <p:txBody>
          <a:bodyPr/>
          <a:lstStyle/>
          <a:p>
            <a:r>
              <a:rPr lang="tr-TR"/>
              <a:t>Pide A.Ş.</a:t>
            </a:r>
          </a:p>
        </p:txBody>
      </p:sp>
      <p:sp>
        <p:nvSpPr>
          <p:cNvPr id="30725" name="Rectangle 3"/>
          <p:cNvSpPr>
            <a:spLocks noGrp="1" noChangeArrowheads="1"/>
          </p:cNvSpPr>
          <p:nvPr>
            <p:ph type="body" idx="4294967295"/>
          </p:nvPr>
        </p:nvSpPr>
        <p:spPr>
          <a:xfrm>
            <a:off x="457200" y="1268413"/>
            <a:ext cx="8229600" cy="4862512"/>
          </a:xfrm>
          <a:prstGeom prst="rect">
            <a:avLst/>
          </a:prstGeom>
        </p:spPr>
        <p:txBody>
          <a:bodyPr/>
          <a:lstStyle/>
          <a:p>
            <a:r>
              <a:rPr lang="tr-TR" sz="2400" b="1">
                <a:solidFill>
                  <a:srgbClr val="0C0000"/>
                </a:solidFill>
                <a:latin typeface="Verdana" pitchFamily="34" charset="0"/>
                <a:ea typeface="Verdana" pitchFamily="34" charset="0"/>
                <a:cs typeface="Verdana" pitchFamily="34" charset="0"/>
              </a:rPr>
              <a:t>Vaka 5:</a:t>
            </a:r>
          </a:p>
          <a:p>
            <a:pPr lvl="1"/>
            <a:r>
              <a:rPr lang="tr-TR" sz="2200">
                <a:latin typeface="Verdana" pitchFamily="34" charset="0"/>
                <a:ea typeface="Verdana" pitchFamily="34" charset="0"/>
                <a:cs typeface="Verdana" pitchFamily="34" charset="0"/>
              </a:rPr>
              <a:t>2,000 TL ciro yaptık.</a:t>
            </a:r>
          </a:p>
          <a:p>
            <a:pPr lvl="1"/>
            <a:r>
              <a:rPr lang="tr-TR" sz="2200">
                <a:latin typeface="Verdana" pitchFamily="34" charset="0"/>
                <a:ea typeface="Verdana" pitchFamily="34" charset="0"/>
                <a:cs typeface="Verdana" pitchFamily="34" charset="0"/>
              </a:rPr>
              <a:t>1,000 TL’sini nakit aldık.</a:t>
            </a:r>
          </a:p>
          <a:p>
            <a:pPr lvl="1"/>
            <a:r>
              <a:rPr lang="tr-TR" sz="2200">
                <a:latin typeface="Verdana" pitchFamily="34" charset="0"/>
                <a:ea typeface="Verdana" pitchFamily="34" charset="0"/>
                <a:cs typeface="Verdana" pitchFamily="34" charset="0"/>
              </a:rPr>
              <a:t>Gerisini veresiye defterine yazdık.</a:t>
            </a:r>
          </a:p>
          <a:p>
            <a:pPr lvl="1"/>
            <a:r>
              <a:rPr lang="tr-TR" sz="2200">
                <a:latin typeface="Verdana" pitchFamily="34" charset="0"/>
                <a:ea typeface="Verdana" pitchFamily="34" charset="0"/>
                <a:cs typeface="Verdana" pitchFamily="34" charset="0"/>
              </a:rPr>
              <a:t>Üretim için stoklardan 1.000 TL malzeme ve 200 TL işçilik kullandık ve ödedik.</a:t>
            </a:r>
          </a:p>
          <a:p>
            <a:pPr lvl="1"/>
            <a:r>
              <a:rPr lang="tr-TR" sz="2200">
                <a:latin typeface="Verdana" pitchFamily="34" charset="0"/>
                <a:ea typeface="Verdana" pitchFamily="34" charset="0"/>
                <a:cs typeface="Verdana" pitchFamily="34" charset="0"/>
              </a:rPr>
              <a:t>Şirketin tanıtımı için 1.000 TL ile broşür bastırdık, ödedik ve dağıttık.</a:t>
            </a:r>
          </a:p>
          <a:p>
            <a:pPr lvl="1"/>
            <a:r>
              <a:rPr lang="tr-TR" sz="2200">
                <a:latin typeface="Verdana" pitchFamily="34" charset="0"/>
                <a:ea typeface="Verdana" pitchFamily="34" charset="0"/>
                <a:cs typeface="Verdana" pitchFamily="34" charset="0"/>
              </a:rPr>
              <a:t>Mevduatımıza kısa zamanda 1.000 TL faiz kazandık, hesabımıza ilave ettik. </a:t>
            </a:r>
          </a:p>
          <a:p>
            <a:pPr lvl="1"/>
            <a:r>
              <a:rPr lang="tr-TR" sz="2200">
                <a:latin typeface="Verdana" pitchFamily="34" charset="0"/>
                <a:ea typeface="Verdana" pitchFamily="34" charset="0"/>
                <a:cs typeface="Verdana" pitchFamily="34" charset="0"/>
              </a:rPr>
              <a:t>Şirketin vergi oranı %20.</a:t>
            </a:r>
          </a:p>
          <a:p>
            <a:pPr lvl="2"/>
            <a:endParaRPr lang="tr-TR" sz="18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12529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72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72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72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72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build="p" bldLvl="4"/>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26926" cy="424259"/>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9D9FD2A-6E15-4585-8682-8D266E176C96}" type="slidenum">
              <a:rPr lang="tr-TR" sz="1200">
                <a:solidFill>
                  <a:schemeClr val="tx2"/>
                </a:solidFill>
                <a:latin typeface="Verdana" pitchFamily="34" charset="0"/>
              </a:rPr>
              <a:pPr marL="0" indent="0" eaLnBrk="1" hangingPunct="1">
                <a:buNone/>
              </a:pPr>
              <a:t>35</a:t>
            </a:fld>
            <a:endParaRPr lang="tr-TR" sz="1200">
              <a:solidFill>
                <a:schemeClr val="tx2"/>
              </a:solidFill>
              <a:latin typeface="Verdana" pitchFamily="34" charset="0"/>
            </a:endParaRPr>
          </a:p>
        </p:txBody>
      </p:sp>
      <p:sp>
        <p:nvSpPr>
          <p:cNvPr id="45060" name="Rectangle 2"/>
          <p:cNvSpPr>
            <a:spLocks noGrp="1" noChangeArrowheads="1"/>
          </p:cNvSpPr>
          <p:nvPr>
            <p:ph type="title"/>
          </p:nvPr>
        </p:nvSpPr>
        <p:spPr/>
        <p:txBody>
          <a:bodyPr/>
          <a:lstStyle/>
          <a:p>
            <a:r>
              <a:rPr lang="tr-TR"/>
              <a:t>Pide A.Ş.</a:t>
            </a:r>
          </a:p>
        </p:txBody>
      </p:sp>
      <p:sp>
        <p:nvSpPr>
          <p:cNvPr id="45061" name="Rectangle 3"/>
          <p:cNvSpPr>
            <a:spLocks noGrp="1" noChangeArrowheads="1"/>
          </p:cNvSpPr>
          <p:nvPr>
            <p:ph type="body" idx="4294967295"/>
          </p:nvPr>
        </p:nvSpPr>
        <p:spPr>
          <a:xfrm>
            <a:off x="457200" y="1052736"/>
            <a:ext cx="8229600" cy="4104803"/>
          </a:xfrm>
          <a:prstGeom prst="rect">
            <a:avLst/>
          </a:prstGeom>
        </p:spPr>
        <p:txBody>
          <a:bodyPr/>
          <a:lstStyle/>
          <a:p>
            <a:r>
              <a:rPr lang="tr-TR" sz="2400" b="1">
                <a:solidFill>
                  <a:srgbClr val="0C0000"/>
                </a:solidFill>
                <a:latin typeface="Verdana" pitchFamily="34" charset="0"/>
                <a:ea typeface="Verdana" pitchFamily="34" charset="0"/>
                <a:cs typeface="Verdana" pitchFamily="34" charset="0"/>
              </a:rPr>
              <a:t>Vaka 6:</a:t>
            </a:r>
          </a:p>
          <a:p>
            <a:pPr lvl="1"/>
            <a:r>
              <a:rPr lang="tr-TR" sz="2400">
                <a:latin typeface="Verdana" pitchFamily="34" charset="0"/>
                <a:ea typeface="Verdana" pitchFamily="34" charset="0"/>
                <a:cs typeface="Verdana" pitchFamily="34" charset="0"/>
              </a:rPr>
              <a:t>İlk ay sona erdi.</a:t>
            </a:r>
          </a:p>
          <a:p>
            <a:pPr lvl="1"/>
            <a:r>
              <a:rPr lang="tr-TR" sz="2400">
                <a:latin typeface="Verdana" pitchFamily="34" charset="0"/>
                <a:ea typeface="Verdana" pitchFamily="34" charset="0"/>
                <a:cs typeface="Verdana" pitchFamily="34" charset="0"/>
              </a:rPr>
              <a:t>Ciro 50.000TL’ye ulaştı.</a:t>
            </a:r>
          </a:p>
          <a:p>
            <a:pPr lvl="1"/>
            <a:r>
              <a:rPr lang="tr-TR" sz="2400">
                <a:latin typeface="Verdana" pitchFamily="34" charset="0"/>
                <a:ea typeface="Verdana" pitchFamily="34" charset="0"/>
                <a:cs typeface="Verdana" pitchFamily="34" charset="0"/>
              </a:rPr>
              <a:t>Brüt karlılık %40 gerçekleşti.</a:t>
            </a:r>
          </a:p>
          <a:p>
            <a:pPr lvl="1"/>
            <a:r>
              <a:rPr lang="tr-TR" sz="2400">
                <a:latin typeface="Verdana" pitchFamily="34" charset="0"/>
                <a:ea typeface="Verdana" pitchFamily="34" charset="0"/>
                <a:cs typeface="Verdana" pitchFamily="34" charset="0"/>
              </a:rPr>
              <a:t>Faaliyet giderleri TL5.000 gerçekleşti.</a:t>
            </a:r>
          </a:p>
          <a:p>
            <a:pPr lvl="1"/>
            <a:r>
              <a:rPr lang="tr-TR" sz="2400">
                <a:latin typeface="Verdana" pitchFamily="34" charset="0"/>
                <a:ea typeface="Verdana" pitchFamily="34" charset="0"/>
                <a:cs typeface="Verdana" pitchFamily="34" charset="0"/>
              </a:rPr>
              <a:t>Yukarıdaki gider hesaplarında:</a:t>
            </a:r>
          </a:p>
          <a:p>
            <a:pPr lvl="2"/>
            <a:r>
              <a:rPr lang="tr-TR" sz="1800">
                <a:latin typeface="Verdana" pitchFamily="34" charset="0"/>
                <a:ea typeface="Verdana" pitchFamily="34" charset="0"/>
                <a:cs typeface="Verdana" pitchFamily="34" charset="0"/>
              </a:rPr>
              <a:t>Bir aylık amortisman hesaplandı. (Motorlar için 5 yıl, mobilya için 10 yıl, eşit taksitler)</a:t>
            </a:r>
          </a:p>
          <a:p>
            <a:pPr lvl="2"/>
            <a:r>
              <a:rPr lang="tr-TR" sz="1800">
                <a:latin typeface="Verdana" pitchFamily="34" charset="0"/>
                <a:ea typeface="Verdana" pitchFamily="34" charset="0"/>
                <a:cs typeface="Verdana" pitchFamily="34" charset="0"/>
              </a:rPr>
              <a:t>Bir aylık sigorta giderleştirildi.</a:t>
            </a:r>
          </a:p>
          <a:p>
            <a:pPr lvl="2"/>
            <a:r>
              <a:rPr lang="tr-TR" sz="1800">
                <a:latin typeface="Verdana" pitchFamily="34" charset="0"/>
                <a:ea typeface="Verdana" pitchFamily="34" charset="0"/>
                <a:cs typeface="Verdana" pitchFamily="34" charset="0"/>
              </a:rPr>
              <a:t>Bir aylık kira giderleştirildi.</a:t>
            </a:r>
          </a:p>
          <a:p>
            <a:pPr lvl="1"/>
            <a:r>
              <a:rPr lang="tr-TR" sz="2400">
                <a:latin typeface="Verdana" pitchFamily="34" charset="0"/>
                <a:ea typeface="Verdana" pitchFamily="34" charset="0"/>
                <a:cs typeface="Verdana" pitchFamily="34" charset="0"/>
              </a:rPr>
              <a:t>Bahsedilmeyen diğer kalemler, nakit dışında, aynı kalsın.</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48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0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06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061">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061">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061">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061">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506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26926" cy="424259"/>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9D9FD2A-6E15-4585-8682-8D266E176C96}" type="slidenum">
              <a:rPr lang="tr-TR" sz="1200">
                <a:solidFill>
                  <a:schemeClr val="tx2"/>
                </a:solidFill>
                <a:latin typeface="Verdana" pitchFamily="34" charset="0"/>
              </a:rPr>
              <a:pPr marL="0" indent="0" eaLnBrk="1" hangingPunct="1">
                <a:buNone/>
              </a:pPr>
              <a:t>36</a:t>
            </a:fld>
            <a:endParaRPr lang="tr-TR" sz="1200">
              <a:solidFill>
                <a:schemeClr val="tx2"/>
              </a:solidFill>
              <a:latin typeface="Verdana" pitchFamily="34" charset="0"/>
            </a:endParaRPr>
          </a:p>
        </p:txBody>
      </p:sp>
      <p:sp>
        <p:nvSpPr>
          <p:cNvPr id="45060" name="Rectangle 2"/>
          <p:cNvSpPr>
            <a:spLocks noGrp="1" noChangeArrowheads="1"/>
          </p:cNvSpPr>
          <p:nvPr>
            <p:ph type="title"/>
          </p:nvPr>
        </p:nvSpPr>
        <p:spPr/>
        <p:txBody>
          <a:bodyPr/>
          <a:lstStyle/>
          <a:p>
            <a:r>
              <a:rPr lang="tr-TR"/>
              <a:t>Pide A.Ş.</a:t>
            </a:r>
          </a:p>
        </p:txBody>
      </p:sp>
      <p:sp>
        <p:nvSpPr>
          <p:cNvPr id="45061" name="Rectangle 3"/>
          <p:cNvSpPr>
            <a:spLocks noGrp="1" noChangeArrowheads="1"/>
          </p:cNvSpPr>
          <p:nvPr>
            <p:ph type="body" idx="4294967295"/>
          </p:nvPr>
        </p:nvSpPr>
        <p:spPr>
          <a:xfrm>
            <a:off x="457200" y="1196752"/>
            <a:ext cx="8229600" cy="4104803"/>
          </a:xfrm>
          <a:prstGeom prst="rect">
            <a:avLst/>
          </a:prstGeom>
        </p:spPr>
        <p:txBody>
          <a:bodyPr/>
          <a:lstStyle/>
          <a:p>
            <a:r>
              <a:rPr lang="tr-TR" sz="2400" b="1" dirty="0">
                <a:solidFill>
                  <a:srgbClr val="0C0000"/>
                </a:solidFill>
                <a:latin typeface="Verdana" pitchFamily="34" charset="0"/>
                <a:ea typeface="Verdana" pitchFamily="34" charset="0"/>
                <a:cs typeface="Verdana" pitchFamily="34" charset="0"/>
              </a:rPr>
              <a:t>Vaka 7:</a:t>
            </a:r>
          </a:p>
          <a:p>
            <a:pPr lvl="1"/>
            <a:r>
              <a:rPr lang="tr-TR" sz="2400" dirty="0">
                <a:latin typeface="Verdana" pitchFamily="34" charset="0"/>
                <a:ea typeface="Verdana" pitchFamily="34" charset="0"/>
                <a:cs typeface="Verdana" pitchFamily="34" charset="0"/>
              </a:rPr>
              <a:t>Diyelim ki ilk yıl sona erdi.</a:t>
            </a:r>
          </a:p>
          <a:p>
            <a:pPr lvl="1"/>
            <a:r>
              <a:rPr lang="tr-TR" sz="2400" dirty="0">
                <a:latin typeface="Verdana" pitchFamily="34" charset="0"/>
                <a:ea typeface="Verdana" pitchFamily="34" charset="0"/>
                <a:cs typeface="Verdana" pitchFamily="34" charset="0"/>
              </a:rPr>
              <a:t>Ciro 500.000TL gerçekleşti.</a:t>
            </a:r>
          </a:p>
          <a:p>
            <a:pPr lvl="1"/>
            <a:r>
              <a:rPr lang="tr-TR" sz="2400" dirty="0">
                <a:latin typeface="Verdana" pitchFamily="34" charset="0"/>
                <a:ea typeface="Verdana" pitchFamily="34" charset="0"/>
                <a:cs typeface="Verdana" pitchFamily="34" charset="0"/>
              </a:rPr>
              <a:t>Brüt karlılık %50 ve faaliyet karlılığı %30 gerçekleşti.</a:t>
            </a:r>
          </a:p>
          <a:p>
            <a:pPr lvl="2"/>
            <a:r>
              <a:rPr lang="tr-TR" sz="1800" dirty="0">
                <a:latin typeface="Verdana" pitchFamily="34" charset="0"/>
                <a:ea typeface="Verdana" pitchFamily="34" charset="0"/>
                <a:cs typeface="Verdana" pitchFamily="34" charset="0"/>
              </a:rPr>
              <a:t>Yıllık amortisman giderleri muhasebeleştirildi.</a:t>
            </a:r>
          </a:p>
          <a:p>
            <a:pPr lvl="2"/>
            <a:r>
              <a:rPr lang="tr-TR" sz="1800" dirty="0">
                <a:latin typeface="Verdana" pitchFamily="34" charset="0"/>
                <a:ea typeface="Verdana" pitchFamily="34" charset="0"/>
                <a:cs typeface="Verdana" pitchFamily="34" charset="0"/>
              </a:rPr>
              <a:t>Yıllık itfa ve tükenme payı muhasebeleştirildi.</a:t>
            </a:r>
          </a:p>
          <a:p>
            <a:pPr lvl="1"/>
            <a:r>
              <a:rPr lang="tr-TR" sz="2400" dirty="0">
                <a:latin typeface="Verdana" pitchFamily="34" charset="0"/>
                <a:ea typeface="Verdana" pitchFamily="34" charset="0"/>
                <a:cs typeface="Verdana" pitchFamily="34" charset="0"/>
              </a:rPr>
              <a:t>Kur yılı 2,20TL/$ olarak bitirdi. </a:t>
            </a:r>
          </a:p>
          <a:p>
            <a:pPr lvl="1"/>
            <a:r>
              <a:rPr lang="tr-TR" sz="2400" dirty="0">
                <a:latin typeface="Verdana" pitchFamily="34" charset="0"/>
                <a:ea typeface="Verdana" pitchFamily="34" charset="0"/>
                <a:cs typeface="Verdana" pitchFamily="34" charset="0"/>
              </a:rPr>
              <a:t>Faiz geliri TL3.000’e ulaştı, hesaba ilave edildi.</a:t>
            </a:r>
          </a:p>
          <a:p>
            <a:pPr lvl="1"/>
            <a:r>
              <a:rPr lang="tr-TR" sz="2400" dirty="0">
                <a:latin typeface="Verdana" pitchFamily="34" charset="0"/>
                <a:ea typeface="Verdana" pitchFamily="34" charset="0"/>
                <a:cs typeface="Verdana" pitchFamily="34" charset="0"/>
              </a:rPr>
              <a:t>Stoklar, ticari alacaklar, ve ticari borçlar sırasıyla TL20.000, TL30.000 ve TL5.000’e ulaştı.</a:t>
            </a:r>
          </a:p>
          <a:p>
            <a:pPr lvl="1"/>
            <a:r>
              <a:rPr lang="tr-TR" sz="2400" dirty="0">
                <a:latin typeface="Verdana" pitchFamily="34" charset="0"/>
                <a:ea typeface="Verdana" pitchFamily="34" charset="0"/>
                <a:cs typeface="Verdana" pitchFamily="34" charset="0"/>
              </a:rPr>
              <a:t>Bilançoyu nakit üzerinden tutturun. </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07472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061">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061">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506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06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06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5061">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506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build="p" bldLvl="2"/>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26926" cy="424259"/>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9D9FD2A-6E15-4585-8682-8D266E176C96}" type="slidenum">
              <a:rPr lang="tr-TR" sz="1200">
                <a:solidFill>
                  <a:schemeClr val="tx2"/>
                </a:solidFill>
                <a:latin typeface="Verdana" pitchFamily="34" charset="0"/>
              </a:rPr>
              <a:pPr marL="0" indent="0" eaLnBrk="1" hangingPunct="1">
                <a:buNone/>
              </a:pPr>
              <a:t>37</a:t>
            </a:fld>
            <a:endParaRPr lang="tr-TR" sz="1200">
              <a:solidFill>
                <a:schemeClr val="tx2"/>
              </a:solidFill>
              <a:latin typeface="Verdana" pitchFamily="34" charset="0"/>
            </a:endParaRPr>
          </a:p>
        </p:txBody>
      </p:sp>
      <p:sp>
        <p:nvSpPr>
          <p:cNvPr id="45060" name="Rectangle 2"/>
          <p:cNvSpPr>
            <a:spLocks noGrp="1" noChangeArrowheads="1"/>
          </p:cNvSpPr>
          <p:nvPr>
            <p:ph type="title"/>
          </p:nvPr>
        </p:nvSpPr>
        <p:spPr/>
        <p:txBody>
          <a:bodyPr/>
          <a:lstStyle/>
          <a:p>
            <a:r>
              <a:rPr lang="tr-TR"/>
              <a:t>Pide A.Ş.</a:t>
            </a:r>
          </a:p>
        </p:txBody>
      </p:sp>
      <p:sp>
        <p:nvSpPr>
          <p:cNvPr id="45061" name="Rectangle 3"/>
          <p:cNvSpPr>
            <a:spLocks noGrp="1" noChangeArrowheads="1"/>
          </p:cNvSpPr>
          <p:nvPr>
            <p:ph type="body" idx="4294967295"/>
          </p:nvPr>
        </p:nvSpPr>
        <p:spPr>
          <a:xfrm>
            <a:off x="457200" y="1484437"/>
            <a:ext cx="8229600" cy="4104803"/>
          </a:xfrm>
          <a:prstGeom prst="rect">
            <a:avLst/>
          </a:prstGeom>
        </p:spPr>
        <p:txBody>
          <a:bodyPr/>
          <a:lstStyle/>
          <a:p>
            <a:r>
              <a:rPr lang="tr-TR" sz="2400" b="1" dirty="0">
                <a:solidFill>
                  <a:srgbClr val="0C0000"/>
                </a:solidFill>
                <a:latin typeface="Verdana" pitchFamily="34" charset="0"/>
                <a:ea typeface="Verdana" pitchFamily="34" charset="0"/>
                <a:cs typeface="Verdana" pitchFamily="34" charset="0"/>
              </a:rPr>
              <a:t>Vaka 8:</a:t>
            </a:r>
          </a:p>
          <a:p>
            <a:pPr lvl="1"/>
            <a:r>
              <a:rPr lang="tr-TR" sz="2200" dirty="0">
                <a:latin typeface="Verdana" pitchFamily="34" charset="0"/>
                <a:ea typeface="Verdana" pitchFamily="34" charset="0"/>
                <a:cs typeface="Verdana" pitchFamily="34" charset="0"/>
              </a:rPr>
              <a:t>Diyelim ki şu an ikinci yılın Mart sonu.</a:t>
            </a:r>
          </a:p>
          <a:p>
            <a:pPr lvl="1"/>
            <a:r>
              <a:rPr lang="tr-TR" sz="2200" dirty="0">
                <a:latin typeface="Verdana" pitchFamily="34" charset="0"/>
                <a:ea typeface="Verdana" pitchFamily="34" charset="0"/>
                <a:cs typeface="Verdana" pitchFamily="34" charset="0"/>
              </a:rPr>
              <a:t>Şirket Genel Kurulu 15 Mart’ta ilk yıl karının yarısını temettü olarak Mayıs ayında ödeme kararı aldı.</a:t>
            </a:r>
          </a:p>
          <a:p>
            <a:pPr lvl="1"/>
            <a:r>
              <a:rPr lang="tr-TR" sz="2200" dirty="0">
                <a:latin typeface="Verdana" pitchFamily="34" charset="0"/>
                <a:ea typeface="Verdana" pitchFamily="34" charset="0"/>
                <a:cs typeface="Verdana" pitchFamily="34" charset="0"/>
              </a:rPr>
              <a:t>Kolaylık açısından, ilk çeyrekte yapılan 20.000TL nakit net kar ve ilgili 5000TL vergi dışında, sene sonu bilançosundaki diğer kalemler aynı kalsın. (Bu işlemin etkileyeceği kalemler hariç)</a:t>
            </a:r>
          </a:p>
          <a:p>
            <a:pPr lvl="1"/>
            <a:r>
              <a:rPr lang="tr-TR" sz="2200" dirty="0">
                <a:latin typeface="Verdana" pitchFamily="34" charset="0"/>
                <a:ea typeface="Verdana" pitchFamily="34" charset="0"/>
                <a:cs typeface="Verdana" pitchFamily="34" charset="0"/>
              </a:rPr>
              <a:t>Geçmiş sene vergisini ödemiş olun.</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70684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0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06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build="p" bldLvl="2"/>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26926" cy="424259"/>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9D9FD2A-6E15-4585-8682-8D266E176C96}" type="slidenum">
              <a:rPr lang="tr-TR" sz="1200">
                <a:solidFill>
                  <a:schemeClr val="tx2"/>
                </a:solidFill>
                <a:latin typeface="Verdana" pitchFamily="34" charset="0"/>
              </a:rPr>
              <a:pPr marL="0" indent="0" eaLnBrk="1" hangingPunct="1">
                <a:buNone/>
              </a:pPr>
              <a:t>38</a:t>
            </a:fld>
            <a:endParaRPr lang="tr-TR" sz="1200">
              <a:solidFill>
                <a:schemeClr val="tx2"/>
              </a:solidFill>
              <a:latin typeface="Verdana" pitchFamily="34" charset="0"/>
            </a:endParaRPr>
          </a:p>
        </p:txBody>
      </p:sp>
      <p:sp>
        <p:nvSpPr>
          <p:cNvPr id="45060" name="Rectangle 2"/>
          <p:cNvSpPr>
            <a:spLocks noGrp="1" noChangeArrowheads="1"/>
          </p:cNvSpPr>
          <p:nvPr>
            <p:ph type="title"/>
          </p:nvPr>
        </p:nvSpPr>
        <p:spPr/>
        <p:txBody>
          <a:bodyPr/>
          <a:lstStyle/>
          <a:p>
            <a:r>
              <a:rPr lang="tr-TR"/>
              <a:t>Pide A.Ş.</a:t>
            </a:r>
          </a:p>
        </p:txBody>
      </p:sp>
      <p:sp>
        <p:nvSpPr>
          <p:cNvPr id="45061" name="Rectangle 3"/>
          <p:cNvSpPr>
            <a:spLocks noGrp="1" noChangeArrowheads="1"/>
          </p:cNvSpPr>
          <p:nvPr>
            <p:ph type="body" idx="4294967295"/>
          </p:nvPr>
        </p:nvSpPr>
        <p:spPr>
          <a:xfrm>
            <a:off x="457200" y="1484437"/>
            <a:ext cx="8229600" cy="4104803"/>
          </a:xfrm>
          <a:prstGeom prst="rect">
            <a:avLst/>
          </a:prstGeom>
        </p:spPr>
        <p:txBody>
          <a:bodyPr/>
          <a:lstStyle/>
          <a:p>
            <a:r>
              <a:rPr lang="tr-TR" sz="2400" b="1">
                <a:solidFill>
                  <a:srgbClr val="0C0000"/>
                </a:solidFill>
                <a:latin typeface="Verdana" pitchFamily="34" charset="0"/>
                <a:ea typeface="Verdana" pitchFamily="34" charset="0"/>
                <a:cs typeface="Verdana" pitchFamily="34" charset="0"/>
              </a:rPr>
              <a:t>Vaka 9:</a:t>
            </a:r>
          </a:p>
          <a:p>
            <a:pPr lvl="1"/>
            <a:r>
              <a:rPr lang="tr-TR" sz="2200">
                <a:latin typeface="Verdana" pitchFamily="34" charset="0"/>
                <a:ea typeface="Verdana" pitchFamily="34" charset="0"/>
                <a:cs typeface="Verdana" pitchFamily="34" charset="0"/>
              </a:rPr>
              <a:t>Diyelim ki şu an ikinci yılın Haziran sonu.</a:t>
            </a:r>
          </a:p>
          <a:p>
            <a:pPr lvl="1"/>
            <a:r>
              <a:rPr lang="tr-TR" sz="2200">
                <a:latin typeface="Verdana" pitchFamily="34" charset="0"/>
                <a:ea typeface="Verdana" pitchFamily="34" charset="0"/>
                <a:cs typeface="Verdana" pitchFamily="34" charset="0"/>
              </a:rPr>
              <a:t>%50 bedelsiz sermaye artırımı gerçekleştirdiniz. </a:t>
            </a:r>
          </a:p>
          <a:p>
            <a:pPr lvl="1"/>
            <a:r>
              <a:rPr lang="tr-TR" sz="2200">
                <a:latin typeface="Verdana" pitchFamily="34" charset="0"/>
                <a:ea typeface="Verdana" pitchFamily="34" charset="0"/>
                <a:cs typeface="Verdana" pitchFamily="34" charset="0"/>
              </a:rPr>
              <a:t>Herşey aynı kalsın, sadece .....?</a:t>
            </a:r>
          </a:p>
          <a:p>
            <a:endParaRPr lang="tr-TR" sz="2400" b="1">
              <a:solidFill>
                <a:srgbClr val="0C0000"/>
              </a:solidFill>
              <a:latin typeface="Verdana" pitchFamily="34" charset="0"/>
              <a:ea typeface="Verdana" pitchFamily="34" charset="0"/>
              <a:cs typeface="Verdana" pitchFamily="34" charset="0"/>
            </a:endParaRPr>
          </a:p>
          <a:p>
            <a:r>
              <a:rPr lang="tr-TR" sz="2400" b="1">
                <a:solidFill>
                  <a:srgbClr val="0C0000"/>
                </a:solidFill>
                <a:latin typeface="Verdana" pitchFamily="34" charset="0"/>
                <a:ea typeface="Verdana" pitchFamily="34" charset="0"/>
                <a:cs typeface="Verdana" pitchFamily="34" charset="0"/>
              </a:rPr>
              <a:t>Vaka 10:</a:t>
            </a:r>
          </a:p>
          <a:p>
            <a:pPr lvl="1"/>
            <a:r>
              <a:rPr lang="tr-TR" sz="2200">
                <a:latin typeface="Verdana" pitchFamily="34" charset="0"/>
                <a:ea typeface="Verdana" pitchFamily="34" charset="0"/>
                <a:cs typeface="Verdana" pitchFamily="34" charset="0"/>
              </a:rPr>
              <a:t>Bir yabancı gıda devi şirketinize 50/50 ortak olmak istedi. %100 kısıtlanmış bedelli sermaye artırımı gerçekleştirdiniz ve 1TL nominal değerli yeni hisseleri yabancı ortağa 3TL bedelle sattınız. </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8805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0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06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06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build="p" bldLvl="2"/>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26926" cy="424259"/>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9D9FD2A-6E15-4585-8682-8D266E176C96}" type="slidenum">
              <a:rPr lang="tr-TR" sz="1200">
                <a:solidFill>
                  <a:schemeClr val="tx2"/>
                </a:solidFill>
                <a:latin typeface="Verdana" pitchFamily="34" charset="0"/>
              </a:rPr>
              <a:pPr marL="0" indent="0" eaLnBrk="1" hangingPunct="1">
                <a:buNone/>
              </a:pPr>
              <a:t>39</a:t>
            </a:fld>
            <a:endParaRPr lang="tr-TR" sz="1200">
              <a:solidFill>
                <a:schemeClr val="tx2"/>
              </a:solidFill>
              <a:latin typeface="Verdana" pitchFamily="34" charset="0"/>
            </a:endParaRPr>
          </a:p>
        </p:txBody>
      </p:sp>
      <p:sp>
        <p:nvSpPr>
          <p:cNvPr id="45060" name="Rectangle 2"/>
          <p:cNvSpPr>
            <a:spLocks noGrp="1" noChangeArrowheads="1"/>
          </p:cNvSpPr>
          <p:nvPr>
            <p:ph type="title"/>
          </p:nvPr>
        </p:nvSpPr>
        <p:spPr/>
        <p:txBody>
          <a:bodyPr/>
          <a:lstStyle/>
          <a:p>
            <a:r>
              <a:rPr lang="tr-TR"/>
              <a:t>Konsept Çalışması</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graphicFrame>
        <p:nvGraphicFramePr>
          <p:cNvPr id="7" name="Table 6"/>
          <p:cNvGraphicFramePr>
            <a:graphicFrameLocks noGrp="1"/>
          </p:cNvGraphicFramePr>
          <p:nvPr/>
        </p:nvGraphicFramePr>
        <p:xfrm>
          <a:off x="323528" y="1988840"/>
          <a:ext cx="8424936" cy="3548722"/>
        </p:xfrm>
        <a:graphic>
          <a:graphicData uri="http://schemas.openxmlformats.org/drawingml/2006/table">
            <a:tbl>
              <a:tblPr>
                <a:tableStyleId>{5C22544A-7EE6-4342-B048-85BDC9FD1C3A}</a:tableStyleId>
              </a:tblPr>
              <a:tblGrid>
                <a:gridCol w="3631756">
                  <a:extLst>
                    <a:ext uri="{9D8B030D-6E8A-4147-A177-3AD203B41FA5}">
                      <a16:colId xmlns:a16="http://schemas.microsoft.com/office/drawing/2014/main" val="20000"/>
                    </a:ext>
                  </a:extLst>
                </a:gridCol>
                <a:gridCol w="958636">
                  <a:extLst>
                    <a:ext uri="{9D8B030D-6E8A-4147-A177-3AD203B41FA5}">
                      <a16:colId xmlns:a16="http://schemas.microsoft.com/office/drawing/2014/main" val="20001"/>
                    </a:ext>
                  </a:extLst>
                </a:gridCol>
                <a:gridCol w="958636">
                  <a:extLst>
                    <a:ext uri="{9D8B030D-6E8A-4147-A177-3AD203B41FA5}">
                      <a16:colId xmlns:a16="http://schemas.microsoft.com/office/drawing/2014/main" val="20002"/>
                    </a:ext>
                  </a:extLst>
                </a:gridCol>
                <a:gridCol w="958636">
                  <a:extLst>
                    <a:ext uri="{9D8B030D-6E8A-4147-A177-3AD203B41FA5}">
                      <a16:colId xmlns:a16="http://schemas.microsoft.com/office/drawing/2014/main" val="20003"/>
                    </a:ext>
                  </a:extLst>
                </a:gridCol>
                <a:gridCol w="958636">
                  <a:extLst>
                    <a:ext uri="{9D8B030D-6E8A-4147-A177-3AD203B41FA5}">
                      <a16:colId xmlns:a16="http://schemas.microsoft.com/office/drawing/2014/main" val="20004"/>
                    </a:ext>
                  </a:extLst>
                </a:gridCol>
                <a:gridCol w="958636">
                  <a:extLst>
                    <a:ext uri="{9D8B030D-6E8A-4147-A177-3AD203B41FA5}">
                      <a16:colId xmlns:a16="http://schemas.microsoft.com/office/drawing/2014/main" val="20005"/>
                    </a:ext>
                  </a:extLst>
                </a:gridCol>
              </a:tblGrid>
              <a:tr h="739839">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ctr" fontAlgn="b"/>
                      <a:r>
                        <a:rPr lang="tr-TR" sz="1600" b="1" i="0" u="none" strike="noStrike">
                          <a:solidFill>
                            <a:srgbClr val="000000"/>
                          </a:solidFill>
                          <a:effectLst/>
                          <a:latin typeface="+mj-lt"/>
                        </a:rPr>
                        <a:t>Dönen Varlıklar</a:t>
                      </a:r>
                    </a:p>
                  </a:txBody>
                  <a:tcPr marL="7620" marR="7620" marT="7620" marB="0" anchor="b"/>
                </a:tc>
                <a:tc>
                  <a:txBody>
                    <a:bodyPr/>
                    <a:lstStyle/>
                    <a:p>
                      <a:pPr algn="ctr" fontAlgn="b"/>
                      <a:r>
                        <a:rPr lang="tr-TR" sz="1600" b="1" i="0" u="none" strike="noStrike">
                          <a:solidFill>
                            <a:srgbClr val="000000"/>
                          </a:solidFill>
                          <a:effectLst/>
                          <a:latin typeface="+mj-lt"/>
                        </a:rPr>
                        <a:t>Duran Varlıklar</a:t>
                      </a:r>
                    </a:p>
                  </a:txBody>
                  <a:tcPr marL="7620" marR="7620" marT="7620" marB="0" anchor="b"/>
                </a:tc>
                <a:tc>
                  <a:txBody>
                    <a:bodyPr/>
                    <a:lstStyle/>
                    <a:p>
                      <a:pPr algn="ctr" fontAlgn="b"/>
                      <a:r>
                        <a:rPr lang="tr-TR" sz="1600" b="1" i="0" u="none" strike="noStrike">
                          <a:solidFill>
                            <a:srgbClr val="000000"/>
                          </a:solidFill>
                          <a:effectLst/>
                          <a:latin typeface="+mj-lt"/>
                        </a:rPr>
                        <a:t>Kısa Vadeli Borçlar</a:t>
                      </a:r>
                    </a:p>
                  </a:txBody>
                  <a:tcPr marL="7620" marR="7620" marT="7620" marB="0" anchor="b"/>
                </a:tc>
                <a:tc>
                  <a:txBody>
                    <a:bodyPr/>
                    <a:lstStyle/>
                    <a:p>
                      <a:pPr algn="ctr" fontAlgn="b"/>
                      <a:r>
                        <a:rPr lang="tr-TR" sz="1600" b="1" i="0" u="none" strike="noStrike">
                          <a:solidFill>
                            <a:srgbClr val="000000"/>
                          </a:solidFill>
                          <a:effectLst/>
                          <a:latin typeface="+mj-lt"/>
                        </a:rPr>
                        <a:t>Uzun Vadeli Borçlar</a:t>
                      </a:r>
                    </a:p>
                  </a:txBody>
                  <a:tcPr marL="7620" marR="7620" marT="7620" marB="0" anchor="b"/>
                </a:tc>
                <a:tc>
                  <a:txBody>
                    <a:bodyPr/>
                    <a:lstStyle/>
                    <a:p>
                      <a:pPr algn="ctr" fontAlgn="b"/>
                      <a:r>
                        <a:rPr lang="tr-TR" sz="1600" b="1" i="0" u="none" strike="noStrike">
                          <a:solidFill>
                            <a:srgbClr val="000000"/>
                          </a:solidFill>
                          <a:effectLst/>
                          <a:latin typeface="+mj-lt"/>
                        </a:rPr>
                        <a:t>Özsermaye</a:t>
                      </a:r>
                    </a:p>
                  </a:txBody>
                  <a:tcPr marL="7620" marR="7620" marT="7620" marB="0" anchor="b"/>
                </a:tc>
                <a:extLst>
                  <a:ext uri="{0D108BD9-81ED-4DB2-BD59-A6C34878D82A}">
                    <a16:rowId xmlns:a16="http://schemas.microsoft.com/office/drawing/2014/main" val="10000"/>
                  </a:ext>
                </a:extLst>
              </a:tr>
              <a:tr h="401269">
                <a:tc>
                  <a:txBody>
                    <a:bodyPr/>
                    <a:lstStyle/>
                    <a:p>
                      <a:pPr algn="l" fontAlgn="b"/>
                      <a:r>
                        <a:rPr lang="tr-TR" sz="1600" u="none" strike="noStrike">
                          <a:effectLst/>
                          <a:latin typeface="+mj-lt"/>
                        </a:rPr>
                        <a:t>Nakit ödeyerek makine</a:t>
                      </a:r>
                      <a:r>
                        <a:rPr lang="tr-TR" sz="1600" u="none" strike="noStrike" baseline="0">
                          <a:effectLst/>
                          <a:latin typeface="+mj-lt"/>
                        </a:rPr>
                        <a:t> satın alındı.</a:t>
                      </a:r>
                      <a:endParaRPr lang="en-US"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1"/>
                  </a:ext>
                </a:extLst>
              </a:tr>
              <a:tr h="401269">
                <a:tc>
                  <a:txBody>
                    <a:bodyPr/>
                    <a:lstStyle/>
                    <a:p>
                      <a:pPr algn="l" fontAlgn="b"/>
                      <a:r>
                        <a:rPr lang="tr-TR" sz="1600" u="none" strike="noStrike">
                          <a:effectLst/>
                          <a:latin typeface="+mj-lt"/>
                        </a:rPr>
                        <a:t>Faiz geliri</a:t>
                      </a:r>
                      <a:r>
                        <a:rPr lang="tr-TR" sz="1600" u="none" strike="noStrike" baseline="0">
                          <a:effectLst/>
                          <a:latin typeface="+mj-lt"/>
                        </a:rPr>
                        <a:t> işlendi ve tahsil edildi.</a:t>
                      </a:r>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2"/>
                  </a:ext>
                </a:extLst>
              </a:tr>
              <a:tr h="401269">
                <a:tc>
                  <a:txBody>
                    <a:bodyPr/>
                    <a:lstStyle/>
                    <a:p>
                      <a:pPr algn="l" fontAlgn="b"/>
                      <a:r>
                        <a:rPr lang="tr-TR" sz="1600" b="0" i="0" u="none" strike="noStrike">
                          <a:solidFill>
                            <a:schemeClr val="dk1"/>
                          </a:solidFill>
                          <a:effectLst/>
                          <a:latin typeface="+mj-lt"/>
                        </a:rPr>
                        <a:t>Bir miktar hisse</a:t>
                      </a:r>
                      <a:r>
                        <a:rPr lang="tr-TR" sz="1600" b="0" i="0" u="none" strike="noStrike" baseline="0">
                          <a:solidFill>
                            <a:schemeClr val="dk1"/>
                          </a:solidFill>
                          <a:effectLst/>
                          <a:latin typeface="+mj-lt"/>
                        </a:rPr>
                        <a:t> geri alındı.</a:t>
                      </a:r>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4"/>
                  </a:ext>
                </a:extLst>
              </a:tr>
              <a:tr h="401269">
                <a:tc>
                  <a:txBody>
                    <a:bodyPr/>
                    <a:lstStyle/>
                    <a:p>
                      <a:pPr algn="l" fontAlgn="b"/>
                      <a:r>
                        <a:rPr lang="tr-TR" sz="1600" u="none" strike="noStrike">
                          <a:effectLst/>
                          <a:latin typeface="+mj-lt"/>
                        </a:rPr>
                        <a:t>Veresiye ürün satıldı.</a:t>
                      </a:r>
                      <a:endParaRPr lang="en-US"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5"/>
                  </a:ext>
                </a:extLst>
              </a:tr>
              <a:tr h="401269">
                <a:tc>
                  <a:txBody>
                    <a:bodyPr/>
                    <a:lstStyle/>
                    <a:p>
                      <a:pPr algn="l" fontAlgn="b"/>
                      <a:r>
                        <a:rPr lang="tr-TR" sz="1600" b="0" i="0" u="none" strike="noStrike">
                          <a:solidFill>
                            <a:schemeClr val="dk1"/>
                          </a:solidFill>
                          <a:effectLst/>
                          <a:latin typeface="+mj-lt"/>
                        </a:rPr>
                        <a:t>İki</a:t>
                      </a:r>
                      <a:r>
                        <a:rPr lang="tr-TR" sz="1600" b="0" i="0" u="none" strike="noStrike" baseline="0">
                          <a:solidFill>
                            <a:schemeClr val="dk1"/>
                          </a:solidFill>
                          <a:effectLst/>
                          <a:latin typeface="+mj-lt"/>
                        </a:rPr>
                        <a:t> aylık kira peşin ödendi.</a:t>
                      </a:r>
                      <a:endParaRPr lang="en-US"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6"/>
                  </a:ext>
                </a:extLst>
              </a:tr>
              <a:tr h="401269">
                <a:tc>
                  <a:txBody>
                    <a:bodyPr/>
                    <a:lstStyle/>
                    <a:p>
                      <a:pPr algn="l" fontAlgn="b"/>
                      <a:r>
                        <a:rPr lang="tr-TR" sz="1600" b="0" i="0" u="none" strike="noStrike">
                          <a:solidFill>
                            <a:schemeClr val="dk1"/>
                          </a:solidFill>
                          <a:effectLst/>
                          <a:latin typeface="+mj-lt"/>
                        </a:rPr>
                        <a:t>Veresiye</a:t>
                      </a:r>
                      <a:r>
                        <a:rPr lang="tr-TR" sz="1600" b="0" i="0" u="none" strike="noStrike" baseline="0">
                          <a:solidFill>
                            <a:schemeClr val="dk1"/>
                          </a:solidFill>
                          <a:effectLst/>
                          <a:latin typeface="+mj-lt"/>
                        </a:rPr>
                        <a:t> hammadde alındı.</a:t>
                      </a:r>
                      <a:endParaRPr lang="en-US"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7"/>
                  </a:ext>
                </a:extLst>
              </a:tr>
              <a:tr h="401269">
                <a:tc>
                  <a:txBody>
                    <a:bodyPr/>
                    <a:lstStyle/>
                    <a:p>
                      <a:pPr algn="l" fontAlgn="b"/>
                      <a:r>
                        <a:rPr lang="tr-TR" sz="1600" u="none" strike="noStrike">
                          <a:effectLst/>
                          <a:latin typeface="+mj-lt"/>
                        </a:rPr>
                        <a:t>Müşteriden avans alındı.</a:t>
                      </a:r>
                      <a:endParaRPr lang="en-US"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7612242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26926" cy="424259"/>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A9D9FD2A-6E15-4585-8682-8D266E176C96}" type="slidenum">
              <a:rPr lang="tr-TR" sz="1200">
                <a:solidFill>
                  <a:schemeClr val="tx2"/>
                </a:solidFill>
                <a:latin typeface="Verdana" pitchFamily="34" charset="0"/>
              </a:rPr>
              <a:pPr marL="0" indent="0" eaLnBrk="1" hangingPunct="1">
                <a:buNone/>
              </a:pPr>
              <a:t>40</a:t>
            </a:fld>
            <a:endParaRPr lang="tr-TR" sz="1200">
              <a:solidFill>
                <a:schemeClr val="tx2"/>
              </a:solidFill>
              <a:latin typeface="Verdana" pitchFamily="34" charset="0"/>
            </a:endParaRPr>
          </a:p>
        </p:txBody>
      </p:sp>
      <p:sp>
        <p:nvSpPr>
          <p:cNvPr id="45060" name="Rectangle 2"/>
          <p:cNvSpPr>
            <a:spLocks noGrp="1" noChangeArrowheads="1"/>
          </p:cNvSpPr>
          <p:nvPr>
            <p:ph type="title"/>
          </p:nvPr>
        </p:nvSpPr>
        <p:spPr/>
        <p:txBody>
          <a:bodyPr/>
          <a:lstStyle/>
          <a:p>
            <a:r>
              <a:rPr lang="tr-TR"/>
              <a:t>Konsept Çalışması</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graphicFrame>
        <p:nvGraphicFramePr>
          <p:cNvPr id="7" name="Table 6"/>
          <p:cNvGraphicFramePr>
            <a:graphicFrameLocks noGrp="1"/>
          </p:cNvGraphicFramePr>
          <p:nvPr/>
        </p:nvGraphicFramePr>
        <p:xfrm>
          <a:off x="323528" y="1567241"/>
          <a:ext cx="8424936" cy="4112908"/>
        </p:xfrm>
        <a:graphic>
          <a:graphicData uri="http://schemas.openxmlformats.org/drawingml/2006/table">
            <a:tbl>
              <a:tblPr>
                <a:tableStyleId>{5C22544A-7EE6-4342-B048-85BDC9FD1C3A}</a:tableStyleId>
              </a:tblPr>
              <a:tblGrid>
                <a:gridCol w="3240360">
                  <a:extLst>
                    <a:ext uri="{9D8B030D-6E8A-4147-A177-3AD203B41FA5}">
                      <a16:colId xmlns:a16="http://schemas.microsoft.com/office/drawing/2014/main" val="20000"/>
                    </a:ext>
                  </a:extLst>
                </a:gridCol>
                <a:gridCol w="1350032">
                  <a:extLst>
                    <a:ext uri="{9D8B030D-6E8A-4147-A177-3AD203B41FA5}">
                      <a16:colId xmlns:a16="http://schemas.microsoft.com/office/drawing/2014/main" val="20001"/>
                    </a:ext>
                  </a:extLst>
                </a:gridCol>
                <a:gridCol w="958636">
                  <a:extLst>
                    <a:ext uri="{9D8B030D-6E8A-4147-A177-3AD203B41FA5}">
                      <a16:colId xmlns:a16="http://schemas.microsoft.com/office/drawing/2014/main" val="20002"/>
                    </a:ext>
                  </a:extLst>
                </a:gridCol>
                <a:gridCol w="1003700">
                  <a:extLst>
                    <a:ext uri="{9D8B030D-6E8A-4147-A177-3AD203B41FA5}">
                      <a16:colId xmlns:a16="http://schemas.microsoft.com/office/drawing/2014/main" val="20003"/>
                    </a:ext>
                  </a:extLst>
                </a:gridCol>
                <a:gridCol w="913572">
                  <a:extLst>
                    <a:ext uri="{9D8B030D-6E8A-4147-A177-3AD203B41FA5}">
                      <a16:colId xmlns:a16="http://schemas.microsoft.com/office/drawing/2014/main" val="20004"/>
                    </a:ext>
                  </a:extLst>
                </a:gridCol>
                <a:gridCol w="958636">
                  <a:extLst>
                    <a:ext uri="{9D8B030D-6E8A-4147-A177-3AD203B41FA5}">
                      <a16:colId xmlns:a16="http://schemas.microsoft.com/office/drawing/2014/main" val="20005"/>
                    </a:ext>
                  </a:extLst>
                </a:gridCol>
              </a:tblGrid>
              <a:tr h="739839">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ctr" fontAlgn="b"/>
                      <a:r>
                        <a:rPr lang="tr-TR" sz="1600" b="1" i="0" u="none" strike="noStrike">
                          <a:solidFill>
                            <a:srgbClr val="000000"/>
                          </a:solidFill>
                          <a:effectLst/>
                          <a:latin typeface="+mj-lt"/>
                        </a:rPr>
                        <a:t>Dönen Varlıklar</a:t>
                      </a:r>
                    </a:p>
                  </a:txBody>
                  <a:tcPr marL="7620" marR="7620" marT="7620" marB="0" anchor="b"/>
                </a:tc>
                <a:tc>
                  <a:txBody>
                    <a:bodyPr/>
                    <a:lstStyle/>
                    <a:p>
                      <a:pPr algn="ctr" fontAlgn="b"/>
                      <a:r>
                        <a:rPr lang="tr-TR" sz="1600" b="1" i="0" u="none" strike="noStrike">
                          <a:solidFill>
                            <a:srgbClr val="000000"/>
                          </a:solidFill>
                          <a:effectLst/>
                          <a:latin typeface="+mj-lt"/>
                        </a:rPr>
                        <a:t>Duran Varlıklar</a:t>
                      </a:r>
                    </a:p>
                  </a:txBody>
                  <a:tcPr marL="7620" marR="7620" marT="7620" marB="0" anchor="b"/>
                </a:tc>
                <a:tc>
                  <a:txBody>
                    <a:bodyPr/>
                    <a:lstStyle/>
                    <a:p>
                      <a:pPr algn="ctr" fontAlgn="b"/>
                      <a:r>
                        <a:rPr lang="tr-TR" sz="1600" b="1" i="0" u="none" strike="noStrike">
                          <a:solidFill>
                            <a:srgbClr val="000000"/>
                          </a:solidFill>
                          <a:effectLst/>
                          <a:latin typeface="+mj-lt"/>
                        </a:rPr>
                        <a:t>Kısa Vadeli Borçlar</a:t>
                      </a:r>
                    </a:p>
                  </a:txBody>
                  <a:tcPr marL="7620" marR="7620" marT="7620" marB="0" anchor="b"/>
                </a:tc>
                <a:tc>
                  <a:txBody>
                    <a:bodyPr/>
                    <a:lstStyle/>
                    <a:p>
                      <a:pPr algn="ctr" fontAlgn="b"/>
                      <a:r>
                        <a:rPr lang="tr-TR" sz="1600" b="1" i="0" u="none" strike="noStrike">
                          <a:solidFill>
                            <a:srgbClr val="000000"/>
                          </a:solidFill>
                          <a:effectLst/>
                          <a:latin typeface="+mj-lt"/>
                        </a:rPr>
                        <a:t>Uzun Vadeli Borçlar</a:t>
                      </a:r>
                    </a:p>
                  </a:txBody>
                  <a:tcPr marL="7620" marR="7620" marT="7620" marB="0" anchor="b"/>
                </a:tc>
                <a:tc>
                  <a:txBody>
                    <a:bodyPr/>
                    <a:lstStyle/>
                    <a:p>
                      <a:pPr algn="ctr" fontAlgn="b"/>
                      <a:r>
                        <a:rPr lang="tr-TR" sz="1600" b="1" i="0" u="none" strike="noStrike">
                          <a:solidFill>
                            <a:srgbClr val="000000"/>
                          </a:solidFill>
                          <a:effectLst/>
                          <a:latin typeface="+mj-lt"/>
                        </a:rPr>
                        <a:t>Özsermaye</a:t>
                      </a:r>
                    </a:p>
                  </a:txBody>
                  <a:tcPr marL="7620" marR="7620" marT="7620" marB="0" anchor="b"/>
                </a:tc>
                <a:extLst>
                  <a:ext uri="{0D108BD9-81ED-4DB2-BD59-A6C34878D82A}">
                    <a16:rowId xmlns:a16="http://schemas.microsoft.com/office/drawing/2014/main" val="10000"/>
                  </a:ext>
                </a:extLst>
              </a:tr>
              <a:tr h="401269">
                <a:tc>
                  <a:txBody>
                    <a:bodyPr/>
                    <a:lstStyle/>
                    <a:p>
                      <a:pPr algn="l" fontAlgn="b"/>
                      <a:r>
                        <a:rPr lang="tr-TR" sz="1600" u="none" strike="noStrike">
                          <a:effectLst/>
                          <a:latin typeface="+mj-lt"/>
                        </a:rPr>
                        <a:t>Nakit ödeyerek makine</a:t>
                      </a:r>
                      <a:r>
                        <a:rPr lang="tr-TR" sz="1600" u="none" strike="noStrike" baseline="0">
                          <a:effectLst/>
                          <a:latin typeface="+mj-lt"/>
                        </a:rPr>
                        <a:t> satın alındı.</a:t>
                      </a:r>
                      <a:endParaRPr lang="en-US" sz="1600" b="0" i="0" u="none" strike="noStrike">
                        <a:solidFill>
                          <a:srgbClr val="000000"/>
                        </a:solidFill>
                        <a:effectLst/>
                        <a:latin typeface="+mj-lt"/>
                      </a:endParaRPr>
                    </a:p>
                  </a:txBody>
                  <a:tcPr marL="7620" marR="7620" marT="7620" marB="0" anchor="b"/>
                </a:tc>
                <a:tc>
                  <a:txBody>
                    <a:bodyPr/>
                    <a:lstStyle/>
                    <a:p>
                      <a:pPr algn="l" fontAlgn="b"/>
                      <a:r>
                        <a:rPr lang="tr-TR" sz="1600" b="0" i="0" u="none" strike="noStrike">
                          <a:solidFill>
                            <a:srgbClr val="000000"/>
                          </a:solidFill>
                          <a:effectLst/>
                          <a:latin typeface="+mj-lt"/>
                        </a:rPr>
                        <a:t>Nakit (-)</a:t>
                      </a:r>
                    </a:p>
                  </a:txBody>
                  <a:tcPr marL="7620" marR="7620" marT="7620" marB="0" anchor="b"/>
                </a:tc>
                <a:tc>
                  <a:txBody>
                    <a:bodyPr/>
                    <a:lstStyle/>
                    <a:p>
                      <a:pPr algn="l" fontAlgn="b"/>
                      <a:r>
                        <a:rPr lang="tr-TR" sz="1600" b="0" i="0" u="none" strike="noStrike">
                          <a:solidFill>
                            <a:srgbClr val="000000"/>
                          </a:solidFill>
                          <a:effectLst/>
                          <a:latin typeface="+mj-lt"/>
                        </a:rPr>
                        <a:t>Maddi D.V. (+)</a:t>
                      </a: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1"/>
                  </a:ext>
                </a:extLst>
              </a:tr>
              <a:tr h="401269">
                <a:tc>
                  <a:txBody>
                    <a:bodyPr/>
                    <a:lstStyle/>
                    <a:p>
                      <a:pPr algn="l" fontAlgn="b"/>
                      <a:r>
                        <a:rPr lang="tr-TR" sz="1600" u="none" strike="noStrike">
                          <a:effectLst/>
                          <a:latin typeface="+mj-lt"/>
                        </a:rPr>
                        <a:t>Faiz geliri</a:t>
                      </a:r>
                      <a:r>
                        <a:rPr lang="tr-TR" sz="1600" u="none" strike="noStrike" baseline="0">
                          <a:effectLst/>
                          <a:latin typeface="+mj-lt"/>
                        </a:rPr>
                        <a:t> işlendi ve tahsil edildi.</a:t>
                      </a:r>
                      <a:endParaRPr lang="tr-TR" sz="1600" b="0" i="0" u="none" strike="noStrike">
                        <a:solidFill>
                          <a:srgbClr val="000000"/>
                        </a:solidFill>
                        <a:effectLst/>
                        <a:latin typeface="+mj-lt"/>
                      </a:endParaRPr>
                    </a:p>
                  </a:txBody>
                  <a:tcPr marL="7620" marR="7620" marT="7620" marB="0" anchor="b"/>
                </a:tc>
                <a:tc>
                  <a:txBody>
                    <a:bodyPr/>
                    <a:lstStyle/>
                    <a:p>
                      <a:pPr algn="l" fontAlgn="b"/>
                      <a:r>
                        <a:rPr lang="tr-TR" sz="1600" b="0" i="0" u="none" strike="noStrike">
                          <a:solidFill>
                            <a:srgbClr val="000000"/>
                          </a:solidFill>
                          <a:effectLst/>
                          <a:latin typeface="+mj-lt"/>
                        </a:rPr>
                        <a:t>Nakit</a:t>
                      </a:r>
                      <a:r>
                        <a:rPr lang="tr-TR" sz="1600" b="0" i="0" u="none" strike="noStrike" baseline="0">
                          <a:solidFill>
                            <a:srgbClr val="000000"/>
                          </a:solidFill>
                          <a:effectLst/>
                          <a:latin typeface="+mj-lt"/>
                        </a:rPr>
                        <a:t> (+)</a:t>
                      </a:r>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r>
                        <a:rPr lang="tr-TR" sz="1600" b="0" i="0" u="none" strike="noStrike">
                          <a:solidFill>
                            <a:srgbClr val="000000"/>
                          </a:solidFill>
                          <a:effectLst/>
                          <a:latin typeface="+mj-lt"/>
                        </a:rPr>
                        <a:t>Dönem karı(+)</a:t>
                      </a:r>
                    </a:p>
                  </a:txBody>
                  <a:tcPr marL="7620" marR="7620" marT="7620" marB="0" anchor="b"/>
                </a:tc>
                <a:extLst>
                  <a:ext uri="{0D108BD9-81ED-4DB2-BD59-A6C34878D82A}">
                    <a16:rowId xmlns:a16="http://schemas.microsoft.com/office/drawing/2014/main" val="10002"/>
                  </a:ext>
                </a:extLst>
              </a:tr>
              <a:tr h="401269">
                <a:tc>
                  <a:txBody>
                    <a:bodyPr/>
                    <a:lstStyle/>
                    <a:p>
                      <a:pPr algn="l" fontAlgn="b"/>
                      <a:r>
                        <a:rPr lang="tr-TR" sz="1600" b="0" i="0" u="none" strike="noStrike">
                          <a:solidFill>
                            <a:schemeClr val="dk1"/>
                          </a:solidFill>
                          <a:effectLst/>
                          <a:latin typeface="+mj-lt"/>
                        </a:rPr>
                        <a:t>Bir miktar hisse</a:t>
                      </a:r>
                      <a:r>
                        <a:rPr lang="tr-TR" sz="1600" b="0" i="0" u="none" strike="noStrike" baseline="0">
                          <a:solidFill>
                            <a:schemeClr val="dk1"/>
                          </a:solidFill>
                          <a:effectLst/>
                          <a:latin typeface="+mj-lt"/>
                        </a:rPr>
                        <a:t> geri alındı.</a:t>
                      </a:r>
                      <a:endParaRPr lang="tr-TR" sz="1600" b="0" i="0" u="none" strike="noStrike">
                        <a:solidFill>
                          <a:srgbClr val="000000"/>
                        </a:solidFill>
                        <a:effectLst/>
                        <a:latin typeface="+mj-lt"/>
                      </a:endParaRPr>
                    </a:p>
                  </a:txBody>
                  <a:tcPr marL="7620" marR="7620" marT="762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tr-TR" sz="1600" b="0" i="0" u="none" strike="noStrike" kern="1200">
                          <a:solidFill>
                            <a:srgbClr val="000000"/>
                          </a:solidFill>
                          <a:effectLst/>
                          <a:latin typeface="+mn-lt"/>
                          <a:ea typeface="+mn-ea"/>
                          <a:cs typeface="+mn-cs"/>
                        </a:rPr>
                        <a:t>Nakit (-)</a:t>
                      </a: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r>
                        <a:rPr lang="tr-TR" sz="1600" b="0" i="0" u="none" strike="noStrike">
                          <a:solidFill>
                            <a:srgbClr val="000000"/>
                          </a:solidFill>
                          <a:effectLst/>
                          <a:latin typeface="+mj-lt"/>
                        </a:rPr>
                        <a:t>Geri alınan paylar (+)</a:t>
                      </a:r>
                    </a:p>
                  </a:txBody>
                  <a:tcPr marL="7620" marR="7620" marT="7620" marB="0" anchor="b"/>
                </a:tc>
                <a:extLst>
                  <a:ext uri="{0D108BD9-81ED-4DB2-BD59-A6C34878D82A}">
                    <a16:rowId xmlns:a16="http://schemas.microsoft.com/office/drawing/2014/main" val="10004"/>
                  </a:ext>
                </a:extLst>
              </a:tr>
              <a:tr h="401269">
                <a:tc>
                  <a:txBody>
                    <a:bodyPr/>
                    <a:lstStyle/>
                    <a:p>
                      <a:pPr algn="l" fontAlgn="b"/>
                      <a:r>
                        <a:rPr lang="tr-TR" sz="1600" u="none" strike="noStrike">
                          <a:effectLst/>
                          <a:latin typeface="+mj-lt"/>
                        </a:rPr>
                        <a:t>Veresiye ürün satıldı.</a:t>
                      </a:r>
                      <a:endParaRPr lang="en-US" sz="1600" b="0" i="0" u="none" strike="noStrike">
                        <a:solidFill>
                          <a:srgbClr val="000000"/>
                        </a:solidFill>
                        <a:effectLst/>
                        <a:latin typeface="+mj-lt"/>
                      </a:endParaRPr>
                    </a:p>
                  </a:txBody>
                  <a:tcPr marL="7620" marR="7620" marT="7620" marB="0" anchor="b"/>
                </a:tc>
                <a:tc>
                  <a:txBody>
                    <a:bodyPr/>
                    <a:lstStyle/>
                    <a:p>
                      <a:pPr algn="l" fontAlgn="b"/>
                      <a:r>
                        <a:rPr lang="tr-TR" sz="1600" b="0" i="0" u="none" strike="noStrike">
                          <a:solidFill>
                            <a:srgbClr val="000000"/>
                          </a:solidFill>
                          <a:effectLst/>
                          <a:latin typeface="+mj-lt"/>
                        </a:rPr>
                        <a:t>T.</a:t>
                      </a:r>
                      <a:r>
                        <a:rPr lang="tr-TR" sz="1600" b="0" i="0" u="none" strike="noStrike" baseline="0">
                          <a:solidFill>
                            <a:srgbClr val="000000"/>
                          </a:solidFill>
                          <a:effectLst/>
                          <a:latin typeface="+mj-lt"/>
                        </a:rPr>
                        <a:t> alacak (+)</a:t>
                      </a:r>
                    </a:p>
                    <a:p>
                      <a:pPr algn="l" fontAlgn="b"/>
                      <a:r>
                        <a:rPr lang="tr-TR" sz="1600" b="0" i="0" u="none" strike="noStrike" baseline="0">
                          <a:solidFill>
                            <a:srgbClr val="000000"/>
                          </a:solidFill>
                          <a:effectLst/>
                          <a:latin typeface="+mj-lt"/>
                        </a:rPr>
                        <a:t>Stok (-)</a:t>
                      </a:r>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tr-TR" sz="1600" b="0" i="0" u="none" strike="noStrike" kern="1200">
                          <a:solidFill>
                            <a:srgbClr val="000000"/>
                          </a:solidFill>
                          <a:effectLst/>
                          <a:latin typeface="+mn-lt"/>
                          <a:ea typeface="+mn-ea"/>
                          <a:cs typeface="+mn-cs"/>
                        </a:rPr>
                        <a:t>Dönem karı(+)</a:t>
                      </a:r>
                    </a:p>
                  </a:txBody>
                  <a:tcPr marL="7620" marR="7620" marT="7620" marB="0" anchor="b"/>
                </a:tc>
                <a:extLst>
                  <a:ext uri="{0D108BD9-81ED-4DB2-BD59-A6C34878D82A}">
                    <a16:rowId xmlns:a16="http://schemas.microsoft.com/office/drawing/2014/main" val="10005"/>
                  </a:ext>
                </a:extLst>
              </a:tr>
              <a:tr h="401269">
                <a:tc>
                  <a:txBody>
                    <a:bodyPr/>
                    <a:lstStyle/>
                    <a:p>
                      <a:pPr algn="l" fontAlgn="b"/>
                      <a:r>
                        <a:rPr lang="tr-TR" sz="1600" b="0" i="0" u="none" strike="noStrike">
                          <a:solidFill>
                            <a:schemeClr val="dk1"/>
                          </a:solidFill>
                          <a:effectLst/>
                          <a:latin typeface="+mj-lt"/>
                        </a:rPr>
                        <a:t>İki</a:t>
                      </a:r>
                      <a:r>
                        <a:rPr lang="tr-TR" sz="1600" b="0" i="0" u="none" strike="noStrike" baseline="0">
                          <a:solidFill>
                            <a:schemeClr val="dk1"/>
                          </a:solidFill>
                          <a:effectLst/>
                          <a:latin typeface="+mj-lt"/>
                        </a:rPr>
                        <a:t> aylık kira peşin ödendi.</a:t>
                      </a:r>
                      <a:endParaRPr lang="en-US" sz="1600" b="0" i="0" u="none" strike="noStrike">
                        <a:solidFill>
                          <a:srgbClr val="000000"/>
                        </a:solidFill>
                        <a:effectLst/>
                        <a:latin typeface="+mj-lt"/>
                      </a:endParaRPr>
                    </a:p>
                  </a:txBody>
                  <a:tcPr marL="7620" marR="7620" marT="762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tr-TR" sz="1600" b="0" i="0" u="none" strike="noStrike" kern="1200">
                          <a:solidFill>
                            <a:srgbClr val="000000"/>
                          </a:solidFill>
                          <a:effectLst/>
                          <a:latin typeface="+mn-lt"/>
                          <a:ea typeface="+mn-ea"/>
                          <a:cs typeface="+mn-cs"/>
                        </a:rPr>
                        <a:t>Nakit (-)</a:t>
                      </a:r>
                    </a:p>
                    <a:p>
                      <a:pPr algn="l" fontAlgn="b"/>
                      <a:r>
                        <a:rPr lang="tr-TR" sz="1600" b="0" i="0" u="none" strike="noStrike">
                          <a:solidFill>
                            <a:srgbClr val="000000"/>
                          </a:solidFill>
                          <a:effectLst/>
                          <a:latin typeface="+mj-lt"/>
                        </a:rPr>
                        <a:t>P.Öde. Gid.(+)</a:t>
                      </a: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6"/>
                  </a:ext>
                </a:extLst>
              </a:tr>
              <a:tr h="401269">
                <a:tc>
                  <a:txBody>
                    <a:bodyPr/>
                    <a:lstStyle/>
                    <a:p>
                      <a:pPr algn="l" fontAlgn="b"/>
                      <a:r>
                        <a:rPr lang="tr-TR" sz="1600" b="0" i="0" u="none" strike="noStrike">
                          <a:solidFill>
                            <a:schemeClr val="dk1"/>
                          </a:solidFill>
                          <a:effectLst/>
                          <a:latin typeface="+mj-lt"/>
                        </a:rPr>
                        <a:t>Veresiye</a:t>
                      </a:r>
                      <a:r>
                        <a:rPr lang="tr-TR" sz="1600" b="0" i="0" u="none" strike="noStrike" baseline="0">
                          <a:solidFill>
                            <a:schemeClr val="dk1"/>
                          </a:solidFill>
                          <a:effectLst/>
                          <a:latin typeface="+mj-lt"/>
                        </a:rPr>
                        <a:t> hammadde alındı.</a:t>
                      </a:r>
                      <a:endParaRPr lang="en-US" sz="1600" b="0" i="0" u="none" strike="noStrike">
                        <a:solidFill>
                          <a:srgbClr val="000000"/>
                        </a:solidFill>
                        <a:effectLst/>
                        <a:latin typeface="+mj-lt"/>
                      </a:endParaRPr>
                    </a:p>
                  </a:txBody>
                  <a:tcPr marL="7620" marR="7620" marT="7620" marB="0" anchor="b"/>
                </a:tc>
                <a:tc>
                  <a:txBody>
                    <a:bodyPr/>
                    <a:lstStyle/>
                    <a:p>
                      <a:pPr algn="l" fontAlgn="b"/>
                      <a:r>
                        <a:rPr lang="tr-TR" sz="1600" b="0" i="0" u="none" strike="noStrike">
                          <a:solidFill>
                            <a:srgbClr val="000000"/>
                          </a:solidFill>
                          <a:effectLst/>
                          <a:latin typeface="+mj-lt"/>
                        </a:rPr>
                        <a:t>Stoklar (+)</a:t>
                      </a: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r>
                        <a:rPr lang="tr-TR" sz="1600" b="0" i="0" u="none" strike="noStrike">
                          <a:solidFill>
                            <a:srgbClr val="000000"/>
                          </a:solidFill>
                          <a:effectLst/>
                          <a:latin typeface="+mj-lt"/>
                        </a:rPr>
                        <a:t>T.Borçlar(+)</a:t>
                      </a: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7"/>
                  </a:ext>
                </a:extLst>
              </a:tr>
              <a:tr h="401269">
                <a:tc>
                  <a:txBody>
                    <a:bodyPr/>
                    <a:lstStyle/>
                    <a:p>
                      <a:pPr algn="l" fontAlgn="b"/>
                      <a:r>
                        <a:rPr lang="tr-TR" sz="1600" u="none" strike="noStrike">
                          <a:effectLst/>
                          <a:latin typeface="+mj-lt"/>
                        </a:rPr>
                        <a:t>Müşteriden avans alındı.</a:t>
                      </a:r>
                      <a:endParaRPr lang="en-US" sz="1600" b="0" i="0" u="none" strike="noStrike">
                        <a:solidFill>
                          <a:srgbClr val="000000"/>
                        </a:solidFill>
                        <a:effectLst/>
                        <a:latin typeface="+mj-lt"/>
                      </a:endParaRPr>
                    </a:p>
                  </a:txBody>
                  <a:tcPr marL="7620" marR="7620" marT="7620" marB="0" anchor="b"/>
                </a:tc>
                <a:tc>
                  <a:txBody>
                    <a:bodyPr/>
                    <a:lstStyle/>
                    <a:p>
                      <a:pPr algn="l" fontAlgn="b"/>
                      <a:r>
                        <a:rPr lang="tr-TR" sz="1600" b="0" i="0" u="none" strike="noStrike">
                          <a:solidFill>
                            <a:srgbClr val="000000"/>
                          </a:solidFill>
                          <a:effectLst/>
                          <a:latin typeface="+mj-lt"/>
                        </a:rPr>
                        <a:t>Nakit</a:t>
                      </a:r>
                      <a:r>
                        <a:rPr lang="tr-TR" sz="1600" b="0" i="0" u="none" strike="noStrike" baseline="0">
                          <a:solidFill>
                            <a:srgbClr val="000000"/>
                          </a:solidFill>
                          <a:effectLst/>
                          <a:latin typeface="+mj-lt"/>
                        </a:rPr>
                        <a:t> (+)</a:t>
                      </a:r>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r>
                        <a:rPr lang="tr-TR" sz="1600" b="0" i="0" u="none" strike="noStrike">
                          <a:solidFill>
                            <a:srgbClr val="000000"/>
                          </a:solidFill>
                          <a:effectLst/>
                          <a:latin typeface="+mj-lt"/>
                        </a:rPr>
                        <a:t>Alınan Avanslar (+)</a:t>
                      </a: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tc>
                  <a:txBody>
                    <a:bodyPr/>
                    <a:lstStyle/>
                    <a:p>
                      <a:pPr algn="l" fontAlgn="b"/>
                      <a:endParaRPr lang="tr-TR" sz="1600" b="0" i="0" u="none" strike="noStrike">
                        <a:solidFill>
                          <a:srgbClr val="000000"/>
                        </a:solidFill>
                        <a:effectLst/>
                        <a:latin typeface="+mj-lt"/>
                      </a:endParaRPr>
                    </a:p>
                  </a:txBody>
                  <a:tcPr marL="7620" marR="7620" marT="7620" marB="0" anchor="b"/>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327259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060848"/>
            <a:ext cx="8229600" cy="3168352"/>
          </a:xfrm>
        </p:spPr>
        <p:txBody>
          <a:bodyPr/>
          <a:lstStyle/>
          <a:p>
            <a:r>
              <a:rPr lang="tr-TR" dirty="0"/>
              <a:t>İŞLETME SERMAYESİ </a:t>
            </a:r>
            <a:br>
              <a:rPr lang="tr-TR" dirty="0"/>
            </a:br>
            <a:r>
              <a:rPr lang="tr-TR" dirty="0"/>
              <a:t>&amp;</a:t>
            </a:r>
            <a:br>
              <a:rPr lang="tr-TR" dirty="0"/>
            </a:br>
            <a:r>
              <a:rPr lang="tr-TR" dirty="0"/>
              <a:t>YÖNETİCİ BİLANÇOSU</a:t>
            </a:r>
            <a:endParaRPr lang="en-GB" dirty="0"/>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6"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41</a:t>
            </a:fld>
            <a:endParaRPr lang="tr-TR" sz="1200">
              <a:solidFill>
                <a:schemeClr val="tx2"/>
              </a:solidFill>
              <a:latin typeface="Verdana" pitchFamily="34" charset="0"/>
            </a:endParaRPr>
          </a:p>
        </p:txBody>
      </p:sp>
      <p:sp>
        <p:nvSpPr>
          <p:cNvPr id="7" name="Rectangle 6"/>
          <p:cNvSpPr/>
          <p:nvPr/>
        </p:nvSpPr>
        <p:spPr>
          <a:xfrm>
            <a:off x="2586621" y="188640"/>
            <a:ext cx="4361643" cy="769441"/>
          </a:xfrm>
          <a:prstGeom prst="rect">
            <a:avLst/>
          </a:prstGeom>
        </p:spPr>
        <p:txBody>
          <a:bodyPr wrap="none">
            <a:spAutoFit/>
          </a:bodyPr>
          <a:lstStyle/>
          <a:p>
            <a:r>
              <a:rPr lang="tr-TR" sz="4400" b="1">
                <a:latin typeface="+mj-lt"/>
              </a:rPr>
              <a:t>FİNANSAL ANALİZ</a:t>
            </a:r>
            <a:endParaRPr lang="en-GB" sz="4400" b="1">
              <a:latin typeface="+mj-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195C48D7-A98D-4AD5-92DE-4EF5A3C19945}" type="slidenum">
              <a:rPr lang="tr-TR" sz="1200">
                <a:solidFill>
                  <a:schemeClr val="tx2"/>
                </a:solidFill>
                <a:latin typeface="Verdana" pitchFamily="34" charset="0"/>
              </a:rPr>
              <a:pPr marL="0" indent="0" eaLnBrk="1" hangingPunct="1">
                <a:buNone/>
              </a:pPr>
              <a:t>42</a:t>
            </a:fld>
            <a:endParaRPr lang="tr-TR" sz="1200">
              <a:solidFill>
                <a:schemeClr val="tx2"/>
              </a:solidFill>
              <a:latin typeface="Verdana" pitchFamily="34" charset="0"/>
            </a:endParaRPr>
          </a:p>
        </p:txBody>
      </p:sp>
      <p:sp>
        <p:nvSpPr>
          <p:cNvPr id="48132" name="Rectangle 2"/>
          <p:cNvSpPr>
            <a:spLocks noGrp="1" noChangeArrowheads="1"/>
          </p:cNvSpPr>
          <p:nvPr>
            <p:ph type="title"/>
          </p:nvPr>
        </p:nvSpPr>
        <p:spPr>
          <a:xfrm>
            <a:off x="457200" y="188640"/>
            <a:ext cx="8229600" cy="1143000"/>
          </a:xfrm>
        </p:spPr>
        <p:txBody>
          <a:bodyPr/>
          <a:lstStyle/>
          <a:p>
            <a:pPr eaLnBrk="1" hangingPunct="1"/>
            <a:r>
              <a:rPr lang="tr-TR" sz="3600"/>
              <a:t>Brisa A.Ş. Bilanço</a:t>
            </a:r>
            <a:r>
              <a:rPr lang="tr-TR" sz="4800"/>
              <a:t> </a:t>
            </a:r>
            <a:r>
              <a:rPr lang="tr-TR" sz="2400"/>
              <a:t>(TL mn)</a:t>
            </a:r>
          </a:p>
        </p:txBody>
      </p:sp>
      <p:pic>
        <p:nvPicPr>
          <p:cNvPr id="48133" name="Picture 5"/>
          <p:cNvPicPr>
            <a:picLocks noGrp="1" noChangeAspect="1" noChangeArrowheads="1"/>
          </p:cNvPicPr>
          <p:nvPr>
            <p:ph type="body" idx="4294967295"/>
          </p:nvPr>
        </p:nvPicPr>
        <p:blipFill>
          <a:blip r:embed="rId2" cstate="print">
            <a:extLst>
              <a:ext uri="{28A0092B-C50C-407E-A947-70E740481C1C}">
                <a14:useLocalDpi xmlns:a14="http://schemas.microsoft.com/office/drawing/2010/main" val="0"/>
              </a:ext>
            </a:extLst>
          </a:blip>
          <a:srcRect/>
          <a:stretch>
            <a:fillRect/>
          </a:stretch>
        </p:blipFill>
        <p:spPr>
          <a:xfrm>
            <a:off x="471225" y="1124744"/>
            <a:ext cx="8185150" cy="4964112"/>
          </a:xfrm>
          <a:prstGeom prst="rect">
            <a:avLst/>
          </a:prstGeom>
          <a:noFill/>
        </p:spPr>
      </p:pic>
      <p:pic>
        <p:nvPicPr>
          <p:cNvPr id="6" name="Picture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8720513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27664" y="6458128"/>
            <a:ext cx="652848" cy="355248"/>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BB52A287-5238-49B5-AACB-7A4947952AA0}" type="slidenum">
              <a:rPr lang="tr-TR" sz="1200">
                <a:solidFill>
                  <a:schemeClr val="tx2"/>
                </a:solidFill>
                <a:latin typeface="Verdana" pitchFamily="34" charset="0"/>
              </a:rPr>
              <a:pPr marL="0" indent="0" eaLnBrk="1" hangingPunct="1">
                <a:buNone/>
              </a:pPr>
              <a:t>43</a:t>
            </a:fld>
            <a:endParaRPr lang="tr-TR" sz="1200">
              <a:solidFill>
                <a:schemeClr val="tx2"/>
              </a:solidFill>
              <a:latin typeface="Verdana" pitchFamily="34" charset="0"/>
            </a:endParaRPr>
          </a:p>
        </p:txBody>
      </p:sp>
      <p:sp>
        <p:nvSpPr>
          <p:cNvPr id="51204" name="Rectangle 2"/>
          <p:cNvSpPr>
            <a:spLocks noGrp="1" noChangeArrowheads="1"/>
          </p:cNvSpPr>
          <p:nvPr>
            <p:ph type="title"/>
          </p:nvPr>
        </p:nvSpPr>
        <p:spPr>
          <a:xfrm>
            <a:off x="734888" y="188640"/>
            <a:ext cx="8229600" cy="1143000"/>
          </a:xfrm>
        </p:spPr>
        <p:txBody>
          <a:bodyPr/>
          <a:lstStyle/>
          <a:p>
            <a:pPr eaLnBrk="1" hangingPunct="1"/>
            <a:r>
              <a:rPr lang="tr-TR" sz="4000"/>
              <a:t>Brisa A.Ş. Özet Bilanço (Milyon TL)</a:t>
            </a: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graphicFrame>
        <p:nvGraphicFramePr>
          <p:cNvPr id="10" name="Table 9"/>
          <p:cNvGraphicFramePr>
            <a:graphicFrameLocks noGrp="1"/>
          </p:cNvGraphicFramePr>
          <p:nvPr/>
        </p:nvGraphicFramePr>
        <p:xfrm>
          <a:off x="323528" y="1700810"/>
          <a:ext cx="8568953" cy="3888430"/>
        </p:xfrm>
        <a:graphic>
          <a:graphicData uri="http://schemas.openxmlformats.org/drawingml/2006/table">
            <a:tbl>
              <a:tblPr/>
              <a:tblGrid>
                <a:gridCol w="2089987">
                  <a:extLst>
                    <a:ext uri="{9D8B030D-6E8A-4147-A177-3AD203B41FA5}">
                      <a16:colId xmlns:a16="http://schemas.microsoft.com/office/drawing/2014/main" val="20000"/>
                    </a:ext>
                  </a:extLst>
                </a:gridCol>
                <a:gridCol w="626997">
                  <a:extLst>
                    <a:ext uri="{9D8B030D-6E8A-4147-A177-3AD203B41FA5}">
                      <a16:colId xmlns:a16="http://schemas.microsoft.com/office/drawing/2014/main" val="20001"/>
                    </a:ext>
                  </a:extLst>
                </a:gridCol>
                <a:gridCol w="626997">
                  <a:extLst>
                    <a:ext uri="{9D8B030D-6E8A-4147-A177-3AD203B41FA5}">
                      <a16:colId xmlns:a16="http://schemas.microsoft.com/office/drawing/2014/main" val="20002"/>
                    </a:ext>
                  </a:extLst>
                </a:gridCol>
                <a:gridCol w="626997">
                  <a:extLst>
                    <a:ext uri="{9D8B030D-6E8A-4147-A177-3AD203B41FA5}">
                      <a16:colId xmlns:a16="http://schemas.microsoft.com/office/drawing/2014/main" val="20003"/>
                    </a:ext>
                  </a:extLst>
                </a:gridCol>
                <a:gridCol w="452830">
                  <a:extLst>
                    <a:ext uri="{9D8B030D-6E8A-4147-A177-3AD203B41FA5}">
                      <a16:colId xmlns:a16="http://schemas.microsoft.com/office/drawing/2014/main" val="20004"/>
                    </a:ext>
                  </a:extLst>
                </a:gridCol>
                <a:gridCol w="2264154">
                  <a:extLst>
                    <a:ext uri="{9D8B030D-6E8A-4147-A177-3AD203B41FA5}">
                      <a16:colId xmlns:a16="http://schemas.microsoft.com/office/drawing/2014/main" val="20005"/>
                    </a:ext>
                  </a:extLst>
                </a:gridCol>
                <a:gridCol w="626997">
                  <a:extLst>
                    <a:ext uri="{9D8B030D-6E8A-4147-A177-3AD203B41FA5}">
                      <a16:colId xmlns:a16="http://schemas.microsoft.com/office/drawing/2014/main" val="20006"/>
                    </a:ext>
                  </a:extLst>
                </a:gridCol>
                <a:gridCol w="626997">
                  <a:extLst>
                    <a:ext uri="{9D8B030D-6E8A-4147-A177-3AD203B41FA5}">
                      <a16:colId xmlns:a16="http://schemas.microsoft.com/office/drawing/2014/main" val="20007"/>
                    </a:ext>
                  </a:extLst>
                </a:gridCol>
                <a:gridCol w="626997">
                  <a:extLst>
                    <a:ext uri="{9D8B030D-6E8A-4147-A177-3AD203B41FA5}">
                      <a16:colId xmlns:a16="http://schemas.microsoft.com/office/drawing/2014/main" val="20008"/>
                    </a:ext>
                  </a:extLst>
                </a:gridCol>
              </a:tblGrid>
              <a:tr h="299110">
                <a:tc>
                  <a:txBody>
                    <a:bodyPr/>
                    <a:lstStyle/>
                    <a:p>
                      <a:pPr algn="l" fontAlgn="b"/>
                      <a:r>
                        <a:rPr lang="en-GB" sz="1400" b="1" i="0" u="none" strike="noStrike">
                          <a:solidFill>
                            <a:srgbClr val="3514AC"/>
                          </a:solidFill>
                          <a:latin typeface="Calibri"/>
                        </a:rPr>
                        <a:t>VARLIKLAR</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2007</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2008</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2009</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1" i="0" u="none" strike="noStrike">
                          <a:solidFill>
                            <a:srgbClr val="3514AC"/>
                          </a:solidFill>
                          <a:latin typeface="Calibri"/>
                        </a:rPr>
                        <a:t>KAYNAKLAR</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2007</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2008</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2009</a:t>
                      </a:r>
                    </a:p>
                  </a:txBody>
                  <a:tcPr marL="7434" marR="7434" marT="7434" marB="0" anchor="b">
                    <a:lnL>
                      <a:noFill/>
                    </a:lnL>
                    <a:lnR>
                      <a:noFill/>
                    </a:lnR>
                    <a:lnT>
                      <a:noFill/>
                    </a:lnT>
                    <a:lnB>
                      <a:noFill/>
                    </a:lnB>
                  </a:tcPr>
                </a:tc>
                <a:extLst>
                  <a:ext uri="{0D108BD9-81ED-4DB2-BD59-A6C34878D82A}">
                    <a16:rowId xmlns:a16="http://schemas.microsoft.com/office/drawing/2014/main" val="10000"/>
                  </a:ext>
                </a:extLst>
              </a:tr>
              <a:tr h="299110">
                <a:tc>
                  <a:txBody>
                    <a:bodyPr/>
                    <a:lstStyle/>
                    <a:p>
                      <a:pPr algn="l" fontAlgn="b"/>
                      <a:r>
                        <a:rPr lang="en-GB" sz="1400" b="1" i="0" u="none" strike="noStrike">
                          <a:solidFill>
                            <a:srgbClr val="000000"/>
                          </a:solidFill>
                          <a:latin typeface="Calibri"/>
                        </a:rPr>
                        <a:t>Dönen Varlıklar</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276</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375</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307</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1" i="0" u="none" strike="noStrike">
                          <a:solidFill>
                            <a:srgbClr val="000000"/>
                          </a:solidFill>
                          <a:latin typeface="Calibri"/>
                        </a:rPr>
                        <a:t>Kısa Vadeli Yükümlülükler</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150</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187</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153</a:t>
                      </a:r>
                    </a:p>
                  </a:txBody>
                  <a:tcPr marL="7434" marR="7434" marT="7434" marB="0" anchor="b">
                    <a:lnL>
                      <a:noFill/>
                    </a:lnL>
                    <a:lnR>
                      <a:noFill/>
                    </a:lnR>
                    <a:lnT>
                      <a:noFill/>
                    </a:lnT>
                    <a:lnB>
                      <a:noFill/>
                    </a:lnB>
                  </a:tcPr>
                </a:tc>
                <a:extLst>
                  <a:ext uri="{0D108BD9-81ED-4DB2-BD59-A6C34878D82A}">
                    <a16:rowId xmlns:a16="http://schemas.microsoft.com/office/drawing/2014/main" val="10001"/>
                  </a:ext>
                </a:extLst>
              </a:tr>
              <a:tr h="299110">
                <a:tc>
                  <a:txBody>
                    <a:bodyPr/>
                    <a:lstStyle/>
                    <a:p>
                      <a:pPr algn="l" fontAlgn="b"/>
                      <a:r>
                        <a:rPr lang="en-GB" sz="1400" b="0" i="0" u="none" strike="noStrike">
                          <a:solidFill>
                            <a:srgbClr val="000000"/>
                          </a:solidFill>
                          <a:latin typeface="Calibri"/>
                        </a:rPr>
                        <a:t>Nakit ve Nakit Benzerleri</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4</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3</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15</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0" i="0" u="none" strike="noStrike">
                          <a:solidFill>
                            <a:srgbClr val="000000"/>
                          </a:solidFill>
                          <a:latin typeface="Calibri"/>
                        </a:rPr>
                        <a:t>Finansal Borçlar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65</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102</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32</a:t>
                      </a:r>
                    </a:p>
                  </a:txBody>
                  <a:tcPr marL="7434" marR="7434" marT="7434" marB="0" anchor="b">
                    <a:lnL>
                      <a:noFill/>
                    </a:lnL>
                    <a:lnR>
                      <a:noFill/>
                    </a:lnR>
                    <a:lnT>
                      <a:noFill/>
                    </a:lnT>
                    <a:lnB>
                      <a:noFill/>
                    </a:lnB>
                  </a:tcPr>
                </a:tc>
                <a:extLst>
                  <a:ext uri="{0D108BD9-81ED-4DB2-BD59-A6C34878D82A}">
                    <a16:rowId xmlns:a16="http://schemas.microsoft.com/office/drawing/2014/main" val="10002"/>
                  </a:ext>
                </a:extLst>
              </a:tr>
              <a:tr h="299110">
                <a:tc>
                  <a:txBody>
                    <a:bodyPr/>
                    <a:lstStyle/>
                    <a:p>
                      <a:pPr algn="l" fontAlgn="b"/>
                      <a:r>
                        <a:rPr lang="en-GB" sz="1400" b="0" i="0" u="none" strike="noStrike">
                          <a:solidFill>
                            <a:srgbClr val="000000"/>
                          </a:solidFill>
                          <a:latin typeface="Calibri"/>
                        </a:rPr>
                        <a:t>Ticari ve Diğer Alacaklar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133</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151</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141</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0" i="0" u="none" strike="noStrike">
                          <a:solidFill>
                            <a:srgbClr val="000000"/>
                          </a:solidFill>
                          <a:latin typeface="Calibri"/>
                        </a:rPr>
                        <a:t>Ticari Borçlar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67</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66</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97</a:t>
                      </a:r>
                    </a:p>
                  </a:txBody>
                  <a:tcPr marL="7434" marR="7434" marT="7434" marB="0" anchor="b">
                    <a:lnL>
                      <a:noFill/>
                    </a:lnL>
                    <a:lnR>
                      <a:noFill/>
                    </a:lnR>
                    <a:lnT>
                      <a:noFill/>
                    </a:lnT>
                    <a:lnB>
                      <a:noFill/>
                    </a:lnB>
                  </a:tcPr>
                </a:tc>
                <a:extLst>
                  <a:ext uri="{0D108BD9-81ED-4DB2-BD59-A6C34878D82A}">
                    <a16:rowId xmlns:a16="http://schemas.microsoft.com/office/drawing/2014/main" val="10003"/>
                  </a:ext>
                </a:extLst>
              </a:tr>
              <a:tr h="299110">
                <a:tc>
                  <a:txBody>
                    <a:bodyPr/>
                    <a:lstStyle/>
                    <a:p>
                      <a:pPr algn="l" fontAlgn="b"/>
                      <a:r>
                        <a:rPr lang="en-GB" sz="1400" b="0" i="0" u="none" strike="noStrike">
                          <a:solidFill>
                            <a:srgbClr val="000000"/>
                          </a:solidFill>
                          <a:latin typeface="Calibri"/>
                        </a:rPr>
                        <a:t>Stoklar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123</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180</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142</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0" i="0" u="none" strike="noStrike">
                          <a:solidFill>
                            <a:srgbClr val="000000"/>
                          </a:solidFill>
                          <a:latin typeface="Calibri"/>
                        </a:rPr>
                        <a:t>Diğer Kısa V. Yükümlülükler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18</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20</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23</a:t>
                      </a:r>
                    </a:p>
                  </a:txBody>
                  <a:tcPr marL="7434" marR="7434" marT="7434" marB="0" anchor="b">
                    <a:lnL>
                      <a:noFill/>
                    </a:lnL>
                    <a:lnR>
                      <a:noFill/>
                    </a:lnR>
                    <a:lnT>
                      <a:noFill/>
                    </a:lnT>
                    <a:lnB>
                      <a:noFill/>
                    </a:lnB>
                  </a:tcPr>
                </a:tc>
                <a:extLst>
                  <a:ext uri="{0D108BD9-81ED-4DB2-BD59-A6C34878D82A}">
                    <a16:rowId xmlns:a16="http://schemas.microsoft.com/office/drawing/2014/main" val="10004"/>
                  </a:ext>
                </a:extLst>
              </a:tr>
              <a:tr h="299110">
                <a:tc>
                  <a:txBody>
                    <a:bodyPr/>
                    <a:lstStyle/>
                    <a:p>
                      <a:pPr algn="l" fontAlgn="b"/>
                      <a:r>
                        <a:rPr lang="en-GB" sz="1400" b="0" i="0" u="none" strike="noStrike">
                          <a:solidFill>
                            <a:srgbClr val="000000"/>
                          </a:solidFill>
                          <a:latin typeface="Calibri"/>
                        </a:rPr>
                        <a:t>Diğer Dönen Varlıklar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15</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41</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9</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1" i="0" u="none" strike="noStrike">
                          <a:solidFill>
                            <a:srgbClr val="000000"/>
                          </a:solidFill>
                          <a:latin typeface="Calibri"/>
                        </a:rPr>
                        <a:t>Uzun Vadeli Yükümlülükler</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18</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124</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82</a:t>
                      </a:r>
                    </a:p>
                  </a:txBody>
                  <a:tcPr marL="7434" marR="7434" marT="7434" marB="0" anchor="b">
                    <a:lnL>
                      <a:noFill/>
                    </a:lnL>
                    <a:lnR>
                      <a:noFill/>
                    </a:lnR>
                    <a:lnT>
                      <a:noFill/>
                    </a:lnT>
                    <a:lnB>
                      <a:noFill/>
                    </a:lnB>
                  </a:tcPr>
                </a:tc>
                <a:extLst>
                  <a:ext uri="{0D108BD9-81ED-4DB2-BD59-A6C34878D82A}">
                    <a16:rowId xmlns:a16="http://schemas.microsoft.com/office/drawing/2014/main" val="10005"/>
                  </a:ext>
                </a:extLst>
              </a:tr>
              <a:tr h="299110">
                <a:tc>
                  <a:txBody>
                    <a:bodyPr/>
                    <a:lstStyle/>
                    <a:p>
                      <a:pPr algn="l" fontAlgn="b"/>
                      <a:r>
                        <a:rPr lang="en-GB" sz="1400" b="1" i="0" u="none" strike="noStrike">
                          <a:solidFill>
                            <a:srgbClr val="000000"/>
                          </a:solidFill>
                          <a:latin typeface="Calibri"/>
                        </a:rPr>
                        <a:t>Duran Varlıklar</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329</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354</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355</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0" i="0" u="none" strike="noStrike">
                          <a:solidFill>
                            <a:srgbClr val="000000"/>
                          </a:solidFill>
                          <a:latin typeface="Calibri"/>
                        </a:rPr>
                        <a:t>Finansal Borçlar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0</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107</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65</a:t>
                      </a:r>
                    </a:p>
                  </a:txBody>
                  <a:tcPr marL="7434" marR="7434" marT="7434" marB="0" anchor="b">
                    <a:lnL>
                      <a:noFill/>
                    </a:lnL>
                    <a:lnR>
                      <a:noFill/>
                    </a:lnR>
                    <a:lnT>
                      <a:noFill/>
                    </a:lnT>
                    <a:lnB>
                      <a:noFill/>
                    </a:lnB>
                  </a:tcPr>
                </a:tc>
                <a:extLst>
                  <a:ext uri="{0D108BD9-81ED-4DB2-BD59-A6C34878D82A}">
                    <a16:rowId xmlns:a16="http://schemas.microsoft.com/office/drawing/2014/main" val="10006"/>
                  </a:ext>
                </a:extLst>
              </a:tr>
              <a:tr h="299110">
                <a:tc>
                  <a:txBody>
                    <a:bodyPr/>
                    <a:lstStyle/>
                    <a:p>
                      <a:pPr algn="l" fontAlgn="b"/>
                      <a:r>
                        <a:rPr lang="en-GB" sz="1400" b="0" i="0" u="none" strike="noStrike">
                          <a:solidFill>
                            <a:srgbClr val="000000"/>
                          </a:solidFill>
                          <a:latin typeface="Calibri"/>
                        </a:rPr>
                        <a:t>Maddi Duran Varlıklar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310</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334</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338</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0" i="0" u="none" strike="noStrike">
                          <a:solidFill>
                            <a:srgbClr val="000000"/>
                          </a:solidFill>
                          <a:latin typeface="Calibri"/>
                        </a:rPr>
                        <a:t>Diğer Uzun V. Yükümlülükler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18</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17</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18</a:t>
                      </a:r>
                    </a:p>
                  </a:txBody>
                  <a:tcPr marL="7434" marR="7434" marT="7434" marB="0" anchor="b">
                    <a:lnL>
                      <a:noFill/>
                    </a:lnL>
                    <a:lnR>
                      <a:noFill/>
                    </a:lnR>
                    <a:lnT>
                      <a:noFill/>
                    </a:lnT>
                    <a:lnB>
                      <a:noFill/>
                    </a:lnB>
                  </a:tcPr>
                </a:tc>
                <a:extLst>
                  <a:ext uri="{0D108BD9-81ED-4DB2-BD59-A6C34878D82A}">
                    <a16:rowId xmlns:a16="http://schemas.microsoft.com/office/drawing/2014/main" val="10007"/>
                  </a:ext>
                </a:extLst>
              </a:tr>
              <a:tr h="299110">
                <a:tc>
                  <a:txBody>
                    <a:bodyPr/>
                    <a:lstStyle/>
                    <a:p>
                      <a:pPr algn="l" fontAlgn="b"/>
                      <a:r>
                        <a:rPr lang="en-GB" sz="1400" b="0" i="0" u="none" strike="noStrike">
                          <a:solidFill>
                            <a:srgbClr val="000000"/>
                          </a:solidFill>
                          <a:latin typeface="Calibri"/>
                        </a:rPr>
                        <a:t>Maddi Olmayan Duran V.</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17</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18</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15</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1" i="0" u="none" strike="noStrike">
                          <a:solidFill>
                            <a:srgbClr val="000000"/>
                          </a:solidFill>
                          <a:latin typeface="Calibri"/>
                        </a:rPr>
                        <a:t>Özkaynaklar</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437</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417</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427</a:t>
                      </a:r>
                    </a:p>
                  </a:txBody>
                  <a:tcPr marL="7434" marR="7434" marT="7434" marB="0" anchor="b">
                    <a:lnL>
                      <a:noFill/>
                    </a:lnL>
                    <a:lnR>
                      <a:noFill/>
                    </a:lnR>
                    <a:lnT>
                      <a:noFill/>
                    </a:lnT>
                    <a:lnB>
                      <a:noFill/>
                    </a:lnB>
                  </a:tcPr>
                </a:tc>
                <a:extLst>
                  <a:ext uri="{0D108BD9-81ED-4DB2-BD59-A6C34878D82A}">
                    <a16:rowId xmlns:a16="http://schemas.microsoft.com/office/drawing/2014/main" val="10008"/>
                  </a:ext>
                </a:extLst>
              </a:tr>
              <a:tr h="299110">
                <a:tc>
                  <a:txBody>
                    <a:bodyPr/>
                    <a:lstStyle/>
                    <a:p>
                      <a:pPr algn="l" fontAlgn="b"/>
                      <a:r>
                        <a:rPr lang="en-GB" sz="1400" b="0" i="0" u="none" strike="noStrike">
                          <a:solidFill>
                            <a:srgbClr val="000000"/>
                          </a:solidFill>
                          <a:latin typeface="Calibri"/>
                        </a:rPr>
                        <a:t>Diğer Duran Varlıklar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2</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2</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2</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0" i="0" u="none" strike="noStrike">
                          <a:solidFill>
                            <a:srgbClr val="000000"/>
                          </a:solidFill>
                          <a:latin typeface="Calibri"/>
                        </a:rPr>
                        <a:t>Ödenmiş Sermaye</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7</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7</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7</a:t>
                      </a:r>
                    </a:p>
                  </a:txBody>
                  <a:tcPr marL="7434" marR="7434" marT="7434" marB="0" anchor="b">
                    <a:lnL>
                      <a:noFill/>
                    </a:lnL>
                    <a:lnR>
                      <a:noFill/>
                    </a:lnR>
                    <a:lnT>
                      <a:noFill/>
                    </a:lnT>
                    <a:lnB>
                      <a:noFill/>
                    </a:lnB>
                  </a:tcPr>
                </a:tc>
                <a:extLst>
                  <a:ext uri="{0D108BD9-81ED-4DB2-BD59-A6C34878D82A}">
                    <a16:rowId xmlns:a16="http://schemas.microsoft.com/office/drawing/2014/main" val="10009"/>
                  </a:ext>
                </a:extLst>
              </a:tr>
              <a:tr h="299110">
                <a:tc>
                  <a:txBody>
                    <a:bodyPr/>
                    <a:lstStyle/>
                    <a:p>
                      <a:pPr algn="l" fontAlgn="b"/>
                      <a:r>
                        <a:rPr lang="en-GB" sz="1400" b="1" i="0" u="none" strike="noStrike">
                          <a:solidFill>
                            <a:srgbClr val="3514AC"/>
                          </a:solidFill>
                          <a:latin typeface="Calibri"/>
                        </a:rPr>
                        <a:t>TOPLAM VARLIKLAR</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605</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728</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662</a:t>
                      </a: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0" i="0" u="none" strike="noStrike">
                          <a:solidFill>
                            <a:srgbClr val="000000"/>
                          </a:solidFill>
                          <a:latin typeface="Calibri"/>
                        </a:rPr>
                        <a:t>Yedekler</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367</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378</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381</a:t>
                      </a:r>
                    </a:p>
                  </a:txBody>
                  <a:tcPr marL="7434" marR="7434" marT="7434" marB="0" anchor="b">
                    <a:lnL>
                      <a:noFill/>
                    </a:lnL>
                    <a:lnR>
                      <a:noFill/>
                    </a:lnR>
                    <a:lnT>
                      <a:noFill/>
                    </a:lnT>
                    <a:lnB>
                      <a:noFill/>
                    </a:lnB>
                  </a:tcPr>
                </a:tc>
                <a:extLst>
                  <a:ext uri="{0D108BD9-81ED-4DB2-BD59-A6C34878D82A}">
                    <a16:rowId xmlns:a16="http://schemas.microsoft.com/office/drawing/2014/main" val="10010"/>
                  </a:ext>
                </a:extLst>
              </a:tr>
              <a:tr h="299110">
                <a:tc>
                  <a:txBody>
                    <a:bodyPr/>
                    <a:lstStyle/>
                    <a:p>
                      <a:pPr algn="l" fontAlgn="b"/>
                      <a:endParaRPr lang="en-GB" sz="1400" b="0" i="0" u="none" strike="noStrike">
                        <a:solidFill>
                          <a:srgbClr val="BFBFBF"/>
                        </a:solidFill>
                        <a:latin typeface="Calibri"/>
                      </a:endParaRPr>
                    </a:p>
                  </a:txBody>
                  <a:tcPr marL="7434" marR="7434" marT="7434" marB="0" anchor="b">
                    <a:lnL>
                      <a:noFill/>
                    </a:lnL>
                    <a:lnR>
                      <a:noFill/>
                    </a:lnR>
                    <a:lnT>
                      <a:noFill/>
                    </a:lnT>
                    <a:lnB>
                      <a:noFill/>
                    </a:lnB>
                  </a:tcPr>
                </a:tc>
                <a:tc>
                  <a:txBody>
                    <a:bodyPr/>
                    <a:lstStyle/>
                    <a:p>
                      <a:pPr algn="l" fontAlgn="b"/>
                      <a:endParaRPr lang="en-GB" sz="1400" b="0" i="0" u="none" strike="noStrike">
                        <a:solidFill>
                          <a:srgbClr val="BFBFBF"/>
                        </a:solidFill>
                        <a:latin typeface="Calibri"/>
                      </a:endParaRPr>
                    </a:p>
                  </a:txBody>
                  <a:tcPr marL="7434" marR="7434" marT="7434" marB="0" anchor="b">
                    <a:lnL>
                      <a:noFill/>
                    </a:lnL>
                    <a:lnR>
                      <a:noFill/>
                    </a:lnR>
                    <a:lnT>
                      <a:noFill/>
                    </a:lnT>
                    <a:lnB>
                      <a:noFill/>
                    </a:lnB>
                  </a:tcPr>
                </a:tc>
                <a:tc>
                  <a:txBody>
                    <a:bodyPr/>
                    <a:lstStyle/>
                    <a:p>
                      <a:pPr algn="l" fontAlgn="b"/>
                      <a:endParaRPr lang="en-GB" sz="1400" b="0" i="0" u="none" strike="noStrike">
                        <a:solidFill>
                          <a:srgbClr val="BFBFBF"/>
                        </a:solidFill>
                        <a:latin typeface="Calibri"/>
                      </a:endParaRPr>
                    </a:p>
                  </a:txBody>
                  <a:tcPr marL="7434" marR="7434" marT="7434" marB="0" anchor="b">
                    <a:lnL>
                      <a:noFill/>
                    </a:lnL>
                    <a:lnR>
                      <a:noFill/>
                    </a:lnR>
                    <a:lnT>
                      <a:noFill/>
                    </a:lnT>
                    <a:lnB>
                      <a:noFill/>
                    </a:lnB>
                  </a:tcPr>
                </a:tc>
                <a:tc>
                  <a:txBody>
                    <a:bodyPr/>
                    <a:lstStyle/>
                    <a:p>
                      <a:pPr algn="l" fontAlgn="b"/>
                      <a:endParaRPr lang="en-GB" sz="1400" b="0" i="0" u="none" strike="noStrike">
                        <a:solidFill>
                          <a:srgbClr val="BFBFBF"/>
                        </a:solidFill>
                        <a:latin typeface="Calibri"/>
                      </a:endParaRPr>
                    </a:p>
                  </a:txBody>
                  <a:tcPr marL="7434" marR="7434" marT="7434" marB="0" anchor="b">
                    <a:lnL>
                      <a:noFill/>
                    </a:lnL>
                    <a:lnR>
                      <a:noFill/>
                    </a:lnR>
                    <a:lnT>
                      <a:noFill/>
                    </a:lnT>
                    <a:lnB>
                      <a:noFill/>
                    </a:lnB>
                  </a:tcPr>
                </a:tc>
                <a:tc>
                  <a:txBody>
                    <a:bodyPr/>
                    <a:lstStyle/>
                    <a:p>
                      <a:pPr algn="l" fontAlgn="b"/>
                      <a:endParaRPr lang="en-GB" sz="1400" b="0" i="0" u="none" strike="noStrike">
                        <a:solidFill>
                          <a:srgbClr val="BFBFBF"/>
                        </a:solidFill>
                        <a:latin typeface="Calibri"/>
                      </a:endParaRPr>
                    </a:p>
                  </a:txBody>
                  <a:tcPr marL="7434" marR="7434" marT="7434" marB="0" anchor="b">
                    <a:lnL>
                      <a:noFill/>
                    </a:lnL>
                    <a:lnR>
                      <a:noFill/>
                    </a:lnR>
                    <a:lnT>
                      <a:noFill/>
                    </a:lnT>
                    <a:lnB>
                      <a:noFill/>
                    </a:lnB>
                  </a:tcPr>
                </a:tc>
                <a:tc>
                  <a:txBody>
                    <a:bodyPr/>
                    <a:lstStyle/>
                    <a:p>
                      <a:pPr algn="l" fontAlgn="b"/>
                      <a:r>
                        <a:rPr lang="en-GB" sz="1400" b="0" i="0" u="none" strike="noStrike">
                          <a:solidFill>
                            <a:srgbClr val="000000"/>
                          </a:solidFill>
                          <a:latin typeface="Calibri"/>
                        </a:rPr>
                        <a:t>Dönem Net Kar/Zararı</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63</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32</a:t>
                      </a:r>
                    </a:p>
                  </a:txBody>
                  <a:tcPr marL="7434" marR="7434" marT="7434" marB="0" anchor="b">
                    <a:lnL>
                      <a:noFill/>
                    </a:lnL>
                    <a:lnR>
                      <a:noFill/>
                    </a:lnR>
                    <a:lnT>
                      <a:noFill/>
                    </a:lnT>
                    <a:lnB>
                      <a:noFill/>
                    </a:lnB>
                  </a:tcPr>
                </a:tc>
                <a:tc>
                  <a:txBody>
                    <a:bodyPr/>
                    <a:lstStyle/>
                    <a:p>
                      <a:pPr algn="r" fontAlgn="b"/>
                      <a:r>
                        <a:rPr lang="en-GB" sz="1400" b="0" i="0" u="none" strike="noStrike">
                          <a:solidFill>
                            <a:srgbClr val="000000"/>
                          </a:solidFill>
                          <a:latin typeface="Calibri"/>
                        </a:rPr>
                        <a:t>39</a:t>
                      </a:r>
                    </a:p>
                  </a:txBody>
                  <a:tcPr marL="7434" marR="7434" marT="7434" marB="0" anchor="b">
                    <a:lnL>
                      <a:noFill/>
                    </a:lnL>
                    <a:lnR>
                      <a:noFill/>
                    </a:lnR>
                    <a:lnT>
                      <a:noFill/>
                    </a:lnT>
                    <a:lnB>
                      <a:noFill/>
                    </a:lnB>
                  </a:tcPr>
                </a:tc>
                <a:extLst>
                  <a:ext uri="{0D108BD9-81ED-4DB2-BD59-A6C34878D82A}">
                    <a16:rowId xmlns:a16="http://schemas.microsoft.com/office/drawing/2014/main" val="10011"/>
                  </a:ext>
                </a:extLst>
              </a:tr>
              <a:tr h="299110">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endParaRPr lang="en-GB" sz="1400" b="0" i="0" u="none" strike="noStrike">
                        <a:solidFill>
                          <a:srgbClr val="000000"/>
                        </a:solidFill>
                        <a:latin typeface="Calibri"/>
                      </a:endParaRPr>
                    </a:p>
                  </a:txBody>
                  <a:tcPr marL="7434" marR="7434" marT="7434" marB="0" anchor="b">
                    <a:lnL>
                      <a:noFill/>
                    </a:lnL>
                    <a:lnR>
                      <a:noFill/>
                    </a:lnR>
                    <a:lnT>
                      <a:noFill/>
                    </a:lnT>
                    <a:lnB>
                      <a:noFill/>
                    </a:lnB>
                  </a:tcPr>
                </a:tc>
                <a:tc>
                  <a:txBody>
                    <a:bodyPr/>
                    <a:lstStyle/>
                    <a:p>
                      <a:pPr algn="l" fontAlgn="b"/>
                      <a:r>
                        <a:rPr lang="en-GB" sz="1400" b="1" i="0" u="none" strike="noStrike">
                          <a:solidFill>
                            <a:srgbClr val="3514AC"/>
                          </a:solidFill>
                          <a:latin typeface="Calibri"/>
                        </a:rPr>
                        <a:t>TOPLAM KAYNAKLAR</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605</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728</a:t>
                      </a:r>
                    </a:p>
                  </a:txBody>
                  <a:tcPr marL="7434" marR="7434" marT="7434" marB="0" anchor="b">
                    <a:lnL>
                      <a:noFill/>
                    </a:lnL>
                    <a:lnR>
                      <a:noFill/>
                    </a:lnR>
                    <a:lnT>
                      <a:noFill/>
                    </a:lnT>
                    <a:lnB>
                      <a:noFill/>
                    </a:lnB>
                  </a:tcPr>
                </a:tc>
                <a:tc>
                  <a:txBody>
                    <a:bodyPr/>
                    <a:lstStyle/>
                    <a:p>
                      <a:pPr algn="r" fontAlgn="b"/>
                      <a:r>
                        <a:rPr lang="en-GB" sz="1400" b="1" i="0" u="none" strike="noStrike">
                          <a:solidFill>
                            <a:srgbClr val="000000"/>
                          </a:solidFill>
                          <a:latin typeface="Calibri"/>
                        </a:rPr>
                        <a:t>662</a:t>
                      </a:r>
                    </a:p>
                  </a:txBody>
                  <a:tcPr marL="7434" marR="7434" marT="7434" marB="0" anchor="b">
                    <a:lnL>
                      <a:noFill/>
                    </a:lnL>
                    <a:lnR>
                      <a:noFill/>
                    </a:lnR>
                    <a:lnT>
                      <a:noFill/>
                    </a:lnT>
                    <a:lnB>
                      <a:noFill/>
                    </a:lnB>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8379084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7" y="6469286"/>
            <a:ext cx="520251"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8CB62F43-8C2D-42D7-9CDC-25477E39C663}" type="slidenum">
              <a:rPr lang="tr-TR" sz="1200">
                <a:solidFill>
                  <a:schemeClr val="tx2"/>
                </a:solidFill>
                <a:latin typeface="Verdana" pitchFamily="34" charset="0"/>
              </a:rPr>
              <a:pPr marL="0" indent="0" eaLnBrk="1" hangingPunct="1">
                <a:buNone/>
              </a:pPr>
              <a:t>44</a:t>
            </a:fld>
            <a:endParaRPr lang="tr-TR" sz="1200">
              <a:solidFill>
                <a:schemeClr val="tx2"/>
              </a:solidFill>
              <a:latin typeface="Verdana" pitchFamily="34" charset="0"/>
            </a:endParaRPr>
          </a:p>
        </p:txBody>
      </p:sp>
      <p:sp>
        <p:nvSpPr>
          <p:cNvPr id="50180" name="Rectangle 2"/>
          <p:cNvSpPr>
            <a:spLocks noGrp="1" noChangeArrowheads="1"/>
          </p:cNvSpPr>
          <p:nvPr>
            <p:ph type="title"/>
          </p:nvPr>
        </p:nvSpPr>
        <p:spPr/>
        <p:txBody>
          <a:bodyPr/>
          <a:lstStyle/>
          <a:p>
            <a:pPr eaLnBrk="1" hangingPunct="1"/>
            <a:r>
              <a:rPr lang="tr-TR" sz="4000"/>
              <a:t>İşletme Sermayesi</a:t>
            </a:r>
          </a:p>
        </p:txBody>
      </p:sp>
      <p:sp>
        <p:nvSpPr>
          <p:cNvPr id="50181" name="Rectangle 3"/>
          <p:cNvSpPr>
            <a:spLocks noGrp="1" noChangeArrowheads="1"/>
          </p:cNvSpPr>
          <p:nvPr>
            <p:ph type="body" idx="4294967295"/>
          </p:nvPr>
        </p:nvSpPr>
        <p:spPr>
          <a:xfrm>
            <a:off x="457200" y="1100370"/>
            <a:ext cx="8229600" cy="4862512"/>
          </a:xfrm>
          <a:prstGeom prst="rect">
            <a:avLst/>
          </a:prstGeom>
        </p:spPr>
        <p:txBody>
          <a:bodyPr/>
          <a:lstStyle/>
          <a:p>
            <a:pPr algn="just" eaLnBrk="1" hangingPunct="1"/>
            <a:r>
              <a:rPr lang="tr-TR" sz="1600" dirty="0">
                <a:latin typeface="Verdana" pitchFamily="34" charset="0"/>
                <a:ea typeface="Verdana" pitchFamily="34" charset="0"/>
                <a:cs typeface="Verdana" pitchFamily="34" charset="0"/>
              </a:rPr>
              <a:t>Şirketin duran varlıkları kendi başlarına satış üretemezler.</a:t>
            </a:r>
          </a:p>
          <a:p>
            <a:pPr algn="just" eaLnBrk="1" hangingPunct="1"/>
            <a:r>
              <a:rPr lang="tr-TR" sz="1600" dirty="0">
                <a:latin typeface="Verdana" pitchFamily="34" charset="0"/>
                <a:ea typeface="Verdana" pitchFamily="34" charset="0"/>
                <a:cs typeface="Verdana" pitchFamily="34" charset="0"/>
              </a:rPr>
              <a:t>Şirket satışların devamlılığı için stokları ve alacakları finanse etmek zorundadır.</a:t>
            </a:r>
          </a:p>
          <a:p>
            <a:pPr algn="just" eaLnBrk="1" hangingPunct="1"/>
            <a:r>
              <a:rPr lang="tr-TR" sz="1600" dirty="0">
                <a:latin typeface="Verdana" pitchFamily="34" charset="0"/>
                <a:ea typeface="Verdana" pitchFamily="34" charset="0"/>
                <a:cs typeface="Verdana" pitchFamily="34" charset="0"/>
              </a:rPr>
              <a:t>Şirketin mal aldığı satıcılar da şirketi kısmen de olsa finanse ederler.</a:t>
            </a:r>
          </a:p>
          <a:p>
            <a:pPr algn="just" eaLnBrk="1" hangingPunct="1"/>
            <a:r>
              <a:rPr lang="tr-TR" sz="1600" dirty="0">
                <a:latin typeface="Verdana" pitchFamily="34" charset="0"/>
                <a:ea typeface="Verdana" pitchFamily="34" charset="0"/>
                <a:cs typeface="Verdana" pitchFamily="34" charset="0"/>
              </a:rPr>
              <a:t>İşletme sermayesi nakdi ve kısa vadeli borçları içermez.</a:t>
            </a:r>
          </a:p>
          <a:p>
            <a:pPr algn="just" eaLnBrk="1" hangingPunct="1"/>
            <a:r>
              <a:rPr lang="tr-TR" sz="1600" dirty="0">
                <a:latin typeface="Verdana" pitchFamily="34" charset="0"/>
                <a:ea typeface="Verdana" pitchFamily="34" charset="0"/>
                <a:cs typeface="Verdana" pitchFamily="34" charset="0"/>
              </a:rPr>
              <a:t>Çoğu şirket işletme sermayesi gereksinimi içindedir.</a:t>
            </a:r>
          </a:p>
          <a:p>
            <a:pPr algn="just" eaLnBrk="1" hangingPunct="1"/>
            <a:r>
              <a:rPr lang="tr-TR" sz="1600" dirty="0">
                <a:latin typeface="Verdana" pitchFamily="34" charset="0"/>
                <a:ea typeface="Verdana" pitchFamily="34" charset="0"/>
                <a:cs typeface="Verdana" pitchFamily="34" charset="0"/>
              </a:rPr>
              <a:t>Ancak, Migros gibi büyük zincirler düşük alacakla çalışıp, stoklarını satıcılara finanse ettirdikleri için faaliyetleri işletme sermayesi gerektirmek bir yana, sermaye yaratır.</a:t>
            </a:r>
          </a:p>
          <a:p>
            <a:pPr algn="just" eaLnBrk="1" hangingPunct="1"/>
            <a:endParaRPr lang="tr-TR" sz="1600" dirty="0">
              <a:latin typeface="Verdana" pitchFamily="34" charset="0"/>
              <a:ea typeface="Verdana" pitchFamily="34" charset="0"/>
              <a:cs typeface="Verdana" pitchFamily="34" charset="0"/>
            </a:endParaRPr>
          </a:p>
          <a:p>
            <a:pPr algn="just" eaLnBrk="1" hangingPunct="1"/>
            <a:r>
              <a:rPr lang="tr-TR" sz="1600" b="1" dirty="0">
                <a:solidFill>
                  <a:srgbClr val="3333CC"/>
                </a:solidFill>
                <a:latin typeface="Verdana" pitchFamily="34" charset="0"/>
                <a:ea typeface="Verdana" pitchFamily="34" charset="0"/>
                <a:cs typeface="Verdana" pitchFamily="34" charset="0"/>
              </a:rPr>
              <a:t>İşletme Sermayesi İhtiyacı (WCR) </a:t>
            </a:r>
            <a:r>
              <a:rPr lang="tr-TR" sz="1600" b="1" dirty="0">
                <a:latin typeface="Verdana" pitchFamily="34" charset="0"/>
                <a:ea typeface="Verdana" pitchFamily="34" charset="0"/>
                <a:cs typeface="Verdana" pitchFamily="34" charset="0"/>
              </a:rPr>
              <a:t>= </a:t>
            </a:r>
            <a:r>
              <a:rPr lang="tr-TR" sz="1600" dirty="0">
                <a:latin typeface="Verdana" pitchFamily="34" charset="0"/>
                <a:ea typeface="Verdana" pitchFamily="34" charset="0"/>
                <a:cs typeface="Verdana" pitchFamily="34" charset="0"/>
              </a:rPr>
              <a:t>Ticari alacaklar + Stoklar + Peşin ödenen giderler – Ticari borçlar – Ödenecek giderler – Alınan Avanslar</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pic>
        <p:nvPicPr>
          <p:cNvPr id="2" name="Picture 1" descr="Table&#10;&#10;Description automatically generated">
            <a:extLst>
              <a:ext uri="{FF2B5EF4-FFF2-40B4-BE49-F238E27FC236}">
                <a16:creationId xmlns:a16="http://schemas.microsoft.com/office/drawing/2014/main" id="{E964CD9C-3EAC-803C-4F5B-0AA35F5F80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8812" y="4559210"/>
            <a:ext cx="5509704" cy="2156924"/>
          </a:xfrm>
          <a:prstGeom prst="rect">
            <a:avLst/>
          </a:prstGeom>
        </p:spPr>
      </p:pic>
    </p:spTree>
    <p:extLst>
      <p:ext uri="{BB962C8B-B14F-4D97-AF65-F5344CB8AC3E}">
        <p14:creationId xmlns:p14="http://schemas.microsoft.com/office/powerpoint/2010/main" val="30544370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45</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457200" y="277813"/>
            <a:ext cx="8229600" cy="774700"/>
          </a:xfrm>
        </p:spPr>
        <p:txBody>
          <a:bodyPr/>
          <a:lstStyle/>
          <a:p>
            <a:pPr eaLnBrk="1" hangingPunct="1"/>
            <a:r>
              <a:rPr lang="tr-TR" sz="4000"/>
              <a:t>Yönetici Bilançosu</a:t>
            </a:r>
          </a:p>
        </p:txBody>
      </p:sp>
      <p:pic>
        <p:nvPicPr>
          <p:cNvPr id="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722" y="1484312"/>
            <a:ext cx="8271750" cy="475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627784" y="3212976"/>
            <a:ext cx="1944216" cy="954107"/>
          </a:xfrm>
          <a:prstGeom prst="rect">
            <a:avLst/>
          </a:prstGeom>
          <a:solidFill>
            <a:schemeClr val="bg1"/>
          </a:solidFill>
        </p:spPr>
        <p:txBody>
          <a:bodyPr wrap="square" rtlCol="0">
            <a:spAutoFit/>
          </a:bodyPr>
          <a:lstStyle/>
          <a:p>
            <a:pPr algn="ctr"/>
            <a:r>
              <a:rPr lang="tr-TR" sz="1400" b="1"/>
              <a:t>Faaliyet Borçları</a:t>
            </a:r>
          </a:p>
          <a:p>
            <a:pPr algn="ctr"/>
            <a:r>
              <a:rPr lang="tr-TR" sz="1400" i="1"/>
              <a:t>Ticari Borçlar</a:t>
            </a:r>
          </a:p>
          <a:p>
            <a:pPr algn="ctr"/>
            <a:r>
              <a:rPr lang="tr-TR" sz="1400" i="1"/>
              <a:t>+</a:t>
            </a:r>
          </a:p>
          <a:p>
            <a:pPr algn="ctr"/>
            <a:r>
              <a:rPr lang="tr-TR" sz="1400" i="1"/>
              <a:t>Ö.Giderler+ Avanslar     </a:t>
            </a:r>
            <a:endParaRPr lang="en-US" sz="1400" i="1"/>
          </a:p>
        </p:txBody>
      </p:sp>
    </p:spTree>
    <p:extLst>
      <p:ext uri="{BB962C8B-B14F-4D97-AF65-F5344CB8AC3E}">
        <p14:creationId xmlns:p14="http://schemas.microsoft.com/office/powerpoint/2010/main" val="35629842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27664" y="6458128"/>
            <a:ext cx="652848" cy="355248"/>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BB52A287-5238-49B5-AACB-7A4947952AA0}" type="slidenum">
              <a:rPr lang="tr-TR" sz="1200">
                <a:solidFill>
                  <a:schemeClr val="tx2"/>
                </a:solidFill>
                <a:latin typeface="Verdana" pitchFamily="34" charset="0"/>
              </a:rPr>
              <a:pPr marL="0" indent="0" eaLnBrk="1" hangingPunct="1">
                <a:buNone/>
              </a:pPr>
              <a:t>46</a:t>
            </a:fld>
            <a:endParaRPr lang="tr-TR" sz="1200">
              <a:solidFill>
                <a:schemeClr val="tx2"/>
              </a:solidFill>
              <a:latin typeface="Verdana" pitchFamily="34" charset="0"/>
            </a:endParaRPr>
          </a:p>
        </p:txBody>
      </p:sp>
      <p:sp>
        <p:nvSpPr>
          <p:cNvPr id="51204" name="Rectangle 2"/>
          <p:cNvSpPr>
            <a:spLocks noGrp="1" noChangeArrowheads="1"/>
          </p:cNvSpPr>
          <p:nvPr>
            <p:ph type="title"/>
          </p:nvPr>
        </p:nvSpPr>
        <p:spPr/>
        <p:txBody>
          <a:bodyPr/>
          <a:lstStyle/>
          <a:p>
            <a:pPr eaLnBrk="1" hangingPunct="1"/>
            <a:r>
              <a:rPr lang="tr-TR" sz="4000"/>
              <a:t>Brisa A.Ş. Yönetici Bilançosu</a:t>
            </a: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graphicFrame>
        <p:nvGraphicFramePr>
          <p:cNvPr id="11" name="Table 10"/>
          <p:cNvGraphicFramePr>
            <a:graphicFrameLocks noGrp="1"/>
          </p:cNvGraphicFramePr>
          <p:nvPr/>
        </p:nvGraphicFramePr>
        <p:xfrm>
          <a:off x="395536" y="1844824"/>
          <a:ext cx="8280922" cy="2952330"/>
        </p:xfrm>
        <a:graphic>
          <a:graphicData uri="http://schemas.openxmlformats.org/drawingml/2006/table">
            <a:tbl>
              <a:tblPr/>
              <a:tblGrid>
                <a:gridCol w="1569924">
                  <a:extLst>
                    <a:ext uri="{9D8B030D-6E8A-4147-A177-3AD203B41FA5}">
                      <a16:colId xmlns:a16="http://schemas.microsoft.com/office/drawing/2014/main" val="20000"/>
                    </a:ext>
                  </a:extLst>
                </a:gridCol>
                <a:gridCol w="672825">
                  <a:extLst>
                    <a:ext uri="{9D8B030D-6E8A-4147-A177-3AD203B41FA5}">
                      <a16:colId xmlns:a16="http://schemas.microsoft.com/office/drawing/2014/main" val="20001"/>
                    </a:ext>
                  </a:extLst>
                </a:gridCol>
                <a:gridCol w="672825">
                  <a:extLst>
                    <a:ext uri="{9D8B030D-6E8A-4147-A177-3AD203B41FA5}">
                      <a16:colId xmlns:a16="http://schemas.microsoft.com/office/drawing/2014/main" val="20002"/>
                    </a:ext>
                  </a:extLst>
                </a:gridCol>
                <a:gridCol w="672825">
                  <a:extLst>
                    <a:ext uri="{9D8B030D-6E8A-4147-A177-3AD203B41FA5}">
                      <a16:colId xmlns:a16="http://schemas.microsoft.com/office/drawing/2014/main" val="20003"/>
                    </a:ext>
                  </a:extLst>
                </a:gridCol>
                <a:gridCol w="500306">
                  <a:extLst>
                    <a:ext uri="{9D8B030D-6E8A-4147-A177-3AD203B41FA5}">
                      <a16:colId xmlns:a16="http://schemas.microsoft.com/office/drawing/2014/main" val="20004"/>
                    </a:ext>
                  </a:extLst>
                </a:gridCol>
                <a:gridCol w="2173742">
                  <a:extLst>
                    <a:ext uri="{9D8B030D-6E8A-4147-A177-3AD203B41FA5}">
                      <a16:colId xmlns:a16="http://schemas.microsoft.com/office/drawing/2014/main" val="20005"/>
                    </a:ext>
                  </a:extLst>
                </a:gridCol>
                <a:gridCol w="672825">
                  <a:extLst>
                    <a:ext uri="{9D8B030D-6E8A-4147-A177-3AD203B41FA5}">
                      <a16:colId xmlns:a16="http://schemas.microsoft.com/office/drawing/2014/main" val="20006"/>
                    </a:ext>
                  </a:extLst>
                </a:gridCol>
                <a:gridCol w="672825">
                  <a:extLst>
                    <a:ext uri="{9D8B030D-6E8A-4147-A177-3AD203B41FA5}">
                      <a16:colId xmlns:a16="http://schemas.microsoft.com/office/drawing/2014/main" val="20007"/>
                    </a:ext>
                  </a:extLst>
                </a:gridCol>
                <a:gridCol w="672825">
                  <a:extLst>
                    <a:ext uri="{9D8B030D-6E8A-4147-A177-3AD203B41FA5}">
                      <a16:colId xmlns:a16="http://schemas.microsoft.com/office/drawing/2014/main" val="20008"/>
                    </a:ext>
                  </a:extLst>
                </a:gridCol>
              </a:tblGrid>
              <a:tr h="492055">
                <a:tc>
                  <a:txBody>
                    <a:bodyPr/>
                    <a:lstStyle/>
                    <a:p>
                      <a:pPr algn="l"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2007</a:t>
                      </a: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2008</a:t>
                      </a: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2009</a:t>
                      </a:r>
                    </a:p>
                  </a:txBody>
                  <a:tcPr marL="7620" marR="7620" marT="7620" marB="0" anchor="b">
                    <a:lnL>
                      <a:noFill/>
                    </a:lnL>
                    <a:lnR>
                      <a:noFill/>
                    </a:lnR>
                    <a:lnT>
                      <a:noFill/>
                    </a:lnT>
                    <a:lnB>
                      <a:noFill/>
                    </a:lnB>
                  </a:tcPr>
                </a:tc>
                <a:tc>
                  <a:txBody>
                    <a:bodyPr/>
                    <a:lstStyle/>
                    <a:p>
                      <a:pPr algn="l" fontAlgn="b"/>
                      <a:endParaRPr lang="en-GB"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2007</a:t>
                      </a: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2008</a:t>
                      </a: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2009</a:t>
                      </a:r>
                    </a:p>
                  </a:txBody>
                  <a:tcPr marL="7620" marR="7620" marT="7620" marB="0" anchor="b">
                    <a:lnL>
                      <a:noFill/>
                    </a:lnL>
                    <a:lnR>
                      <a:noFill/>
                    </a:lnR>
                    <a:lnT>
                      <a:noFill/>
                    </a:lnT>
                    <a:lnB>
                      <a:noFill/>
                    </a:lnB>
                  </a:tcPr>
                </a:tc>
                <a:extLst>
                  <a:ext uri="{0D108BD9-81ED-4DB2-BD59-A6C34878D82A}">
                    <a16:rowId xmlns:a16="http://schemas.microsoft.com/office/drawing/2014/main" val="10000"/>
                  </a:ext>
                </a:extLst>
              </a:tr>
              <a:tr h="492055">
                <a:tc>
                  <a:txBody>
                    <a:bodyPr/>
                    <a:lstStyle/>
                    <a:p>
                      <a:pPr algn="l" fontAlgn="b"/>
                      <a:r>
                        <a:rPr lang="en-GB" sz="1600" b="1" i="0" u="none" strike="noStrike">
                          <a:solidFill>
                            <a:srgbClr val="3514AC"/>
                          </a:solidFill>
                          <a:latin typeface="Calibri"/>
                        </a:rPr>
                        <a:t>Yatırılan Sermaye</a:t>
                      </a: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520</a:t>
                      </a: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643</a:t>
                      </a: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542</a:t>
                      </a:r>
                    </a:p>
                  </a:txBody>
                  <a:tcPr marL="7620" marR="7620" marT="7620" marB="0" anchor="b">
                    <a:lnL>
                      <a:noFill/>
                    </a:lnL>
                    <a:lnR>
                      <a:noFill/>
                    </a:lnR>
                    <a:lnT>
                      <a:noFill/>
                    </a:lnT>
                    <a:lnB>
                      <a:noFill/>
                    </a:lnB>
                  </a:tcPr>
                </a:tc>
                <a:tc>
                  <a:txBody>
                    <a:bodyPr/>
                    <a:lstStyle/>
                    <a:p>
                      <a:pPr algn="l" fontAlgn="b"/>
                      <a:endParaRPr lang="en-GB"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GB" sz="1600" b="1" i="0" u="none" strike="noStrike">
                          <a:solidFill>
                            <a:srgbClr val="3514AC"/>
                          </a:solidFill>
                          <a:latin typeface="Calibri"/>
                        </a:rPr>
                        <a:t>Kullanılan Sermaye</a:t>
                      </a: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520</a:t>
                      </a: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643</a:t>
                      </a:r>
                    </a:p>
                  </a:txBody>
                  <a:tcPr marL="7620" marR="7620" marT="7620" marB="0" anchor="b">
                    <a:lnL>
                      <a:noFill/>
                    </a:lnL>
                    <a:lnR>
                      <a:noFill/>
                    </a:lnR>
                    <a:lnT>
                      <a:noFill/>
                    </a:lnT>
                    <a:lnB>
                      <a:noFill/>
                    </a:lnB>
                  </a:tcPr>
                </a:tc>
                <a:tc>
                  <a:txBody>
                    <a:bodyPr/>
                    <a:lstStyle/>
                    <a:p>
                      <a:pPr algn="r" fontAlgn="b"/>
                      <a:r>
                        <a:rPr lang="en-GB" sz="1600" b="1" i="0" u="none" strike="noStrike">
                          <a:solidFill>
                            <a:srgbClr val="000000"/>
                          </a:solidFill>
                          <a:latin typeface="Calibri"/>
                        </a:rPr>
                        <a:t>542</a:t>
                      </a:r>
                    </a:p>
                  </a:txBody>
                  <a:tcPr marL="7620" marR="7620" marT="7620" marB="0" anchor="b">
                    <a:lnL>
                      <a:noFill/>
                    </a:lnL>
                    <a:lnR>
                      <a:noFill/>
                    </a:lnR>
                    <a:lnT>
                      <a:noFill/>
                    </a:lnT>
                    <a:lnB>
                      <a:noFill/>
                    </a:lnB>
                  </a:tcPr>
                </a:tc>
                <a:extLst>
                  <a:ext uri="{0D108BD9-81ED-4DB2-BD59-A6C34878D82A}">
                    <a16:rowId xmlns:a16="http://schemas.microsoft.com/office/drawing/2014/main" val="10001"/>
                  </a:ext>
                </a:extLst>
              </a:tr>
              <a:tr h="492055">
                <a:tc>
                  <a:txBody>
                    <a:bodyPr/>
                    <a:lstStyle/>
                    <a:p>
                      <a:pPr algn="l" fontAlgn="b"/>
                      <a:r>
                        <a:rPr lang="en-GB" sz="1600" b="0" i="0" u="none" strike="noStrike">
                          <a:solidFill>
                            <a:srgbClr val="000000"/>
                          </a:solidFill>
                          <a:latin typeface="Calibri"/>
                        </a:rPr>
                        <a:t>Nakit</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4</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3</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15</a:t>
                      </a:r>
                    </a:p>
                  </a:txBody>
                  <a:tcPr marL="7620" marR="7620" marT="7620" marB="0" anchor="b">
                    <a:lnL>
                      <a:noFill/>
                    </a:lnL>
                    <a:lnR>
                      <a:noFill/>
                    </a:lnR>
                    <a:lnT>
                      <a:noFill/>
                    </a:lnT>
                    <a:lnB>
                      <a:noFill/>
                    </a:lnB>
                  </a:tcPr>
                </a:tc>
                <a:tc>
                  <a:txBody>
                    <a:bodyPr/>
                    <a:lstStyle/>
                    <a:p>
                      <a:pPr algn="l"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GB" sz="1600" b="0" i="0" u="none" strike="noStrike" err="1">
                          <a:solidFill>
                            <a:srgbClr val="000000"/>
                          </a:solidFill>
                          <a:latin typeface="Calibri"/>
                        </a:rPr>
                        <a:t>Kısa</a:t>
                      </a:r>
                      <a:r>
                        <a:rPr lang="en-GB" sz="1600" b="0" i="0" u="none" strike="noStrike">
                          <a:solidFill>
                            <a:srgbClr val="000000"/>
                          </a:solidFill>
                          <a:latin typeface="Calibri"/>
                        </a:rPr>
                        <a:t> V</a:t>
                      </a:r>
                      <a:r>
                        <a:rPr lang="tr-TR" sz="1600" b="0" i="0" u="none" strike="noStrike">
                          <a:solidFill>
                            <a:srgbClr val="000000"/>
                          </a:solidFill>
                          <a:latin typeface="Calibri"/>
                        </a:rPr>
                        <a:t>.</a:t>
                      </a:r>
                      <a:r>
                        <a:rPr lang="en-GB" sz="1600" b="0" i="0" u="none" strike="noStrike">
                          <a:solidFill>
                            <a:srgbClr val="000000"/>
                          </a:solidFill>
                          <a:latin typeface="Calibri"/>
                        </a:rPr>
                        <a:t> </a:t>
                      </a:r>
                      <a:r>
                        <a:rPr lang="en-GB" sz="1600" b="0" i="0" u="none" strike="noStrike" err="1">
                          <a:solidFill>
                            <a:srgbClr val="000000"/>
                          </a:solidFill>
                          <a:latin typeface="Calibri"/>
                        </a:rPr>
                        <a:t>Finansal</a:t>
                      </a:r>
                      <a:r>
                        <a:rPr lang="en-GB" sz="1600" b="0" i="0" u="none" strike="noStrike">
                          <a:solidFill>
                            <a:srgbClr val="000000"/>
                          </a:solidFill>
                          <a:latin typeface="Calibri"/>
                        </a:rPr>
                        <a:t> </a:t>
                      </a:r>
                      <a:r>
                        <a:rPr lang="en-GB" sz="1600" b="0" i="0" u="none" strike="noStrike" err="1">
                          <a:solidFill>
                            <a:srgbClr val="000000"/>
                          </a:solidFill>
                          <a:latin typeface="Calibri"/>
                        </a:rPr>
                        <a:t>Borçlar</a:t>
                      </a:r>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65</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102</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32</a:t>
                      </a:r>
                    </a:p>
                  </a:txBody>
                  <a:tcPr marL="7620" marR="7620" marT="7620" marB="0" anchor="b">
                    <a:lnL>
                      <a:noFill/>
                    </a:lnL>
                    <a:lnR>
                      <a:noFill/>
                    </a:lnR>
                    <a:lnT>
                      <a:noFill/>
                    </a:lnT>
                    <a:lnB>
                      <a:noFill/>
                    </a:lnB>
                  </a:tcPr>
                </a:tc>
                <a:extLst>
                  <a:ext uri="{0D108BD9-81ED-4DB2-BD59-A6C34878D82A}">
                    <a16:rowId xmlns:a16="http://schemas.microsoft.com/office/drawing/2014/main" val="10002"/>
                  </a:ext>
                </a:extLst>
              </a:tr>
              <a:tr h="492055">
                <a:tc>
                  <a:txBody>
                    <a:bodyPr/>
                    <a:lstStyle/>
                    <a:p>
                      <a:pPr algn="l" fontAlgn="b"/>
                      <a:r>
                        <a:rPr lang="en-GB" sz="1600" b="0" i="0" u="none" strike="noStrike">
                          <a:solidFill>
                            <a:srgbClr val="000000"/>
                          </a:solidFill>
                          <a:latin typeface="Calibri"/>
                        </a:rPr>
                        <a:t>İşletme Sermayesi</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187</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286</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171</a:t>
                      </a:r>
                    </a:p>
                  </a:txBody>
                  <a:tcPr marL="7620" marR="7620" marT="7620" marB="0" anchor="b">
                    <a:lnL>
                      <a:noFill/>
                    </a:lnL>
                    <a:lnR>
                      <a:noFill/>
                    </a:lnR>
                    <a:lnT>
                      <a:noFill/>
                    </a:lnT>
                    <a:lnB>
                      <a:noFill/>
                    </a:lnB>
                  </a:tcPr>
                </a:tc>
                <a:tc>
                  <a:txBody>
                    <a:bodyPr/>
                    <a:lstStyle/>
                    <a:p>
                      <a:pPr algn="l"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GB" sz="1600" b="0" i="0" u="none" strike="noStrike">
                          <a:solidFill>
                            <a:srgbClr val="000000"/>
                          </a:solidFill>
                          <a:latin typeface="Calibri"/>
                        </a:rPr>
                        <a:t>Uzun Vadeli Kaynaklar</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455</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541</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510</a:t>
                      </a:r>
                    </a:p>
                  </a:txBody>
                  <a:tcPr marL="7620" marR="7620" marT="7620" marB="0" anchor="b">
                    <a:lnL>
                      <a:noFill/>
                    </a:lnL>
                    <a:lnR>
                      <a:noFill/>
                    </a:lnR>
                    <a:lnT>
                      <a:noFill/>
                    </a:lnT>
                    <a:lnB>
                      <a:noFill/>
                    </a:lnB>
                  </a:tcPr>
                </a:tc>
                <a:extLst>
                  <a:ext uri="{0D108BD9-81ED-4DB2-BD59-A6C34878D82A}">
                    <a16:rowId xmlns:a16="http://schemas.microsoft.com/office/drawing/2014/main" val="10003"/>
                  </a:ext>
                </a:extLst>
              </a:tr>
              <a:tr h="492055">
                <a:tc>
                  <a:txBody>
                    <a:bodyPr/>
                    <a:lstStyle/>
                    <a:p>
                      <a:pPr algn="l" fontAlgn="b"/>
                      <a:r>
                        <a:rPr lang="en-GB" sz="1600" b="0" i="0" u="none" strike="noStrike">
                          <a:solidFill>
                            <a:srgbClr val="000000"/>
                          </a:solidFill>
                          <a:latin typeface="Calibri"/>
                        </a:rPr>
                        <a:t>Duran Varlıklar</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329</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354</a:t>
                      </a:r>
                    </a:p>
                  </a:txBody>
                  <a:tcPr marL="7620" marR="7620" marT="7620" marB="0" anchor="b">
                    <a:lnL>
                      <a:noFill/>
                    </a:lnL>
                    <a:lnR>
                      <a:noFill/>
                    </a:lnR>
                    <a:lnT>
                      <a:noFill/>
                    </a:lnT>
                    <a:lnB>
                      <a:noFill/>
                    </a:lnB>
                  </a:tcPr>
                </a:tc>
                <a:tc>
                  <a:txBody>
                    <a:bodyPr/>
                    <a:lstStyle/>
                    <a:p>
                      <a:pPr algn="r" fontAlgn="b"/>
                      <a:r>
                        <a:rPr lang="en-GB" sz="1600" b="0" i="0" u="none" strike="noStrike">
                          <a:solidFill>
                            <a:srgbClr val="000000"/>
                          </a:solidFill>
                          <a:latin typeface="Calibri"/>
                        </a:rPr>
                        <a:t>355</a:t>
                      </a:r>
                    </a:p>
                  </a:txBody>
                  <a:tcPr marL="7620" marR="7620" marT="7620" marB="0" anchor="b">
                    <a:lnL>
                      <a:noFill/>
                    </a:lnL>
                    <a:lnR>
                      <a:noFill/>
                    </a:lnR>
                    <a:lnT>
                      <a:noFill/>
                    </a:lnT>
                    <a:lnB>
                      <a:noFill/>
                    </a:lnB>
                  </a:tcPr>
                </a:tc>
                <a:tc>
                  <a:txBody>
                    <a:bodyPr/>
                    <a:lstStyle/>
                    <a:p>
                      <a:pPr algn="l"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GB" sz="1100" b="0" i="1" u="none" strike="noStrike">
                          <a:solidFill>
                            <a:srgbClr val="000000"/>
                          </a:solidFill>
                          <a:latin typeface="Calibri"/>
                        </a:rPr>
                        <a:t>   Uzun Vadeli Borçlar</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latin typeface="Calibri"/>
                        </a:rPr>
                        <a:t>18</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latin typeface="Calibri"/>
                        </a:rPr>
                        <a:t>124</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latin typeface="Calibri"/>
                        </a:rPr>
                        <a:t>82</a:t>
                      </a:r>
                    </a:p>
                  </a:txBody>
                  <a:tcPr marL="7620" marR="7620" marT="7620" marB="0" anchor="b">
                    <a:lnL>
                      <a:noFill/>
                    </a:lnL>
                    <a:lnR>
                      <a:noFill/>
                    </a:lnR>
                    <a:lnT>
                      <a:noFill/>
                    </a:lnT>
                    <a:lnB>
                      <a:noFill/>
                    </a:lnB>
                  </a:tcPr>
                </a:tc>
                <a:extLst>
                  <a:ext uri="{0D108BD9-81ED-4DB2-BD59-A6C34878D82A}">
                    <a16:rowId xmlns:a16="http://schemas.microsoft.com/office/drawing/2014/main" val="10004"/>
                  </a:ext>
                </a:extLst>
              </a:tr>
              <a:tr h="492055">
                <a:tc>
                  <a:txBody>
                    <a:bodyPr/>
                    <a:lstStyle/>
                    <a:p>
                      <a:pPr algn="l"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r>
                        <a:rPr lang="en-GB" sz="1100" b="0" i="1" u="none" strike="noStrike">
                          <a:solidFill>
                            <a:srgbClr val="000000"/>
                          </a:solidFill>
                          <a:latin typeface="Calibri"/>
                        </a:rPr>
                        <a:t>   </a:t>
                      </a:r>
                      <a:r>
                        <a:rPr lang="en-GB" sz="1100" b="0" i="1" u="none" strike="noStrike" err="1">
                          <a:solidFill>
                            <a:srgbClr val="000000"/>
                          </a:solidFill>
                          <a:latin typeface="Calibri"/>
                        </a:rPr>
                        <a:t>Özkaynaklar</a:t>
                      </a:r>
                      <a:endParaRPr lang="en-GB" sz="1100" b="0" i="1"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latin typeface="Calibri"/>
                        </a:rPr>
                        <a:t>437</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latin typeface="Calibri"/>
                        </a:rPr>
                        <a:t>417</a:t>
                      </a:r>
                    </a:p>
                  </a:txBody>
                  <a:tcPr marL="7620" marR="7620" marT="7620" marB="0" anchor="b">
                    <a:lnL>
                      <a:noFill/>
                    </a:lnL>
                    <a:lnR>
                      <a:noFill/>
                    </a:lnR>
                    <a:lnT>
                      <a:noFill/>
                    </a:lnT>
                    <a:lnB>
                      <a:noFill/>
                    </a:lnB>
                  </a:tcPr>
                </a:tc>
                <a:tc>
                  <a:txBody>
                    <a:bodyPr/>
                    <a:lstStyle/>
                    <a:p>
                      <a:pPr algn="r" fontAlgn="b"/>
                      <a:r>
                        <a:rPr lang="en-GB" sz="1100" b="0" i="0" u="none" strike="noStrike">
                          <a:solidFill>
                            <a:srgbClr val="000000"/>
                          </a:solidFill>
                          <a:latin typeface="Calibri"/>
                        </a:rPr>
                        <a:t>427</a:t>
                      </a:r>
                    </a:p>
                  </a:txBody>
                  <a:tcPr marL="7620" marR="7620" marT="7620" marB="0" anchor="b">
                    <a:lnL>
                      <a:noFill/>
                    </a:lnL>
                    <a:lnR>
                      <a:noFill/>
                    </a:lnR>
                    <a:lnT>
                      <a:noFill/>
                    </a:lnT>
                    <a:lnB>
                      <a:noFill/>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219547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47</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899592" y="277813"/>
            <a:ext cx="8229600" cy="774700"/>
          </a:xfrm>
        </p:spPr>
        <p:txBody>
          <a:bodyPr/>
          <a:lstStyle/>
          <a:p>
            <a:r>
              <a:rPr lang="tr-TR" sz="3600"/>
              <a:t>Örnek – Pide A.Ş.  - Bilanço   </a:t>
            </a:r>
            <a:r>
              <a:rPr lang="tr-TR" sz="2800"/>
              <a:t>(Milyon TL)</a:t>
            </a:r>
          </a:p>
        </p:txBody>
      </p:sp>
      <p:graphicFrame>
        <p:nvGraphicFramePr>
          <p:cNvPr id="7" name="Group 123"/>
          <p:cNvGraphicFramePr>
            <a:graphicFrameLocks/>
          </p:cNvGraphicFramePr>
          <p:nvPr/>
        </p:nvGraphicFramePr>
        <p:xfrm>
          <a:off x="457200" y="1268760"/>
          <a:ext cx="8229600" cy="4854580"/>
        </p:xfrm>
        <a:graphic>
          <a:graphicData uri="http://schemas.openxmlformats.org/drawingml/2006/table">
            <a:tbl>
              <a:tblPr/>
              <a:tblGrid>
                <a:gridCol w="2322513">
                  <a:extLst>
                    <a:ext uri="{9D8B030D-6E8A-4147-A177-3AD203B41FA5}">
                      <a16:colId xmlns:a16="http://schemas.microsoft.com/office/drawing/2014/main" val="20000"/>
                    </a:ext>
                  </a:extLst>
                </a:gridCol>
                <a:gridCol w="641350">
                  <a:extLst>
                    <a:ext uri="{9D8B030D-6E8A-4147-A177-3AD203B41FA5}">
                      <a16:colId xmlns:a16="http://schemas.microsoft.com/office/drawing/2014/main" val="20001"/>
                    </a:ext>
                  </a:extLst>
                </a:gridCol>
                <a:gridCol w="642937">
                  <a:extLst>
                    <a:ext uri="{9D8B030D-6E8A-4147-A177-3AD203B41FA5}">
                      <a16:colId xmlns:a16="http://schemas.microsoft.com/office/drawing/2014/main" val="20002"/>
                    </a:ext>
                  </a:extLst>
                </a:gridCol>
                <a:gridCol w="642938">
                  <a:extLst>
                    <a:ext uri="{9D8B030D-6E8A-4147-A177-3AD203B41FA5}">
                      <a16:colId xmlns:a16="http://schemas.microsoft.com/office/drawing/2014/main" val="20003"/>
                    </a:ext>
                  </a:extLst>
                </a:gridCol>
                <a:gridCol w="2051050">
                  <a:extLst>
                    <a:ext uri="{9D8B030D-6E8A-4147-A177-3AD203B41FA5}">
                      <a16:colId xmlns:a16="http://schemas.microsoft.com/office/drawing/2014/main" val="20004"/>
                    </a:ext>
                  </a:extLst>
                </a:gridCol>
                <a:gridCol w="642937">
                  <a:extLst>
                    <a:ext uri="{9D8B030D-6E8A-4147-A177-3AD203B41FA5}">
                      <a16:colId xmlns:a16="http://schemas.microsoft.com/office/drawing/2014/main" val="20005"/>
                    </a:ext>
                  </a:extLst>
                </a:gridCol>
                <a:gridCol w="642938">
                  <a:extLst>
                    <a:ext uri="{9D8B030D-6E8A-4147-A177-3AD203B41FA5}">
                      <a16:colId xmlns:a16="http://schemas.microsoft.com/office/drawing/2014/main" val="20006"/>
                    </a:ext>
                  </a:extLst>
                </a:gridCol>
                <a:gridCol w="642937">
                  <a:extLst>
                    <a:ext uri="{9D8B030D-6E8A-4147-A177-3AD203B41FA5}">
                      <a16:colId xmlns:a16="http://schemas.microsoft.com/office/drawing/2014/main" val="20007"/>
                    </a:ext>
                  </a:extLst>
                </a:gridCol>
              </a:tblGrid>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Aktifler</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2010</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2011</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2012</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Pasifler</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2010</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2011</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2012</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Kasa</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6</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12</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8</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K</a:t>
                      </a:r>
                      <a:r>
                        <a:rPr kumimoji="0" lang="tr-TR" sz="1200" b="1" i="0" u="none" strike="noStrike" cap="none" normalizeH="0" baseline="0">
                          <a:ln>
                            <a:noFill/>
                          </a:ln>
                          <a:solidFill>
                            <a:schemeClr val="tx1"/>
                          </a:solidFill>
                          <a:effectLst/>
                          <a:latin typeface="Verdana" pitchFamily="34" charset="0"/>
                        </a:rPr>
                        <a:t>ı</a:t>
                      </a:r>
                      <a:r>
                        <a:rPr kumimoji="0" lang="tr-TR" sz="1200" b="1" i="0" u="none" strike="noStrike" cap="none" normalizeH="0" baseline="0">
                          <a:ln>
                            <a:noFill/>
                          </a:ln>
                          <a:solidFill>
                            <a:schemeClr val="tx1"/>
                          </a:solidFill>
                          <a:effectLst/>
                          <a:latin typeface="Verdana" pitchFamily="34" charset="0"/>
                          <a:cs typeface="Times New Roman" pitchFamily="18" charset="0"/>
                        </a:rPr>
                        <a:t>sa Vadeli Borçlar</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15</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22</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23</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Ticari alacaklar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44</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48</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56</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    Banka kredileri</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7</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14</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15</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Stoklar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52</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57</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72</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    U.</a:t>
                      </a:r>
                      <a:r>
                        <a:rPr kumimoji="0" lang="tr-TR" sz="1200" b="0" i="0" u="none" strike="noStrike" cap="none" normalizeH="0" baseline="0">
                          <a:ln>
                            <a:noFill/>
                          </a:ln>
                          <a:solidFill>
                            <a:schemeClr val="tx1"/>
                          </a:solidFill>
                          <a:effectLst/>
                          <a:latin typeface="Verdana" pitchFamily="34" charset="0"/>
                        </a:rPr>
                        <a:t>V</a:t>
                      </a:r>
                      <a:r>
                        <a:rPr kumimoji="0" lang="tr-TR" sz="1200" b="0" i="0" u="none" strike="noStrike" cap="none" normalizeH="0" baseline="0">
                          <a:ln>
                            <a:noFill/>
                          </a:ln>
                          <a:solidFill>
                            <a:schemeClr val="tx1"/>
                          </a:solidFill>
                          <a:effectLst/>
                          <a:latin typeface="Verdana" pitchFamily="34" charset="0"/>
                          <a:cs typeface="Times New Roman" pitchFamily="18" charset="0"/>
                        </a:rPr>
                        <a:t>. kredi taksitleri</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8</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8</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8</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Pe</a:t>
                      </a:r>
                      <a:r>
                        <a:rPr kumimoji="0" lang="tr-TR" sz="1200" b="0" i="0" u="none" strike="noStrike" cap="none" normalizeH="0" baseline="0">
                          <a:ln>
                            <a:noFill/>
                          </a:ln>
                          <a:solidFill>
                            <a:schemeClr val="tx1"/>
                          </a:solidFill>
                          <a:effectLst/>
                          <a:latin typeface="Verdana" pitchFamily="34" charset="0"/>
                        </a:rPr>
                        <a:t>ş</a:t>
                      </a:r>
                      <a:r>
                        <a:rPr kumimoji="0" lang="tr-TR" sz="1200" b="0" i="0" u="none" strike="noStrike" cap="none" normalizeH="0" baseline="0">
                          <a:ln>
                            <a:noFill/>
                          </a:ln>
                          <a:solidFill>
                            <a:schemeClr val="tx1"/>
                          </a:solidFill>
                          <a:effectLst/>
                          <a:latin typeface="Verdana" pitchFamily="34" charset="0"/>
                          <a:cs typeface="Times New Roman" pitchFamily="18" charset="0"/>
                        </a:rPr>
                        <a:t>in ödenen giderler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2</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2</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1</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Sat</a:t>
                      </a:r>
                      <a:r>
                        <a:rPr kumimoji="0" lang="tr-TR" sz="1200" b="0" i="0" u="none" strike="noStrike" cap="none" normalizeH="0" baseline="0">
                          <a:ln>
                            <a:noFill/>
                          </a:ln>
                          <a:solidFill>
                            <a:schemeClr val="tx1"/>
                          </a:solidFill>
                          <a:effectLst/>
                          <a:latin typeface="Verdana" pitchFamily="34" charset="0"/>
                        </a:rPr>
                        <a:t>ı</a:t>
                      </a:r>
                      <a:r>
                        <a:rPr kumimoji="0" lang="tr-TR" sz="1200" b="0" i="0" u="none" strike="noStrike" cap="none" normalizeH="0" baseline="0">
                          <a:ln>
                            <a:noFill/>
                          </a:ln>
                          <a:solidFill>
                            <a:schemeClr val="tx1"/>
                          </a:solidFill>
                          <a:effectLst/>
                          <a:latin typeface="Verdana" pitchFamily="34" charset="0"/>
                          <a:cs typeface="Times New Roman" pitchFamily="18" charset="0"/>
                        </a:rPr>
                        <a:t>c</a:t>
                      </a:r>
                      <a:r>
                        <a:rPr kumimoji="0" lang="tr-TR" sz="1200" b="0" i="0" u="none" strike="noStrike" cap="none" normalizeH="0" baseline="0">
                          <a:ln>
                            <a:noFill/>
                          </a:ln>
                          <a:solidFill>
                            <a:schemeClr val="tx1"/>
                          </a:solidFill>
                          <a:effectLst/>
                          <a:latin typeface="Verdana" pitchFamily="34" charset="0"/>
                        </a:rPr>
                        <a:t>ı</a:t>
                      </a:r>
                      <a:r>
                        <a:rPr kumimoji="0" lang="tr-TR" sz="1200" b="0" i="0" u="none" strike="noStrike" cap="none" normalizeH="0" baseline="0">
                          <a:ln>
                            <a:noFill/>
                          </a:ln>
                          <a:solidFill>
                            <a:schemeClr val="tx1"/>
                          </a:solidFill>
                          <a:effectLst/>
                          <a:latin typeface="Verdana" pitchFamily="34" charset="0"/>
                          <a:cs typeface="Times New Roman" pitchFamily="18" charset="0"/>
                        </a:rPr>
                        <a:t>lar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37</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40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48</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Dönen varl</a:t>
                      </a:r>
                      <a:r>
                        <a:rPr kumimoji="0" lang="tr-TR" sz="1200" b="1" i="0" u="none" strike="noStrike" cap="none" normalizeH="0" baseline="0">
                          <a:ln>
                            <a:noFill/>
                          </a:ln>
                          <a:solidFill>
                            <a:srgbClr val="0000FF"/>
                          </a:solidFill>
                          <a:effectLst/>
                          <a:latin typeface="Verdana" pitchFamily="34" charset="0"/>
                        </a:rPr>
                        <a:t>ı</a:t>
                      </a:r>
                      <a:r>
                        <a:rPr kumimoji="0" lang="tr-TR" sz="1200" b="1" i="0" u="none" strike="noStrike" cap="none" normalizeH="0" baseline="0">
                          <a:ln>
                            <a:noFill/>
                          </a:ln>
                          <a:solidFill>
                            <a:srgbClr val="0000FF"/>
                          </a:solidFill>
                          <a:effectLst/>
                          <a:latin typeface="Verdana" pitchFamily="34" charset="0"/>
                          <a:cs typeface="Times New Roman" pitchFamily="18" charset="0"/>
                        </a:rPr>
                        <a:t>klar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104</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119</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137</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Maa</a:t>
                      </a:r>
                      <a:r>
                        <a:rPr kumimoji="0" lang="tr-TR" sz="1200" b="0" i="0" u="none" strike="noStrike" cap="none" normalizeH="0" baseline="0">
                          <a:ln>
                            <a:noFill/>
                          </a:ln>
                          <a:solidFill>
                            <a:schemeClr val="tx1"/>
                          </a:solidFill>
                          <a:effectLst/>
                          <a:latin typeface="Verdana" pitchFamily="34" charset="0"/>
                        </a:rPr>
                        <a:t>ş</a:t>
                      </a:r>
                      <a:r>
                        <a:rPr kumimoji="0" lang="tr-TR" sz="1200" b="0" i="0" u="none" strike="noStrike" cap="none" normalizeH="0" baseline="0">
                          <a:ln>
                            <a:noFill/>
                          </a:ln>
                          <a:solidFill>
                            <a:schemeClr val="tx1"/>
                          </a:solidFill>
                          <a:effectLst/>
                          <a:latin typeface="Verdana" pitchFamily="34" charset="0"/>
                          <a:cs typeface="Times New Roman" pitchFamily="18" charset="0"/>
                        </a:rPr>
                        <a:t> ve vergi borçlar</a:t>
                      </a:r>
                      <a:r>
                        <a:rPr kumimoji="0" lang="tr-TR" sz="1200" b="0" i="0" u="none" strike="noStrike" cap="none" normalizeH="0" baseline="0">
                          <a:ln>
                            <a:noFill/>
                          </a:ln>
                          <a:solidFill>
                            <a:schemeClr val="tx1"/>
                          </a:solidFill>
                          <a:effectLst/>
                          <a:latin typeface="Verdana" pitchFamily="34" charset="0"/>
                        </a:rPr>
                        <a:t>ı</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2</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4</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4</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Finansal varl</a:t>
                      </a:r>
                      <a:r>
                        <a:rPr kumimoji="0" lang="tr-TR" sz="1200" b="0" i="0" u="none" strike="noStrike" cap="none" normalizeH="0" baseline="0">
                          <a:ln>
                            <a:noFill/>
                          </a:ln>
                          <a:solidFill>
                            <a:schemeClr val="tx1"/>
                          </a:solidFill>
                          <a:effectLst/>
                          <a:latin typeface="Verdana" pitchFamily="34" charset="0"/>
                        </a:rPr>
                        <a:t>ı</a:t>
                      </a:r>
                      <a:r>
                        <a:rPr kumimoji="0" lang="tr-TR" sz="1200" b="0" i="0" u="none" strike="noStrike" cap="none" normalizeH="0" baseline="0">
                          <a:ln>
                            <a:noFill/>
                          </a:ln>
                          <a:solidFill>
                            <a:schemeClr val="tx1"/>
                          </a:solidFill>
                          <a:effectLst/>
                          <a:latin typeface="Verdana" pitchFamily="34" charset="0"/>
                          <a:cs typeface="Times New Roman" pitchFamily="18" charset="0"/>
                        </a:rPr>
                        <a:t>klar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Toplam K.V. Borçlar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54</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66</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75</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Net maddi duran varl</a:t>
                      </a:r>
                      <a:r>
                        <a:rPr kumimoji="0" lang="tr-TR" sz="1200" b="1" i="0" u="none" strike="noStrike" cap="none" normalizeH="0" baseline="0">
                          <a:ln>
                            <a:noFill/>
                          </a:ln>
                          <a:solidFill>
                            <a:schemeClr val="tx1"/>
                          </a:solidFill>
                          <a:effectLst/>
                          <a:latin typeface="Verdana" pitchFamily="34" charset="0"/>
                        </a:rPr>
                        <a:t>ı</a:t>
                      </a:r>
                      <a:r>
                        <a:rPr kumimoji="0" lang="tr-TR" sz="1200" b="1" i="0" u="none" strike="noStrike" cap="none" normalizeH="0" baseline="0">
                          <a:ln>
                            <a:noFill/>
                          </a:ln>
                          <a:solidFill>
                            <a:schemeClr val="tx1"/>
                          </a:solidFill>
                          <a:effectLst/>
                          <a:latin typeface="Verdana" pitchFamily="34" charset="0"/>
                          <a:cs typeface="Times New Roman" pitchFamily="18" charset="0"/>
                        </a:rPr>
                        <a:t>klar</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56</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51</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53</a:t>
                      </a:r>
                      <a:endParaRPr kumimoji="0" lang="tr-TR" sz="18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Uzun vadeli banka kredileri</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42</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34</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38</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      Brüt maddi duran v.</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90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90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93</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Toplam U.V. Borçlar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42</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34</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38</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      Birikmi</a:t>
                      </a:r>
                      <a:r>
                        <a:rPr kumimoji="0" lang="tr-TR" sz="1200" b="0" i="0" u="none" strike="noStrike" cap="none" normalizeH="0" baseline="0">
                          <a:ln>
                            <a:noFill/>
                          </a:ln>
                          <a:solidFill>
                            <a:schemeClr val="tx1"/>
                          </a:solidFill>
                          <a:effectLst/>
                          <a:latin typeface="Verdana" pitchFamily="34" charset="0"/>
                        </a:rPr>
                        <a:t>ş</a:t>
                      </a:r>
                      <a:r>
                        <a:rPr kumimoji="0" lang="tr-TR" sz="1200" b="0" i="0" u="none" strike="noStrike" cap="none" normalizeH="0" baseline="0">
                          <a:ln>
                            <a:noFill/>
                          </a:ln>
                          <a:solidFill>
                            <a:schemeClr val="tx1"/>
                          </a:solidFill>
                          <a:effectLst/>
                          <a:latin typeface="Verdana" pitchFamily="34" charset="0"/>
                          <a:cs typeface="Times New Roman" pitchFamily="18" charset="0"/>
                        </a:rPr>
                        <a:t> amortisman</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(34)</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(39)</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Times New Roman" pitchFamily="18" charset="0"/>
                        </a:rPr>
                        <a:t>(40)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Özsermaye</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64</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70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77</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778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Duran varl</a:t>
                      </a:r>
                      <a:r>
                        <a:rPr kumimoji="0" lang="tr-TR" sz="1200" b="1" i="0" u="none" strike="noStrike" cap="none" normalizeH="0" baseline="0">
                          <a:ln>
                            <a:noFill/>
                          </a:ln>
                          <a:solidFill>
                            <a:srgbClr val="0000FF"/>
                          </a:solidFill>
                          <a:effectLst/>
                          <a:latin typeface="Verdana" pitchFamily="34" charset="0"/>
                        </a:rPr>
                        <a:t>ı</a:t>
                      </a:r>
                      <a:r>
                        <a:rPr kumimoji="0" lang="tr-TR" sz="1200" b="1" i="0" u="none" strike="noStrike" cap="none" normalizeH="0" baseline="0">
                          <a:ln>
                            <a:noFill/>
                          </a:ln>
                          <a:solidFill>
                            <a:srgbClr val="0000FF"/>
                          </a:solidFill>
                          <a:effectLst/>
                          <a:latin typeface="Verdana" pitchFamily="34" charset="0"/>
                          <a:cs typeface="Times New Roman" pitchFamily="18" charset="0"/>
                        </a:rPr>
                        <a:t>klar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56</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51</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FF"/>
                          </a:solidFill>
                          <a:effectLst/>
                          <a:latin typeface="Verdana" pitchFamily="34" charset="0"/>
                          <a:cs typeface="Times New Roman" pitchFamily="18" charset="0"/>
                        </a:rPr>
                        <a:t>53</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6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6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6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6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Toplam aktifler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160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170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190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Toplam pasifler</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160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170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Times New Roman" pitchFamily="18" charset="0"/>
                        </a:rPr>
                        <a:t>190</a:t>
                      </a: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8" name="TextBox 7"/>
          <p:cNvSpPr txBox="1"/>
          <p:nvPr/>
        </p:nvSpPr>
        <p:spPr>
          <a:xfrm>
            <a:off x="1043608" y="6300028"/>
            <a:ext cx="5138971" cy="369332"/>
          </a:xfrm>
          <a:prstGeom prst="rect">
            <a:avLst/>
          </a:prstGeom>
          <a:noFill/>
        </p:spPr>
        <p:txBody>
          <a:bodyPr wrap="none" rtlCol="0">
            <a:spAutoFit/>
          </a:bodyPr>
          <a:lstStyle/>
          <a:p>
            <a:r>
              <a:rPr lang="tr-TR" b="1"/>
              <a:t>Pide. A.Ş. yönetici bilançosunu hazırlayınız…</a:t>
            </a:r>
            <a:endParaRPr lang="en-GB" b="1"/>
          </a:p>
        </p:txBody>
      </p:sp>
    </p:spTree>
    <p:extLst>
      <p:ext uri="{BB962C8B-B14F-4D97-AF65-F5344CB8AC3E}">
        <p14:creationId xmlns:p14="http://schemas.microsoft.com/office/powerpoint/2010/main" val="298005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10" dur="1000" fill="hold"/>
                                        <p:tgtEl>
                                          <p:spTgt spid="8"/>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48</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590872" y="-99392"/>
            <a:ext cx="8229600" cy="774700"/>
          </a:xfrm>
        </p:spPr>
        <p:txBody>
          <a:bodyPr/>
          <a:lstStyle/>
          <a:p>
            <a:r>
              <a:rPr lang="tr-TR" sz="3600"/>
              <a:t>Konsept Çalışması: </a:t>
            </a:r>
            <a:br>
              <a:rPr lang="tr-TR" sz="3600"/>
            </a:br>
            <a:r>
              <a:rPr lang="tr-TR" sz="3600"/>
              <a:t>Pide A.Ş. - Yönetici Bilançosu</a:t>
            </a:r>
          </a:p>
        </p:txBody>
      </p:sp>
      <p:graphicFrame>
        <p:nvGraphicFramePr>
          <p:cNvPr id="7" name="Group 149"/>
          <p:cNvGraphicFramePr>
            <a:graphicFrameLocks noGrp="1"/>
          </p:cNvGraphicFramePr>
          <p:nvPr>
            <p:ph idx="4294967295"/>
          </p:nvPr>
        </p:nvGraphicFramePr>
        <p:xfrm>
          <a:off x="1476375" y="1557338"/>
          <a:ext cx="6335713" cy="4143376"/>
        </p:xfrm>
        <a:graphic>
          <a:graphicData uri="http://schemas.openxmlformats.org/drawingml/2006/table">
            <a:tbl>
              <a:tblPr/>
              <a:tblGrid>
                <a:gridCol w="2770188">
                  <a:extLst>
                    <a:ext uri="{9D8B030D-6E8A-4147-A177-3AD203B41FA5}">
                      <a16:colId xmlns:a16="http://schemas.microsoft.com/office/drawing/2014/main" val="20000"/>
                    </a:ext>
                  </a:extLst>
                </a:gridCol>
                <a:gridCol w="1189037">
                  <a:extLst>
                    <a:ext uri="{9D8B030D-6E8A-4147-A177-3AD203B41FA5}">
                      <a16:colId xmlns:a16="http://schemas.microsoft.com/office/drawing/2014/main" val="20001"/>
                    </a:ext>
                  </a:extLst>
                </a:gridCol>
                <a:gridCol w="1189038">
                  <a:extLst>
                    <a:ext uri="{9D8B030D-6E8A-4147-A177-3AD203B41FA5}">
                      <a16:colId xmlns:a16="http://schemas.microsoft.com/office/drawing/2014/main" val="20002"/>
                    </a:ext>
                  </a:extLst>
                </a:gridCol>
                <a:gridCol w="1187450">
                  <a:extLst>
                    <a:ext uri="{9D8B030D-6E8A-4147-A177-3AD203B41FA5}">
                      <a16:colId xmlns:a16="http://schemas.microsoft.com/office/drawing/2014/main" val="20003"/>
                    </a:ext>
                  </a:extLst>
                </a:gridCol>
              </a:tblGrid>
              <a:tr h="28098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Arial" charset="0"/>
                        </a:rPr>
                        <a:t> </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Arial" charset="0"/>
                        </a:rPr>
                        <a:t>2010</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Arial" charset="0"/>
                        </a:rPr>
                        <a:t>2011</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Arial" charset="0"/>
                        </a:rPr>
                        <a:t>2012</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36512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Arial" charset="0"/>
                        </a:rPr>
                        <a:t>Yatırılan Sermaye</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Arial" charset="0"/>
                        </a:rPr>
                        <a:t> </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28098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Arial" charset="0"/>
                        </a:rPr>
                        <a:t>Nakit</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28098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Arial" charset="0"/>
                        </a:rPr>
                        <a:t>İşletme sermayesi</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28098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Arial" charset="0"/>
                        </a:rPr>
                        <a:t>Duran varlıklar</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279400">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3667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Arial" charset="0"/>
                        </a:rPr>
                        <a:t> </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36353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Arial" charset="0"/>
                        </a:rPr>
                        <a:t>Kullanılan Sermaye</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28098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Arial" charset="0"/>
                        </a:rPr>
                        <a:t>Kısa vadeli borçlar</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28098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Arial" charset="0"/>
                        </a:rPr>
                        <a:t>Uzun vadeli kaynaklar</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9"/>
                  </a:ext>
                </a:extLst>
              </a:tr>
              <a:tr h="2794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Arial" charset="0"/>
                        </a:rPr>
                        <a:t>   Uzun vadeli borçlar</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10"/>
                  </a:ext>
                </a:extLst>
              </a:tr>
              <a:tr h="28098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Arial" charset="0"/>
                        </a:rPr>
                        <a:t>   Özsermaye</a:t>
                      </a: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11"/>
                  </a:ext>
                </a:extLst>
              </a:tr>
              <a:tr h="280988">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4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64606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253EBC17-2353-44E3-A7B2-2E452FF28043}"/>
              </a:ext>
            </a:extLst>
          </p:cNvPr>
          <p:cNvSpPr>
            <a:spLocks noGrp="1"/>
          </p:cNvSpPr>
          <p:nvPr>
            <p:ph idx="10"/>
          </p:nvPr>
        </p:nvSpPr>
        <p:spPr>
          <a:xfrm>
            <a:off x="395536" y="1284807"/>
            <a:ext cx="8604956" cy="5390059"/>
          </a:xfrm>
        </p:spPr>
        <p:txBody>
          <a:bodyPr/>
          <a:lstStyle/>
          <a:p>
            <a:r>
              <a:rPr lang="tr-TR" sz="2800" dirty="0">
                <a:latin typeface="+mj-lt"/>
              </a:rPr>
              <a:t>Borçluluk Rasyoları</a:t>
            </a:r>
            <a:endParaRPr lang="tr-TR" sz="2800" b="0" dirty="0">
              <a:solidFill>
                <a:srgbClr val="0C0000"/>
              </a:solidFill>
              <a:latin typeface="+mj-lt"/>
            </a:endParaRPr>
          </a:p>
          <a:p>
            <a:r>
              <a:rPr lang="tr-TR" sz="2800" b="0" dirty="0">
                <a:solidFill>
                  <a:srgbClr val="0C0000"/>
                </a:solidFill>
                <a:latin typeface="+mj-lt"/>
              </a:rPr>
              <a:t>Toplam Borç/Özsermaye</a:t>
            </a:r>
          </a:p>
          <a:p>
            <a:endParaRPr lang="tr-TR" sz="1200" b="0" dirty="0">
              <a:solidFill>
                <a:srgbClr val="0C0000"/>
              </a:solidFill>
              <a:latin typeface="+mj-lt"/>
            </a:endParaRPr>
          </a:p>
          <a:p>
            <a:r>
              <a:rPr lang="tr-TR" sz="2800" b="0" dirty="0">
                <a:solidFill>
                  <a:srgbClr val="0C0000"/>
                </a:solidFill>
                <a:latin typeface="+mj-lt"/>
              </a:rPr>
              <a:t>Finansal Borç/Özsermaye</a:t>
            </a:r>
          </a:p>
          <a:p>
            <a:r>
              <a:rPr lang="tr-TR" sz="2800" b="0" dirty="0">
                <a:solidFill>
                  <a:srgbClr val="0C0000"/>
                </a:solidFill>
                <a:latin typeface="+mj-lt"/>
              </a:rPr>
              <a:t>= Kısa ve Uzun V. Finansal Borç / Özsermaye</a:t>
            </a:r>
          </a:p>
          <a:p>
            <a:endParaRPr lang="tr-TR" sz="1200" b="0" dirty="0">
              <a:solidFill>
                <a:srgbClr val="0C0000"/>
              </a:solidFill>
              <a:latin typeface="+mj-lt"/>
            </a:endParaRPr>
          </a:p>
          <a:p>
            <a:r>
              <a:rPr lang="tr-TR" sz="2800" b="0" dirty="0">
                <a:solidFill>
                  <a:srgbClr val="0C0000"/>
                </a:solidFill>
                <a:latin typeface="+mj-lt"/>
              </a:rPr>
              <a:t>Net Borç/Özsermaye </a:t>
            </a:r>
          </a:p>
          <a:p>
            <a:r>
              <a:rPr lang="tr-TR" sz="2800" b="0" dirty="0">
                <a:solidFill>
                  <a:srgbClr val="0C0000"/>
                </a:solidFill>
                <a:latin typeface="+mj-lt"/>
              </a:rPr>
              <a:t>= (Finansal Borç – Nakit) / Özsermaye</a:t>
            </a:r>
          </a:p>
          <a:p>
            <a:endParaRPr lang="tr-TR" sz="1200" b="0" dirty="0">
              <a:solidFill>
                <a:srgbClr val="0C0000"/>
              </a:solidFill>
              <a:latin typeface="+mj-lt"/>
            </a:endParaRPr>
          </a:p>
          <a:p>
            <a:r>
              <a:rPr lang="tr-TR" sz="2800" b="0" dirty="0">
                <a:solidFill>
                  <a:srgbClr val="0C0000"/>
                </a:solidFill>
                <a:latin typeface="+mj-lt"/>
              </a:rPr>
              <a:t>Eğer özsermaye erimiş ve şirket halka açıksa:</a:t>
            </a:r>
          </a:p>
          <a:p>
            <a:pPr lvl="1"/>
            <a:r>
              <a:rPr lang="tr-TR" sz="2800" b="0" dirty="0">
                <a:solidFill>
                  <a:srgbClr val="0C0000"/>
                </a:solidFill>
                <a:latin typeface="+mj-lt"/>
              </a:rPr>
              <a:t>Özsermaye yerine Piyasa Değeri (MCAP)</a:t>
            </a:r>
          </a:p>
        </p:txBody>
      </p:sp>
      <p:sp>
        <p:nvSpPr>
          <p:cNvPr id="5" name="Unvan 2">
            <a:extLst>
              <a:ext uri="{FF2B5EF4-FFF2-40B4-BE49-F238E27FC236}">
                <a16:creationId xmlns:a16="http://schemas.microsoft.com/office/drawing/2014/main" id="{99F83D43-CFCA-48C0-B8CC-EE45E61BECF4}"/>
              </a:ext>
            </a:extLst>
          </p:cNvPr>
          <p:cNvSpPr txBox="1">
            <a:spLocks/>
          </p:cNvSpPr>
          <p:nvPr/>
        </p:nvSpPr>
        <p:spPr>
          <a:xfrm>
            <a:off x="383232" y="188640"/>
            <a:ext cx="8229600" cy="1143000"/>
          </a:xfrm>
          <a:prstGeom prst="rect">
            <a:avLst/>
          </a:prstGeom>
        </p:spPr>
        <p:txBody>
          <a:bodyPr/>
          <a:lst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tr-TR" sz="4000"/>
              <a:t>Finansal Durum Analizi</a:t>
            </a:r>
          </a:p>
        </p:txBody>
      </p:sp>
      <p:sp>
        <p:nvSpPr>
          <p:cNvPr id="6" name="Slide Number Placeholder 4">
            <a:extLst>
              <a:ext uri="{FF2B5EF4-FFF2-40B4-BE49-F238E27FC236}">
                <a16:creationId xmlns:a16="http://schemas.microsoft.com/office/drawing/2014/main" id="{35EAC620-4076-41D8-91F9-46132389D40A}"/>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49</a:t>
            </a:fld>
            <a:endParaRPr lang="tr-TR" sz="1200">
              <a:solidFill>
                <a:schemeClr val="tx2"/>
              </a:solidFill>
              <a:latin typeface="Verdana" pitchFamily="34" charset="0"/>
            </a:endParaRPr>
          </a:p>
        </p:txBody>
      </p:sp>
      <p:pic>
        <p:nvPicPr>
          <p:cNvPr id="7" name="Picture 6">
            <a:extLst>
              <a:ext uri="{FF2B5EF4-FFF2-40B4-BE49-F238E27FC236}">
                <a16:creationId xmlns:a16="http://schemas.microsoft.com/office/drawing/2014/main" id="{05D73660-7FD0-4198-9AB2-55E309E7F1B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5405031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AFEE6-3C90-84A3-0C74-3B551AD8AE99}"/>
            </a:ext>
          </a:extLst>
        </p:cNvPr>
        <p:cNvGrpSpPr/>
        <p:nvPr/>
      </p:nvGrpSpPr>
      <p:grpSpPr>
        <a:xfrm>
          <a:off x="0" y="0"/>
          <a:ext cx="0" cy="0"/>
          <a:chOff x="0" y="0"/>
          <a:chExt cx="0" cy="0"/>
        </a:xfrm>
      </p:grpSpPr>
      <p:sp>
        <p:nvSpPr>
          <p:cNvPr id="3" name="Unvan 2">
            <a:extLst>
              <a:ext uri="{FF2B5EF4-FFF2-40B4-BE49-F238E27FC236}">
                <a16:creationId xmlns:a16="http://schemas.microsoft.com/office/drawing/2014/main" id="{AE1436A4-4883-3720-259F-89712E85FF64}"/>
              </a:ext>
            </a:extLst>
          </p:cNvPr>
          <p:cNvSpPr>
            <a:spLocks noGrp="1"/>
          </p:cNvSpPr>
          <p:nvPr>
            <p:ph type="title"/>
          </p:nvPr>
        </p:nvSpPr>
        <p:spPr/>
        <p:txBody>
          <a:bodyPr/>
          <a:lstStyle/>
          <a:p>
            <a:r>
              <a:rPr lang="tr-TR" sz="4000" dirty="0"/>
              <a:t>Tüm Firmalar</a:t>
            </a:r>
          </a:p>
        </p:txBody>
      </p:sp>
      <p:sp>
        <p:nvSpPr>
          <p:cNvPr id="5" name="Slide Number Placeholder 4">
            <a:extLst>
              <a:ext uri="{FF2B5EF4-FFF2-40B4-BE49-F238E27FC236}">
                <a16:creationId xmlns:a16="http://schemas.microsoft.com/office/drawing/2014/main" id="{5D6D5FF1-84B1-F109-3C73-CA947A98C765}"/>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50</a:t>
            </a:fld>
            <a:endParaRPr lang="tr-TR" sz="1200">
              <a:solidFill>
                <a:schemeClr val="tx2"/>
              </a:solidFill>
              <a:latin typeface="Verdana" pitchFamily="34" charset="0"/>
            </a:endParaRPr>
          </a:p>
        </p:txBody>
      </p:sp>
      <p:pic>
        <p:nvPicPr>
          <p:cNvPr id="7" name="Picture 6">
            <a:extLst>
              <a:ext uri="{FF2B5EF4-FFF2-40B4-BE49-F238E27FC236}">
                <a16:creationId xmlns:a16="http://schemas.microsoft.com/office/drawing/2014/main" id="{A3B8E5C9-5F25-BD61-68EC-CFFC096513A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8" name="TextBox 7">
            <a:extLst>
              <a:ext uri="{FF2B5EF4-FFF2-40B4-BE49-F238E27FC236}">
                <a16:creationId xmlns:a16="http://schemas.microsoft.com/office/drawing/2014/main" id="{914B6874-1466-38C4-C8FE-5BA9EB50A402}"/>
              </a:ext>
            </a:extLst>
          </p:cNvPr>
          <p:cNvSpPr txBox="1"/>
          <p:nvPr/>
        </p:nvSpPr>
        <p:spPr>
          <a:xfrm>
            <a:off x="1475656" y="5445225"/>
            <a:ext cx="3744416" cy="276999"/>
          </a:xfrm>
          <a:prstGeom prst="rect">
            <a:avLst/>
          </a:prstGeom>
          <a:noFill/>
        </p:spPr>
        <p:txBody>
          <a:bodyPr wrap="square" rtlCol="0">
            <a:spAutoFit/>
          </a:bodyPr>
          <a:lstStyle/>
          <a:p>
            <a:r>
              <a:rPr lang="tr-TR" sz="1200" kern="1200" dirty="0">
                <a:solidFill>
                  <a:schemeClr val="tx1"/>
                </a:solidFill>
                <a:latin typeface="Arial" charset="0"/>
                <a:ea typeface="+mn-ea"/>
                <a:cs typeface="+mn-cs"/>
              </a:rPr>
              <a:t>Kaynak: TCMB Sektör Bilançoları</a:t>
            </a:r>
            <a:endParaRPr lang="en-US" sz="1200" kern="1200" dirty="0">
              <a:solidFill>
                <a:schemeClr val="tx1"/>
              </a:solidFill>
              <a:latin typeface="Arial" charset="0"/>
              <a:ea typeface="+mn-ea"/>
              <a:cs typeface="+mn-cs"/>
            </a:endParaRPr>
          </a:p>
        </p:txBody>
      </p:sp>
      <p:pic>
        <p:nvPicPr>
          <p:cNvPr id="9" name="Picture 8">
            <a:extLst>
              <a:ext uri="{FF2B5EF4-FFF2-40B4-BE49-F238E27FC236}">
                <a16:creationId xmlns:a16="http://schemas.microsoft.com/office/drawing/2014/main" id="{1CA1A0FF-D246-18A6-BFC9-F8C519C1034B}"/>
              </a:ext>
            </a:extLst>
          </p:cNvPr>
          <p:cNvPicPr>
            <a:picLocks noChangeAspect="1"/>
          </p:cNvPicPr>
          <p:nvPr/>
        </p:nvPicPr>
        <p:blipFill>
          <a:blip r:embed="rId3"/>
          <a:stretch>
            <a:fillRect/>
          </a:stretch>
        </p:blipFill>
        <p:spPr>
          <a:xfrm>
            <a:off x="282314" y="2061053"/>
            <a:ext cx="8682174" cy="2952123"/>
          </a:xfrm>
          <a:prstGeom prst="rect">
            <a:avLst/>
          </a:prstGeom>
        </p:spPr>
      </p:pic>
    </p:spTree>
    <p:extLst>
      <p:ext uri="{BB962C8B-B14F-4D97-AF65-F5344CB8AC3E}">
        <p14:creationId xmlns:p14="http://schemas.microsoft.com/office/powerpoint/2010/main" val="28573204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van 2">
            <a:extLst>
              <a:ext uri="{FF2B5EF4-FFF2-40B4-BE49-F238E27FC236}">
                <a16:creationId xmlns:a16="http://schemas.microsoft.com/office/drawing/2014/main" id="{99F83D43-CFCA-48C0-B8CC-EE45E61BECF4}"/>
              </a:ext>
            </a:extLst>
          </p:cNvPr>
          <p:cNvSpPr>
            <a:spLocks noGrp="1"/>
          </p:cNvSpPr>
          <p:nvPr>
            <p:ph type="title"/>
          </p:nvPr>
        </p:nvSpPr>
        <p:spPr/>
        <p:txBody>
          <a:bodyPr/>
          <a:lstStyle/>
          <a:p>
            <a:r>
              <a:rPr lang="tr-TR" sz="4000"/>
              <a:t>Borçluluk Rasyoları</a:t>
            </a:r>
          </a:p>
        </p:txBody>
      </p:sp>
      <p:sp>
        <p:nvSpPr>
          <p:cNvPr id="5" name="Slide Number Placeholder 4">
            <a:extLst>
              <a:ext uri="{FF2B5EF4-FFF2-40B4-BE49-F238E27FC236}">
                <a16:creationId xmlns:a16="http://schemas.microsoft.com/office/drawing/2014/main" id="{CD3A5D14-67E9-461A-9423-D8679E4DE78C}"/>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51</a:t>
            </a:fld>
            <a:endParaRPr lang="tr-TR" sz="1200">
              <a:solidFill>
                <a:schemeClr val="tx2"/>
              </a:solidFill>
              <a:latin typeface="Verdana" pitchFamily="34" charset="0"/>
            </a:endParaRPr>
          </a:p>
        </p:txBody>
      </p:sp>
      <p:pic>
        <p:nvPicPr>
          <p:cNvPr id="7" name="Picture 6">
            <a:extLst>
              <a:ext uri="{FF2B5EF4-FFF2-40B4-BE49-F238E27FC236}">
                <a16:creationId xmlns:a16="http://schemas.microsoft.com/office/drawing/2014/main" id="{64B91CB2-AA85-46C1-BFD8-0742856BDAE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pic>
        <p:nvPicPr>
          <p:cNvPr id="6" name="Picture 5">
            <a:extLst>
              <a:ext uri="{FF2B5EF4-FFF2-40B4-BE49-F238E27FC236}">
                <a16:creationId xmlns:a16="http://schemas.microsoft.com/office/drawing/2014/main" id="{4A9BB574-1F95-A497-1397-D86E47F7807E}"/>
              </a:ext>
            </a:extLst>
          </p:cNvPr>
          <p:cNvPicPr>
            <a:picLocks noChangeAspect="1"/>
          </p:cNvPicPr>
          <p:nvPr/>
        </p:nvPicPr>
        <p:blipFill>
          <a:blip r:embed="rId3"/>
          <a:stretch>
            <a:fillRect/>
          </a:stretch>
        </p:blipFill>
        <p:spPr>
          <a:xfrm>
            <a:off x="1590468" y="1772816"/>
            <a:ext cx="6005868" cy="3610706"/>
          </a:xfrm>
          <a:prstGeom prst="rect">
            <a:avLst/>
          </a:prstGeom>
        </p:spPr>
      </p:pic>
      <p:sp>
        <p:nvSpPr>
          <p:cNvPr id="8" name="TextBox 7">
            <a:extLst>
              <a:ext uri="{FF2B5EF4-FFF2-40B4-BE49-F238E27FC236}">
                <a16:creationId xmlns:a16="http://schemas.microsoft.com/office/drawing/2014/main" id="{0B686632-BF55-B123-3BFC-298E5FF00466}"/>
              </a:ext>
            </a:extLst>
          </p:cNvPr>
          <p:cNvSpPr txBox="1"/>
          <p:nvPr/>
        </p:nvSpPr>
        <p:spPr>
          <a:xfrm>
            <a:off x="1475656" y="5445225"/>
            <a:ext cx="3744416" cy="276999"/>
          </a:xfrm>
          <a:prstGeom prst="rect">
            <a:avLst/>
          </a:prstGeom>
          <a:noFill/>
        </p:spPr>
        <p:txBody>
          <a:bodyPr wrap="square" rtlCol="0">
            <a:spAutoFit/>
          </a:bodyPr>
          <a:lstStyle/>
          <a:p>
            <a:r>
              <a:rPr lang="tr-TR" sz="1200" kern="1200" dirty="0">
                <a:solidFill>
                  <a:schemeClr val="tx1"/>
                </a:solidFill>
                <a:latin typeface="Arial" charset="0"/>
                <a:ea typeface="+mn-ea"/>
                <a:cs typeface="+mn-cs"/>
              </a:rPr>
              <a:t>Kaynak: TCMB Sektör Bilançoları</a:t>
            </a:r>
            <a:endParaRPr lang="en-US" sz="1200" kern="1200" dirty="0">
              <a:solidFill>
                <a:schemeClr val="tx1"/>
              </a:solidFill>
              <a:latin typeface="Arial" charset="0"/>
              <a:ea typeface="+mn-ea"/>
              <a:cs typeface="+mn-cs"/>
            </a:endParaRPr>
          </a:p>
        </p:txBody>
      </p:sp>
    </p:spTree>
    <p:extLst>
      <p:ext uri="{BB962C8B-B14F-4D97-AF65-F5344CB8AC3E}">
        <p14:creationId xmlns:p14="http://schemas.microsoft.com/office/powerpoint/2010/main" val="8878440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van 2">
            <a:extLst>
              <a:ext uri="{FF2B5EF4-FFF2-40B4-BE49-F238E27FC236}">
                <a16:creationId xmlns:a16="http://schemas.microsoft.com/office/drawing/2014/main" id="{99F83D43-CFCA-48C0-B8CC-EE45E61BECF4}"/>
              </a:ext>
            </a:extLst>
          </p:cNvPr>
          <p:cNvSpPr>
            <a:spLocks noGrp="1"/>
          </p:cNvSpPr>
          <p:nvPr>
            <p:ph type="title"/>
          </p:nvPr>
        </p:nvSpPr>
        <p:spPr/>
        <p:txBody>
          <a:bodyPr/>
          <a:lstStyle/>
          <a:p>
            <a:r>
              <a:rPr lang="tr-TR" sz="4000"/>
              <a:t>Borçluluk Rasyoları</a:t>
            </a:r>
          </a:p>
        </p:txBody>
      </p:sp>
      <p:sp>
        <p:nvSpPr>
          <p:cNvPr id="10" name="Metin kutusu 9">
            <a:extLst>
              <a:ext uri="{FF2B5EF4-FFF2-40B4-BE49-F238E27FC236}">
                <a16:creationId xmlns:a16="http://schemas.microsoft.com/office/drawing/2014/main" id="{E2A0BB48-DC32-4137-BA56-C743F0D6004F}"/>
              </a:ext>
            </a:extLst>
          </p:cNvPr>
          <p:cNvSpPr txBox="1"/>
          <p:nvPr/>
        </p:nvSpPr>
        <p:spPr>
          <a:xfrm>
            <a:off x="2339752" y="2204864"/>
            <a:ext cx="4297010" cy="369332"/>
          </a:xfrm>
          <a:prstGeom prst="rect">
            <a:avLst/>
          </a:prstGeom>
          <a:noFill/>
        </p:spPr>
        <p:txBody>
          <a:bodyPr wrap="none" rtlCol="0">
            <a:spAutoFit/>
          </a:bodyPr>
          <a:lstStyle/>
          <a:p>
            <a:r>
              <a:rPr lang="tr-TR" b="1" dirty="0"/>
              <a:t>Türkiye’nin en büyük 6</a:t>
            </a:r>
            <a:r>
              <a:rPr lang="en-US" b="1" dirty="0"/>
              <a:t>0</a:t>
            </a:r>
            <a:r>
              <a:rPr lang="tr-TR" b="1" dirty="0"/>
              <a:t> MCAP şirketi</a:t>
            </a:r>
          </a:p>
        </p:txBody>
      </p:sp>
      <p:sp>
        <p:nvSpPr>
          <p:cNvPr id="7" name="Slide Number Placeholder 4">
            <a:extLst>
              <a:ext uri="{FF2B5EF4-FFF2-40B4-BE49-F238E27FC236}">
                <a16:creationId xmlns:a16="http://schemas.microsoft.com/office/drawing/2014/main" id="{F1960C1C-C577-4BDD-BB20-4FF3E19E9CC9}"/>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52</a:t>
            </a:fld>
            <a:endParaRPr lang="tr-TR" sz="1200">
              <a:solidFill>
                <a:schemeClr val="tx2"/>
              </a:solidFill>
              <a:latin typeface="Verdana" pitchFamily="34" charset="0"/>
            </a:endParaRPr>
          </a:p>
        </p:txBody>
      </p:sp>
      <p:pic>
        <p:nvPicPr>
          <p:cNvPr id="8" name="Picture 7">
            <a:extLst>
              <a:ext uri="{FF2B5EF4-FFF2-40B4-BE49-F238E27FC236}">
                <a16:creationId xmlns:a16="http://schemas.microsoft.com/office/drawing/2014/main" id="{54E08017-9E90-4592-8624-0782C85F91B1}"/>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pic>
        <p:nvPicPr>
          <p:cNvPr id="2" name="Picture 1">
            <a:extLst>
              <a:ext uri="{FF2B5EF4-FFF2-40B4-BE49-F238E27FC236}">
                <a16:creationId xmlns:a16="http://schemas.microsoft.com/office/drawing/2014/main" id="{46AB3903-45DB-2E5C-778E-2A480D45A584}"/>
              </a:ext>
            </a:extLst>
          </p:cNvPr>
          <p:cNvPicPr>
            <a:picLocks noChangeAspect="1"/>
          </p:cNvPicPr>
          <p:nvPr/>
        </p:nvPicPr>
        <p:blipFill>
          <a:blip r:embed="rId3"/>
          <a:stretch>
            <a:fillRect/>
          </a:stretch>
        </p:blipFill>
        <p:spPr>
          <a:xfrm>
            <a:off x="107504" y="3045479"/>
            <a:ext cx="8923694" cy="1319625"/>
          </a:xfrm>
          <a:prstGeom prst="rect">
            <a:avLst/>
          </a:prstGeom>
        </p:spPr>
      </p:pic>
    </p:spTree>
    <p:extLst>
      <p:ext uri="{BB962C8B-B14F-4D97-AF65-F5344CB8AC3E}">
        <p14:creationId xmlns:p14="http://schemas.microsoft.com/office/powerpoint/2010/main" val="744450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F9EF6169-DAA7-4EEE-8655-6C0B920615E4}"/>
              </a:ext>
            </a:extLst>
          </p:cNvPr>
          <p:cNvSpPr>
            <a:spLocks noGrp="1"/>
          </p:cNvSpPr>
          <p:nvPr>
            <p:ph idx="10"/>
          </p:nvPr>
        </p:nvSpPr>
        <p:spPr>
          <a:xfrm>
            <a:off x="323528" y="1124744"/>
            <a:ext cx="8496944" cy="3960440"/>
          </a:xfrm>
        </p:spPr>
        <p:txBody>
          <a:bodyPr/>
          <a:lstStyle/>
          <a:p>
            <a:r>
              <a:rPr lang="tr-TR" sz="2800">
                <a:latin typeface="+mj-lt"/>
              </a:rPr>
              <a:t>Ödeme Gücü</a:t>
            </a:r>
          </a:p>
          <a:p>
            <a:r>
              <a:rPr lang="tr-TR" sz="2400" b="0">
                <a:solidFill>
                  <a:srgbClr val="0C0000"/>
                </a:solidFill>
                <a:latin typeface="+mj-lt"/>
              </a:rPr>
              <a:t>Bir şirket borçlarını yarattığı nakit faaliyet karından, yani FAVÖK ile, ödeyecektir.</a:t>
            </a:r>
          </a:p>
          <a:p>
            <a:endParaRPr lang="tr-TR" sz="2400" b="0">
              <a:solidFill>
                <a:srgbClr val="0C0000"/>
              </a:solidFill>
              <a:latin typeface="+mj-lt"/>
            </a:endParaRPr>
          </a:p>
          <a:p>
            <a:r>
              <a:rPr lang="tr-TR" sz="2400" b="0">
                <a:solidFill>
                  <a:srgbClr val="0C0000"/>
                </a:solidFill>
                <a:latin typeface="+mj-lt"/>
              </a:rPr>
              <a:t>= Net Borç / FAVÖK</a:t>
            </a:r>
          </a:p>
          <a:p>
            <a:endParaRPr lang="tr-TR" sz="2400" b="0">
              <a:solidFill>
                <a:srgbClr val="0C0000"/>
              </a:solidFill>
              <a:latin typeface="+mj-lt"/>
            </a:endParaRPr>
          </a:p>
          <a:p>
            <a:r>
              <a:rPr lang="tr-TR" sz="2400" b="0">
                <a:solidFill>
                  <a:srgbClr val="0C0000"/>
                </a:solidFill>
                <a:latin typeface="+mj-lt"/>
              </a:rPr>
              <a:t>Neyi cevaplar: Bir şirket kaç yıllık FAVÖK ile borcunu ödeyebilir?</a:t>
            </a:r>
            <a:endParaRPr lang="tr-TR" sz="2800" b="0">
              <a:solidFill>
                <a:srgbClr val="0C0000"/>
              </a:solidFill>
              <a:latin typeface="+mj-lt"/>
            </a:endParaRPr>
          </a:p>
        </p:txBody>
      </p:sp>
      <p:sp>
        <p:nvSpPr>
          <p:cNvPr id="3" name="Unvan 2">
            <a:extLst>
              <a:ext uri="{FF2B5EF4-FFF2-40B4-BE49-F238E27FC236}">
                <a16:creationId xmlns:a16="http://schemas.microsoft.com/office/drawing/2014/main" id="{79A2316F-23F2-4AB3-86BA-9C3A01017C33}"/>
              </a:ext>
            </a:extLst>
          </p:cNvPr>
          <p:cNvSpPr>
            <a:spLocks noGrp="1"/>
          </p:cNvSpPr>
          <p:nvPr>
            <p:ph type="title"/>
          </p:nvPr>
        </p:nvSpPr>
        <p:spPr/>
        <p:txBody>
          <a:bodyPr/>
          <a:lstStyle/>
          <a:p>
            <a:r>
              <a:rPr lang="tr-TR" sz="4000"/>
              <a:t>Finansal Durum Analizi</a:t>
            </a:r>
          </a:p>
        </p:txBody>
      </p:sp>
      <p:sp>
        <p:nvSpPr>
          <p:cNvPr id="7" name="Metin kutusu 9">
            <a:extLst>
              <a:ext uri="{FF2B5EF4-FFF2-40B4-BE49-F238E27FC236}">
                <a16:creationId xmlns:a16="http://schemas.microsoft.com/office/drawing/2014/main" id="{E2A0BB48-DC32-4137-BA56-C743F0D6004F}"/>
              </a:ext>
            </a:extLst>
          </p:cNvPr>
          <p:cNvSpPr txBox="1"/>
          <p:nvPr/>
        </p:nvSpPr>
        <p:spPr>
          <a:xfrm>
            <a:off x="2363222" y="5075892"/>
            <a:ext cx="4297010" cy="369332"/>
          </a:xfrm>
          <a:prstGeom prst="rect">
            <a:avLst/>
          </a:prstGeom>
          <a:noFill/>
        </p:spPr>
        <p:txBody>
          <a:bodyPr wrap="none" rtlCol="0">
            <a:spAutoFit/>
          </a:bodyPr>
          <a:lstStyle/>
          <a:p>
            <a:r>
              <a:rPr lang="tr-TR" b="1" dirty="0"/>
              <a:t>Türkiye’nin en büyük 6</a:t>
            </a:r>
            <a:r>
              <a:rPr lang="en-US" b="1" dirty="0"/>
              <a:t>0</a:t>
            </a:r>
            <a:r>
              <a:rPr lang="tr-TR" b="1" dirty="0"/>
              <a:t> MCAP şirketi</a:t>
            </a:r>
          </a:p>
        </p:txBody>
      </p:sp>
      <p:sp>
        <p:nvSpPr>
          <p:cNvPr id="8" name="Slide Number Placeholder 4">
            <a:extLst>
              <a:ext uri="{FF2B5EF4-FFF2-40B4-BE49-F238E27FC236}">
                <a16:creationId xmlns:a16="http://schemas.microsoft.com/office/drawing/2014/main" id="{2C618835-927D-4F1E-9CB4-A80B24678661}"/>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53</a:t>
            </a:fld>
            <a:endParaRPr lang="tr-TR" sz="1200">
              <a:solidFill>
                <a:schemeClr val="tx2"/>
              </a:solidFill>
              <a:latin typeface="Verdana" pitchFamily="34" charset="0"/>
            </a:endParaRPr>
          </a:p>
        </p:txBody>
      </p:sp>
      <p:pic>
        <p:nvPicPr>
          <p:cNvPr id="5" name="Picture 4">
            <a:extLst>
              <a:ext uri="{FF2B5EF4-FFF2-40B4-BE49-F238E27FC236}">
                <a16:creationId xmlns:a16="http://schemas.microsoft.com/office/drawing/2014/main" id="{9AFFA351-F58F-ED4B-1518-D732D8742F33}"/>
              </a:ext>
            </a:extLst>
          </p:cNvPr>
          <p:cNvPicPr>
            <a:picLocks noChangeAspect="1"/>
          </p:cNvPicPr>
          <p:nvPr/>
        </p:nvPicPr>
        <p:blipFill>
          <a:blip r:embed="rId2"/>
          <a:stretch>
            <a:fillRect/>
          </a:stretch>
        </p:blipFill>
        <p:spPr>
          <a:xfrm>
            <a:off x="179512" y="5589240"/>
            <a:ext cx="8662764" cy="525016"/>
          </a:xfrm>
          <a:prstGeom prst="rect">
            <a:avLst/>
          </a:prstGeom>
        </p:spPr>
      </p:pic>
    </p:spTree>
    <p:extLst>
      <p:ext uri="{BB962C8B-B14F-4D97-AF65-F5344CB8AC3E}">
        <p14:creationId xmlns:p14="http://schemas.microsoft.com/office/powerpoint/2010/main" val="315622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5D1E2AF3-80FF-4B45-BEC9-E9734A08D2B3}"/>
              </a:ext>
            </a:extLst>
          </p:cNvPr>
          <p:cNvSpPr>
            <a:spLocks noGrp="1"/>
          </p:cNvSpPr>
          <p:nvPr>
            <p:ph idx="10"/>
          </p:nvPr>
        </p:nvSpPr>
        <p:spPr>
          <a:xfrm>
            <a:off x="395536" y="1129567"/>
            <a:ext cx="8229600" cy="4525963"/>
          </a:xfrm>
        </p:spPr>
        <p:txBody>
          <a:bodyPr/>
          <a:lstStyle/>
          <a:p>
            <a:r>
              <a:rPr lang="tr-TR" sz="2800" dirty="0">
                <a:latin typeface="+mj-lt"/>
              </a:rPr>
              <a:t>Kur Riski</a:t>
            </a:r>
          </a:p>
          <a:p>
            <a:r>
              <a:rPr lang="tr-TR" sz="2400" b="0" dirty="0">
                <a:solidFill>
                  <a:srgbClr val="0C0000"/>
                </a:solidFill>
                <a:latin typeface="+mj-lt"/>
              </a:rPr>
              <a:t>Eğer bir şirketin döviz borçları döviz varlıklarından fazla i</a:t>
            </a:r>
            <a:r>
              <a:rPr lang="en-US" sz="2400" b="0" dirty="0">
                <a:solidFill>
                  <a:srgbClr val="0C0000"/>
                </a:solidFill>
                <a:latin typeface="+mj-lt"/>
              </a:rPr>
              <a:t>s</a:t>
            </a:r>
            <a:r>
              <a:rPr lang="tr-TR" sz="2400" b="0" dirty="0">
                <a:solidFill>
                  <a:srgbClr val="0C0000"/>
                </a:solidFill>
                <a:latin typeface="+mj-lt"/>
              </a:rPr>
              <a:t>e, bu şirkete açık pozisyonlu (SHORT FX) diyoruz.</a:t>
            </a:r>
          </a:p>
          <a:p>
            <a:r>
              <a:rPr lang="tr-TR" sz="2400" b="0" dirty="0">
                <a:solidFill>
                  <a:srgbClr val="0C0000"/>
                </a:solidFill>
                <a:latin typeface="+mj-lt"/>
              </a:rPr>
              <a:t>Şirketler türev enstrümanları kullanarak bu riski sigortalayabilirler.</a:t>
            </a:r>
          </a:p>
          <a:p>
            <a:pPr lvl="1"/>
            <a:r>
              <a:rPr lang="tr-TR" sz="2000" b="0" dirty="0">
                <a:latin typeface="+mj-lt"/>
              </a:rPr>
              <a:t>En kolayı banka ile alivre sözleşme (</a:t>
            </a:r>
            <a:r>
              <a:rPr lang="tr-TR" sz="2000" b="0" dirty="0" err="1">
                <a:latin typeface="+mj-lt"/>
              </a:rPr>
              <a:t>forward</a:t>
            </a:r>
            <a:r>
              <a:rPr lang="tr-TR" sz="2000" b="0" dirty="0">
                <a:latin typeface="+mj-lt"/>
              </a:rPr>
              <a:t> kontrat) imzalamaktır. İlerideki kuru şimdiden belirlemektir. </a:t>
            </a:r>
            <a:endParaRPr lang="tr-TR" sz="2400" b="0" dirty="0">
              <a:latin typeface="+mj-lt"/>
            </a:endParaRPr>
          </a:p>
          <a:p>
            <a:endParaRPr lang="tr-TR" sz="2800" b="0" dirty="0">
              <a:latin typeface="+mj-lt"/>
            </a:endParaRPr>
          </a:p>
        </p:txBody>
      </p:sp>
      <p:sp>
        <p:nvSpPr>
          <p:cNvPr id="3" name="Unvan 2">
            <a:extLst>
              <a:ext uri="{FF2B5EF4-FFF2-40B4-BE49-F238E27FC236}">
                <a16:creationId xmlns:a16="http://schemas.microsoft.com/office/drawing/2014/main" id="{6D15A501-3A6D-4DE9-91C8-8D48880D8451}"/>
              </a:ext>
            </a:extLst>
          </p:cNvPr>
          <p:cNvSpPr>
            <a:spLocks noGrp="1"/>
          </p:cNvSpPr>
          <p:nvPr>
            <p:ph type="title"/>
          </p:nvPr>
        </p:nvSpPr>
        <p:spPr/>
        <p:txBody>
          <a:bodyPr/>
          <a:lstStyle/>
          <a:p>
            <a:r>
              <a:rPr lang="tr-TR" sz="4000"/>
              <a:t>Finansal Durum Analizi</a:t>
            </a:r>
          </a:p>
        </p:txBody>
      </p:sp>
      <p:sp>
        <p:nvSpPr>
          <p:cNvPr id="5" name="Metin kutusu 9">
            <a:extLst>
              <a:ext uri="{FF2B5EF4-FFF2-40B4-BE49-F238E27FC236}">
                <a16:creationId xmlns:a16="http://schemas.microsoft.com/office/drawing/2014/main" id="{E2A0BB48-DC32-4137-BA56-C743F0D6004F}"/>
              </a:ext>
            </a:extLst>
          </p:cNvPr>
          <p:cNvSpPr txBox="1"/>
          <p:nvPr/>
        </p:nvSpPr>
        <p:spPr>
          <a:xfrm>
            <a:off x="2363222" y="4121122"/>
            <a:ext cx="4297010" cy="369332"/>
          </a:xfrm>
          <a:prstGeom prst="rect">
            <a:avLst/>
          </a:prstGeom>
          <a:noFill/>
        </p:spPr>
        <p:txBody>
          <a:bodyPr wrap="none" rtlCol="0">
            <a:spAutoFit/>
          </a:bodyPr>
          <a:lstStyle/>
          <a:p>
            <a:r>
              <a:rPr lang="tr-TR" b="1" dirty="0"/>
              <a:t>Türkiye’nin en büyük 6</a:t>
            </a:r>
            <a:r>
              <a:rPr lang="en-US" b="1" dirty="0"/>
              <a:t>0</a:t>
            </a:r>
            <a:r>
              <a:rPr lang="tr-TR" b="1" dirty="0"/>
              <a:t> MCAP şirketi</a:t>
            </a:r>
          </a:p>
        </p:txBody>
      </p:sp>
      <p:sp>
        <p:nvSpPr>
          <p:cNvPr id="8" name="Slide Number Placeholder 4">
            <a:extLst>
              <a:ext uri="{FF2B5EF4-FFF2-40B4-BE49-F238E27FC236}">
                <a16:creationId xmlns:a16="http://schemas.microsoft.com/office/drawing/2014/main" id="{E9388EE6-8B34-4BFF-A98B-6B08978956DE}"/>
              </a:ext>
            </a:extLst>
          </p:cNvPr>
          <p:cNvSpPr txBox="1">
            <a:spLocks/>
          </p:cNvSpPr>
          <p:nvPr/>
        </p:nvSpPr>
        <p:spPr>
          <a:xfrm>
            <a:off x="8604448" y="6496671"/>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54</a:t>
            </a:fld>
            <a:endParaRPr lang="tr-TR" sz="1200">
              <a:solidFill>
                <a:schemeClr val="tx2"/>
              </a:solidFill>
              <a:latin typeface="Verdana" pitchFamily="34" charset="0"/>
            </a:endParaRPr>
          </a:p>
        </p:txBody>
      </p:sp>
      <p:pic>
        <p:nvPicPr>
          <p:cNvPr id="9" name="Picture 8">
            <a:extLst>
              <a:ext uri="{FF2B5EF4-FFF2-40B4-BE49-F238E27FC236}">
                <a16:creationId xmlns:a16="http://schemas.microsoft.com/office/drawing/2014/main" id="{0561F74A-8958-40B0-8D22-6B17296E1F8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pic>
        <p:nvPicPr>
          <p:cNvPr id="11" name="Picture 10">
            <a:extLst>
              <a:ext uri="{FF2B5EF4-FFF2-40B4-BE49-F238E27FC236}">
                <a16:creationId xmlns:a16="http://schemas.microsoft.com/office/drawing/2014/main" id="{60AACE43-76F1-748D-1509-1B6CB0D76A41}"/>
              </a:ext>
            </a:extLst>
          </p:cNvPr>
          <p:cNvPicPr>
            <a:picLocks noChangeAspect="1"/>
          </p:cNvPicPr>
          <p:nvPr/>
        </p:nvPicPr>
        <p:blipFill>
          <a:blip r:embed="rId3"/>
          <a:stretch>
            <a:fillRect/>
          </a:stretch>
        </p:blipFill>
        <p:spPr>
          <a:xfrm>
            <a:off x="441303" y="4620736"/>
            <a:ext cx="8235153" cy="1328544"/>
          </a:xfrm>
          <a:prstGeom prst="rect">
            <a:avLst/>
          </a:prstGeom>
        </p:spPr>
      </p:pic>
    </p:spTree>
    <p:extLst>
      <p:ext uri="{BB962C8B-B14F-4D97-AF65-F5344CB8AC3E}">
        <p14:creationId xmlns:p14="http://schemas.microsoft.com/office/powerpoint/2010/main" val="251026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4">
            <a:extLst>
              <a:ext uri="{FF2B5EF4-FFF2-40B4-BE49-F238E27FC236}">
                <a16:creationId xmlns:a16="http://schemas.microsoft.com/office/drawing/2014/main" id="{226419E0-AF81-40D3-9A68-15DCE808DB4D}"/>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55</a:t>
            </a:fld>
            <a:endParaRPr lang="tr-TR" sz="1200">
              <a:solidFill>
                <a:schemeClr val="tx2"/>
              </a:solidFill>
              <a:latin typeface="Verdana" pitchFamily="34" charset="0"/>
            </a:endParaRPr>
          </a:p>
        </p:txBody>
      </p:sp>
      <p:pic>
        <p:nvPicPr>
          <p:cNvPr id="11" name="Picture 10">
            <a:extLst>
              <a:ext uri="{FF2B5EF4-FFF2-40B4-BE49-F238E27FC236}">
                <a16:creationId xmlns:a16="http://schemas.microsoft.com/office/drawing/2014/main" id="{B62F1021-2FED-49AA-AC67-CEBAA90EF83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13" name="Unvan 2">
            <a:extLst>
              <a:ext uri="{FF2B5EF4-FFF2-40B4-BE49-F238E27FC236}">
                <a16:creationId xmlns:a16="http://schemas.microsoft.com/office/drawing/2014/main" id="{C8E7E842-CBDC-40E8-8F0B-8369742FC177}"/>
              </a:ext>
            </a:extLst>
          </p:cNvPr>
          <p:cNvSpPr>
            <a:spLocks noGrp="1"/>
          </p:cNvSpPr>
          <p:nvPr>
            <p:ph type="title"/>
          </p:nvPr>
        </p:nvSpPr>
        <p:spPr>
          <a:xfrm>
            <a:off x="611560" y="241428"/>
            <a:ext cx="8784976" cy="1224136"/>
          </a:xfrm>
        </p:spPr>
        <p:txBody>
          <a:bodyPr/>
          <a:lstStyle/>
          <a:p>
            <a:r>
              <a:rPr lang="tr-TR" sz="3600" dirty="0"/>
              <a:t>Reel Sektör Açık Pozisyonu (Milyar $)</a:t>
            </a:r>
          </a:p>
        </p:txBody>
      </p:sp>
      <p:pic>
        <p:nvPicPr>
          <p:cNvPr id="3" name="Picture 2">
            <a:extLst>
              <a:ext uri="{FF2B5EF4-FFF2-40B4-BE49-F238E27FC236}">
                <a16:creationId xmlns:a16="http://schemas.microsoft.com/office/drawing/2014/main" id="{4F2B6EB5-C568-D4D5-C0AE-36CC56638FAB}"/>
              </a:ext>
            </a:extLst>
          </p:cNvPr>
          <p:cNvPicPr>
            <a:picLocks noChangeAspect="1"/>
          </p:cNvPicPr>
          <p:nvPr/>
        </p:nvPicPr>
        <p:blipFill>
          <a:blip r:embed="rId3"/>
          <a:stretch>
            <a:fillRect/>
          </a:stretch>
        </p:blipFill>
        <p:spPr>
          <a:xfrm>
            <a:off x="3059832" y="1152090"/>
            <a:ext cx="6054658" cy="3829685"/>
          </a:xfrm>
          <a:prstGeom prst="rect">
            <a:avLst/>
          </a:prstGeom>
        </p:spPr>
      </p:pic>
      <p:pic>
        <p:nvPicPr>
          <p:cNvPr id="6" name="Picture 5">
            <a:extLst>
              <a:ext uri="{FF2B5EF4-FFF2-40B4-BE49-F238E27FC236}">
                <a16:creationId xmlns:a16="http://schemas.microsoft.com/office/drawing/2014/main" id="{B728FEBE-1D18-7723-A443-4059EE4B7287}"/>
              </a:ext>
            </a:extLst>
          </p:cNvPr>
          <p:cNvPicPr>
            <a:picLocks noChangeAspect="1"/>
          </p:cNvPicPr>
          <p:nvPr/>
        </p:nvPicPr>
        <p:blipFill>
          <a:blip r:embed="rId4"/>
          <a:stretch>
            <a:fillRect/>
          </a:stretch>
        </p:blipFill>
        <p:spPr>
          <a:xfrm>
            <a:off x="107504" y="3973544"/>
            <a:ext cx="4572396" cy="2767824"/>
          </a:xfrm>
          <a:prstGeom prst="rect">
            <a:avLst/>
          </a:prstGeom>
        </p:spPr>
      </p:pic>
    </p:spTree>
    <p:extLst>
      <p:ext uri="{BB962C8B-B14F-4D97-AF65-F5344CB8AC3E}">
        <p14:creationId xmlns:p14="http://schemas.microsoft.com/office/powerpoint/2010/main" val="9778028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54756" cy="38975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06D51F81-84E8-436F-9158-16745E80010B}" type="slidenum">
              <a:rPr lang="tr-TR" sz="1200">
                <a:solidFill>
                  <a:schemeClr val="tx2"/>
                </a:solidFill>
                <a:latin typeface="Verdana" pitchFamily="34" charset="0"/>
              </a:rPr>
              <a:pPr marL="0" indent="0" eaLnBrk="1" hangingPunct="1">
                <a:buNone/>
              </a:pPr>
              <a:t>56</a:t>
            </a:fld>
            <a:endParaRPr lang="tr-TR" sz="1200">
              <a:solidFill>
                <a:schemeClr val="tx2"/>
              </a:solidFill>
              <a:latin typeface="Verdana" pitchFamily="34" charset="0"/>
            </a:endParaRPr>
          </a:p>
        </p:txBody>
      </p:sp>
      <p:sp>
        <p:nvSpPr>
          <p:cNvPr id="54276" name="Rectangle 2"/>
          <p:cNvSpPr>
            <a:spLocks noGrp="1" noChangeArrowheads="1"/>
          </p:cNvSpPr>
          <p:nvPr>
            <p:ph type="title"/>
          </p:nvPr>
        </p:nvSpPr>
        <p:spPr>
          <a:xfrm>
            <a:off x="457200" y="274638"/>
            <a:ext cx="8229600" cy="634082"/>
          </a:xfrm>
        </p:spPr>
        <p:txBody>
          <a:bodyPr/>
          <a:lstStyle/>
          <a:p>
            <a:r>
              <a:rPr lang="tr-TR" sz="4000"/>
              <a:t>Finansal Durum: Likidite Analizi</a:t>
            </a:r>
          </a:p>
        </p:txBody>
      </p:sp>
      <p:sp>
        <p:nvSpPr>
          <p:cNvPr id="54277" name="Rectangle 3"/>
          <p:cNvSpPr>
            <a:spLocks noGrp="1" noChangeArrowheads="1"/>
          </p:cNvSpPr>
          <p:nvPr>
            <p:ph type="body" idx="4294967295"/>
          </p:nvPr>
        </p:nvSpPr>
        <p:spPr>
          <a:xfrm>
            <a:off x="457200" y="1268413"/>
            <a:ext cx="8229600" cy="4862512"/>
          </a:xfrm>
          <a:prstGeom prst="rect">
            <a:avLst/>
          </a:prstGeom>
        </p:spPr>
        <p:txBody>
          <a:bodyPr/>
          <a:lstStyle/>
          <a:p>
            <a:pPr algn="just" eaLnBrk="1" hangingPunct="1">
              <a:spcAft>
                <a:spcPts val="1200"/>
              </a:spcAft>
            </a:pPr>
            <a:r>
              <a:rPr lang="tr-TR" sz="1600">
                <a:latin typeface="Verdana" pitchFamily="34" charset="0"/>
                <a:ea typeface="Verdana" pitchFamily="34" charset="0"/>
                <a:cs typeface="Verdana" pitchFamily="34" charset="0"/>
              </a:rPr>
              <a:t>Şirket faaliyetlerini sürdürebilmek için işletme sermayesini finanse etmek zorundadır. Bunu iki yolla yapabilir:</a:t>
            </a:r>
          </a:p>
          <a:p>
            <a:pPr lvl="1" algn="just" eaLnBrk="1" hangingPunct="1">
              <a:spcAft>
                <a:spcPts val="1200"/>
              </a:spcAft>
            </a:pPr>
            <a:r>
              <a:rPr lang="tr-TR" sz="1600">
                <a:latin typeface="Verdana" pitchFamily="34" charset="0"/>
                <a:ea typeface="Verdana" pitchFamily="34" charset="0"/>
                <a:cs typeface="Verdana" pitchFamily="34" charset="0"/>
              </a:rPr>
              <a:t>Kısa vadeli borçlar</a:t>
            </a:r>
          </a:p>
          <a:p>
            <a:pPr lvl="1" algn="just" eaLnBrk="1" hangingPunct="1">
              <a:spcAft>
                <a:spcPts val="1200"/>
              </a:spcAft>
            </a:pPr>
            <a:r>
              <a:rPr lang="tr-TR" sz="1600">
                <a:latin typeface="Verdana" pitchFamily="34" charset="0"/>
                <a:ea typeface="Verdana" pitchFamily="34" charset="0"/>
                <a:cs typeface="Verdana" pitchFamily="34" charset="0"/>
              </a:rPr>
              <a:t>Uzun vadeli kaynaklar (Uzun vadeli borç ve </a:t>
            </a:r>
            <a:r>
              <a:rPr lang="tr-TR" sz="1600" err="1">
                <a:latin typeface="Verdana" pitchFamily="34" charset="0"/>
                <a:ea typeface="Verdana" pitchFamily="34" charset="0"/>
                <a:cs typeface="Verdana" pitchFamily="34" charset="0"/>
              </a:rPr>
              <a:t>özsermaye</a:t>
            </a:r>
            <a:r>
              <a:rPr lang="tr-TR" sz="1600">
                <a:latin typeface="Verdana" pitchFamily="34" charset="0"/>
                <a:ea typeface="Verdana" pitchFamily="34" charset="0"/>
                <a:cs typeface="Verdana" pitchFamily="34" charset="0"/>
              </a:rPr>
              <a:t>)</a:t>
            </a:r>
          </a:p>
          <a:p>
            <a:pPr algn="just" eaLnBrk="1" hangingPunct="1">
              <a:spcAft>
                <a:spcPts val="1200"/>
              </a:spcAft>
            </a:pPr>
            <a:r>
              <a:rPr lang="tr-TR" sz="1600">
                <a:latin typeface="Verdana" pitchFamily="34" charset="0"/>
                <a:ea typeface="Verdana" pitchFamily="34" charset="0"/>
                <a:cs typeface="Verdana" pitchFamily="34" charset="0"/>
              </a:rPr>
              <a:t>İşletme sermayesini sürekli kısa vadeli fonlayan bir şirket iki önemli risk taşımaktadır:</a:t>
            </a:r>
          </a:p>
          <a:p>
            <a:pPr lvl="1" algn="just" eaLnBrk="1" hangingPunct="1">
              <a:spcAft>
                <a:spcPts val="1200"/>
              </a:spcAft>
            </a:pPr>
            <a:r>
              <a:rPr lang="tr-TR" sz="1600">
                <a:latin typeface="Verdana" pitchFamily="34" charset="0"/>
                <a:ea typeface="Verdana" pitchFamily="34" charset="0"/>
                <a:cs typeface="Verdana" pitchFamily="34" charset="0"/>
              </a:rPr>
              <a:t>Borcu döndürememe riski</a:t>
            </a:r>
          </a:p>
          <a:p>
            <a:pPr lvl="1" algn="just" eaLnBrk="1" hangingPunct="1">
              <a:spcAft>
                <a:spcPts val="1200"/>
              </a:spcAft>
            </a:pPr>
            <a:r>
              <a:rPr lang="tr-TR" sz="1600">
                <a:latin typeface="Verdana" pitchFamily="34" charset="0"/>
                <a:ea typeface="Verdana" pitchFamily="34" charset="0"/>
                <a:cs typeface="Verdana" pitchFamily="34" charset="0"/>
              </a:rPr>
              <a:t>Faiz riski</a:t>
            </a:r>
          </a:p>
          <a:p>
            <a:pPr algn="just" eaLnBrk="1" hangingPunct="1">
              <a:spcAft>
                <a:spcPts val="1200"/>
              </a:spcAft>
            </a:pPr>
            <a:r>
              <a:rPr lang="tr-TR" sz="1600">
                <a:latin typeface="Verdana" pitchFamily="34" charset="0"/>
                <a:ea typeface="Verdana" pitchFamily="34" charset="0"/>
                <a:cs typeface="Verdana" pitchFamily="34" charset="0"/>
              </a:rPr>
              <a:t>Şirketin uzun vadeli kaynaklarından duran varlıklarını çıkartırsak, geriye kalan miktar işletme sermayesi ve nakdimizi fonlayacaktır. </a:t>
            </a:r>
          </a:p>
          <a:p>
            <a:pPr algn="just" eaLnBrk="1" hangingPunct="1">
              <a:spcAft>
                <a:spcPts val="1200"/>
              </a:spcAft>
            </a:pPr>
            <a:r>
              <a:rPr lang="tr-TR" sz="1600" b="1">
                <a:latin typeface="Verdana" pitchFamily="34" charset="0"/>
                <a:ea typeface="Verdana" pitchFamily="34" charset="0"/>
                <a:cs typeface="Verdana" pitchFamily="34" charset="0"/>
              </a:rPr>
              <a:t>Net uzun vadeli finansman</a:t>
            </a:r>
            <a:r>
              <a:rPr lang="tr-TR" sz="1600">
                <a:latin typeface="Verdana" pitchFamily="34" charset="0"/>
                <a:ea typeface="Verdana" pitchFamily="34" charset="0"/>
                <a:cs typeface="Verdana" pitchFamily="34" charset="0"/>
              </a:rPr>
              <a:t>  </a:t>
            </a:r>
            <a:r>
              <a:rPr lang="tr-TR" sz="1600">
                <a:solidFill>
                  <a:srgbClr val="0000CC"/>
                </a:solidFill>
                <a:latin typeface="Verdana" pitchFamily="34" charset="0"/>
                <a:ea typeface="Verdana" pitchFamily="34" charset="0"/>
                <a:cs typeface="Verdana" pitchFamily="34" charset="0"/>
              </a:rPr>
              <a:t>= Uzun vadeli kaynaklar – Duran varlıklar</a:t>
            </a:r>
          </a:p>
          <a:p>
            <a:pPr algn="just" eaLnBrk="1" hangingPunct="1">
              <a:spcAft>
                <a:spcPts val="1200"/>
              </a:spcAft>
            </a:pPr>
            <a:r>
              <a:rPr lang="tr-TR" sz="1600" b="1">
                <a:latin typeface="Verdana" pitchFamily="34" charset="0"/>
                <a:ea typeface="Verdana" pitchFamily="34" charset="0"/>
                <a:cs typeface="Verdana" pitchFamily="34" charset="0"/>
              </a:rPr>
              <a:t>Net kısa vadeli finansman</a:t>
            </a:r>
            <a:r>
              <a:rPr lang="tr-TR" sz="1600">
                <a:latin typeface="Verdana" pitchFamily="34" charset="0"/>
                <a:ea typeface="Verdana" pitchFamily="34" charset="0"/>
                <a:cs typeface="Verdana" pitchFamily="34" charset="0"/>
              </a:rPr>
              <a:t> </a:t>
            </a:r>
            <a:r>
              <a:rPr lang="tr-TR" sz="1600">
                <a:solidFill>
                  <a:srgbClr val="0000CC"/>
                </a:solidFill>
                <a:latin typeface="Verdana" pitchFamily="34" charset="0"/>
                <a:ea typeface="Verdana" pitchFamily="34" charset="0"/>
                <a:cs typeface="Verdana" pitchFamily="34" charset="0"/>
              </a:rPr>
              <a:t>= Kısa vadeli borçlar - nakit </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09413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27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27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27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27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427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27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build="p" bldLvl="3"/>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352295"/>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CDA5803E-3A32-477E-BC6C-C1FFCF834BFF}" type="slidenum">
              <a:rPr lang="tr-TR" sz="1200">
                <a:solidFill>
                  <a:schemeClr val="tx2"/>
                </a:solidFill>
                <a:latin typeface="Verdana" pitchFamily="34" charset="0"/>
              </a:rPr>
              <a:pPr marL="0" indent="0" eaLnBrk="1" hangingPunct="1">
                <a:buNone/>
              </a:pPr>
              <a:t>57</a:t>
            </a:fld>
            <a:endParaRPr lang="tr-TR" sz="1200">
              <a:solidFill>
                <a:schemeClr val="tx2"/>
              </a:solidFill>
              <a:latin typeface="Verdana" pitchFamily="34" charset="0"/>
            </a:endParaRPr>
          </a:p>
        </p:txBody>
      </p:sp>
      <p:sp>
        <p:nvSpPr>
          <p:cNvPr id="55300" name="Rectangle 2"/>
          <p:cNvSpPr>
            <a:spLocks noGrp="1" noChangeArrowheads="1"/>
          </p:cNvSpPr>
          <p:nvPr>
            <p:ph type="title"/>
          </p:nvPr>
        </p:nvSpPr>
        <p:spPr/>
        <p:txBody>
          <a:bodyPr/>
          <a:lstStyle/>
          <a:p>
            <a:pPr eaLnBrk="1" hangingPunct="1"/>
            <a:r>
              <a:rPr lang="tr-TR" sz="4000"/>
              <a:t>Likidite Analizi</a:t>
            </a:r>
          </a:p>
        </p:txBody>
      </p:sp>
      <p:pic>
        <p:nvPicPr>
          <p:cNvPr id="5530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r="53154"/>
          <a:stretch>
            <a:fillRect/>
          </a:stretch>
        </p:blipFill>
        <p:spPr bwMode="auto">
          <a:xfrm>
            <a:off x="683568" y="1268760"/>
            <a:ext cx="3744416" cy="474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8" name="TextBox 7"/>
          <p:cNvSpPr txBox="1"/>
          <p:nvPr/>
        </p:nvSpPr>
        <p:spPr>
          <a:xfrm>
            <a:off x="5004048" y="2636912"/>
            <a:ext cx="1584176" cy="1661993"/>
          </a:xfrm>
          <a:prstGeom prst="rect">
            <a:avLst/>
          </a:prstGeom>
          <a:noFill/>
          <a:ln w="15875">
            <a:solidFill>
              <a:schemeClr val="tx1"/>
            </a:solidFill>
          </a:ln>
        </p:spPr>
        <p:txBody>
          <a:bodyPr wrap="square" rtlCol="0">
            <a:spAutoFit/>
          </a:bodyPr>
          <a:lstStyle/>
          <a:p>
            <a:endParaRPr lang="tr-TR"/>
          </a:p>
          <a:p>
            <a:endParaRPr lang="tr-TR"/>
          </a:p>
          <a:p>
            <a:pPr algn="ctr"/>
            <a:r>
              <a:rPr lang="tr-TR" sz="1600" b="1"/>
              <a:t>İşletme Sermayesi İhtiyacı</a:t>
            </a:r>
          </a:p>
          <a:p>
            <a:endParaRPr lang="en-GB"/>
          </a:p>
        </p:txBody>
      </p:sp>
      <p:sp>
        <p:nvSpPr>
          <p:cNvPr id="11" name="TextBox 10"/>
          <p:cNvSpPr txBox="1"/>
          <p:nvPr/>
        </p:nvSpPr>
        <p:spPr>
          <a:xfrm>
            <a:off x="6660232" y="2636912"/>
            <a:ext cx="1872208" cy="1661993"/>
          </a:xfrm>
          <a:prstGeom prst="rect">
            <a:avLst/>
          </a:prstGeom>
          <a:noFill/>
          <a:ln w="15875">
            <a:solidFill>
              <a:schemeClr val="tx1"/>
            </a:solidFill>
          </a:ln>
        </p:spPr>
        <p:txBody>
          <a:bodyPr wrap="square" rtlCol="0">
            <a:spAutoFit/>
          </a:bodyPr>
          <a:lstStyle/>
          <a:p>
            <a:pPr algn="ctr"/>
            <a:r>
              <a:rPr lang="tr-TR" sz="1600" b="1"/>
              <a:t>Net kısa vadeli finansman</a:t>
            </a:r>
          </a:p>
          <a:p>
            <a:r>
              <a:rPr lang="tr-TR" sz="1600"/>
              <a:t>----------------------</a:t>
            </a:r>
          </a:p>
          <a:p>
            <a:pPr algn="ctr"/>
            <a:endParaRPr lang="tr-TR" sz="600" b="1"/>
          </a:p>
          <a:p>
            <a:pPr algn="ctr"/>
            <a:r>
              <a:rPr lang="tr-TR" sz="1600" b="1"/>
              <a:t>Net uzun vadeli finansman</a:t>
            </a:r>
          </a:p>
          <a:p>
            <a:pPr algn="ctr"/>
            <a:endParaRPr lang="tr-TR" sz="1600" b="1"/>
          </a:p>
        </p:txBody>
      </p:sp>
      <p:sp>
        <p:nvSpPr>
          <p:cNvPr id="9" name="Rectangle 3"/>
          <p:cNvSpPr txBox="1">
            <a:spLocks noChangeArrowheads="1"/>
          </p:cNvSpPr>
          <p:nvPr/>
        </p:nvSpPr>
        <p:spPr>
          <a:xfrm>
            <a:off x="4788024" y="4581128"/>
            <a:ext cx="3528392" cy="1368499"/>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tr-TR" sz="1600" b="1">
                <a:solidFill>
                  <a:srgbClr val="3333CC"/>
                </a:solidFill>
                <a:latin typeface="Verdana" pitchFamily="34" charset="0"/>
                <a:ea typeface="Verdana" pitchFamily="34" charset="0"/>
                <a:cs typeface="Verdana" pitchFamily="34" charset="0"/>
              </a:rPr>
              <a:t>Likidite rasyosu =</a:t>
            </a:r>
          </a:p>
          <a:p>
            <a:pPr marL="0" indent="0" algn="just">
              <a:buNone/>
            </a:pPr>
            <a:r>
              <a:rPr lang="tr-TR" sz="1600" b="1">
                <a:solidFill>
                  <a:srgbClr val="3333CC"/>
                </a:solidFill>
                <a:latin typeface="Verdana" pitchFamily="34" charset="0"/>
                <a:ea typeface="Verdana" pitchFamily="34" charset="0"/>
                <a:cs typeface="Verdana" pitchFamily="34" charset="0"/>
              </a:rPr>
              <a:t>Net Uzun Vadeli Finansman / İşletme Sermayesi İhtiyacı         </a:t>
            </a:r>
          </a:p>
          <a:p>
            <a:pPr lvl="3" algn="just">
              <a:buFont typeface="Wingdings" pitchFamily="2" charset="2"/>
              <a:buNone/>
            </a:pPr>
            <a:endParaRPr lang="tr-TR" sz="1000" b="1">
              <a:solidFill>
                <a:srgbClr val="3333CC"/>
              </a:solidFill>
              <a:latin typeface="Verdana" pitchFamily="34" charset="0"/>
              <a:ea typeface="Verdana" pitchFamily="34" charset="0"/>
              <a:cs typeface="Verdana" pitchFamily="34" charset="0"/>
            </a:endParaRPr>
          </a:p>
          <a:p>
            <a:pPr lvl="4" algn="just">
              <a:spcAft>
                <a:spcPts val="1200"/>
              </a:spcAft>
            </a:pPr>
            <a:endParaRPr lang="tr-TR" sz="40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242429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9"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58</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611560" y="-99392"/>
            <a:ext cx="8229600" cy="774700"/>
          </a:xfrm>
        </p:spPr>
        <p:txBody>
          <a:bodyPr/>
          <a:lstStyle/>
          <a:p>
            <a:r>
              <a:rPr lang="tr-TR" sz="3600"/>
              <a:t>Konsept Çalışması: </a:t>
            </a:r>
            <a:br>
              <a:rPr lang="tr-TR" sz="3600"/>
            </a:br>
            <a:r>
              <a:rPr lang="tr-TR" sz="3600"/>
              <a:t>Pide A.Ş. Likidite Analizi</a:t>
            </a:r>
          </a:p>
        </p:txBody>
      </p:sp>
      <p:graphicFrame>
        <p:nvGraphicFramePr>
          <p:cNvPr id="7" name="Group 191"/>
          <p:cNvGraphicFramePr>
            <a:graphicFrameLocks noGrp="1"/>
          </p:cNvGraphicFramePr>
          <p:nvPr>
            <p:ph idx="4294967295"/>
          </p:nvPr>
        </p:nvGraphicFramePr>
        <p:xfrm>
          <a:off x="1476375" y="1669936"/>
          <a:ext cx="6048375" cy="2468880"/>
        </p:xfrm>
        <a:graphic>
          <a:graphicData uri="http://schemas.openxmlformats.org/drawingml/2006/table">
            <a:tbl>
              <a:tblPr/>
              <a:tblGrid>
                <a:gridCol w="2962275">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tblGrid>
              <a:tr h="25082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 </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2010</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2011</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2012</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25082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Nakit</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6</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12</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8</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25241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İşletme sermayesi ihtiyacı</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59</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63</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77</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25082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Duran varlıklar</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56</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51</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53</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25241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Yatırılan Kaynaklar</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121</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126</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138</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25400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 </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252413">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Kısa vadeli borçlar</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15</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22</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23</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25082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Uzun vadeli kaynaklar</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106</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104</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115</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25082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Kullanılan Kaynaklar</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121</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126</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138</a:t>
                      </a:r>
                      <a:endParaRPr kumimoji="0" lang="tr-TR" sz="1200" b="0" i="0" u="none" strike="noStrike" cap="none" normalizeH="0" baseline="0">
                        <a:ln>
                          <a:noFill/>
                        </a:ln>
                        <a:solidFill>
                          <a:schemeClr val="tx1"/>
                        </a:solidFill>
                        <a:effectLst/>
                        <a:latin typeface="Verdana" pitchFamily="34" charset="0"/>
                      </a:endParaRPr>
                    </a:p>
                  </a:txBody>
                  <a:tcPr marL="84406" marR="84406" anchor="b"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8" name="Text Box 190"/>
          <p:cNvSpPr txBox="1">
            <a:spLocks noChangeArrowheads="1"/>
          </p:cNvSpPr>
          <p:nvPr/>
        </p:nvSpPr>
        <p:spPr bwMode="auto">
          <a:xfrm>
            <a:off x="539552" y="5661248"/>
            <a:ext cx="8213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r>
              <a:rPr lang="tr-TR">
                <a:latin typeface="Verdana" pitchFamily="34" charset="0"/>
              </a:rPr>
              <a:t>Yorum?</a:t>
            </a:r>
          </a:p>
        </p:txBody>
      </p:sp>
      <p:graphicFrame>
        <p:nvGraphicFramePr>
          <p:cNvPr id="9" name="Group 164"/>
          <p:cNvGraphicFramePr>
            <a:graphicFrameLocks/>
          </p:cNvGraphicFramePr>
          <p:nvPr/>
        </p:nvGraphicFramePr>
        <p:xfrm>
          <a:off x="1475656" y="4262224"/>
          <a:ext cx="6048672" cy="1110992"/>
        </p:xfrm>
        <a:graphic>
          <a:graphicData uri="http://schemas.openxmlformats.org/drawingml/2006/table">
            <a:tbl>
              <a:tblPr/>
              <a:tblGrid>
                <a:gridCol w="3201277">
                  <a:extLst>
                    <a:ext uri="{9D8B030D-6E8A-4147-A177-3AD203B41FA5}">
                      <a16:colId xmlns:a16="http://schemas.microsoft.com/office/drawing/2014/main" val="20000"/>
                    </a:ext>
                  </a:extLst>
                </a:gridCol>
                <a:gridCol w="873075">
                  <a:extLst>
                    <a:ext uri="{9D8B030D-6E8A-4147-A177-3AD203B41FA5}">
                      <a16:colId xmlns:a16="http://schemas.microsoft.com/office/drawing/2014/main" val="20001"/>
                    </a:ext>
                  </a:extLst>
                </a:gridCol>
                <a:gridCol w="1018588">
                  <a:extLst>
                    <a:ext uri="{9D8B030D-6E8A-4147-A177-3AD203B41FA5}">
                      <a16:colId xmlns:a16="http://schemas.microsoft.com/office/drawing/2014/main" val="20002"/>
                    </a:ext>
                  </a:extLst>
                </a:gridCol>
                <a:gridCol w="955732">
                  <a:extLst>
                    <a:ext uri="{9D8B030D-6E8A-4147-A177-3AD203B41FA5}">
                      <a16:colId xmlns:a16="http://schemas.microsoft.com/office/drawing/2014/main" val="20003"/>
                    </a:ext>
                  </a:extLst>
                </a:gridCol>
              </a:tblGrid>
              <a:tr h="288032">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 </a:t>
                      </a:r>
                      <a:endParaRPr kumimoji="0" lang="tr-TR" sz="1200" b="0" i="0" u="none" strike="noStrike" cap="none" normalizeH="0" baseline="0">
                        <a:ln>
                          <a:noFill/>
                        </a:ln>
                        <a:solidFill>
                          <a:schemeClr val="tx1"/>
                        </a:solidFill>
                        <a:effectLst/>
                        <a:latin typeface="Arial" charset="0"/>
                      </a:endParaRPr>
                    </a:p>
                  </a:txBody>
                  <a:tcPr marL="84406" marR="84406"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2010</a:t>
                      </a:r>
                      <a:endParaRPr kumimoji="0" lang="tr-TR" sz="1200" b="0" i="0" u="none" strike="noStrike" cap="none" normalizeH="0" baseline="0">
                        <a:ln>
                          <a:noFill/>
                        </a:ln>
                        <a:solidFill>
                          <a:schemeClr val="tx1"/>
                        </a:solidFill>
                        <a:effectLst/>
                        <a:latin typeface="Arial" charset="0"/>
                      </a:endParaRPr>
                    </a:p>
                  </a:txBody>
                  <a:tcPr marL="84406" marR="84406"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2011</a:t>
                      </a:r>
                      <a:endParaRPr kumimoji="0" lang="tr-TR" sz="1200" b="0" i="0" u="none" strike="noStrike" cap="none" normalizeH="0" baseline="0">
                        <a:ln>
                          <a:noFill/>
                        </a:ln>
                        <a:solidFill>
                          <a:schemeClr val="tx1"/>
                        </a:solidFill>
                        <a:effectLst/>
                        <a:latin typeface="Arial" charset="0"/>
                      </a:endParaRPr>
                    </a:p>
                  </a:txBody>
                  <a:tcPr marL="84406" marR="84406"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2012</a:t>
                      </a:r>
                      <a:endParaRPr kumimoji="0" lang="tr-TR" sz="1200" b="0" i="0" u="none" strike="noStrike" cap="none" normalizeH="0" baseline="0">
                        <a:ln>
                          <a:noFill/>
                        </a:ln>
                        <a:solidFill>
                          <a:schemeClr val="tx1"/>
                        </a:solidFill>
                        <a:effectLst/>
                        <a:latin typeface="Arial" charset="0"/>
                      </a:endParaRPr>
                    </a:p>
                  </a:txBody>
                  <a:tcPr marL="84406" marR="84406"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24923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ea typeface="Verdana" pitchFamily="34" charset="0"/>
                          <a:cs typeface="Verdana" pitchFamily="34" charset="0"/>
                        </a:rPr>
                        <a:t>Net Uzun Vadeli Finansman (1)</a:t>
                      </a:r>
                    </a:p>
                  </a:txBody>
                  <a:tcPr marL="84406" marR="84406"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200" b="0" i="0" u="none" strike="noStrike" cap="none" normalizeH="0" baseline="0">
                        <a:ln>
                          <a:noFill/>
                        </a:ln>
                        <a:solidFill>
                          <a:schemeClr val="tx1"/>
                        </a:solidFill>
                        <a:effectLst/>
                        <a:latin typeface="Verdana" pitchFamily="34" charset="0"/>
                        <a:ea typeface="Verdana" pitchFamily="34" charset="0"/>
                        <a:cs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200" b="0" i="0" u="none" strike="noStrike" cap="none" normalizeH="0" baseline="0">
                        <a:ln>
                          <a:noFill/>
                        </a:ln>
                        <a:solidFill>
                          <a:schemeClr val="tx1"/>
                        </a:solidFill>
                        <a:effectLst/>
                        <a:latin typeface="Verdana" pitchFamily="34" charset="0"/>
                        <a:ea typeface="Verdana" pitchFamily="34" charset="0"/>
                        <a:cs typeface="Verdana" pitchFamily="34"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200" b="0" i="0" u="none" strike="noStrike" cap="none" normalizeH="0" baseline="0">
                        <a:ln>
                          <a:noFill/>
                        </a:ln>
                        <a:solidFill>
                          <a:schemeClr val="tx1"/>
                        </a:solidFill>
                        <a:effectLst/>
                        <a:latin typeface="Verdana" pitchFamily="34" charset="0"/>
                        <a:ea typeface="Verdana" pitchFamily="34" charset="0"/>
                        <a:cs typeface="Verdana" pitchFamily="34" charset="0"/>
                      </a:endParaRPr>
                    </a:p>
                  </a:txBody>
                  <a:tcPr marL="84406" marR="84406"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24923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chemeClr val="tx1"/>
                          </a:solidFill>
                          <a:effectLst/>
                          <a:latin typeface="Verdana" pitchFamily="34" charset="0"/>
                          <a:cs typeface="Arial" charset="0"/>
                        </a:rPr>
                        <a:t>İşletme Sermayesi İhtiyacı (2)</a:t>
                      </a:r>
                      <a:endParaRPr kumimoji="0" lang="tr-TR" sz="1200" b="0" i="0" u="none" strike="noStrike" cap="none" normalizeH="0" baseline="0">
                        <a:ln>
                          <a:noFill/>
                        </a:ln>
                        <a:solidFill>
                          <a:schemeClr val="tx1"/>
                        </a:solidFill>
                        <a:effectLst/>
                        <a:latin typeface="Arial" charset="0"/>
                      </a:endParaRPr>
                    </a:p>
                  </a:txBody>
                  <a:tcPr marL="84406" marR="84406"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200" b="0" i="0" u="none" strike="noStrike" cap="none" normalizeH="0" baseline="0">
                        <a:ln>
                          <a:noFill/>
                        </a:ln>
                        <a:solidFill>
                          <a:schemeClr val="tx1"/>
                        </a:solidFill>
                        <a:effectLst/>
                        <a:latin typeface="Arial"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200" b="0" i="0" u="none" strike="noStrike" cap="none" normalizeH="0" baseline="0">
                        <a:ln>
                          <a:noFill/>
                        </a:ln>
                        <a:solidFill>
                          <a:schemeClr val="tx1"/>
                        </a:solidFill>
                        <a:effectLst/>
                        <a:latin typeface="Arial" charset="0"/>
                      </a:endParaRPr>
                    </a:p>
                  </a:txBody>
                  <a:tcPr marL="84406" marR="8440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200" b="0" i="0" u="none" strike="noStrike" cap="none" normalizeH="0" baseline="0">
                        <a:ln>
                          <a:noFill/>
                        </a:ln>
                        <a:solidFill>
                          <a:schemeClr val="tx1"/>
                        </a:solidFill>
                        <a:effectLst/>
                        <a:latin typeface="Arial" charset="0"/>
                      </a:endParaRPr>
                    </a:p>
                  </a:txBody>
                  <a:tcPr marL="84406" marR="84406"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250825">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chemeClr val="tx1"/>
                          </a:solidFill>
                          <a:effectLst/>
                          <a:latin typeface="Verdana" pitchFamily="34" charset="0"/>
                          <a:cs typeface="Arial" charset="0"/>
                        </a:rPr>
                        <a:t>Likidite Rasyosu (1)/(2)</a:t>
                      </a:r>
                      <a:endParaRPr kumimoji="0" lang="tr-TR" sz="1200" b="1" i="0" u="none" strike="noStrike" cap="none" normalizeH="0" baseline="0">
                        <a:ln>
                          <a:noFill/>
                        </a:ln>
                        <a:solidFill>
                          <a:schemeClr val="tx1"/>
                        </a:solidFill>
                        <a:effectLst/>
                        <a:latin typeface="Arial" charset="0"/>
                      </a:endParaRPr>
                    </a:p>
                  </a:txBody>
                  <a:tcPr marL="84406" marR="84406" anchor="b"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200" b="0" i="0" u="none" strike="noStrike" cap="none" normalizeH="0" baseline="0">
                        <a:ln>
                          <a:noFill/>
                        </a:ln>
                        <a:solidFill>
                          <a:schemeClr val="tx1"/>
                        </a:solidFill>
                        <a:effectLst/>
                        <a:latin typeface="Arial" charset="0"/>
                      </a:endParaRPr>
                    </a:p>
                  </a:txBody>
                  <a:tcPr marL="84406" marR="84406"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200" b="0" i="0" u="none" strike="noStrike" cap="none" normalizeH="0" baseline="0">
                        <a:ln>
                          <a:noFill/>
                        </a:ln>
                        <a:solidFill>
                          <a:schemeClr val="tx1"/>
                        </a:solidFill>
                        <a:effectLst/>
                        <a:latin typeface="Arial" charset="0"/>
                      </a:endParaRPr>
                    </a:p>
                  </a:txBody>
                  <a:tcPr marL="84406" marR="84406" anchor="b"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tr-TR" sz="1200" b="0" i="0" u="none" strike="noStrike" cap="none" normalizeH="0" baseline="0">
                        <a:ln>
                          <a:noFill/>
                        </a:ln>
                        <a:solidFill>
                          <a:schemeClr val="tx1"/>
                        </a:solidFill>
                        <a:effectLst/>
                        <a:latin typeface="Arial" charset="0"/>
                      </a:endParaRPr>
                    </a:p>
                  </a:txBody>
                  <a:tcPr marL="84406" marR="84406" anchor="b"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 name="TextBox 9"/>
          <p:cNvSpPr txBox="1"/>
          <p:nvPr/>
        </p:nvSpPr>
        <p:spPr>
          <a:xfrm>
            <a:off x="2411760" y="6381328"/>
            <a:ext cx="4039888" cy="338554"/>
          </a:xfrm>
          <a:prstGeom prst="rect">
            <a:avLst/>
          </a:prstGeom>
          <a:noFill/>
        </p:spPr>
        <p:txBody>
          <a:bodyPr wrap="none" rtlCol="0">
            <a:spAutoFit/>
          </a:bodyPr>
          <a:lstStyle/>
          <a:p>
            <a:r>
              <a:rPr lang="tr-TR" sz="1600" b="1">
                <a:latin typeface="Verdana" pitchFamily="34" charset="0"/>
                <a:ea typeface="Verdana" pitchFamily="34" charset="0"/>
                <a:cs typeface="Verdana" pitchFamily="34" charset="0"/>
              </a:rPr>
              <a:t>Yeni soru: Likiditeyi bozan nedir?</a:t>
            </a:r>
            <a:endParaRPr lang="en-GB" sz="1600" b="1">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482013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32440" y="6469286"/>
            <a:ext cx="587762" cy="372501"/>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FB9C792B-19ED-4730-92B2-ECF6F9FD6489}" type="slidenum">
              <a:rPr lang="tr-TR" sz="1200">
                <a:solidFill>
                  <a:schemeClr val="tx2"/>
                </a:solidFill>
                <a:latin typeface="Verdana" pitchFamily="34" charset="0"/>
              </a:rPr>
              <a:pPr marL="0" indent="0" eaLnBrk="1" hangingPunct="1">
                <a:buNone/>
              </a:pPr>
              <a:t>59</a:t>
            </a:fld>
            <a:endParaRPr lang="tr-TR" sz="1200">
              <a:solidFill>
                <a:schemeClr val="tx2"/>
              </a:solidFill>
              <a:latin typeface="Verdana" pitchFamily="34" charset="0"/>
            </a:endParaRPr>
          </a:p>
        </p:txBody>
      </p:sp>
      <p:sp>
        <p:nvSpPr>
          <p:cNvPr id="56324" name="Rectangle 2"/>
          <p:cNvSpPr>
            <a:spLocks noGrp="1" noChangeArrowheads="1"/>
          </p:cNvSpPr>
          <p:nvPr>
            <p:ph type="title"/>
          </p:nvPr>
        </p:nvSpPr>
        <p:spPr/>
        <p:txBody>
          <a:bodyPr/>
          <a:lstStyle/>
          <a:p>
            <a:pPr eaLnBrk="1" hangingPunct="1"/>
            <a:r>
              <a:rPr lang="tr-TR" sz="4000"/>
              <a:t>Likidite rasyosu</a:t>
            </a:r>
          </a:p>
        </p:txBody>
      </p:sp>
      <p:sp>
        <p:nvSpPr>
          <p:cNvPr id="56325" name="Rectangle 3"/>
          <p:cNvSpPr>
            <a:spLocks noGrp="1" noChangeArrowheads="1"/>
          </p:cNvSpPr>
          <p:nvPr>
            <p:ph type="body" idx="4294967295"/>
          </p:nvPr>
        </p:nvSpPr>
        <p:spPr>
          <a:xfrm>
            <a:off x="468313" y="1268413"/>
            <a:ext cx="8229600" cy="4862512"/>
          </a:xfrm>
          <a:prstGeom prst="rect">
            <a:avLst/>
          </a:prstGeom>
        </p:spPr>
        <p:txBody>
          <a:bodyPr/>
          <a:lstStyle/>
          <a:p>
            <a:pPr algn="just"/>
            <a:r>
              <a:rPr lang="tr-TR" sz="1600" b="1">
                <a:solidFill>
                  <a:srgbClr val="3333CC"/>
                </a:solidFill>
                <a:latin typeface="Verdana" pitchFamily="34" charset="0"/>
                <a:ea typeface="Verdana" pitchFamily="34" charset="0"/>
                <a:cs typeface="Verdana" pitchFamily="34" charset="0"/>
              </a:rPr>
              <a:t>Likidite rasyosu = Net UVF / İşletme Sermayesi İhtiyacı         </a:t>
            </a:r>
          </a:p>
          <a:p>
            <a:pPr algn="just">
              <a:spcAft>
                <a:spcPts val="1200"/>
              </a:spcAft>
            </a:pPr>
            <a:endParaRPr lang="tr-TR" sz="1600">
              <a:latin typeface="Verdana" pitchFamily="34" charset="0"/>
              <a:ea typeface="Verdana" pitchFamily="34" charset="0"/>
              <a:cs typeface="Verdana" pitchFamily="34" charset="0"/>
            </a:endParaRPr>
          </a:p>
          <a:p>
            <a:pPr algn="just">
              <a:spcAft>
                <a:spcPts val="1200"/>
              </a:spcAft>
            </a:pPr>
            <a:r>
              <a:rPr lang="tr-TR" sz="1600">
                <a:latin typeface="Verdana" pitchFamily="34" charset="0"/>
                <a:ea typeface="Verdana" pitchFamily="34" charset="0"/>
                <a:cs typeface="Verdana" pitchFamily="34" charset="0"/>
              </a:rPr>
              <a:t>Şirket işletme sermayesini ne kadar uzun vadeli kaynaklarla finanse ederse o kadar likittir. Geleceği çok parlak olabilecek bir firma, kısa süreli borçlarının vadelerinde ödenmesine gereken önemi vermemesi nedeniyle başlangıçta başarısızlığa uğrayabilir. </a:t>
            </a:r>
          </a:p>
          <a:p>
            <a:pPr indent="-360000" algn="just">
              <a:lnSpc>
                <a:spcPts val="2200"/>
              </a:lnSpc>
            </a:pPr>
            <a:r>
              <a:rPr lang="tr-TR" sz="1600">
                <a:latin typeface="Verdana" pitchFamily="34" charset="0"/>
                <a:ea typeface="Verdana" pitchFamily="34" charset="0"/>
                <a:cs typeface="Verdana" pitchFamily="34" charset="0"/>
              </a:rPr>
              <a:t>İşletme sermayesi ihtiyacı olmayan şirketler için likidite rasyosunun bir anlamı yoktur.</a:t>
            </a:r>
          </a:p>
          <a:p>
            <a:pPr indent="-360000" algn="just">
              <a:lnSpc>
                <a:spcPts val="2200"/>
              </a:lnSpc>
            </a:pPr>
            <a:r>
              <a:rPr lang="tr-TR" sz="1600">
                <a:latin typeface="Verdana" pitchFamily="34" charset="0"/>
                <a:ea typeface="Verdana" pitchFamily="34" charset="0"/>
                <a:cs typeface="Verdana" pitchFamily="34" charset="0"/>
              </a:rPr>
              <a:t>Net uzun vadeli finansmanı eksi olan şirketler için de bir anlamı yoktur. Bu tarz şirketler bırakın işletme sermayesi ihtiyacını, uzun vadeli sabit kıymetlerinin bile bir kısmını kısa vadeli finanse etmektedirler.</a:t>
            </a:r>
          </a:p>
          <a:p>
            <a:pPr lvl="3" algn="just" eaLnBrk="1" hangingPunct="1">
              <a:buFont typeface="Wingdings" pitchFamily="2" charset="2"/>
              <a:buNone/>
            </a:pPr>
            <a:endParaRPr lang="tr-TR" sz="1000" b="1">
              <a:solidFill>
                <a:srgbClr val="3333CC"/>
              </a:solidFill>
              <a:latin typeface="Verdana" pitchFamily="34" charset="0"/>
              <a:ea typeface="Verdana" pitchFamily="34" charset="0"/>
              <a:cs typeface="Verdana" pitchFamily="34" charset="0"/>
            </a:endParaRPr>
          </a:p>
          <a:p>
            <a:pPr lvl="4" algn="just">
              <a:spcAft>
                <a:spcPts val="1200"/>
              </a:spcAft>
            </a:pPr>
            <a:endParaRPr lang="tr-TR" sz="4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0796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32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32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32440" y="6469287"/>
            <a:ext cx="611560" cy="407006"/>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24B8F324-B472-4263-9E26-5483C28D85A1}" type="slidenum">
              <a:rPr lang="tr-TR" sz="1200">
                <a:solidFill>
                  <a:schemeClr val="tx2"/>
                </a:solidFill>
                <a:latin typeface="Verdana" pitchFamily="34" charset="0"/>
              </a:rPr>
              <a:pPr marL="0" indent="0" eaLnBrk="1" hangingPunct="1">
                <a:buNone/>
              </a:pPr>
              <a:t>60</a:t>
            </a:fld>
            <a:endParaRPr lang="tr-TR" sz="1200">
              <a:solidFill>
                <a:schemeClr val="tx2"/>
              </a:solidFill>
              <a:latin typeface="Verdana" pitchFamily="34" charset="0"/>
            </a:endParaRPr>
          </a:p>
        </p:txBody>
      </p:sp>
      <p:sp>
        <p:nvSpPr>
          <p:cNvPr id="61444" name="Rectangle 2"/>
          <p:cNvSpPr>
            <a:spLocks noGrp="1" noChangeArrowheads="1"/>
          </p:cNvSpPr>
          <p:nvPr>
            <p:ph type="title"/>
          </p:nvPr>
        </p:nvSpPr>
        <p:spPr/>
        <p:txBody>
          <a:bodyPr/>
          <a:lstStyle/>
          <a:p>
            <a:pPr eaLnBrk="1" hangingPunct="1"/>
            <a:r>
              <a:rPr lang="tr-TR" sz="4000"/>
              <a:t>Diğer Likidite Rasyoları</a:t>
            </a:r>
          </a:p>
        </p:txBody>
      </p:sp>
      <p:sp>
        <p:nvSpPr>
          <p:cNvPr id="61445" name="Rectangle 3"/>
          <p:cNvSpPr>
            <a:spLocks noGrp="1" noChangeArrowheads="1"/>
          </p:cNvSpPr>
          <p:nvPr>
            <p:ph type="body" idx="4294967295"/>
          </p:nvPr>
        </p:nvSpPr>
        <p:spPr>
          <a:xfrm>
            <a:off x="457200" y="1268413"/>
            <a:ext cx="8229600" cy="4862512"/>
          </a:xfrm>
          <a:prstGeom prst="rect">
            <a:avLst/>
          </a:prstGeom>
        </p:spPr>
        <p:txBody>
          <a:bodyPr/>
          <a:lstStyle/>
          <a:p>
            <a:pPr algn="just" eaLnBrk="1" hangingPunct="1">
              <a:lnSpc>
                <a:spcPct val="90000"/>
              </a:lnSpc>
            </a:pPr>
            <a:r>
              <a:rPr lang="tr-TR" sz="1600">
                <a:latin typeface="Verdana" pitchFamily="34" charset="0"/>
                <a:ea typeface="Verdana" pitchFamily="34" charset="0"/>
                <a:cs typeface="Verdana" pitchFamily="34" charset="0"/>
              </a:rPr>
              <a:t>Klasik işletme sermayesi tanımının farkı şirkete ‘devam eden bir varlık’ bakışı yerine ‘tasfiye edilirse ne olur’ anlayışı ile bakmasıdır.</a:t>
            </a:r>
          </a:p>
          <a:p>
            <a:pPr algn="just" eaLnBrk="1" hangingPunct="1">
              <a:lnSpc>
                <a:spcPct val="90000"/>
              </a:lnSpc>
            </a:pPr>
            <a:endParaRPr lang="tr-TR" sz="1600">
              <a:solidFill>
                <a:srgbClr val="3333CC"/>
              </a:solidFill>
              <a:latin typeface="Verdana" pitchFamily="34" charset="0"/>
              <a:ea typeface="Verdana" pitchFamily="34" charset="0"/>
              <a:cs typeface="Verdana" pitchFamily="34" charset="0"/>
            </a:endParaRPr>
          </a:p>
          <a:p>
            <a:pPr algn="just" eaLnBrk="1" hangingPunct="1">
              <a:lnSpc>
                <a:spcPct val="90000"/>
              </a:lnSpc>
            </a:pPr>
            <a:r>
              <a:rPr lang="tr-TR" sz="1600" b="1">
                <a:latin typeface="Verdana" pitchFamily="34" charset="0"/>
                <a:ea typeface="Verdana" pitchFamily="34" charset="0"/>
                <a:cs typeface="Verdana" pitchFamily="34" charset="0"/>
              </a:rPr>
              <a:t>Net işletme sermayesi = Dönen varlıklar – Kısa Vadeli Borçlar</a:t>
            </a:r>
          </a:p>
          <a:p>
            <a:pPr algn="just" eaLnBrk="1" hangingPunct="1">
              <a:lnSpc>
                <a:spcPct val="90000"/>
              </a:lnSpc>
            </a:pPr>
            <a:endParaRPr lang="tr-TR" sz="1600">
              <a:latin typeface="Verdana" pitchFamily="34" charset="0"/>
              <a:ea typeface="Verdana" pitchFamily="34" charset="0"/>
              <a:cs typeface="Verdana" pitchFamily="34" charset="0"/>
            </a:endParaRPr>
          </a:p>
          <a:p>
            <a:pPr algn="just" eaLnBrk="1" hangingPunct="1">
              <a:lnSpc>
                <a:spcPct val="90000"/>
              </a:lnSpc>
            </a:pPr>
            <a:r>
              <a:rPr lang="tr-TR" sz="1600">
                <a:latin typeface="Verdana" pitchFamily="34" charset="0"/>
                <a:ea typeface="Verdana" pitchFamily="34" charset="0"/>
                <a:cs typeface="Verdana" pitchFamily="34" charset="0"/>
              </a:rPr>
              <a:t>Yani şirket tasfiye edilirse kısa vadeli varlıklar ile kısa vadeli (acil ödenmesi gereken) borçların ne kadarını ödeyebileceği ölçülmektedir. </a:t>
            </a:r>
          </a:p>
          <a:p>
            <a:pPr algn="just" eaLnBrk="1" hangingPunct="1">
              <a:lnSpc>
                <a:spcPct val="90000"/>
              </a:lnSpc>
            </a:pPr>
            <a:endParaRPr lang="tr-TR" sz="1600">
              <a:latin typeface="Verdana" pitchFamily="34" charset="0"/>
              <a:ea typeface="Verdana" pitchFamily="34" charset="0"/>
              <a:cs typeface="Verdana" pitchFamily="34" charset="0"/>
            </a:endParaRPr>
          </a:p>
          <a:p>
            <a:pPr algn="just" eaLnBrk="1" hangingPunct="1">
              <a:lnSpc>
                <a:spcPct val="90000"/>
              </a:lnSpc>
            </a:pPr>
            <a:r>
              <a:rPr lang="tr-TR" sz="1600">
                <a:latin typeface="Verdana" pitchFamily="34" charset="0"/>
                <a:ea typeface="Verdana" pitchFamily="34" charset="0"/>
                <a:cs typeface="Verdana" pitchFamily="34" charset="0"/>
              </a:rPr>
              <a:t>En çok kullanılan likidite oranlarından cari oran klasik işletme sermayesi tanımına uygundur.</a:t>
            </a:r>
          </a:p>
          <a:p>
            <a:pPr algn="just" eaLnBrk="1" hangingPunct="1">
              <a:lnSpc>
                <a:spcPct val="90000"/>
              </a:lnSpc>
            </a:pPr>
            <a:endParaRPr lang="tr-TR" sz="1600">
              <a:solidFill>
                <a:srgbClr val="3333CC"/>
              </a:solidFill>
              <a:latin typeface="Verdana" pitchFamily="34" charset="0"/>
              <a:ea typeface="Verdana" pitchFamily="34" charset="0"/>
              <a:cs typeface="Verdana" pitchFamily="34" charset="0"/>
            </a:endParaRPr>
          </a:p>
          <a:p>
            <a:pPr algn="just" eaLnBrk="1" hangingPunct="1">
              <a:lnSpc>
                <a:spcPct val="90000"/>
              </a:lnSpc>
            </a:pPr>
            <a:r>
              <a:rPr lang="tr-TR" sz="1600" b="1">
                <a:latin typeface="Verdana" pitchFamily="34" charset="0"/>
                <a:ea typeface="Verdana" pitchFamily="34" charset="0"/>
                <a:cs typeface="Verdana" pitchFamily="34" charset="0"/>
              </a:rPr>
              <a:t>Cari oran = </a:t>
            </a:r>
            <a:r>
              <a:rPr lang="tr-TR" sz="1600" b="1" u="sng">
                <a:latin typeface="Verdana" pitchFamily="34" charset="0"/>
                <a:ea typeface="Verdana" pitchFamily="34" charset="0"/>
                <a:cs typeface="Verdana" pitchFamily="34" charset="0"/>
              </a:rPr>
              <a:t>     Dönen varlıklar        </a:t>
            </a:r>
            <a:endParaRPr lang="tr-TR" sz="1600" b="1">
              <a:latin typeface="Verdana" pitchFamily="34" charset="0"/>
              <a:ea typeface="Verdana" pitchFamily="34" charset="0"/>
              <a:cs typeface="Verdana" pitchFamily="34" charset="0"/>
            </a:endParaRPr>
          </a:p>
          <a:p>
            <a:pPr algn="just" eaLnBrk="1" hangingPunct="1">
              <a:lnSpc>
                <a:spcPct val="90000"/>
              </a:lnSpc>
              <a:buFont typeface="Wingdings" pitchFamily="2" charset="2"/>
              <a:buNone/>
            </a:pPr>
            <a:r>
              <a:rPr lang="tr-TR" sz="1600" b="1">
                <a:latin typeface="Verdana" pitchFamily="34" charset="0"/>
                <a:ea typeface="Verdana" pitchFamily="34" charset="0"/>
                <a:cs typeface="Verdana" pitchFamily="34" charset="0"/>
              </a:rPr>
              <a:t>                        Kısa vadeli borçlar</a:t>
            </a:r>
          </a:p>
          <a:p>
            <a:pPr algn="just" eaLnBrk="1" hangingPunct="1">
              <a:lnSpc>
                <a:spcPct val="90000"/>
              </a:lnSpc>
            </a:pPr>
            <a:endParaRPr lang="tr-TR" sz="1600">
              <a:latin typeface="Verdana" pitchFamily="34" charset="0"/>
              <a:ea typeface="Verdana" pitchFamily="34" charset="0"/>
              <a:cs typeface="Verdana" pitchFamily="34" charset="0"/>
            </a:endParaRPr>
          </a:p>
          <a:p>
            <a:pPr algn="just" eaLnBrk="1" hangingPunct="1">
              <a:lnSpc>
                <a:spcPct val="90000"/>
              </a:lnSpc>
            </a:pPr>
            <a:r>
              <a:rPr lang="tr-TR" sz="1600">
                <a:latin typeface="Verdana" pitchFamily="34" charset="0"/>
                <a:ea typeface="Verdana" pitchFamily="34" charset="0"/>
                <a:cs typeface="Verdana" pitchFamily="34" charset="0"/>
              </a:rPr>
              <a:t>Cari oranın hesaplanmasında dönen varlıkları oluşturan kalemler ve kısa vadeli borçların nitelikleri dikkate alınmalıdır. Cari oran, likidite oranı, alacak tahsil süresi ve stok devir hızı ile birlikte incelenmelidir.</a:t>
            </a:r>
            <a:endParaRPr lang="tr-TR" sz="1600">
              <a:solidFill>
                <a:srgbClr val="3333CC"/>
              </a:solidFill>
              <a:latin typeface="Verdana" pitchFamily="34" charset="0"/>
              <a:ea typeface="Verdana" pitchFamily="34" charset="0"/>
              <a:cs typeface="Verdana" pitchFamily="34" charset="0"/>
            </a:endParaRPr>
          </a:p>
          <a:p>
            <a:pPr algn="just" eaLnBrk="1" hangingPunct="1">
              <a:lnSpc>
                <a:spcPct val="90000"/>
              </a:lnSpc>
            </a:pPr>
            <a:endParaRPr lang="tr-TR" sz="16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39080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4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4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4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445">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44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6"/>
            <a:ext cx="550260"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F7A02621-782B-4359-A75A-E3B4858CEE4F}" type="slidenum">
              <a:rPr lang="tr-TR" sz="1200">
                <a:solidFill>
                  <a:schemeClr val="tx2"/>
                </a:solidFill>
                <a:latin typeface="Verdana" pitchFamily="34" charset="0"/>
              </a:rPr>
              <a:pPr marL="0" indent="0" eaLnBrk="1" hangingPunct="1">
                <a:buNone/>
              </a:pPr>
              <a:t>61</a:t>
            </a:fld>
            <a:endParaRPr lang="tr-TR" sz="1200">
              <a:solidFill>
                <a:schemeClr val="tx2"/>
              </a:solidFill>
              <a:latin typeface="Verdana" pitchFamily="34" charset="0"/>
            </a:endParaRPr>
          </a:p>
        </p:txBody>
      </p:sp>
      <p:sp>
        <p:nvSpPr>
          <p:cNvPr id="62468" name="Rectangle 2"/>
          <p:cNvSpPr>
            <a:spLocks noGrp="1" noChangeArrowheads="1"/>
          </p:cNvSpPr>
          <p:nvPr>
            <p:ph type="title"/>
          </p:nvPr>
        </p:nvSpPr>
        <p:spPr/>
        <p:txBody>
          <a:bodyPr/>
          <a:lstStyle/>
          <a:p>
            <a:pPr eaLnBrk="1" hangingPunct="1"/>
            <a:r>
              <a:rPr lang="tr-TR" sz="4000"/>
              <a:t>Asit Test Oranı</a:t>
            </a:r>
          </a:p>
        </p:txBody>
      </p:sp>
      <p:sp>
        <p:nvSpPr>
          <p:cNvPr id="62469" name="Rectangle 3"/>
          <p:cNvSpPr>
            <a:spLocks noGrp="1" noChangeArrowheads="1"/>
          </p:cNvSpPr>
          <p:nvPr>
            <p:ph type="body" idx="4294967295"/>
          </p:nvPr>
        </p:nvSpPr>
        <p:spPr>
          <a:xfrm>
            <a:off x="468313" y="1341438"/>
            <a:ext cx="8229600" cy="4789487"/>
          </a:xfrm>
          <a:prstGeom prst="rect">
            <a:avLst/>
          </a:prstGeom>
        </p:spPr>
        <p:txBody>
          <a:bodyPr/>
          <a:lstStyle/>
          <a:p>
            <a:pPr algn="just" eaLnBrk="1" hangingPunct="1"/>
            <a:r>
              <a:rPr lang="tr-TR" sz="1600">
                <a:latin typeface="Verdana" pitchFamily="34" charset="0"/>
                <a:ea typeface="Verdana" pitchFamily="34" charset="0"/>
                <a:cs typeface="Verdana" pitchFamily="34" charset="0"/>
              </a:rPr>
              <a:t>Asit test oranı, cari oranı tamamlayan bir orandır. Bu oran hesaplanırken dönen varlıklar iki gruba ayrılmaktadır. </a:t>
            </a:r>
          </a:p>
          <a:p>
            <a:pPr marL="762000" lvl="1" indent="-304800" algn="just" eaLnBrk="1" hangingPunct="1"/>
            <a:r>
              <a:rPr lang="tr-TR" sz="1600">
                <a:latin typeface="Verdana" pitchFamily="34" charset="0"/>
                <a:ea typeface="Verdana" pitchFamily="34" charset="0"/>
                <a:cs typeface="Verdana" pitchFamily="34" charset="0"/>
              </a:rPr>
              <a:t>Para mevcudu ve kolaylıkla değer kaybına uğramadan paraya çevrilebilen iktisadi değerler</a:t>
            </a:r>
          </a:p>
          <a:p>
            <a:pPr marL="762000" lvl="1" indent="-304800" algn="just" eaLnBrk="1" hangingPunct="1"/>
            <a:r>
              <a:rPr lang="tr-TR" sz="1600">
                <a:latin typeface="Verdana" pitchFamily="34" charset="0"/>
                <a:ea typeface="Verdana" pitchFamily="34" charset="0"/>
                <a:cs typeface="Verdana" pitchFamily="34" charset="0"/>
              </a:rPr>
              <a:t>Likiditesi nispeten düşük değerler (stoklar gibi)</a:t>
            </a:r>
          </a:p>
          <a:p>
            <a:pPr algn="just" eaLnBrk="1" hangingPunct="1"/>
            <a:r>
              <a:rPr lang="tr-TR" sz="1600">
                <a:latin typeface="Verdana" pitchFamily="34" charset="0"/>
                <a:ea typeface="Verdana" pitchFamily="34" charset="0"/>
                <a:cs typeface="Verdana" pitchFamily="34" charset="0"/>
              </a:rPr>
              <a:t>Likiditesi yüksek değerlerin kısa vadeli borçlara bölünmesi, </a:t>
            </a:r>
            <a:r>
              <a:rPr lang="tr-TR" sz="1600" b="1">
                <a:latin typeface="Verdana" pitchFamily="34" charset="0"/>
                <a:ea typeface="Verdana" pitchFamily="34" charset="0"/>
                <a:cs typeface="Verdana" pitchFamily="34" charset="0"/>
              </a:rPr>
              <a:t>“asit test oranı" </a:t>
            </a:r>
            <a:r>
              <a:rPr lang="tr-TR" sz="1600">
                <a:latin typeface="Verdana" pitchFamily="34" charset="0"/>
                <a:ea typeface="Verdana" pitchFamily="34" charset="0"/>
                <a:cs typeface="Verdana" pitchFamily="34" charset="0"/>
              </a:rPr>
              <a:t>olarak adlandırılmaktadır. Bu oran firmanın bir yıl içinde likit değerleri ile mevcut borçlarının % kaçını karşılayabileceğini gösterir.</a:t>
            </a:r>
          </a:p>
          <a:p>
            <a:pPr algn="just" eaLnBrk="1" hangingPunct="1"/>
            <a:endParaRPr lang="tr-TR" sz="1600">
              <a:latin typeface="Verdana" pitchFamily="34" charset="0"/>
              <a:ea typeface="Verdana" pitchFamily="34" charset="0"/>
              <a:cs typeface="Verdana" pitchFamily="34" charset="0"/>
            </a:endParaRPr>
          </a:p>
          <a:p>
            <a:pPr algn="just" eaLnBrk="1" hangingPunct="1"/>
            <a:r>
              <a:rPr lang="tr-TR" sz="1600" b="1">
                <a:latin typeface="Verdana" pitchFamily="34" charset="0"/>
                <a:ea typeface="Verdana" pitchFamily="34" charset="0"/>
                <a:cs typeface="Verdana" pitchFamily="34" charset="0"/>
              </a:rPr>
              <a:t>Asit Test Oranı= </a:t>
            </a:r>
            <a:r>
              <a:rPr lang="tr-TR" sz="1600" b="1" u="sng">
                <a:latin typeface="Verdana" pitchFamily="34" charset="0"/>
                <a:ea typeface="Verdana" pitchFamily="34" charset="0"/>
                <a:cs typeface="Verdana" pitchFamily="34" charset="0"/>
              </a:rPr>
              <a:t> Kasa + Bankalar + Menkul Değerler + Alacaklar</a:t>
            </a:r>
            <a:endParaRPr lang="tr-TR" sz="1600" b="1">
              <a:latin typeface="Verdana" pitchFamily="34" charset="0"/>
              <a:ea typeface="Verdana" pitchFamily="34" charset="0"/>
              <a:cs typeface="Verdana" pitchFamily="34" charset="0"/>
            </a:endParaRPr>
          </a:p>
          <a:p>
            <a:pPr algn="just" eaLnBrk="1" hangingPunct="1">
              <a:buFont typeface="Wingdings" pitchFamily="2" charset="2"/>
              <a:buNone/>
            </a:pPr>
            <a:r>
              <a:rPr lang="tr-TR" sz="1600" b="1">
                <a:latin typeface="Verdana" pitchFamily="34" charset="0"/>
                <a:ea typeface="Verdana" pitchFamily="34" charset="0"/>
                <a:cs typeface="Verdana" pitchFamily="34" charset="0"/>
              </a:rPr>
              <a:t>             			            Kısa Vadeli Borçlar</a:t>
            </a:r>
          </a:p>
          <a:p>
            <a:pPr algn="just" eaLnBrk="1" hangingPunct="1"/>
            <a:r>
              <a:rPr lang="tr-TR" sz="1600">
                <a:latin typeface="Verdana" pitchFamily="34" charset="0"/>
                <a:ea typeface="Verdana" pitchFamily="34" charset="0"/>
                <a:cs typeface="Verdana" pitchFamily="34" charset="0"/>
              </a:rPr>
              <a:t>Bu oranının %100 dolayında olması, firmanın likiditesi yüksek değerlerini paraya çevirdiği taktirde kısa vadeli borçlarını ödeme gücü olduğunu gösterir.</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9093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46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46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46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46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46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46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B8383-0E4A-B696-0A72-231CC49D41A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7045009-1837-33E5-BE65-A7F589BD8224}"/>
              </a:ext>
            </a:extLst>
          </p:cNvPr>
          <p:cNvSpPr>
            <a:spLocks noGrp="1"/>
          </p:cNvSpPr>
          <p:nvPr>
            <p:ph type="sldNum" sz="quarter" idx="10"/>
          </p:nvPr>
        </p:nvSpPr>
        <p:spPr>
          <a:xfrm>
            <a:off x="8604448" y="6469286"/>
            <a:ext cx="550260"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F7A02621-782B-4359-A75A-E3B4858CEE4F}" type="slidenum">
              <a:rPr lang="tr-TR" sz="1200">
                <a:solidFill>
                  <a:schemeClr val="tx2"/>
                </a:solidFill>
                <a:latin typeface="Verdana" pitchFamily="34" charset="0"/>
              </a:rPr>
              <a:pPr marL="0" indent="0" eaLnBrk="1" hangingPunct="1">
                <a:buNone/>
              </a:pPr>
              <a:t>62</a:t>
            </a:fld>
            <a:endParaRPr lang="tr-TR" sz="1200">
              <a:solidFill>
                <a:schemeClr val="tx2"/>
              </a:solidFill>
              <a:latin typeface="Verdana" pitchFamily="34" charset="0"/>
            </a:endParaRPr>
          </a:p>
        </p:txBody>
      </p:sp>
      <p:sp>
        <p:nvSpPr>
          <p:cNvPr id="62468" name="Rectangle 2">
            <a:extLst>
              <a:ext uri="{FF2B5EF4-FFF2-40B4-BE49-F238E27FC236}">
                <a16:creationId xmlns:a16="http://schemas.microsoft.com/office/drawing/2014/main" id="{AD8A9CE5-4B80-94B3-035B-E016F515B018}"/>
              </a:ext>
            </a:extLst>
          </p:cNvPr>
          <p:cNvSpPr>
            <a:spLocks noGrp="1" noChangeArrowheads="1"/>
          </p:cNvSpPr>
          <p:nvPr>
            <p:ph type="title"/>
          </p:nvPr>
        </p:nvSpPr>
        <p:spPr/>
        <p:txBody>
          <a:bodyPr/>
          <a:lstStyle/>
          <a:p>
            <a:pPr eaLnBrk="1" hangingPunct="1"/>
            <a:r>
              <a:rPr lang="tr-TR" sz="4000" dirty="0"/>
              <a:t>Türkiye ortalaması </a:t>
            </a:r>
            <a:r>
              <a:rPr lang="tr-TR" sz="1800" dirty="0"/>
              <a:t>(Kaynak: TCMB)</a:t>
            </a:r>
            <a:endParaRPr lang="tr-TR" sz="4000" dirty="0"/>
          </a:p>
        </p:txBody>
      </p:sp>
      <p:pic>
        <p:nvPicPr>
          <p:cNvPr id="6" name="Picture 5">
            <a:extLst>
              <a:ext uri="{FF2B5EF4-FFF2-40B4-BE49-F238E27FC236}">
                <a16:creationId xmlns:a16="http://schemas.microsoft.com/office/drawing/2014/main" id="{A10F3CC8-E001-E8F4-F866-AD2B7996DA4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pic>
        <p:nvPicPr>
          <p:cNvPr id="3" name="Picture 2">
            <a:extLst>
              <a:ext uri="{FF2B5EF4-FFF2-40B4-BE49-F238E27FC236}">
                <a16:creationId xmlns:a16="http://schemas.microsoft.com/office/drawing/2014/main" id="{B0E0C8ED-FCF0-3D0C-0E3F-B7641F089436}"/>
              </a:ext>
            </a:extLst>
          </p:cNvPr>
          <p:cNvPicPr>
            <a:picLocks noChangeAspect="1"/>
          </p:cNvPicPr>
          <p:nvPr/>
        </p:nvPicPr>
        <p:blipFill>
          <a:blip r:embed="rId3"/>
          <a:stretch>
            <a:fillRect/>
          </a:stretch>
        </p:blipFill>
        <p:spPr>
          <a:xfrm>
            <a:off x="1907704" y="2166333"/>
            <a:ext cx="5510842" cy="3312368"/>
          </a:xfrm>
          <a:prstGeom prst="rect">
            <a:avLst/>
          </a:prstGeom>
        </p:spPr>
      </p:pic>
    </p:spTree>
    <p:extLst>
      <p:ext uri="{BB962C8B-B14F-4D97-AF65-F5344CB8AC3E}">
        <p14:creationId xmlns:p14="http://schemas.microsoft.com/office/powerpoint/2010/main" val="29950943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63</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468313" y="260350"/>
            <a:ext cx="8229600" cy="774700"/>
          </a:xfrm>
        </p:spPr>
        <p:txBody>
          <a:bodyPr/>
          <a:lstStyle/>
          <a:p>
            <a:pPr eaLnBrk="1" hangingPunct="1"/>
            <a:r>
              <a:rPr lang="tr-TR" sz="4000"/>
              <a:t>Brisa Finansal Durum Analizi</a:t>
            </a:r>
          </a:p>
        </p:txBody>
      </p:sp>
      <p:pic>
        <p:nvPicPr>
          <p:cNvPr id="2" name="Picture 1">
            <a:extLst>
              <a:ext uri="{FF2B5EF4-FFF2-40B4-BE49-F238E27FC236}">
                <a16:creationId xmlns:a16="http://schemas.microsoft.com/office/drawing/2014/main" id="{E26430C1-6885-43AE-82E2-3D5A46108DF0}"/>
              </a:ext>
            </a:extLst>
          </p:cNvPr>
          <p:cNvPicPr>
            <a:picLocks noChangeAspect="1"/>
          </p:cNvPicPr>
          <p:nvPr/>
        </p:nvPicPr>
        <p:blipFill>
          <a:blip r:embed="rId2"/>
          <a:stretch>
            <a:fillRect/>
          </a:stretch>
        </p:blipFill>
        <p:spPr>
          <a:xfrm>
            <a:off x="899592" y="1123528"/>
            <a:ext cx="7354255" cy="5545832"/>
          </a:xfrm>
          <a:prstGeom prst="rect">
            <a:avLst/>
          </a:prstGeom>
        </p:spPr>
      </p:pic>
    </p:spTree>
    <p:extLst>
      <p:ext uri="{BB962C8B-B14F-4D97-AF65-F5344CB8AC3E}">
        <p14:creationId xmlns:p14="http://schemas.microsoft.com/office/powerpoint/2010/main" val="684463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64</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662880" y="206028"/>
            <a:ext cx="8229600" cy="774700"/>
          </a:xfrm>
        </p:spPr>
        <p:txBody>
          <a:bodyPr/>
          <a:lstStyle/>
          <a:p>
            <a:pPr eaLnBrk="1" hangingPunct="1"/>
            <a:r>
              <a:rPr lang="tr-TR" sz="4000" err="1"/>
              <a:t>Goodyear</a:t>
            </a:r>
            <a:r>
              <a:rPr lang="tr-TR" sz="4000"/>
              <a:t> Finansal Durum Analizi</a:t>
            </a:r>
          </a:p>
        </p:txBody>
      </p:sp>
      <p:pic>
        <p:nvPicPr>
          <p:cNvPr id="2" name="Picture 1">
            <a:extLst>
              <a:ext uri="{FF2B5EF4-FFF2-40B4-BE49-F238E27FC236}">
                <a16:creationId xmlns:a16="http://schemas.microsoft.com/office/drawing/2014/main" id="{BB2B3F2A-E1E9-47D8-9E04-CF7B09AE3227}"/>
              </a:ext>
            </a:extLst>
          </p:cNvPr>
          <p:cNvPicPr>
            <a:picLocks noChangeAspect="1"/>
          </p:cNvPicPr>
          <p:nvPr/>
        </p:nvPicPr>
        <p:blipFill>
          <a:blip r:embed="rId2"/>
          <a:stretch>
            <a:fillRect/>
          </a:stretch>
        </p:blipFill>
        <p:spPr>
          <a:xfrm>
            <a:off x="971599" y="1124744"/>
            <a:ext cx="7354255" cy="5545832"/>
          </a:xfrm>
          <a:prstGeom prst="rect">
            <a:avLst/>
          </a:prstGeom>
        </p:spPr>
      </p:pic>
    </p:spTree>
    <p:extLst>
      <p:ext uri="{BB962C8B-B14F-4D97-AF65-F5344CB8AC3E}">
        <p14:creationId xmlns:p14="http://schemas.microsoft.com/office/powerpoint/2010/main" val="13895725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65</a:t>
            </a:fld>
            <a:endParaRPr lang="tr-TR" sz="1200">
              <a:solidFill>
                <a:schemeClr val="tx2"/>
              </a:solidFill>
              <a:latin typeface="Verdana" pitchFamily="34" charset="0"/>
            </a:endParaRPr>
          </a:p>
        </p:txBody>
      </p:sp>
      <p:sp>
        <p:nvSpPr>
          <p:cNvPr id="9" name="Rectangle 2"/>
          <p:cNvSpPr>
            <a:spLocks noGrp="1" noChangeArrowheads="1"/>
          </p:cNvSpPr>
          <p:nvPr>
            <p:ph type="title"/>
          </p:nvPr>
        </p:nvSpPr>
        <p:spPr>
          <a:xfrm>
            <a:off x="611560" y="-99392"/>
            <a:ext cx="8229600" cy="774700"/>
          </a:xfrm>
        </p:spPr>
        <p:txBody>
          <a:bodyPr/>
          <a:lstStyle/>
          <a:p>
            <a:r>
              <a:rPr lang="tr-TR" sz="3600"/>
              <a:t>Konsept Çalışması: </a:t>
            </a:r>
            <a:br>
              <a:rPr lang="tr-TR" sz="3600"/>
            </a:br>
            <a:r>
              <a:rPr lang="tr-TR" sz="3600"/>
              <a:t>Finansal Durum Analizi</a:t>
            </a:r>
          </a:p>
        </p:txBody>
      </p:sp>
      <p:sp>
        <p:nvSpPr>
          <p:cNvPr id="8" name="Rectangle 3"/>
          <p:cNvSpPr txBox="1">
            <a:spLocks noChangeArrowheads="1"/>
          </p:cNvSpPr>
          <p:nvPr/>
        </p:nvSpPr>
        <p:spPr>
          <a:xfrm>
            <a:off x="6732240" y="1196752"/>
            <a:ext cx="1965672" cy="4934173"/>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tr-TR" sz="1600">
                <a:latin typeface="Verdana" pitchFamily="34" charset="0"/>
                <a:ea typeface="Verdana" pitchFamily="34" charset="0"/>
                <a:cs typeface="Verdana" pitchFamily="34" charset="0"/>
              </a:rPr>
              <a:t>Brisa 2017 sonuçlarını açıklamıştır. </a:t>
            </a:r>
          </a:p>
          <a:p>
            <a:pPr>
              <a:buFont typeface="Wingdings" panose="05000000000000000000" pitchFamily="2" charset="2"/>
              <a:buChar char="v"/>
            </a:pPr>
            <a:endParaRPr lang="tr-TR" sz="1600">
              <a:latin typeface="Verdana" pitchFamily="34" charset="0"/>
              <a:ea typeface="Verdana" pitchFamily="34" charset="0"/>
              <a:cs typeface="Verdana" pitchFamily="34" charset="0"/>
            </a:endParaRPr>
          </a:p>
          <a:p>
            <a:pPr>
              <a:buFont typeface="Wingdings" panose="05000000000000000000" pitchFamily="2" charset="2"/>
              <a:buChar char="v"/>
            </a:pPr>
            <a:r>
              <a:rPr lang="tr-TR" sz="1600">
                <a:latin typeface="Verdana" pitchFamily="34" charset="0"/>
                <a:ea typeface="Verdana" pitchFamily="34" charset="0"/>
                <a:cs typeface="Verdana" pitchFamily="34" charset="0"/>
              </a:rPr>
              <a:t>Analiz eder misiniz? </a:t>
            </a:r>
          </a:p>
        </p:txBody>
      </p:sp>
      <p:pic>
        <p:nvPicPr>
          <p:cNvPr id="2" name="Picture 1">
            <a:extLst>
              <a:ext uri="{FF2B5EF4-FFF2-40B4-BE49-F238E27FC236}">
                <a16:creationId xmlns:a16="http://schemas.microsoft.com/office/drawing/2014/main" id="{BE321E01-D231-4486-89D7-3280BC8A6F19}"/>
              </a:ext>
            </a:extLst>
          </p:cNvPr>
          <p:cNvPicPr>
            <a:picLocks noChangeAspect="1"/>
          </p:cNvPicPr>
          <p:nvPr/>
        </p:nvPicPr>
        <p:blipFill>
          <a:blip r:embed="rId2"/>
          <a:stretch>
            <a:fillRect/>
          </a:stretch>
        </p:blipFill>
        <p:spPr>
          <a:xfrm>
            <a:off x="683568" y="1163661"/>
            <a:ext cx="4176464" cy="5434845"/>
          </a:xfrm>
          <a:prstGeom prst="rect">
            <a:avLst/>
          </a:prstGeom>
        </p:spPr>
      </p:pic>
    </p:spTree>
    <p:extLst>
      <p:ext uri="{BB962C8B-B14F-4D97-AF65-F5344CB8AC3E}">
        <p14:creationId xmlns:p14="http://schemas.microsoft.com/office/powerpoint/2010/main" val="300576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66</a:t>
            </a:fld>
            <a:endParaRPr lang="tr-TR" sz="1200">
              <a:solidFill>
                <a:schemeClr val="tx2"/>
              </a:solidFill>
              <a:latin typeface="Verdana" pitchFamily="34" charset="0"/>
            </a:endParaRPr>
          </a:p>
        </p:txBody>
      </p:sp>
      <p:sp>
        <p:nvSpPr>
          <p:cNvPr id="9" name="Rectangle 2"/>
          <p:cNvSpPr>
            <a:spLocks noGrp="1" noChangeArrowheads="1"/>
          </p:cNvSpPr>
          <p:nvPr>
            <p:ph type="title"/>
          </p:nvPr>
        </p:nvSpPr>
        <p:spPr>
          <a:xfrm>
            <a:off x="611560" y="-99392"/>
            <a:ext cx="8229600" cy="774700"/>
          </a:xfrm>
        </p:spPr>
        <p:txBody>
          <a:bodyPr/>
          <a:lstStyle/>
          <a:p>
            <a:r>
              <a:rPr lang="tr-TR" sz="3600"/>
              <a:t>Konsept Çalışması: </a:t>
            </a:r>
            <a:br>
              <a:rPr lang="tr-TR" sz="3600"/>
            </a:br>
            <a:r>
              <a:rPr lang="tr-TR" sz="3600"/>
              <a:t>Finansal Durum Analizi</a:t>
            </a:r>
          </a:p>
        </p:txBody>
      </p:sp>
      <p:sp>
        <p:nvSpPr>
          <p:cNvPr id="8" name="Rectangle 3"/>
          <p:cNvSpPr txBox="1">
            <a:spLocks noChangeArrowheads="1"/>
          </p:cNvSpPr>
          <p:nvPr/>
        </p:nvSpPr>
        <p:spPr>
          <a:xfrm>
            <a:off x="6516216" y="1196752"/>
            <a:ext cx="2324944" cy="4934173"/>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tr-TR" sz="1600">
                <a:latin typeface="Verdana" pitchFamily="34" charset="0"/>
                <a:ea typeface="Verdana" pitchFamily="34" charset="0"/>
                <a:cs typeface="Verdana" pitchFamily="34" charset="0"/>
              </a:rPr>
              <a:t>Goodyear 2017 sonuçlarını açıklamıştır. </a:t>
            </a:r>
          </a:p>
          <a:p>
            <a:pPr>
              <a:buFont typeface="Wingdings" panose="05000000000000000000" pitchFamily="2" charset="2"/>
              <a:buChar char="v"/>
            </a:pPr>
            <a:endParaRPr lang="tr-TR" sz="1600">
              <a:latin typeface="Verdana" pitchFamily="34" charset="0"/>
              <a:ea typeface="Verdana" pitchFamily="34" charset="0"/>
              <a:cs typeface="Verdana" pitchFamily="34" charset="0"/>
            </a:endParaRPr>
          </a:p>
          <a:p>
            <a:pPr>
              <a:buFont typeface="Wingdings" panose="05000000000000000000" pitchFamily="2" charset="2"/>
              <a:buChar char="v"/>
            </a:pPr>
            <a:r>
              <a:rPr lang="tr-TR" sz="1600">
                <a:latin typeface="Verdana" pitchFamily="34" charset="0"/>
                <a:ea typeface="Verdana" pitchFamily="34" charset="0"/>
                <a:cs typeface="Verdana" pitchFamily="34" charset="0"/>
              </a:rPr>
              <a:t>Analiz eder misiniz? </a:t>
            </a:r>
          </a:p>
        </p:txBody>
      </p:sp>
      <p:pic>
        <p:nvPicPr>
          <p:cNvPr id="3" name="Picture 2">
            <a:extLst>
              <a:ext uri="{FF2B5EF4-FFF2-40B4-BE49-F238E27FC236}">
                <a16:creationId xmlns:a16="http://schemas.microsoft.com/office/drawing/2014/main" id="{3053B9C3-6922-4390-A8FD-0EBE17BC7261}"/>
              </a:ext>
            </a:extLst>
          </p:cNvPr>
          <p:cNvPicPr>
            <a:picLocks noChangeAspect="1"/>
          </p:cNvPicPr>
          <p:nvPr/>
        </p:nvPicPr>
        <p:blipFill>
          <a:blip r:embed="rId2"/>
          <a:stretch>
            <a:fillRect/>
          </a:stretch>
        </p:blipFill>
        <p:spPr>
          <a:xfrm>
            <a:off x="459511" y="1123528"/>
            <a:ext cx="4112489" cy="5545832"/>
          </a:xfrm>
          <a:prstGeom prst="rect">
            <a:avLst/>
          </a:prstGeom>
        </p:spPr>
      </p:pic>
    </p:spTree>
    <p:extLst>
      <p:ext uri="{BB962C8B-B14F-4D97-AF65-F5344CB8AC3E}">
        <p14:creationId xmlns:p14="http://schemas.microsoft.com/office/powerpoint/2010/main" val="167334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67</a:t>
            </a:fld>
            <a:endParaRPr lang="tr-TR" sz="1200">
              <a:solidFill>
                <a:schemeClr val="tx2"/>
              </a:solidFill>
              <a:latin typeface="Verdana" pitchFamily="34" charset="0"/>
            </a:endParaRPr>
          </a:p>
        </p:txBody>
      </p:sp>
      <p:sp>
        <p:nvSpPr>
          <p:cNvPr id="9" name="Rectangle 2"/>
          <p:cNvSpPr>
            <a:spLocks noGrp="1" noChangeArrowheads="1"/>
          </p:cNvSpPr>
          <p:nvPr>
            <p:ph type="title"/>
          </p:nvPr>
        </p:nvSpPr>
        <p:spPr>
          <a:xfrm>
            <a:off x="611560" y="-99392"/>
            <a:ext cx="8229600" cy="774700"/>
          </a:xfrm>
        </p:spPr>
        <p:txBody>
          <a:bodyPr/>
          <a:lstStyle/>
          <a:p>
            <a:r>
              <a:rPr lang="tr-TR" sz="3600"/>
              <a:t>Konsept Çalışması: </a:t>
            </a:r>
            <a:br>
              <a:rPr lang="tr-TR" sz="3600"/>
            </a:br>
            <a:r>
              <a:rPr lang="tr-TR" sz="3600"/>
              <a:t>Finansal Durum Analizi</a:t>
            </a:r>
          </a:p>
        </p:txBody>
      </p:sp>
      <p:sp>
        <p:nvSpPr>
          <p:cNvPr id="8" name="Rectangle 3"/>
          <p:cNvSpPr txBox="1">
            <a:spLocks noChangeArrowheads="1"/>
          </p:cNvSpPr>
          <p:nvPr/>
        </p:nvSpPr>
        <p:spPr>
          <a:xfrm>
            <a:off x="6732240" y="1196752"/>
            <a:ext cx="1965672" cy="4934173"/>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tr-TR" sz="1600">
                <a:latin typeface="Verdana" pitchFamily="34" charset="0"/>
                <a:ea typeface="Verdana" pitchFamily="34" charset="0"/>
                <a:cs typeface="Verdana" pitchFamily="34" charset="0"/>
              </a:rPr>
              <a:t>Brisa 2018 sonuçlarını açıklamıştır. </a:t>
            </a:r>
          </a:p>
          <a:p>
            <a:pPr>
              <a:buFont typeface="Wingdings" panose="05000000000000000000" pitchFamily="2" charset="2"/>
              <a:buChar char="v"/>
            </a:pPr>
            <a:endParaRPr lang="tr-TR" sz="1600">
              <a:latin typeface="Verdana" pitchFamily="34" charset="0"/>
              <a:ea typeface="Verdana" pitchFamily="34" charset="0"/>
              <a:cs typeface="Verdana" pitchFamily="34" charset="0"/>
            </a:endParaRPr>
          </a:p>
          <a:p>
            <a:pPr>
              <a:buFont typeface="Wingdings" panose="05000000000000000000" pitchFamily="2" charset="2"/>
              <a:buChar char="v"/>
            </a:pPr>
            <a:r>
              <a:rPr lang="tr-TR" sz="1600">
                <a:latin typeface="Verdana" pitchFamily="34" charset="0"/>
                <a:ea typeface="Verdana" pitchFamily="34" charset="0"/>
                <a:cs typeface="Verdana" pitchFamily="34" charset="0"/>
              </a:rPr>
              <a:t>Analiz eder misiniz? </a:t>
            </a:r>
          </a:p>
        </p:txBody>
      </p:sp>
      <p:pic>
        <p:nvPicPr>
          <p:cNvPr id="2" name="Picture 1">
            <a:extLst>
              <a:ext uri="{FF2B5EF4-FFF2-40B4-BE49-F238E27FC236}">
                <a16:creationId xmlns:a16="http://schemas.microsoft.com/office/drawing/2014/main" id="{CD102DD8-9001-44BA-A97A-B5D15BC8DFAB}"/>
              </a:ext>
            </a:extLst>
          </p:cNvPr>
          <p:cNvPicPr>
            <a:picLocks noChangeAspect="1"/>
          </p:cNvPicPr>
          <p:nvPr/>
        </p:nvPicPr>
        <p:blipFill>
          <a:blip r:embed="rId2"/>
          <a:stretch>
            <a:fillRect/>
          </a:stretch>
        </p:blipFill>
        <p:spPr>
          <a:xfrm>
            <a:off x="683568" y="1163661"/>
            <a:ext cx="4248472" cy="5528549"/>
          </a:xfrm>
          <a:prstGeom prst="rect">
            <a:avLst/>
          </a:prstGeom>
        </p:spPr>
      </p:pic>
    </p:spTree>
    <p:extLst>
      <p:ext uri="{BB962C8B-B14F-4D97-AF65-F5344CB8AC3E}">
        <p14:creationId xmlns:p14="http://schemas.microsoft.com/office/powerpoint/2010/main" val="316056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68</a:t>
            </a:fld>
            <a:endParaRPr lang="tr-TR" sz="1200">
              <a:solidFill>
                <a:schemeClr val="tx2"/>
              </a:solidFill>
              <a:latin typeface="Verdana" pitchFamily="34" charset="0"/>
            </a:endParaRPr>
          </a:p>
        </p:txBody>
      </p:sp>
      <p:sp>
        <p:nvSpPr>
          <p:cNvPr id="9" name="Rectangle 2"/>
          <p:cNvSpPr>
            <a:spLocks noGrp="1" noChangeArrowheads="1"/>
          </p:cNvSpPr>
          <p:nvPr>
            <p:ph type="title"/>
          </p:nvPr>
        </p:nvSpPr>
        <p:spPr>
          <a:xfrm>
            <a:off x="611560" y="-99392"/>
            <a:ext cx="8229600" cy="774700"/>
          </a:xfrm>
        </p:spPr>
        <p:txBody>
          <a:bodyPr/>
          <a:lstStyle/>
          <a:p>
            <a:r>
              <a:rPr lang="tr-TR" sz="3600"/>
              <a:t>Konsept Çalışması: </a:t>
            </a:r>
            <a:br>
              <a:rPr lang="tr-TR" sz="3600"/>
            </a:br>
            <a:r>
              <a:rPr lang="tr-TR" sz="3600"/>
              <a:t>Finansal Durum Analizi</a:t>
            </a:r>
          </a:p>
        </p:txBody>
      </p:sp>
      <p:sp>
        <p:nvSpPr>
          <p:cNvPr id="8" name="Rectangle 3"/>
          <p:cNvSpPr txBox="1">
            <a:spLocks noChangeArrowheads="1"/>
          </p:cNvSpPr>
          <p:nvPr/>
        </p:nvSpPr>
        <p:spPr>
          <a:xfrm>
            <a:off x="6444208" y="1196752"/>
            <a:ext cx="2396952" cy="4934173"/>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tr-TR" sz="1600" err="1">
                <a:latin typeface="Verdana" pitchFamily="34" charset="0"/>
                <a:ea typeface="Verdana" pitchFamily="34" charset="0"/>
                <a:cs typeface="Verdana" pitchFamily="34" charset="0"/>
              </a:rPr>
              <a:t>Goodyear</a:t>
            </a:r>
            <a:r>
              <a:rPr lang="tr-TR" sz="1600">
                <a:latin typeface="Verdana" pitchFamily="34" charset="0"/>
                <a:ea typeface="Verdana" pitchFamily="34" charset="0"/>
                <a:cs typeface="Verdana" pitchFamily="34" charset="0"/>
              </a:rPr>
              <a:t> 2018 sonuçlarını açıklamıştır. </a:t>
            </a:r>
          </a:p>
          <a:p>
            <a:pPr>
              <a:buFont typeface="Wingdings" panose="05000000000000000000" pitchFamily="2" charset="2"/>
              <a:buChar char="v"/>
            </a:pPr>
            <a:endParaRPr lang="tr-TR" sz="1600">
              <a:latin typeface="Verdana" pitchFamily="34" charset="0"/>
              <a:ea typeface="Verdana" pitchFamily="34" charset="0"/>
              <a:cs typeface="Verdana" pitchFamily="34" charset="0"/>
            </a:endParaRPr>
          </a:p>
          <a:p>
            <a:pPr>
              <a:buFont typeface="Wingdings" panose="05000000000000000000" pitchFamily="2" charset="2"/>
              <a:buChar char="v"/>
            </a:pPr>
            <a:r>
              <a:rPr lang="tr-TR" sz="1600">
                <a:latin typeface="Verdana" pitchFamily="34" charset="0"/>
                <a:ea typeface="Verdana" pitchFamily="34" charset="0"/>
                <a:cs typeface="Verdana" pitchFamily="34" charset="0"/>
              </a:rPr>
              <a:t>Analiz eder misiniz? </a:t>
            </a:r>
          </a:p>
        </p:txBody>
      </p:sp>
      <p:pic>
        <p:nvPicPr>
          <p:cNvPr id="2" name="Picture 1">
            <a:extLst>
              <a:ext uri="{FF2B5EF4-FFF2-40B4-BE49-F238E27FC236}">
                <a16:creationId xmlns:a16="http://schemas.microsoft.com/office/drawing/2014/main" id="{85DF3313-2C44-4269-BDEB-DBF4D992E31B}"/>
              </a:ext>
            </a:extLst>
          </p:cNvPr>
          <p:cNvPicPr>
            <a:picLocks noChangeAspect="1"/>
          </p:cNvPicPr>
          <p:nvPr/>
        </p:nvPicPr>
        <p:blipFill>
          <a:blip r:embed="rId2"/>
          <a:stretch>
            <a:fillRect/>
          </a:stretch>
        </p:blipFill>
        <p:spPr>
          <a:xfrm>
            <a:off x="755576" y="1163661"/>
            <a:ext cx="4248472" cy="5528549"/>
          </a:xfrm>
          <a:prstGeom prst="rect">
            <a:avLst/>
          </a:prstGeom>
        </p:spPr>
      </p:pic>
    </p:spTree>
    <p:extLst>
      <p:ext uri="{BB962C8B-B14F-4D97-AF65-F5344CB8AC3E}">
        <p14:creationId xmlns:p14="http://schemas.microsoft.com/office/powerpoint/2010/main" val="12722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69</a:t>
            </a:fld>
            <a:endParaRPr lang="tr-TR" sz="1200">
              <a:solidFill>
                <a:schemeClr val="tx2"/>
              </a:solidFill>
              <a:latin typeface="Verdana" pitchFamily="34" charset="0"/>
            </a:endParaRPr>
          </a:p>
        </p:txBody>
      </p:sp>
      <p:sp>
        <p:nvSpPr>
          <p:cNvPr id="9" name="Rectangle 2"/>
          <p:cNvSpPr>
            <a:spLocks noGrp="1" noChangeArrowheads="1"/>
          </p:cNvSpPr>
          <p:nvPr>
            <p:ph type="title"/>
          </p:nvPr>
        </p:nvSpPr>
        <p:spPr>
          <a:xfrm>
            <a:off x="611560" y="-99392"/>
            <a:ext cx="8229600" cy="774700"/>
          </a:xfrm>
        </p:spPr>
        <p:txBody>
          <a:bodyPr/>
          <a:lstStyle/>
          <a:p>
            <a:r>
              <a:rPr lang="tr-TR" sz="3600"/>
              <a:t>Konsept Çalışması: </a:t>
            </a:r>
            <a:br>
              <a:rPr lang="tr-TR" sz="3600"/>
            </a:br>
            <a:r>
              <a:rPr lang="tr-TR" sz="3600"/>
              <a:t>Finansal Durum Analizi</a:t>
            </a:r>
          </a:p>
        </p:txBody>
      </p:sp>
      <p:sp>
        <p:nvSpPr>
          <p:cNvPr id="8" name="Rectangle 3"/>
          <p:cNvSpPr txBox="1">
            <a:spLocks noChangeArrowheads="1"/>
          </p:cNvSpPr>
          <p:nvPr/>
        </p:nvSpPr>
        <p:spPr>
          <a:xfrm>
            <a:off x="6732240" y="1196752"/>
            <a:ext cx="1965672" cy="4934173"/>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tr-TR" sz="1600" dirty="0">
                <a:latin typeface="Verdana" pitchFamily="34" charset="0"/>
                <a:ea typeface="Verdana" pitchFamily="34" charset="0"/>
                <a:cs typeface="Verdana" pitchFamily="34" charset="0"/>
              </a:rPr>
              <a:t>Brisa 2019 sonrasını analiz eder misiniz? </a:t>
            </a:r>
          </a:p>
        </p:txBody>
      </p:sp>
      <p:pic>
        <p:nvPicPr>
          <p:cNvPr id="2" name="Picture 1">
            <a:extLst>
              <a:ext uri="{FF2B5EF4-FFF2-40B4-BE49-F238E27FC236}">
                <a16:creationId xmlns:a16="http://schemas.microsoft.com/office/drawing/2014/main" id="{A295CF0D-B4E8-D4B7-2AB5-905F2F8DC90A}"/>
              </a:ext>
            </a:extLst>
          </p:cNvPr>
          <p:cNvPicPr>
            <a:picLocks noChangeAspect="1"/>
          </p:cNvPicPr>
          <p:nvPr/>
        </p:nvPicPr>
        <p:blipFill>
          <a:blip r:embed="rId2"/>
          <a:stretch>
            <a:fillRect/>
          </a:stretch>
        </p:blipFill>
        <p:spPr>
          <a:xfrm>
            <a:off x="492224" y="1170091"/>
            <a:ext cx="5879976" cy="5571277"/>
          </a:xfrm>
          <a:prstGeom prst="rect">
            <a:avLst/>
          </a:prstGeom>
        </p:spPr>
      </p:pic>
    </p:spTree>
    <p:extLst>
      <p:ext uri="{BB962C8B-B14F-4D97-AF65-F5344CB8AC3E}">
        <p14:creationId xmlns:p14="http://schemas.microsoft.com/office/powerpoint/2010/main" val="113463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997968"/>
            <a:ext cx="8229600" cy="3591272"/>
          </a:xfrm>
        </p:spPr>
        <p:txBody>
          <a:bodyPr/>
          <a:lstStyle/>
          <a:p>
            <a:r>
              <a:rPr lang="tr-TR"/>
              <a:t>OPERASYONEL VERİMLİLİK</a:t>
            </a:r>
            <a:br>
              <a:rPr lang="tr-TR"/>
            </a:br>
            <a:r>
              <a:rPr lang="tr-TR"/>
              <a:t>ANALİZİ</a:t>
            </a:r>
            <a:br>
              <a:rPr lang="tr-TR"/>
            </a:br>
            <a:r>
              <a:rPr lang="tr-TR"/>
              <a:t> &amp; </a:t>
            </a:r>
            <a:br>
              <a:rPr lang="tr-TR"/>
            </a:br>
            <a:r>
              <a:rPr lang="tr-TR"/>
              <a:t> NAKİT DÖNGÜSÜ</a:t>
            </a:r>
            <a:br>
              <a:rPr lang="tr-TR"/>
            </a:br>
            <a:endParaRPr lang="en-GB"/>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5"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70</a:t>
            </a:fld>
            <a:endParaRPr lang="tr-TR" sz="1200">
              <a:solidFill>
                <a:schemeClr val="tx2"/>
              </a:solidFill>
              <a:latin typeface="Verdana" pitchFamily="34" charset="0"/>
            </a:endParaRPr>
          </a:p>
        </p:txBody>
      </p:sp>
      <p:sp>
        <p:nvSpPr>
          <p:cNvPr id="6" name="Rectangle 5"/>
          <p:cNvSpPr/>
          <p:nvPr/>
        </p:nvSpPr>
        <p:spPr>
          <a:xfrm>
            <a:off x="2586621" y="188640"/>
            <a:ext cx="4361643" cy="769441"/>
          </a:xfrm>
          <a:prstGeom prst="rect">
            <a:avLst/>
          </a:prstGeom>
        </p:spPr>
        <p:txBody>
          <a:bodyPr wrap="none">
            <a:spAutoFit/>
          </a:bodyPr>
          <a:lstStyle/>
          <a:p>
            <a:r>
              <a:rPr lang="tr-TR" sz="4400" b="1">
                <a:latin typeface="+mj-lt"/>
              </a:rPr>
              <a:t>FİNANSAL ANALİZ</a:t>
            </a:r>
            <a:endParaRPr lang="en-GB" sz="4400" b="1">
              <a:latin typeface="+mj-lt"/>
            </a:endParaRPr>
          </a:p>
        </p:txBody>
      </p:sp>
    </p:spTree>
    <p:extLst>
      <p:ext uri="{BB962C8B-B14F-4D97-AF65-F5344CB8AC3E}">
        <p14:creationId xmlns:p14="http://schemas.microsoft.com/office/powerpoint/2010/main" val="8627057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71</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457200" y="277813"/>
            <a:ext cx="8229600" cy="774700"/>
          </a:xfrm>
        </p:spPr>
        <p:txBody>
          <a:bodyPr/>
          <a:lstStyle/>
          <a:p>
            <a:pPr eaLnBrk="1" hangingPunct="1"/>
            <a:r>
              <a:rPr lang="tr-TR" sz="4000"/>
              <a:t>Operasyonel Verimlilik</a:t>
            </a:r>
          </a:p>
        </p:txBody>
      </p:sp>
      <p:sp>
        <p:nvSpPr>
          <p:cNvPr id="7" name="Rectangle 3"/>
          <p:cNvSpPr txBox="1">
            <a:spLocks noChangeArrowheads="1"/>
          </p:cNvSpPr>
          <p:nvPr/>
        </p:nvSpPr>
        <p:spPr>
          <a:xfrm>
            <a:off x="468313" y="1196752"/>
            <a:ext cx="8229600" cy="4934173"/>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180000" algn="just">
              <a:spcAft>
                <a:spcPts val="1200"/>
              </a:spcAft>
            </a:pPr>
            <a:r>
              <a:rPr lang="tr-TR" sz="1800">
                <a:latin typeface="Verdana" pitchFamily="34" charset="0"/>
                <a:ea typeface="Verdana" pitchFamily="34" charset="0"/>
                <a:cs typeface="Verdana" pitchFamily="34" charset="0"/>
              </a:rPr>
              <a:t>Her şirket satış yapabilmek için farklı stratejiler uygular. Bu amaçla kullanabildiği faktörler:</a:t>
            </a:r>
          </a:p>
          <a:p>
            <a:pPr lvl="1" indent="-180000" algn="just">
              <a:spcAft>
                <a:spcPts val="1200"/>
              </a:spcAft>
            </a:pPr>
            <a:r>
              <a:rPr lang="tr-TR" sz="1400">
                <a:latin typeface="Verdana" pitchFamily="34" charset="0"/>
                <a:ea typeface="Verdana" pitchFamily="34" charset="0"/>
                <a:cs typeface="Verdana" pitchFamily="34" charset="0"/>
              </a:rPr>
              <a:t>Müşterilerini finanse edebilme gücü (uygulanan vade)</a:t>
            </a:r>
          </a:p>
          <a:p>
            <a:pPr lvl="1" indent="-180000" algn="just">
              <a:spcAft>
                <a:spcPts val="1200"/>
              </a:spcAft>
            </a:pPr>
            <a:r>
              <a:rPr lang="tr-TR" sz="1400">
                <a:latin typeface="Verdana" pitchFamily="34" charset="0"/>
                <a:ea typeface="Verdana" pitchFamily="34" charset="0"/>
                <a:cs typeface="Verdana" pitchFamily="34" charset="0"/>
              </a:rPr>
              <a:t>Stok çeşitliliği</a:t>
            </a:r>
          </a:p>
          <a:p>
            <a:pPr lvl="1" indent="-180000" algn="just">
              <a:spcAft>
                <a:spcPts val="1200"/>
              </a:spcAft>
            </a:pPr>
            <a:r>
              <a:rPr lang="tr-TR" sz="1400">
                <a:latin typeface="Verdana" pitchFamily="34" charset="0"/>
                <a:ea typeface="Verdana" pitchFamily="34" charset="0"/>
                <a:cs typeface="Verdana" pitchFamily="34" charset="0"/>
              </a:rPr>
              <a:t>Ürün bulunulurluğu</a:t>
            </a:r>
          </a:p>
          <a:p>
            <a:pPr lvl="1" indent="-180000" algn="just">
              <a:spcAft>
                <a:spcPts val="1200"/>
              </a:spcAft>
            </a:pPr>
            <a:r>
              <a:rPr lang="tr-TR" sz="1400">
                <a:latin typeface="Verdana" pitchFamily="34" charset="0"/>
                <a:ea typeface="Verdana" pitchFamily="34" charset="0"/>
                <a:cs typeface="Verdana" pitchFamily="34" charset="0"/>
              </a:rPr>
              <a:t>Teslim süresi</a:t>
            </a:r>
          </a:p>
          <a:p>
            <a:pPr lvl="1" indent="-180000" algn="just">
              <a:spcAft>
                <a:spcPts val="1200"/>
              </a:spcAft>
            </a:pPr>
            <a:r>
              <a:rPr lang="tr-TR" sz="1400">
                <a:latin typeface="Verdana" pitchFamily="34" charset="0"/>
                <a:ea typeface="Verdana" pitchFamily="34" charset="0"/>
                <a:cs typeface="Verdana" pitchFamily="34" charset="0"/>
              </a:rPr>
              <a:t>Satın almalarda uygulanan ödeme süresi</a:t>
            </a:r>
          </a:p>
          <a:p>
            <a:pPr indent="-180000" algn="just">
              <a:spcAft>
                <a:spcPts val="1200"/>
              </a:spcAft>
            </a:pPr>
            <a:r>
              <a:rPr lang="tr-TR" sz="1800">
                <a:latin typeface="Verdana" pitchFamily="34" charset="0"/>
                <a:ea typeface="Verdana" pitchFamily="34" charset="0"/>
                <a:cs typeface="Verdana" pitchFamily="34" charset="0"/>
              </a:rPr>
              <a:t>Şirketin işletme sermayesi ihtiyacını belirler.</a:t>
            </a:r>
          </a:p>
          <a:p>
            <a:pPr indent="-180000" algn="just">
              <a:spcAft>
                <a:spcPts val="1200"/>
              </a:spcAft>
            </a:pPr>
            <a:r>
              <a:rPr lang="tr-TR" sz="1800">
                <a:latin typeface="Verdana" pitchFamily="34" charset="0"/>
                <a:ea typeface="Verdana" pitchFamily="34" charset="0"/>
                <a:cs typeface="Verdana" pitchFamily="34" charset="0"/>
              </a:rPr>
              <a:t>Finansman maliyetli olduğundan minimum işletme sermayesi kullanarak maksimum ciro yaratmak (kalıcı olarak) amaç olmalıdır. </a:t>
            </a:r>
          </a:p>
          <a:p>
            <a:pPr algn="just"/>
            <a:r>
              <a:rPr lang="tr-TR" sz="1600">
                <a:solidFill>
                  <a:srgbClr val="3333CC"/>
                </a:solidFill>
                <a:latin typeface="Verdana" pitchFamily="34" charset="0"/>
                <a:ea typeface="Verdana" pitchFamily="34" charset="0"/>
                <a:cs typeface="Verdana" pitchFamily="34" charset="0"/>
              </a:rPr>
              <a:t>	</a:t>
            </a:r>
            <a:r>
              <a:rPr lang="tr-TR" sz="1600" b="1">
                <a:solidFill>
                  <a:srgbClr val="3333CC"/>
                </a:solidFill>
                <a:latin typeface="Verdana" pitchFamily="34" charset="0"/>
                <a:ea typeface="Verdana" pitchFamily="34" charset="0"/>
                <a:cs typeface="Verdana" pitchFamily="34" charset="0"/>
              </a:rPr>
              <a:t>Operasyonel Verimlilik  = </a:t>
            </a:r>
            <a:r>
              <a:rPr lang="tr-TR" sz="1600" b="1" u="sng">
                <a:solidFill>
                  <a:srgbClr val="3333CC"/>
                </a:solidFill>
                <a:latin typeface="Verdana" pitchFamily="34" charset="0"/>
                <a:ea typeface="Verdana" pitchFamily="34" charset="0"/>
                <a:cs typeface="Verdana" pitchFamily="34" charset="0"/>
              </a:rPr>
              <a:t>   İşletme Sermayesi İhtiyacı    </a:t>
            </a:r>
            <a:r>
              <a:rPr lang="tr-TR" sz="1600" b="1" u="sng">
                <a:solidFill>
                  <a:schemeClr val="bg1"/>
                </a:solidFill>
                <a:latin typeface="Verdana" pitchFamily="34" charset="0"/>
                <a:ea typeface="Verdana" pitchFamily="34" charset="0"/>
                <a:cs typeface="Verdana" pitchFamily="34" charset="0"/>
              </a:rPr>
              <a:t>.</a:t>
            </a:r>
            <a:r>
              <a:rPr lang="tr-TR" sz="1600" b="1">
                <a:solidFill>
                  <a:srgbClr val="3333CC"/>
                </a:solidFill>
                <a:latin typeface="Verdana" pitchFamily="34" charset="0"/>
                <a:ea typeface="Verdana" pitchFamily="34" charset="0"/>
                <a:cs typeface="Verdana" pitchFamily="34" charset="0"/>
              </a:rPr>
              <a:t> </a:t>
            </a:r>
          </a:p>
          <a:p>
            <a:pPr algn="just">
              <a:buFont typeface="Wingdings" pitchFamily="2" charset="2"/>
              <a:buNone/>
            </a:pPr>
            <a:r>
              <a:rPr lang="tr-TR" sz="1600" b="1">
                <a:solidFill>
                  <a:srgbClr val="3333CC"/>
                </a:solidFill>
                <a:latin typeface="Verdana" pitchFamily="34" charset="0"/>
                <a:ea typeface="Verdana" pitchFamily="34" charset="0"/>
                <a:cs typeface="Verdana" pitchFamily="34" charset="0"/>
              </a:rPr>
              <a:t>   		     		                              Net Satışlar</a:t>
            </a:r>
          </a:p>
          <a:p>
            <a:pPr algn="just">
              <a:buNone/>
            </a:pPr>
            <a:endParaRPr lang="tr-TR" sz="160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34633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2"/>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72</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734888" y="188640"/>
            <a:ext cx="8229600" cy="774700"/>
          </a:xfrm>
        </p:spPr>
        <p:txBody>
          <a:bodyPr/>
          <a:lstStyle/>
          <a:p>
            <a:pPr eaLnBrk="1" hangingPunct="1"/>
            <a:r>
              <a:rPr lang="tr-TR" sz="4000" dirty="0"/>
              <a:t>Operasyonel Verimlilik (ABD, 2020)</a:t>
            </a:r>
          </a:p>
        </p:txBody>
      </p:sp>
      <p:grpSp>
        <p:nvGrpSpPr>
          <p:cNvPr id="10" name="Group 9"/>
          <p:cNvGrpSpPr>
            <a:grpSpLocks/>
          </p:cNvGrpSpPr>
          <p:nvPr/>
        </p:nvGrpSpPr>
        <p:grpSpPr bwMode="auto">
          <a:xfrm>
            <a:off x="288600" y="2036106"/>
            <a:ext cx="8530166" cy="400224"/>
            <a:chOff x="1331" y="560"/>
            <a:chExt cx="8760" cy="666"/>
          </a:xfrm>
          <a:solidFill>
            <a:schemeClr val="accent1">
              <a:lumMod val="75000"/>
              <a:alpha val="40000"/>
            </a:schemeClr>
          </a:solidFill>
        </p:grpSpPr>
        <p:grpSp>
          <p:nvGrpSpPr>
            <p:cNvPr id="11" name="Group 10"/>
            <p:cNvGrpSpPr>
              <a:grpSpLocks/>
            </p:cNvGrpSpPr>
            <p:nvPr/>
          </p:nvGrpSpPr>
          <p:grpSpPr bwMode="auto">
            <a:xfrm>
              <a:off x="1331" y="565"/>
              <a:ext cx="8760" cy="372"/>
              <a:chOff x="1331" y="565"/>
              <a:chExt cx="8760" cy="372"/>
            </a:xfrm>
            <a:grpFill/>
          </p:grpSpPr>
          <p:sp>
            <p:nvSpPr>
              <p:cNvPr id="18" name="Freeform 17"/>
              <p:cNvSpPr>
                <a:spLocks/>
              </p:cNvSpPr>
              <p:nvPr/>
            </p:nvSpPr>
            <p:spPr bwMode="auto">
              <a:xfrm>
                <a:off x="1331" y="565"/>
                <a:ext cx="8760" cy="372"/>
              </a:xfrm>
              <a:custGeom>
                <a:avLst/>
                <a:gdLst>
                  <a:gd name="T0" fmla="+- 0 1331 1331"/>
                  <a:gd name="T1" fmla="*/ T0 w 8760"/>
                  <a:gd name="T2" fmla="+- 0 937 565"/>
                  <a:gd name="T3" fmla="*/ 937 h 372"/>
                  <a:gd name="T4" fmla="+- 0 10091 1331"/>
                  <a:gd name="T5" fmla="*/ T4 w 8760"/>
                  <a:gd name="T6" fmla="+- 0 937 565"/>
                  <a:gd name="T7" fmla="*/ 937 h 372"/>
                  <a:gd name="T8" fmla="+- 0 10091 1331"/>
                  <a:gd name="T9" fmla="*/ T8 w 8760"/>
                  <a:gd name="T10" fmla="+- 0 565 565"/>
                  <a:gd name="T11" fmla="*/ 565 h 372"/>
                  <a:gd name="T12" fmla="+- 0 1331 1331"/>
                  <a:gd name="T13" fmla="*/ T12 w 8760"/>
                  <a:gd name="T14" fmla="+- 0 565 565"/>
                  <a:gd name="T15" fmla="*/ 565 h 372"/>
                  <a:gd name="T16" fmla="+- 0 1331 1331"/>
                  <a:gd name="T17" fmla="*/ T16 w 8760"/>
                  <a:gd name="T18" fmla="+- 0 937 565"/>
                  <a:gd name="T19" fmla="*/ 937 h 372"/>
                </a:gdLst>
                <a:ahLst/>
                <a:cxnLst>
                  <a:cxn ang="0">
                    <a:pos x="T1" y="T3"/>
                  </a:cxn>
                  <a:cxn ang="0">
                    <a:pos x="T5" y="T7"/>
                  </a:cxn>
                  <a:cxn ang="0">
                    <a:pos x="T9" y="T11"/>
                  </a:cxn>
                  <a:cxn ang="0">
                    <a:pos x="T13" y="T15"/>
                  </a:cxn>
                  <a:cxn ang="0">
                    <a:pos x="T17" y="T19"/>
                  </a:cxn>
                </a:cxnLst>
                <a:rect l="0" t="0" r="r" b="b"/>
                <a:pathLst>
                  <a:path w="8760" h="372">
                    <a:moveTo>
                      <a:pt x="0" y="372"/>
                    </a:moveTo>
                    <a:lnTo>
                      <a:pt x="8760" y="372"/>
                    </a:lnTo>
                    <a:lnTo>
                      <a:pt x="8760" y="0"/>
                    </a:lnTo>
                    <a:lnTo>
                      <a:pt x="0" y="0"/>
                    </a:lnTo>
                    <a:lnTo>
                      <a:pt x="0" y="372"/>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12" name="Group 11"/>
            <p:cNvGrpSpPr>
              <a:grpSpLocks/>
            </p:cNvGrpSpPr>
            <p:nvPr/>
          </p:nvGrpSpPr>
          <p:grpSpPr bwMode="auto">
            <a:xfrm>
              <a:off x="1331" y="937"/>
              <a:ext cx="8760" cy="289"/>
              <a:chOff x="1331" y="937"/>
              <a:chExt cx="8760" cy="289"/>
            </a:xfrm>
            <a:grpFill/>
          </p:grpSpPr>
          <p:sp>
            <p:nvSpPr>
              <p:cNvPr id="17" name="Freeform 16"/>
              <p:cNvSpPr>
                <a:spLocks/>
              </p:cNvSpPr>
              <p:nvPr/>
            </p:nvSpPr>
            <p:spPr bwMode="auto">
              <a:xfrm>
                <a:off x="1331" y="937"/>
                <a:ext cx="8760" cy="289"/>
              </a:xfrm>
              <a:custGeom>
                <a:avLst/>
                <a:gdLst>
                  <a:gd name="T0" fmla="+- 0 1331 1331"/>
                  <a:gd name="T1" fmla="*/ T0 w 8760"/>
                  <a:gd name="T2" fmla="+- 0 1226 937"/>
                  <a:gd name="T3" fmla="*/ 1226 h 289"/>
                  <a:gd name="T4" fmla="+- 0 10091 1331"/>
                  <a:gd name="T5" fmla="*/ T4 w 8760"/>
                  <a:gd name="T6" fmla="+- 0 1226 937"/>
                  <a:gd name="T7" fmla="*/ 1226 h 289"/>
                  <a:gd name="T8" fmla="+- 0 10091 1331"/>
                  <a:gd name="T9" fmla="*/ T8 w 8760"/>
                  <a:gd name="T10" fmla="+- 0 937 937"/>
                  <a:gd name="T11" fmla="*/ 937 h 289"/>
                  <a:gd name="T12" fmla="+- 0 1331 1331"/>
                  <a:gd name="T13" fmla="*/ T12 w 8760"/>
                  <a:gd name="T14" fmla="+- 0 937 937"/>
                  <a:gd name="T15" fmla="*/ 937 h 289"/>
                  <a:gd name="T16" fmla="+- 0 1331 1331"/>
                  <a:gd name="T17" fmla="*/ T16 w 8760"/>
                  <a:gd name="T18" fmla="+- 0 1226 937"/>
                  <a:gd name="T19" fmla="*/ 1226 h 289"/>
                </a:gdLst>
                <a:ahLst/>
                <a:cxnLst>
                  <a:cxn ang="0">
                    <a:pos x="T1" y="T3"/>
                  </a:cxn>
                  <a:cxn ang="0">
                    <a:pos x="T5" y="T7"/>
                  </a:cxn>
                  <a:cxn ang="0">
                    <a:pos x="T9" y="T11"/>
                  </a:cxn>
                  <a:cxn ang="0">
                    <a:pos x="T13" y="T15"/>
                  </a:cxn>
                  <a:cxn ang="0">
                    <a:pos x="T17" y="T19"/>
                  </a:cxn>
                </a:cxnLst>
                <a:rect l="0" t="0" r="r" b="b"/>
                <a:pathLst>
                  <a:path w="8760" h="289">
                    <a:moveTo>
                      <a:pt x="0" y="289"/>
                    </a:moveTo>
                    <a:lnTo>
                      <a:pt x="8760" y="289"/>
                    </a:lnTo>
                    <a:lnTo>
                      <a:pt x="8760" y="0"/>
                    </a:lnTo>
                    <a:lnTo>
                      <a:pt x="0" y="0"/>
                    </a:lnTo>
                    <a:lnTo>
                      <a:pt x="0" y="289"/>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13" name="Group 12"/>
            <p:cNvGrpSpPr>
              <a:grpSpLocks/>
            </p:cNvGrpSpPr>
            <p:nvPr/>
          </p:nvGrpSpPr>
          <p:grpSpPr bwMode="auto">
            <a:xfrm>
              <a:off x="1331" y="560"/>
              <a:ext cx="8758" cy="2"/>
              <a:chOff x="1331" y="560"/>
              <a:chExt cx="8758" cy="2"/>
            </a:xfrm>
            <a:grpFill/>
          </p:grpSpPr>
          <p:sp>
            <p:nvSpPr>
              <p:cNvPr id="16" name="Freeform 15"/>
              <p:cNvSpPr>
                <a:spLocks/>
              </p:cNvSpPr>
              <p:nvPr/>
            </p:nvSpPr>
            <p:spPr bwMode="auto">
              <a:xfrm>
                <a:off x="1331" y="560"/>
                <a:ext cx="8758" cy="2"/>
              </a:xfrm>
              <a:custGeom>
                <a:avLst/>
                <a:gdLst>
                  <a:gd name="T0" fmla="+- 0 1331 1331"/>
                  <a:gd name="T1" fmla="*/ T0 w 8758"/>
                  <a:gd name="T2" fmla="+- 0 10089 1331"/>
                  <a:gd name="T3" fmla="*/ T2 w 8758"/>
                </a:gdLst>
                <a:ahLst/>
                <a:cxnLst>
                  <a:cxn ang="0">
                    <a:pos x="T1" y="0"/>
                  </a:cxn>
                  <a:cxn ang="0">
                    <a:pos x="T3" y="0"/>
                  </a:cxn>
                </a:cxnLst>
                <a:rect l="0" t="0" r="r" b="b"/>
                <a:pathLst>
                  <a:path w="8758">
                    <a:moveTo>
                      <a:pt x="0" y="0"/>
                    </a:moveTo>
                    <a:lnTo>
                      <a:pt x="8758" y="0"/>
                    </a:lnTo>
                  </a:path>
                </a:pathLst>
              </a:custGeom>
              <a:grpFill/>
              <a:ln w="7750">
                <a:solidFill>
                  <a:srgbClr val="002D56"/>
                </a:solidFill>
                <a:round/>
                <a:headEnd/>
                <a:tailEnd/>
              </a:ln>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nvGrpSpPr>
            <p:cNvPr id="14" name="Group 13"/>
            <p:cNvGrpSpPr>
              <a:grpSpLocks/>
            </p:cNvGrpSpPr>
            <p:nvPr/>
          </p:nvGrpSpPr>
          <p:grpSpPr bwMode="auto">
            <a:xfrm>
              <a:off x="1331" y="932"/>
              <a:ext cx="8760" cy="2"/>
              <a:chOff x="1331" y="932"/>
              <a:chExt cx="8760" cy="2"/>
            </a:xfrm>
            <a:grpFill/>
          </p:grpSpPr>
          <p:sp>
            <p:nvSpPr>
              <p:cNvPr id="15" name="Freeform 14"/>
              <p:cNvSpPr>
                <a:spLocks/>
              </p:cNvSpPr>
              <p:nvPr/>
            </p:nvSpPr>
            <p:spPr bwMode="auto">
              <a:xfrm>
                <a:off x="1331" y="932"/>
                <a:ext cx="8760" cy="2"/>
              </a:xfrm>
              <a:custGeom>
                <a:avLst/>
                <a:gdLst>
                  <a:gd name="T0" fmla="+- 0 1331 1331"/>
                  <a:gd name="T1" fmla="*/ T0 w 8760"/>
                  <a:gd name="T2" fmla="+- 0 10091 1331"/>
                  <a:gd name="T3" fmla="*/ T2 w 8760"/>
                </a:gdLst>
                <a:ahLst/>
                <a:cxnLst>
                  <a:cxn ang="0">
                    <a:pos x="T1" y="0"/>
                  </a:cxn>
                  <a:cxn ang="0">
                    <a:pos x="T3" y="0"/>
                  </a:cxn>
                </a:cxnLst>
                <a:rect l="0" t="0" r="r" b="b"/>
                <a:pathLst>
                  <a:path w="8760">
                    <a:moveTo>
                      <a:pt x="0" y="0"/>
                    </a:moveTo>
                    <a:lnTo>
                      <a:pt x="8760" y="0"/>
                    </a:lnTo>
                  </a:path>
                </a:pathLst>
              </a:custGeom>
              <a:grpFill/>
              <a:ln w="7750">
                <a:solidFill>
                  <a:srgbClr val="002D56"/>
                </a:solidFill>
                <a:round/>
                <a:headEnd/>
                <a:tailEnd/>
              </a:ln>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grpSp>
      <p:sp>
        <p:nvSpPr>
          <p:cNvPr id="19" name="TextBox 18"/>
          <p:cNvSpPr txBox="1"/>
          <p:nvPr/>
        </p:nvSpPr>
        <p:spPr>
          <a:xfrm>
            <a:off x="2699792" y="1984023"/>
            <a:ext cx="4526519" cy="307777"/>
          </a:xfrm>
          <a:prstGeom prst="rect">
            <a:avLst/>
          </a:prstGeom>
          <a:noFill/>
        </p:spPr>
        <p:txBody>
          <a:bodyPr wrap="square" rtlCol="0">
            <a:spAutoFit/>
          </a:bodyPr>
          <a:lstStyle/>
          <a:p>
            <a:r>
              <a:rPr lang="tr-TR" sz="1400">
                <a:solidFill>
                  <a:srgbClr val="002060"/>
                </a:solidFill>
                <a:latin typeface="Arial" panose="020B0604020202020204" pitchFamily="34" charset="0"/>
                <a:cs typeface="Arial" panose="020B0604020202020204" pitchFamily="34" charset="0"/>
              </a:rPr>
              <a:t>                 İşletme Sermayesi / Ciro</a:t>
            </a:r>
            <a:endParaRPr lang="en-US" sz="1400">
              <a:solidFill>
                <a:srgbClr val="002060"/>
              </a:solidFill>
              <a:latin typeface="Arial" panose="020B0604020202020204" pitchFamily="34" charset="0"/>
              <a:cs typeface="Arial" panose="020B0604020202020204" pitchFamily="34" charset="0"/>
            </a:endParaRPr>
          </a:p>
        </p:txBody>
      </p:sp>
      <p:sp>
        <p:nvSpPr>
          <p:cNvPr id="20" name="TextBox 19"/>
          <p:cNvSpPr txBox="1"/>
          <p:nvPr/>
        </p:nvSpPr>
        <p:spPr>
          <a:xfrm>
            <a:off x="871439" y="2191406"/>
            <a:ext cx="884290" cy="307777"/>
          </a:xfrm>
          <a:prstGeom prst="rect">
            <a:avLst/>
          </a:prstGeom>
          <a:noFill/>
        </p:spPr>
        <p:txBody>
          <a:bodyPr wrap="square" rtlCol="0">
            <a:spAutoFit/>
          </a:bodyPr>
          <a:lstStyle/>
          <a:p>
            <a:r>
              <a:rPr lang="en-US" sz="1400">
                <a:solidFill>
                  <a:srgbClr val="002060"/>
                </a:solidFill>
                <a:latin typeface="Arial" panose="020B0604020202020204" pitchFamily="34" charset="0"/>
                <a:cs typeface="Arial" panose="020B0604020202020204" pitchFamily="34" charset="0"/>
              </a:rPr>
              <a:t>Se</a:t>
            </a:r>
            <a:r>
              <a:rPr lang="tr-TR" sz="1400">
                <a:solidFill>
                  <a:srgbClr val="002060"/>
                </a:solidFill>
                <a:latin typeface="Arial" panose="020B0604020202020204" pitchFamily="34" charset="0"/>
                <a:cs typeface="Arial" panose="020B0604020202020204" pitchFamily="34" charset="0"/>
              </a:rPr>
              <a:t>ktör</a:t>
            </a:r>
            <a:endParaRPr lang="en-US" sz="1400">
              <a:solidFill>
                <a:srgbClr val="002060"/>
              </a:solidFill>
              <a:latin typeface="Arial" panose="020B0604020202020204" pitchFamily="34" charset="0"/>
              <a:cs typeface="Arial" panose="020B0604020202020204" pitchFamily="34" charset="0"/>
            </a:endParaRPr>
          </a:p>
        </p:txBody>
      </p:sp>
      <p:sp>
        <p:nvSpPr>
          <p:cNvPr id="21" name="TextBox 20"/>
          <p:cNvSpPr txBox="1"/>
          <p:nvPr/>
        </p:nvSpPr>
        <p:spPr>
          <a:xfrm>
            <a:off x="4899911" y="2201270"/>
            <a:ext cx="884290" cy="307777"/>
          </a:xfrm>
          <a:prstGeom prst="rect">
            <a:avLst/>
          </a:prstGeom>
          <a:noFill/>
        </p:spPr>
        <p:txBody>
          <a:bodyPr wrap="square" rtlCol="0">
            <a:spAutoFit/>
          </a:bodyPr>
          <a:lstStyle/>
          <a:p>
            <a:r>
              <a:rPr lang="en-US" sz="1400" dirty="0">
                <a:solidFill>
                  <a:srgbClr val="002060"/>
                </a:solidFill>
                <a:latin typeface="Arial" panose="020B0604020202020204" pitchFamily="34" charset="0"/>
                <a:cs typeface="Arial" panose="020B0604020202020204" pitchFamily="34" charset="0"/>
              </a:rPr>
              <a:t>Se</a:t>
            </a:r>
            <a:r>
              <a:rPr lang="tr-TR" sz="1400" dirty="0">
                <a:solidFill>
                  <a:srgbClr val="002060"/>
                </a:solidFill>
                <a:latin typeface="Arial" panose="020B0604020202020204" pitchFamily="34" charset="0"/>
                <a:cs typeface="Arial" panose="020B0604020202020204" pitchFamily="34" charset="0"/>
              </a:rPr>
              <a:t>ktö</a:t>
            </a:r>
            <a:r>
              <a:rPr lang="en-US" sz="1400" dirty="0">
                <a:solidFill>
                  <a:srgbClr val="002060"/>
                </a:solidFill>
                <a:latin typeface="Arial" panose="020B0604020202020204" pitchFamily="34" charset="0"/>
                <a:cs typeface="Arial" panose="020B0604020202020204" pitchFamily="34" charset="0"/>
              </a:rPr>
              <a:t>r</a:t>
            </a:r>
          </a:p>
        </p:txBody>
      </p:sp>
      <p:sp>
        <p:nvSpPr>
          <p:cNvPr id="22" name="TextBox 21"/>
          <p:cNvSpPr txBox="1"/>
          <p:nvPr/>
        </p:nvSpPr>
        <p:spPr>
          <a:xfrm>
            <a:off x="2799244" y="5857528"/>
            <a:ext cx="3101336" cy="307777"/>
          </a:xfrm>
          <a:prstGeom prst="rect">
            <a:avLst/>
          </a:prstGeom>
          <a:noFill/>
        </p:spPr>
        <p:txBody>
          <a:bodyPr wrap="square" rtlCol="0">
            <a:spAutoFit/>
          </a:bodyPr>
          <a:lstStyle/>
          <a:p>
            <a:r>
              <a:rPr lang="tr-TR" sz="1400" b="1" dirty="0">
                <a:solidFill>
                  <a:srgbClr val="002060"/>
                </a:solidFill>
                <a:latin typeface="Arial" panose="020B0604020202020204" pitchFamily="34" charset="0"/>
                <a:cs typeface="Arial" panose="020B0604020202020204" pitchFamily="34" charset="0"/>
              </a:rPr>
              <a:t>Tüm sektörlerin ortalaması</a:t>
            </a:r>
            <a:r>
              <a:rPr lang="en-US" sz="1400" b="1" dirty="0">
                <a:solidFill>
                  <a:srgbClr val="002060"/>
                </a:solidFill>
                <a:latin typeface="Arial" panose="020B0604020202020204" pitchFamily="34" charset="0"/>
                <a:cs typeface="Arial" panose="020B0604020202020204" pitchFamily="34" charset="0"/>
              </a:rPr>
              <a:t>: </a:t>
            </a:r>
            <a:r>
              <a:rPr lang="tr-TR" sz="1400" b="1" dirty="0">
                <a:solidFill>
                  <a:srgbClr val="002060"/>
                </a:solidFill>
                <a:latin typeface="Arial" panose="020B0604020202020204" pitchFamily="34" charset="0"/>
                <a:cs typeface="Arial" panose="020B0604020202020204" pitchFamily="34" charset="0"/>
              </a:rPr>
              <a:t>12</a:t>
            </a:r>
            <a:r>
              <a:rPr lang="en-US" sz="1400" b="1" dirty="0">
                <a:solidFill>
                  <a:srgbClr val="002060"/>
                </a:solidFill>
                <a:latin typeface="Arial" panose="020B0604020202020204" pitchFamily="34" charset="0"/>
                <a:cs typeface="Arial" panose="020B0604020202020204" pitchFamily="34" charset="0"/>
              </a:rPr>
              <a:t>%</a:t>
            </a:r>
          </a:p>
        </p:txBody>
      </p:sp>
      <p:pic>
        <p:nvPicPr>
          <p:cNvPr id="2" name="Picture 1" descr="Graphical user interface, text, application&#10;&#10;Description automatically generated">
            <a:extLst>
              <a:ext uri="{FF2B5EF4-FFF2-40B4-BE49-F238E27FC236}">
                <a16:creationId xmlns:a16="http://schemas.microsoft.com/office/drawing/2014/main" id="{4037168C-7483-DA2D-439A-A1004144FB2C}"/>
              </a:ext>
            </a:extLst>
          </p:cNvPr>
          <p:cNvPicPr>
            <a:picLocks noChangeAspect="1"/>
          </p:cNvPicPr>
          <p:nvPr/>
        </p:nvPicPr>
        <p:blipFill rotWithShape="1">
          <a:blip r:embed="rId3">
            <a:extLst>
              <a:ext uri="{28A0092B-C50C-407E-A947-70E740481C1C}">
                <a14:useLocalDpi xmlns:a14="http://schemas.microsoft.com/office/drawing/2010/main" val="0"/>
              </a:ext>
            </a:extLst>
          </a:blip>
          <a:srcRect t="28354"/>
          <a:stretch/>
        </p:blipFill>
        <p:spPr>
          <a:xfrm>
            <a:off x="804557" y="2505138"/>
            <a:ext cx="7751019" cy="3358601"/>
          </a:xfrm>
          <a:prstGeom prst="rect">
            <a:avLst/>
          </a:prstGeom>
        </p:spPr>
      </p:pic>
    </p:spTree>
    <p:extLst>
      <p:ext uri="{BB962C8B-B14F-4D97-AF65-F5344CB8AC3E}">
        <p14:creationId xmlns:p14="http://schemas.microsoft.com/office/powerpoint/2010/main" val="41491937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532440" y="6469287"/>
            <a:ext cx="611008" cy="407006"/>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18252CF3-A41F-4012-B66F-BE64327A6FE6}" type="slidenum">
              <a:rPr lang="tr-TR" sz="1200">
                <a:solidFill>
                  <a:schemeClr val="tx2"/>
                </a:solidFill>
                <a:latin typeface="Verdana" pitchFamily="34" charset="0"/>
              </a:rPr>
              <a:pPr marL="0" indent="0" eaLnBrk="1" hangingPunct="1">
                <a:buNone/>
              </a:pPr>
              <a:t>73</a:t>
            </a:fld>
            <a:endParaRPr lang="tr-TR" sz="1200">
              <a:solidFill>
                <a:schemeClr val="tx2"/>
              </a:solidFill>
              <a:latin typeface="Verdana" pitchFamily="34" charset="0"/>
            </a:endParaRPr>
          </a:p>
        </p:txBody>
      </p:sp>
      <p:sp>
        <p:nvSpPr>
          <p:cNvPr id="59396" name="Rectangle 2"/>
          <p:cNvSpPr>
            <a:spLocks noGrp="1" noChangeArrowheads="1"/>
          </p:cNvSpPr>
          <p:nvPr>
            <p:ph type="title"/>
          </p:nvPr>
        </p:nvSpPr>
        <p:spPr>
          <a:xfrm>
            <a:off x="900232" y="260648"/>
            <a:ext cx="8229600" cy="1143000"/>
          </a:xfrm>
        </p:spPr>
        <p:txBody>
          <a:bodyPr/>
          <a:lstStyle/>
          <a:p>
            <a:pPr eaLnBrk="1" hangingPunct="1"/>
            <a:r>
              <a:rPr lang="tr-TR" sz="2800"/>
              <a:t>İşletme sermayesi gereksinimini belirleyen etmenler</a:t>
            </a:r>
          </a:p>
        </p:txBody>
      </p:sp>
      <p:sp>
        <p:nvSpPr>
          <p:cNvPr id="59397" name="Rectangle 3"/>
          <p:cNvSpPr>
            <a:spLocks noGrp="1" noChangeArrowheads="1"/>
          </p:cNvSpPr>
          <p:nvPr>
            <p:ph type="body" idx="4294967295"/>
          </p:nvPr>
        </p:nvSpPr>
        <p:spPr>
          <a:xfrm>
            <a:off x="457200" y="1268413"/>
            <a:ext cx="8229600" cy="4862512"/>
          </a:xfrm>
          <a:prstGeom prst="rect">
            <a:avLst/>
          </a:prstGeom>
        </p:spPr>
        <p:txBody>
          <a:bodyPr/>
          <a:lstStyle/>
          <a:p>
            <a:pPr algn="just" eaLnBrk="1" hangingPunct="1">
              <a:spcAft>
                <a:spcPts val="600"/>
              </a:spcAft>
            </a:pPr>
            <a:r>
              <a:rPr lang="tr-TR" sz="1600">
                <a:latin typeface="Verdana" pitchFamily="34" charset="0"/>
                <a:ea typeface="Verdana" pitchFamily="34" charset="0"/>
                <a:cs typeface="Verdana" pitchFamily="34" charset="0"/>
              </a:rPr>
              <a:t>İşletmenin sektörü</a:t>
            </a:r>
          </a:p>
          <a:p>
            <a:pPr algn="just" eaLnBrk="1" hangingPunct="1">
              <a:spcAft>
                <a:spcPts val="600"/>
              </a:spcAft>
            </a:pPr>
            <a:r>
              <a:rPr lang="tr-TR" sz="1600">
                <a:latin typeface="Verdana" pitchFamily="34" charset="0"/>
                <a:ea typeface="Verdana" pitchFamily="34" charset="0"/>
                <a:cs typeface="Verdana" pitchFamily="34" charset="0"/>
              </a:rPr>
              <a:t>Üretim süresi </a:t>
            </a:r>
          </a:p>
          <a:p>
            <a:pPr algn="just" eaLnBrk="1" hangingPunct="1">
              <a:spcAft>
                <a:spcPts val="600"/>
              </a:spcAft>
            </a:pPr>
            <a:r>
              <a:rPr lang="tr-TR" sz="1600">
                <a:latin typeface="Verdana" pitchFamily="34" charset="0"/>
                <a:ea typeface="Verdana" pitchFamily="34" charset="0"/>
                <a:cs typeface="Verdana" pitchFamily="34" charset="0"/>
              </a:rPr>
              <a:t>Satılacak malların birim maliyeti </a:t>
            </a:r>
          </a:p>
          <a:p>
            <a:pPr algn="just" eaLnBrk="1" hangingPunct="1">
              <a:spcAft>
                <a:spcPts val="600"/>
              </a:spcAft>
            </a:pPr>
            <a:r>
              <a:rPr lang="tr-TR" sz="1600">
                <a:latin typeface="Verdana" pitchFamily="34" charset="0"/>
                <a:ea typeface="Verdana" pitchFamily="34" charset="0"/>
                <a:cs typeface="Verdana" pitchFamily="34" charset="0"/>
              </a:rPr>
              <a:t>Satış hacmi</a:t>
            </a:r>
          </a:p>
          <a:p>
            <a:pPr algn="just" eaLnBrk="1" hangingPunct="1">
              <a:spcAft>
                <a:spcPts val="600"/>
              </a:spcAft>
            </a:pPr>
            <a:r>
              <a:rPr lang="tr-TR" sz="1600">
                <a:latin typeface="Verdana" pitchFamily="34" charset="0"/>
                <a:ea typeface="Verdana" pitchFamily="34" charset="0"/>
                <a:cs typeface="Verdana" pitchFamily="34" charset="0"/>
              </a:rPr>
              <a:t>Satın alma ve satış koşulları</a:t>
            </a:r>
          </a:p>
          <a:p>
            <a:pPr algn="just" eaLnBrk="1" hangingPunct="1">
              <a:spcAft>
                <a:spcPts val="600"/>
              </a:spcAft>
            </a:pPr>
            <a:r>
              <a:rPr lang="tr-TR" sz="1600">
                <a:latin typeface="Verdana" pitchFamily="34" charset="0"/>
                <a:ea typeface="Verdana" pitchFamily="34" charset="0"/>
                <a:cs typeface="Verdana" pitchFamily="34" charset="0"/>
              </a:rPr>
              <a:t>Stokların devir hızı</a:t>
            </a:r>
          </a:p>
          <a:p>
            <a:pPr algn="just" eaLnBrk="1" hangingPunct="1">
              <a:spcAft>
                <a:spcPts val="600"/>
              </a:spcAft>
            </a:pPr>
            <a:r>
              <a:rPr lang="tr-TR" sz="1600">
                <a:latin typeface="Verdana" pitchFamily="34" charset="0"/>
                <a:ea typeface="Verdana" pitchFamily="34" charset="0"/>
                <a:cs typeface="Verdana" pitchFamily="34" charset="0"/>
              </a:rPr>
              <a:t>Alacakların devir hızı</a:t>
            </a:r>
          </a:p>
          <a:p>
            <a:pPr algn="just" eaLnBrk="1" hangingPunct="1">
              <a:spcAft>
                <a:spcPts val="600"/>
              </a:spcAft>
            </a:pPr>
            <a:r>
              <a:rPr lang="tr-TR" sz="1600">
                <a:latin typeface="Verdana" pitchFamily="34" charset="0"/>
                <a:ea typeface="Verdana" pitchFamily="34" charset="0"/>
                <a:cs typeface="Verdana" pitchFamily="34" charset="0"/>
              </a:rPr>
              <a:t>Borç ödeme süreleri</a:t>
            </a:r>
          </a:p>
          <a:p>
            <a:pPr algn="just" eaLnBrk="1" hangingPunct="1">
              <a:spcAft>
                <a:spcPts val="600"/>
              </a:spcAft>
            </a:pPr>
            <a:r>
              <a:rPr lang="tr-TR" sz="1600">
                <a:latin typeface="Verdana" pitchFamily="34" charset="0"/>
                <a:ea typeface="Verdana" pitchFamily="34" charset="0"/>
                <a:cs typeface="Verdana" pitchFamily="34" charset="0"/>
              </a:rPr>
              <a:t>Konjonktürel dalgalanmalar</a:t>
            </a:r>
          </a:p>
          <a:p>
            <a:pPr algn="just" eaLnBrk="1" hangingPunct="1">
              <a:spcAft>
                <a:spcPts val="600"/>
              </a:spcAft>
            </a:pPr>
            <a:r>
              <a:rPr lang="tr-TR" sz="1600">
                <a:latin typeface="Verdana" pitchFamily="34" charset="0"/>
                <a:ea typeface="Verdana" pitchFamily="34" charset="0"/>
                <a:cs typeface="Verdana" pitchFamily="34" charset="0"/>
              </a:rPr>
              <a:t>Kullanılan teknoloji</a:t>
            </a:r>
          </a:p>
          <a:p>
            <a:pPr algn="just" eaLnBrk="1" hangingPunct="1">
              <a:spcAft>
                <a:spcPts val="600"/>
              </a:spcAft>
            </a:pPr>
            <a:r>
              <a:rPr lang="tr-TR" sz="1600">
                <a:latin typeface="Verdana" pitchFamily="34" charset="0"/>
                <a:ea typeface="Verdana" pitchFamily="34" charset="0"/>
                <a:cs typeface="Verdana" pitchFamily="34" charset="0"/>
              </a:rPr>
              <a:t>Satışlarda mevsimsellik</a:t>
            </a:r>
          </a:p>
          <a:p>
            <a:pPr algn="just" eaLnBrk="1" hangingPunct="1"/>
            <a:endParaRPr lang="tr-TR" sz="16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90774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3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3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93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39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39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939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939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939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939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90208"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38A76AE3-DA7F-4E97-8416-C0BB435BF5B2}" type="slidenum">
              <a:rPr lang="tr-TR" sz="1200">
                <a:solidFill>
                  <a:schemeClr val="tx2"/>
                </a:solidFill>
                <a:latin typeface="Verdana" pitchFamily="34" charset="0"/>
              </a:rPr>
              <a:pPr marL="0" indent="0" eaLnBrk="1" hangingPunct="1">
                <a:buNone/>
              </a:pPr>
              <a:t>74</a:t>
            </a:fld>
            <a:endParaRPr lang="tr-TR" sz="1200">
              <a:solidFill>
                <a:schemeClr val="tx2"/>
              </a:solidFill>
              <a:latin typeface="Verdana" pitchFamily="34" charset="0"/>
            </a:endParaRPr>
          </a:p>
        </p:txBody>
      </p:sp>
      <p:sp>
        <p:nvSpPr>
          <p:cNvPr id="60420" name="Rectangle 2"/>
          <p:cNvSpPr>
            <a:spLocks noGrp="1" noChangeArrowheads="1"/>
          </p:cNvSpPr>
          <p:nvPr>
            <p:ph type="title"/>
          </p:nvPr>
        </p:nvSpPr>
        <p:spPr/>
        <p:txBody>
          <a:bodyPr/>
          <a:lstStyle/>
          <a:p>
            <a:pPr eaLnBrk="1" hangingPunct="1"/>
            <a:r>
              <a:rPr lang="tr-TR" sz="4000"/>
              <a:t>Brisa - Operasyonel Verimlilik</a:t>
            </a:r>
          </a:p>
        </p:txBody>
      </p:sp>
      <p:sp>
        <p:nvSpPr>
          <p:cNvPr id="60428" name="TextBox 11"/>
          <p:cNvSpPr txBox="1">
            <a:spLocks noChangeArrowheads="1"/>
          </p:cNvSpPr>
          <p:nvPr/>
        </p:nvSpPr>
        <p:spPr bwMode="auto">
          <a:xfrm>
            <a:off x="3851275" y="2700338"/>
            <a:ext cx="2881313" cy="584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eaLnBrk="1" hangingPunct="1"/>
            <a:r>
              <a:rPr lang="tr-TR">
                <a:solidFill>
                  <a:schemeClr val="bg1"/>
                </a:solidFill>
              </a:rPr>
              <a:t>İşletme sermayesinin</a:t>
            </a:r>
          </a:p>
          <a:p>
            <a:pPr eaLnBrk="1" hangingPunct="1"/>
            <a:r>
              <a:rPr lang="tr-TR">
                <a:solidFill>
                  <a:schemeClr val="bg1"/>
                </a:solidFill>
              </a:rPr>
              <a:t> kısa vadeli (mevsimsel) kısmı</a:t>
            </a:r>
          </a:p>
        </p:txBody>
      </p:sp>
      <p:pic>
        <p:nvPicPr>
          <p:cNvPr id="13" name="Picture 12"/>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graphicFrame>
        <p:nvGraphicFramePr>
          <p:cNvPr id="14" name="Table 13"/>
          <p:cNvGraphicFramePr>
            <a:graphicFrameLocks noGrp="1"/>
          </p:cNvGraphicFramePr>
          <p:nvPr/>
        </p:nvGraphicFramePr>
        <p:xfrm>
          <a:off x="107504" y="1268761"/>
          <a:ext cx="8765040" cy="1812038"/>
        </p:xfrm>
        <a:graphic>
          <a:graphicData uri="http://schemas.openxmlformats.org/drawingml/2006/table">
            <a:tbl>
              <a:tblPr/>
              <a:tblGrid>
                <a:gridCol w="2548524">
                  <a:extLst>
                    <a:ext uri="{9D8B030D-6E8A-4147-A177-3AD203B41FA5}">
                      <a16:colId xmlns:a16="http://schemas.microsoft.com/office/drawing/2014/main" val="20000"/>
                    </a:ext>
                  </a:extLst>
                </a:gridCol>
                <a:gridCol w="690724">
                  <a:extLst>
                    <a:ext uri="{9D8B030D-6E8A-4147-A177-3AD203B41FA5}">
                      <a16:colId xmlns:a16="http://schemas.microsoft.com/office/drawing/2014/main" val="20001"/>
                    </a:ext>
                  </a:extLst>
                </a:gridCol>
                <a:gridCol w="690724">
                  <a:extLst>
                    <a:ext uri="{9D8B030D-6E8A-4147-A177-3AD203B41FA5}">
                      <a16:colId xmlns:a16="http://schemas.microsoft.com/office/drawing/2014/main" val="20002"/>
                    </a:ext>
                  </a:extLst>
                </a:gridCol>
                <a:gridCol w="690724">
                  <a:extLst>
                    <a:ext uri="{9D8B030D-6E8A-4147-A177-3AD203B41FA5}">
                      <a16:colId xmlns:a16="http://schemas.microsoft.com/office/drawing/2014/main" val="20003"/>
                    </a:ext>
                  </a:extLst>
                </a:gridCol>
                <a:gridCol w="690724">
                  <a:extLst>
                    <a:ext uri="{9D8B030D-6E8A-4147-A177-3AD203B41FA5}">
                      <a16:colId xmlns:a16="http://schemas.microsoft.com/office/drawing/2014/main" val="20004"/>
                    </a:ext>
                  </a:extLst>
                </a:gridCol>
                <a:gridCol w="690724">
                  <a:extLst>
                    <a:ext uri="{9D8B030D-6E8A-4147-A177-3AD203B41FA5}">
                      <a16:colId xmlns:a16="http://schemas.microsoft.com/office/drawing/2014/main" val="20005"/>
                    </a:ext>
                  </a:extLst>
                </a:gridCol>
                <a:gridCol w="690724">
                  <a:extLst>
                    <a:ext uri="{9D8B030D-6E8A-4147-A177-3AD203B41FA5}">
                      <a16:colId xmlns:a16="http://schemas.microsoft.com/office/drawing/2014/main" val="20006"/>
                    </a:ext>
                  </a:extLst>
                </a:gridCol>
                <a:gridCol w="690724">
                  <a:extLst>
                    <a:ext uri="{9D8B030D-6E8A-4147-A177-3AD203B41FA5}">
                      <a16:colId xmlns:a16="http://schemas.microsoft.com/office/drawing/2014/main" val="20007"/>
                    </a:ext>
                  </a:extLst>
                </a:gridCol>
                <a:gridCol w="690724">
                  <a:extLst>
                    <a:ext uri="{9D8B030D-6E8A-4147-A177-3AD203B41FA5}">
                      <a16:colId xmlns:a16="http://schemas.microsoft.com/office/drawing/2014/main" val="20008"/>
                    </a:ext>
                  </a:extLst>
                </a:gridCol>
                <a:gridCol w="690724">
                  <a:extLst>
                    <a:ext uri="{9D8B030D-6E8A-4147-A177-3AD203B41FA5}">
                      <a16:colId xmlns:a16="http://schemas.microsoft.com/office/drawing/2014/main" val="20009"/>
                    </a:ext>
                  </a:extLst>
                </a:gridCol>
              </a:tblGrid>
              <a:tr h="288031">
                <a:tc>
                  <a:txBody>
                    <a:bodyPr/>
                    <a:lstStyle/>
                    <a:p>
                      <a:pPr algn="l" fontAlgn="b"/>
                      <a:r>
                        <a:rPr lang="tr-TR" sz="1800" b="1" i="0" u="none" strike="noStrike">
                          <a:solidFill>
                            <a:schemeClr val="tx1"/>
                          </a:solidFill>
                          <a:latin typeface="Calibri"/>
                        </a:rPr>
                        <a:t>Brisa</a:t>
                      </a:r>
                      <a:endParaRPr lang="en-GB" sz="1800" b="1" i="0" u="none" strike="noStrike">
                        <a:solidFill>
                          <a:schemeClr val="tx1"/>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extLst>
                  <a:ext uri="{0D108BD9-81ED-4DB2-BD59-A6C34878D82A}">
                    <a16:rowId xmlns:a16="http://schemas.microsoft.com/office/drawing/2014/main" val="10000"/>
                  </a:ext>
                </a:extLst>
              </a:tr>
              <a:tr h="336763">
                <a:tc>
                  <a:txBody>
                    <a:bodyPr/>
                    <a:lstStyle/>
                    <a:p>
                      <a:pPr algn="l" fontAlgn="b"/>
                      <a:r>
                        <a:rPr lang="en-GB" sz="1800" b="1" i="0" u="none" strike="noStrike">
                          <a:solidFill>
                            <a:srgbClr val="FF0000"/>
                          </a:solidFill>
                          <a:latin typeface="Calibri"/>
                        </a:rPr>
                        <a:t>(TL </a:t>
                      </a:r>
                      <a:r>
                        <a:rPr lang="en-GB" sz="1800" b="1" i="0" u="none" strike="noStrike" err="1">
                          <a:solidFill>
                            <a:srgbClr val="FF0000"/>
                          </a:solidFill>
                          <a:latin typeface="Calibri"/>
                        </a:rPr>
                        <a:t>milyon</a:t>
                      </a:r>
                      <a:r>
                        <a:rPr lang="en-GB" sz="1800" b="1" i="0" u="none" strike="noStrike">
                          <a:solidFill>
                            <a:srgbClr val="FF0000"/>
                          </a:solidFill>
                          <a:latin typeface="Calibri"/>
                        </a:rPr>
                        <a:t>)</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2008</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2009</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2010</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2011</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2012</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2013</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a:t>
                      </a:r>
                      <a:r>
                        <a:rPr lang="tr-TR" sz="1800" b="1" i="0" u="none" strike="noStrike">
                          <a:solidFill>
                            <a:srgbClr val="000000"/>
                          </a:solidFill>
                          <a:latin typeface="Calibri"/>
                        </a:rPr>
                        <a:t>4</a:t>
                      </a:r>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a:t>
                      </a:r>
                      <a:r>
                        <a:rPr lang="tr-TR" sz="1800" b="1" i="0" u="none" strike="noStrike">
                          <a:solidFill>
                            <a:srgbClr val="000000"/>
                          </a:solidFill>
                          <a:latin typeface="Calibri"/>
                        </a:rPr>
                        <a:t>5</a:t>
                      </a:r>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a:t>
                      </a:r>
                      <a:r>
                        <a:rPr lang="tr-TR" sz="1800" b="1" i="0" u="none" strike="noStrike">
                          <a:solidFill>
                            <a:srgbClr val="000000"/>
                          </a:solidFill>
                          <a:latin typeface="Calibri"/>
                        </a:rPr>
                        <a:t>6</a:t>
                      </a:r>
                      <a:endParaRPr lang="en-GB" sz="1800" b="1" i="0" u="none" strike="noStrike">
                        <a:solidFill>
                          <a:srgbClr val="000000"/>
                        </a:solidFill>
                        <a:latin typeface="Calibri"/>
                      </a:endParaRPr>
                    </a:p>
                  </a:txBody>
                  <a:tcPr marL="6508" marR="6508" marT="6508" marB="0" anchor="b">
                    <a:lnL>
                      <a:noFill/>
                    </a:lnL>
                    <a:lnR>
                      <a:noFill/>
                    </a:lnR>
                    <a:lnT>
                      <a:noFill/>
                    </a:lnT>
                    <a:lnB>
                      <a:noFill/>
                    </a:lnB>
                  </a:tcPr>
                </a:tc>
                <a:extLst>
                  <a:ext uri="{0D108BD9-81ED-4DB2-BD59-A6C34878D82A}">
                    <a16:rowId xmlns:a16="http://schemas.microsoft.com/office/drawing/2014/main" val="10001"/>
                  </a:ext>
                </a:extLst>
              </a:tr>
              <a:tr h="396930">
                <a:tc>
                  <a:txBody>
                    <a:bodyPr/>
                    <a:lstStyle/>
                    <a:p>
                      <a:pPr algn="l" fontAlgn="b"/>
                      <a:r>
                        <a:rPr lang="en-GB" sz="1800" b="0" i="0" u="none" strike="noStrike" err="1">
                          <a:solidFill>
                            <a:srgbClr val="000000"/>
                          </a:solidFill>
                          <a:latin typeface="Calibri"/>
                        </a:rPr>
                        <a:t>İşletme</a:t>
                      </a:r>
                      <a:r>
                        <a:rPr lang="en-GB" sz="1800" b="0" i="0" u="none" strike="noStrike">
                          <a:solidFill>
                            <a:srgbClr val="000000"/>
                          </a:solidFill>
                          <a:latin typeface="Calibri"/>
                        </a:rPr>
                        <a:t> </a:t>
                      </a:r>
                      <a:r>
                        <a:rPr lang="en-GB" sz="1800" b="0" i="0" u="none" strike="noStrike" err="1">
                          <a:solidFill>
                            <a:srgbClr val="000000"/>
                          </a:solidFill>
                          <a:latin typeface="Calibri"/>
                        </a:rPr>
                        <a:t>Sermayesi</a:t>
                      </a:r>
                      <a:r>
                        <a:rPr lang="en-GB" sz="1800" b="0" i="0" u="none" strike="noStrike">
                          <a:solidFill>
                            <a:srgbClr val="000000"/>
                          </a:solidFill>
                          <a:latin typeface="Calibri"/>
                        </a:rPr>
                        <a:t> </a:t>
                      </a:r>
                      <a:r>
                        <a:rPr lang="en-GB" sz="1800" b="0" i="0" u="none" strike="noStrike" err="1">
                          <a:solidFill>
                            <a:srgbClr val="000000"/>
                          </a:solidFill>
                          <a:latin typeface="Calibri"/>
                        </a:rPr>
                        <a:t>İhtiyacı</a:t>
                      </a:r>
                      <a:endParaRPr lang="en-GB" sz="1800" b="0"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286</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171</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275</a:t>
                      </a:r>
                    </a:p>
                  </a:txBody>
                  <a:tcPr marL="6508" marR="6508" marT="6508"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469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550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576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666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845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740  </a:t>
                      </a:r>
                    </a:p>
                  </a:txBody>
                  <a:tcPr marL="7620" marR="7620" marT="7620" marB="0" anchor="b">
                    <a:lnL>
                      <a:noFill/>
                    </a:lnL>
                    <a:lnR>
                      <a:noFill/>
                    </a:lnR>
                    <a:lnT>
                      <a:noFill/>
                    </a:lnT>
                    <a:lnB>
                      <a:noFill/>
                    </a:lnB>
                  </a:tcPr>
                </a:tc>
                <a:extLst>
                  <a:ext uri="{0D108BD9-81ED-4DB2-BD59-A6C34878D82A}">
                    <a16:rowId xmlns:a16="http://schemas.microsoft.com/office/drawing/2014/main" val="10002"/>
                  </a:ext>
                </a:extLst>
              </a:tr>
              <a:tr h="395157">
                <a:tc>
                  <a:txBody>
                    <a:bodyPr/>
                    <a:lstStyle/>
                    <a:p>
                      <a:pPr algn="l" fontAlgn="b"/>
                      <a:r>
                        <a:rPr lang="en-GB" sz="1800" b="0" i="0" u="none" strike="noStrike">
                          <a:solidFill>
                            <a:srgbClr val="000000"/>
                          </a:solidFill>
                          <a:latin typeface="Calibri"/>
                        </a:rPr>
                        <a:t>Ciro</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772</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776</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980</a:t>
                      </a:r>
                    </a:p>
                  </a:txBody>
                  <a:tcPr marL="6508" marR="6508" marT="6508"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1.348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1.424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1.489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1.693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1.802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1.766  </a:t>
                      </a:r>
                    </a:p>
                  </a:txBody>
                  <a:tcPr marL="7620" marR="7620" marT="7620" marB="0" anchor="b">
                    <a:lnL>
                      <a:noFill/>
                    </a:lnL>
                    <a:lnR>
                      <a:noFill/>
                    </a:lnR>
                    <a:lnT>
                      <a:noFill/>
                    </a:lnT>
                    <a:lnB>
                      <a:noFill/>
                    </a:lnB>
                  </a:tcPr>
                </a:tc>
                <a:extLst>
                  <a:ext uri="{0D108BD9-81ED-4DB2-BD59-A6C34878D82A}">
                    <a16:rowId xmlns:a16="http://schemas.microsoft.com/office/drawing/2014/main" val="10003"/>
                  </a:ext>
                </a:extLst>
              </a:tr>
              <a:tr h="395157">
                <a:tc>
                  <a:txBody>
                    <a:bodyPr/>
                    <a:lstStyle/>
                    <a:p>
                      <a:pPr algn="l" fontAlgn="b"/>
                      <a:r>
                        <a:rPr lang="en-GB" sz="1800" b="1" i="0" u="none" strike="noStrike">
                          <a:solidFill>
                            <a:srgbClr val="000000"/>
                          </a:solidFill>
                          <a:latin typeface="Calibri"/>
                        </a:rPr>
                        <a:t>İSİ / Ciro (%)</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37</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22</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28</a:t>
                      </a:r>
                    </a:p>
                  </a:txBody>
                  <a:tcPr marL="6508" marR="6508" marT="6508"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35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39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39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39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47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42  </a:t>
                      </a:r>
                    </a:p>
                  </a:txBody>
                  <a:tcPr marL="7620" marR="7620" marT="7620" marB="0" anchor="b">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15" name="Rectangle 3"/>
          <p:cNvSpPr txBox="1">
            <a:spLocks noChangeArrowheads="1"/>
          </p:cNvSpPr>
          <p:nvPr/>
        </p:nvSpPr>
        <p:spPr>
          <a:xfrm>
            <a:off x="395288" y="3140968"/>
            <a:ext cx="8477250" cy="1224136"/>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lang="tr-TR" sz="2000">
                <a:latin typeface="Verdana" pitchFamily="34" charset="0"/>
                <a:ea typeface="Verdana" pitchFamily="34" charset="0"/>
                <a:cs typeface="Verdana" pitchFamily="34" charset="0"/>
              </a:rPr>
              <a:t>Brisa operasyonel olarak verimli midir</a:t>
            </a:r>
            <a:r>
              <a:rPr kumimoji="0" lang="tr-TR" sz="2000" b="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lang="tr-TR" sz="2000">
                <a:latin typeface="Verdana" pitchFamily="34" charset="0"/>
                <a:ea typeface="Verdana" pitchFamily="34" charset="0"/>
                <a:cs typeface="Verdana" pitchFamily="34" charset="0"/>
              </a:rPr>
              <a:t>2009’da ne olmuştur?</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tr-TR" sz="2000" b="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Verimsizliği sürekli artıran neden nedir?</a:t>
            </a:r>
            <a:endParaRPr kumimoji="0" lang="en-CA" sz="2000" b="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endParaRPr>
          </a:p>
        </p:txBody>
      </p:sp>
      <p:graphicFrame>
        <p:nvGraphicFramePr>
          <p:cNvPr id="9" name="Table 8"/>
          <p:cNvGraphicFramePr>
            <a:graphicFrameLocks noGrp="1"/>
          </p:cNvGraphicFramePr>
          <p:nvPr/>
        </p:nvGraphicFramePr>
        <p:xfrm>
          <a:off x="127444" y="4293096"/>
          <a:ext cx="8765040" cy="1812038"/>
        </p:xfrm>
        <a:graphic>
          <a:graphicData uri="http://schemas.openxmlformats.org/drawingml/2006/table">
            <a:tbl>
              <a:tblPr/>
              <a:tblGrid>
                <a:gridCol w="2548524">
                  <a:extLst>
                    <a:ext uri="{9D8B030D-6E8A-4147-A177-3AD203B41FA5}">
                      <a16:colId xmlns:a16="http://schemas.microsoft.com/office/drawing/2014/main" val="20000"/>
                    </a:ext>
                  </a:extLst>
                </a:gridCol>
                <a:gridCol w="690724">
                  <a:extLst>
                    <a:ext uri="{9D8B030D-6E8A-4147-A177-3AD203B41FA5}">
                      <a16:colId xmlns:a16="http://schemas.microsoft.com/office/drawing/2014/main" val="20001"/>
                    </a:ext>
                  </a:extLst>
                </a:gridCol>
                <a:gridCol w="690724">
                  <a:extLst>
                    <a:ext uri="{9D8B030D-6E8A-4147-A177-3AD203B41FA5}">
                      <a16:colId xmlns:a16="http://schemas.microsoft.com/office/drawing/2014/main" val="20002"/>
                    </a:ext>
                  </a:extLst>
                </a:gridCol>
                <a:gridCol w="690724">
                  <a:extLst>
                    <a:ext uri="{9D8B030D-6E8A-4147-A177-3AD203B41FA5}">
                      <a16:colId xmlns:a16="http://schemas.microsoft.com/office/drawing/2014/main" val="20003"/>
                    </a:ext>
                  </a:extLst>
                </a:gridCol>
                <a:gridCol w="690724">
                  <a:extLst>
                    <a:ext uri="{9D8B030D-6E8A-4147-A177-3AD203B41FA5}">
                      <a16:colId xmlns:a16="http://schemas.microsoft.com/office/drawing/2014/main" val="20004"/>
                    </a:ext>
                  </a:extLst>
                </a:gridCol>
                <a:gridCol w="690724">
                  <a:extLst>
                    <a:ext uri="{9D8B030D-6E8A-4147-A177-3AD203B41FA5}">
                      <a16:colId xmlns:a16="http://schemas.microsoft.com/office/drawing/2014/main" val="20005"/>
                    </a:ext>
                  </a:extLst>
                </a:gridCol>
                <a:gridCol w="690724">
                  <a:extLst>
                    <a:ext uri="{9D8B030D-6E8A-4147-A177-3AD203B41FA5}">
                      <a16:colId xmlns:a16="http://schemas.microsoft.com/office/drawing/2014/main" val="20006"/>
                    </a:ext>
                  </a:extLst>
                </a:gridCol>
                <a:gridCol w="690724">
                  <a:extLst>
                    <a:ext uri="{9D8B030D-6E8A-4147-A177-3AD203B41FA5}">
                      <a16:colId xmlns:a16="http://schemas.microsoft.com/office/drawing/2014/main" val="20007"/>
                    </a:ext>
                  </a:extLst>
                </a:gridCol>
                <a:gridCol w="690724">
                  <a:extLst>
                    <a:ext uri="{9D8B030D-6E8A-4147-A177-3AD203B41FA5}">
                      <a16:colId xmlns:a16="http://schemas.microsoft.com/office/drawing/2014/main" val="20008"/>
                    </a:ext>
                  </a:extLst>
                </a:gridCol>
                <a:gridCol w="690724">
                  <a:extLst>
                    <a:ext uri="{9D8B030D-6E8A-4147-A177-3AD203B41FA5}">
                      <a16:colId xmlns:a16="http://schemas.microsoft.com/office/drawing/2014/main" val="20009"/>
                    </a:ext>
                  </a:extLst>
                </a:gridCol>
              </a:tblGrid>
              <a:tr h="288031">
                <a:tc>
                  <a:txBody>
                    <a:bodyPr/>
                    <a:lstStyle/>
                    <a:p>
                      <a:pPr algn="l" fontAlgn="b"/>
                      <a:r>
                        <a:rPr lang="tr-TR" sz="1800" b="1" i="0" u="none" strike="noStrike">
                          <a:solidFill>
                            <a:schemeClr val="tx1"/>
                          </a:solidFill>
                          <a:latin typeface="Calibri"/>
                        </a:rPr>
                        <a:t>Goodyear</a:t>
                      </a:r>
                      <a:endParaRPr lang="en-GB" sz="1800" b="1" i="0" u="none" strike="noStrike">
                        <a:solidFill>
                          <a:schemeClr val="tx1"/>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endParaRPr lang="en-GB" sz="1800" b="1" i="0" u="none" strike="noStrike">
                        <a:solidFill>
                          <a:srgbClr val="000000"/>
                        </a:solidFill>
                        <a:latin typeface="Calibri"/>
                      </a:endParaRPr>
                    </a:p>
                  </a:txBody>
                  <a:tcPr marL="6508" marR="6508" marT="6508" marB="0" anchor="b">
                    <a:lnL>
                      <a:noFill/>
                    </a:lnL>
                    <a:lnR>
                      <a:noFill/>
                    </a:lnR>
                    <a:lnT>
                      <a:noFill/>
                    </a:lnT>
                    <a:lnB>
                      <a:noFill/>
                    </a:lnB>
                  </a:tcPr>
                </a:tc>
                <a:extLst>
                  <a:ext uri="{0D108BD9-81ED-4DB2-BD59-A6C34878D82A}">
                    <a16:rowId xmlns:a16="http://schemas.microsoft.com/office/drawing/2014/main" val="10000"/>
                  </a:ext>
                </a:extLst>
              </a:tr>
              <a:tr h="336763">
                <a:tc>
                  <a:txBody>
                    <a:bodyPr/>
                    <a:lstStyle/>
                    <a:p>
                      <a:pPr algn="l" fontAlgn="b"/>
                      <a:r>
                        <a:rPr lang="en-GB" sz="1800" b="1" i="0" u="none" strike="noStrike">
                          <a:solidFill>
                            <a:srgbClr val="FF0000"/>
                          </a:solidFill>
                          <a:latin typeface="Calibri"/>
                        </a:rPr>
                        <a:t>(TL </a:t>
                      </a:r>
                      <a:r>
                        <a:rPr lang="en-GB" sz="1800" b="1" i="0" u="none" strike="noStrike" err="1">
                          <a:solidFill>
                            <a:srgbClr val="FF0000"/>
                          </a:solidFill>
                          <a:latin typeface="Calibri"/>
                        </a:rPr>
                        <a:t>milyon</a:t>
                      </a:r>
                      <a:r>
                        <a:rPr lang="en-GB" sz="1800" b="1" i="0" u="none" strike="noStrike">
                          <a:solidFill>
                            <a:srgbClr val="FF0000"/>
                          </a:solidFill>
                          <a:latin typeface="Calibri"/>
                        </a:rPr>
                        <a:t>)</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2008</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2009</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2010</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2011</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2012</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2013</a:t>
                      </a:r>
                    </a:p>
                  </a:txBody>
                  <a:tcPr marL="6508" marR="6508" marT="6508" marB="0" anchor="b">
                    <a:lnL>
                      <a:noFill/>
                    </a:lnL>
                    <a:lnR>
                      <a:noFill/>
                    </a:lnR>
                    <a:lnT>
                      <a:noFill/>
                    </a:lnT>
                    <a:lnB>
                      <a:noFill/>
                    </a:lnB>
                  </a:tcPr>
                </a:tc>
                <a:tc>
                  <a:txBody>
                    <a:bodyPr/>
                    <a:lstStyle/>
                    <a:p>
                      <a:pPr algn="r" fontAlgn="b"/>
                      <a:r>
                        <a:rPr lang="en-GB" sz="1800" b="1" i="0" u="none" strike="noStrike">
                          <a:solidFill>
                            <a:srgbClr val="000000"/>
                          </a:solidFill>
                          <a:latin typeface="Calibri"/>
                        </a:rPr>
                        <a:t>201</a:t>
                      </a:r>
                      <a:r>
                        <a:rPr lang="tr-TR" sz="1800" b="1" i="0" u="none" strike="noStrike">
                          <a:solidFill>
                            <a:srgbClr val="000000"/>
                          </a:solidFill>
                          <a:latin typeface="Calibri"/>
                        </a:rPr>
                        <a:t>4</a:t>
                      </a:r>
                      <a:endParaRPr lang="en-GB" sz="1800" b="1"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2015</a:t>
                      </a:r>
                    </a:p>
                  </a:txBody>
                  <a:tcPr marL="7620" marR="7620" marT="7620"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201</a:t>
                      </a:r>
                      <a:r>
                        <a:rPr lang="tr-TR" sz="1800" b="1" i="0" u="none" strike="noStrike">
                          <a:solidFill>
                            <a:srgbClr val="000000"/>
                          </a:solidFill>
                          <a:effectLst/>
                          <a:latin typeface="Calibri" panose="020F0502020204030204" pitchFamily="34" charset="0"/>
                        </a:rPr>
                        <a:t>6</a:t>
                      </a:r>
                      <a:endParaRPr lang="en-US" sz="1800" b="1"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0001"/>
                  </a:ext>
                </a:extLst>
              </a:tr>
              <a:tr h="396930">
                <a:tc>
                  <a:txBody>
                    <a:bodyPr/>
                    <a:lstStyle/>
                    <a:p>
                      <a:pPr algn="l" fontAlgn="b"/>
                      <a:r>
                        <a:rPr lang="en-GB" sz="1800" b="0" i="0" u="none" strike="noStrike" err="1">
                          <a:solidFill>
                            <a:srgbClr val="000000"/>
                          </a:solidFill>
                          <a:latin typeface="Calibri"/>
                        </a:rPr>
                        <a:t>İşletme</a:t>
                      </a:r>
                      <a:r>
                        <a:rPr lang="en-GB" sz="1800" b="0" i="0" u="none" strike="noStrike">
                          <a:solidFill>
                            <a:srgbClr val="000000"/>
                          </a:solidFill>
                          <a:latin typeface="Calibri"/>
                        </a:rPr>
                        <a:t> </a:t>
                      </a:r>
                      <a:r>
                        <a:rPr lang="en-GB" sz="1800" b="0" i="0" u="none" strike="noStrike" err="1">
                          <a:solidFill>
                            <a:srgbClr val="000000"/>
                          </a:solidFill>
                          <a:latin typeface="Calibri"/>
                        </a:rPr>
                        <a:t>Sermayesi</a:t>
                      </a:r>
                      <a:r>
                        <a:rPr lang="en-GB" sz="1800" b="0" i="0" u="none" strike="noStrike">
                          <a:solidFill>
                            <a:srgbClr val="000000"/>
                          </a:solidFill>
                          <a:latin typeface="Calibri"/>
                        </a:rPr>
                        <a:t> </a:t>
                      </a:r>
                      <a:r>
                        <a:rPr lang="en-GB" sz="1800" b="0" i="0" u="none" strike="noStrike" err="1">
                          <a:solidFill>
                            <a:srgbClr val="000000"/>
                          </a:solidFill>
                          <a:latin typeface="Calibri"/>
                        </a:rPr>
                        <a:t>İhtiyacı</a:t>
                      </a:r>
                      <a:endParaRPr lang="en-GB" sz="1800" b="0"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122</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112</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197</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315</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235</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217</a:t>
                      </a:r>
                    </a:p>
                  </a:txBody>
                  <a:tcPr marL="6508" marR="6508" marT="6508" marB="0" anchor="b">
                    <a:lnL>
                      <a:noFill/>
                    </a:lnL>
                    <a:lnR>
                      <a:noFill/>
                    </a:lnR>
                    <a:lnT>
                      <a:noFill/>
                    </a:lnT>
                    <a:lnB>
                      <a:noFill/>
                    </a:lnB>
                  </a:tcPr>
                </a:tc>
                <a:tc>
                  <a:txBody>
                    <a:bodyPr/>
                    <a:lstStyle/>
                    <a:p>
                      <a:pPr algn="r" fontAlgn="b"/>
                      <a:r>
                        <a:rPr lang="tr-TR" sz="1800" b="0" i="0" u="none" strike="noStrike">
                          <a:solidFill>
                            <a:srgbClr val="000000"/>
                          </a:solidFill>
                          <a:latin typeface="Calibri"/>
                        </a:rPr>
                        <a:t>198</a:t>
                      </a:r>
                      <a:endParaRPr lang="en-GB" sz="1800" b="0"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151  </a:t>
                      </a:r>
                    </a:p>
                  </a:txBody>
                  <a:tcPr marL="7620" marR="7620" marT="762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204</a:t>
                      </a:r>
                      <a:r>
                        <a:rPr lang="en-US" sz="18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2"/>
                  </a:ext>
                </a:extLst>
              </a:tr>
              <a:tr h="395157">
                <a:tc>
                  <a:txBody>
                    <a:bodyPr/>
                    <a:lstStyle/>
                    <a:p>
                      <a:pPr algn="l" fontAlgn="b"/>
                      <a:r>
                        <a:rPr lang="en-GB" sz="1800" b="0" i="0" u="none" strike="noStrike">
                          <a:solidFill>
                            <a:srgbClr val="000000"/>
                          </a:solidFill>
                          <a:latin typeface="Calibri"/>
                        </a:rPr>
                        <a:t>Ciro</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765</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614</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808</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1,236</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1,135</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1,100</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1,1</a:t>
                      </a:r>
                      <a:r>
                        <a:rPr lang="tr-TR" sz="1800" b="0" i="0" u="none" strike="noStrike">
                          <a:solidFill>
                            <a:srgbClr val="000000"/>
                          </a:solidFill>
                          <a:latin typeface="Calibri"/>
                        </a:rPr>
                        <a:t>38</a:t>
                      </a:r>
                      <a:endParaRPr lang="en-GB" sz="1800" b="0"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1.285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a:t>
                      </a:r>
                      <a:r>
                        <a:rPr lang="tr-TR" sz="1800" b="0" i="0" u="none" strike="noStrike">
                          <a:solidFill>
                            <a:srgbClr val="000000"/>
                          </a:solidFill>
                          <a:effectLst/>
                          <a:latin typeface="Calibri" panose="020F0502020204030204" pitchFamily="34" charset="0"/>
                        </a:rPr>
                        <a:t>350</a:t>
                      </a:r>
                      <a:r>
                        <a:rPr lang="en-US" sz="18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3"/>
                  </a:ext>
                </a:extLst>
              </a:tr>
              <a:tr h="395157">
                <a:tc>
                  <a:txBody>
                    <a:bodyPr/>
                    <a:lstStyle/>
                    <a:p>
                      <a:pPr algn="l" fontAlgn="b"/>
                      <a:r>
                        <a:rPr lang="en-GB" sz="1800" b="1" i="0" u="none" strike="noStrike">
                          <a:solidFill>
                            <a:srgbClr val="000000"/>
                          </a:solidFill>
                          <a:latin typeface="Calibri"/>
                        </a:rPr>
                        <a:t>İSİ / Ciro (%)</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16</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18</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24</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26</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21</a:t>
                      </a:r>
                    </a:p>
                  </a:txBody>
                  <a:tcPr marL="6508" marR="6508" marT="6508" marB="0" anchor="b">
                    <a:lnL>
                      <a:noFill/>
                    </a:lnL>
                    <a:lnR>
                      <a:noFill/>
                    </a:lnR>
                    <a:lnT>
                      <a:noFill/>
                    </a:lnT>
                    <a:lnB>
                      <a:noFill/>
                    </a:lnB>
                  </a:tcPr>
                </a:tc>
                <a:tc>
                  <a:txBody>
                    <a:bodyPr/>
                    <a:lstStyle/>
                    <a:p>
                      <a:pPr algn="r" fontAlgn="b"/>
                      <a:r>
                        <a:rPr lang="en-GB" sz="1800" b="0" i="0" u="none" strike="noStrike">
                          <a:solidFill>
                            <a:srgbClr val="000000"/>
                          </a:solidFill>
                          <a:latin typeface="Calibri"/>
                        </a:rPr>
                        <a:t>20</a:t>
                      </a:r>
                    </a:p>
                  </a:txBody>
                  <a:tcPr marL="6508" marR="6508" marT="6508" marB="0" anchor="b">
                    <a:lnL>
                      <a:noFill/>
                    </a:lnL>
                    <a:lnR>
                      <a:noFill/>
                    </a:lnR>
                    <a:lnT>
                      <a:noFill/>
                    </a:lnT>
                    <a:lnB>
                      <a:noFill/>
                    </a:lnB>
                  </a:tcPr>
                </a:tc>
                <a:tc>
                  <a:txBody>
                    <a:bodyPr/>
                    <a:lstStyle/>
                    <a:p>
                      <a:pPr algn="r" fontAlgn="b"/>
                      <a:r>
                        <a:rPr lang="tr-TR" sz="1800" b="0" i="0" u="none" strike="noStrike">
                          <a:solidFill>
                            <a:srgbClr val="000000"/>
                          </a:solidFill>
                          <a:latin typeface="Calibri"/>
                        </a:rPr>
                        <a:t>17</a:t>
                      </a:r>
                      <a:endParaRPr lang="en-GB" sz="1800" b="0" i="0" u="none" strike="noStrike">
                        <a:solidFill>
                          <a:srgbClr val="000000"/>
                        </a:solidFill>
                        <a:latin typeface="Calibri"/>
                      </a:endParaRPr>
                    </a:p>
                  </a:txBody>
                  <a:tcPr marL="6508" marR="6508" marT="6508"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12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a:t>
                      </a:r>
                      <a:r>
                        <a:rPr lang="tr-TR" sz="1800" b="0" i="0" u="none" strike="noStrike">
                          <a:solidFill>
                            <a:srgbClr val="000000"/>
                          </a:solidFill>
                          <a:effectLst/>
                          <a:latin typeface="Calibri" panose="020F0502020204030204" pitchFamily="34" charset="0"/>
                        </a:rPr>
                        <a:t>5</a:t>
                      </a:r>
                      <a:r>
                        <a:rPr lang="en-US" sz="18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51443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bldLvl="3"/>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75</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457200" y="277813"/>
            <a:ext cx="8229600" cy="774700"/>
          </a:xfrm>
        </p:spPr>
        <p:txBody>
          <a:bodyPr/>
          <a:lstStyle/>
          <a:p>
            <a:pPr eaLnBrk="1" hangingPunct="1"/>
            <a:r>
              <a:rPr lang="tr-TR" sz="4000"/>
              <a:t>Operasyonel Verimlilik</a:t>
            </a:r>
          </a:p>
        </p:txBody>
      </p:sp>
      <p:pic>
        <p:nvPicPr>
          <p:cNvPr id="2" name="Picture 1">
            <a:extLst>
              <a:ext uri="{FF2B5EF4-FFF2-40B4-BE49-F238E27FC236}">
                <a16:creationId xmlns:a16="http://schemas.microsoft.com/office/drawing/2014/main" id="{907A2B1C-31E6-C638-EFC7-4985CE418EB4}"/>
              </a:ext>
            </a:extLst>
          </p:cNvPr>
          <p:cNvPicPr>
            <a:picLocks noChangeAspect="1"/>
          </p:cNvPicPr>
          <p:nvPr/>
        </p:nvPicPr>
        <p:blipFill>
          <a:blip r:embed="rId2"/>
          <a:stretch>
            <a:fillRect/>
          </a:stretch>
        </p:blipFill>
        <p:spPr>
          <a:xfrm>
            <a:off x="827584" y="1576472"/>
            <a:ext cx="7203064" cy="4419507"/>
          </a:xfrm>
          <a:prstGeom prst="rect">
            <a:avLst/>
          </a:prstGeom>
        </p:spPr>
      </p:pic>
    </p:spTree>
    <p:extLst>
      <p:ext uri="{BB962C8B-B14F-4D97-AF65-F5344CB8AC3E}">
        <p14:creationId xmlns:p14="http://schemas.microsoft.com/office/powerpoint/2010/main" val="40324798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76</a:t>
            </a:fld>
            <a:endParaRPr lang="tr-TR" sz="1200">
              <a:solidFill>
                <a:schemeClr val="tx2"/>
              </a:solidFill>
              <a:latin typeface="Verdana" pitchFamily="34" charset="0"/>
            </a:endParaRPr>
          </a:p>
        </p:txBody>
      </p:sp>
      <p:pic>
        <p:nvPicPr>
          <p:cNvPr id="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650" y="1989138"/>
            <a:ext cx="8075613" cy="322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4"/>
          <p:cNvSpPr txBox="1">
            <a:spLocks noChangeArrowheads="1"/>
          </p:cNvSpPr>
          <p:nvPr/>
        </p:nvSpPr>
        <p:spPr bwMode="auto">
          <a:xfrm>
            <a:off x="900113" y="2133600"/>
            <a:ext cx="1316037"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eaLnBrk="1" hangingPunct="1"/>
            <a:r>
              <a:rPr lang="tr-TR" sz="1800" b="0"/>
              <a:t>Hammadde siparişi</a:t>
            </a:r>
          </a:p>
        </p:txBody>
      </p:sp>
      <p:sp>
        <p:nvSpPr>
          <p:cNvPr id="9" name="Text Box 5"/>
          <p:cNvSpPr txBox="1">
            <a:spLocks noChangeArrowheads="1"/>
          </p:cNvSpPr>
          <p:nvPr/>
        </p:nvSpPr>
        <p:spPr bwMode="auto">
          <a:xfrm>
            <a:off x="3203575" y="3860800"/>
            <a:ext cx="1584325"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eaLnBrk="1" hangingPunct="1"/>
            <a:r>
              <a:rPr lang="tr-TR" sz="1800" b="0"/>
              <a:t>Ödeme süresi</a:t>
            </a:r>
          </a:p>
        </p:txBody>
      </p:sp>
      <p:sp>
        <p:nvSpPr>
          <p:cNvPr id="10" name="Text Box 6"/>
          <p:cNvSpPr txBox="1">
            <a:spLocks noChangeArrowheads="1"/>
          </p:cNvSpPr>
          <p:nvPr/>
        </p:nvSpPr>
        <p:spPr bwMode="auto">
          <a:xfrm>
            <a:off x="2411413" y="2133600"/>
            <a:ext cx="1512887"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r>
              <a:rPr lang="tr-TR" sz="1800" b="0"/>
              <a:t>Hammaddenin gelişi</a:t>
            </a:r>
          </a:p>
        </p:txBody>
      </p:sp>
      <p:sp>
        <p:nvSpPr>
          <p:cNvPr id="11" name="Text Box 7"/>
          <p:cNvSpPr txBox="1">
            <a:spLocks noChangeArrowheads="1"/>
          </p:cNvSpPr>
          <p:nvPr/>
        </p:nvSpPr>
        <p:spPr bwMode="auto">
          <a:xfrm>
            <a:off x="5148263" y="2133600"/>
            <a:ext cx="1387475"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r>
              <a:rPr lang="tr-TR" sz="1800" b="0"/>
              <a:t>Son mamul satışı</a:t>
            </a:r>
          </a:p>
        </p:txBody>
      </p:sp>
      <p:sp>
        <p:nvSpPr>
          <p:cNvPr id="12" name="Text Box 8"/>
          <p:cNvSpPr txBox="1">
            <a:spLocks noChangeArrowheads="1"/>
          </p:cNvSpPr>
          <p:nvPr/>
        </p:nvSpPr>
        <p:spPr bwMode="auto">
          <a:xfrm>
            <a:off x="7164388" y="2133600"/>
            <a:ext cx="1439862"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r>
              <a:rPr lang="tr-TR" sz="1800" b="0"/>
              <a:t>Müşterilerden tahsilat</a:t>
            </a:r>
          </a:p>
        </p:txBody>
      </p:sp>
      <p:sp>
        <p:nvSpPr>
          <p:cNvPr id="13" name="Text Box 9"/>
          <p:cNvSpPr txBox="1">
            <a:spLocks noChangeArrowheads="1"/>
          </p:cNvSpPr>
          <p:nvPr/>
        </p:nvSpPr>
        <p:spPr bwMode="auto">
          <a:xfrm>
            <a:off x="2411413" y="4365625"/>
            <a:ext cx="1512887" cy="9159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r>
              <a:rPr lang="tr-TR" sz="1800" b="0"/>
              <a:t>Tedarikçiden faturanın alınması</a:t>
            </a:r>
          </a:p>
        </p:txBody>
      </p:sp>
      <p:sp>
        <p:nvSpPr>
          <p:cNvPr id="14" name="Text Box 10"/>
          <p:cNvSpPr txBox="1">
            <a:spLocks noChangeArrowheads="1"/>
          </p:cNvSpPr>
          <p:nvPr/>
        </p:nvSpPr>
        <p:spPr bwMode="auto">
          <a:xfrm>
            <a:off x="4284663" y="4365625"/>
            <a:ext cx="1439862" cy="641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r>
              <a:rPr lang="tr-TR" sz="1800" b="0"/>
              <a:t>Tedarikçilere ödeme</a:t>
            </a:r>
          </a:p>
        </p:txBody>
      </p:sp>
      <p:sp>
        <p:nvSpPr>
          <p:cNvPr id="15" name="Text Box 11"/>
          <p:cNvSpPr txBox="1">
            <a:spLocks noChangeArrowheads="1"/>
          </p:cNvSpPr>
          <p:nvPr/>
        </p:nvSpPr>
        <p:spPr bwMode="auto">
          <a:xfrm>
            <a:off x="6084888" y="2924175"/>
            <a:ext cx="1584325"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eaLnBrk="1" hangingPunct="1"/>
            <a:r>
              <a:rPr lang="tr-TR" sz="1800" b="0"/>
              <a:t>Tahsilat süresi</a:t>
            </a:r>
          </a:p>
        </p:txBody>
      </p:sp>
      <p:sp>
        <p:nvSpPr>
          <p:cNvPr id="16" name="Text Box 12"/>
          <p:cNvSpPr txBox="1">
            <a:spLocks noChangeArrowheads="1"/>
          </p:cNvSpPr>
          <p:nvPr/>
        </p:nvSpPr>
        <p:spPr bwMode="auto">
          <a:xfrm>
            <a:off x="5435600" y="4005263"/>
            <a:ext cx="3313113"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eaLnBrk="1" hangingPunct="1"/>
            <a:r>
              <a:rPr lang="tr-TR" sz="1800" b="0"/>
              <a:t>Nakdin nakde dönüşme süresi</a:t>
            </a:r>
          </a:p>
        </p:txBody>
      </p:sp>
      <p:sp>
        <p:nvSpPr>
          <p:cNvPr id="17" name="Text Box 13"/>
          <p:cNvSpPr txBox="1">
            <a:spLocks noChangeArrowheads="1"/>
          </p:cNvSpPr>
          <p:nvPr/>
        </p:nvSpPr>
        <p:spPr bwMode="auto">
          <a:xfrm>
            <a:off x="3779838" y="2924175"/>
            <a:ext cx="1584325"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eaLnBrk="1" hangingPunct="1"/>
            <a:r>
              <a:rPr lang="tr-TR" sz="1800" b="0"/>
              <a:t>Stok süresi</a:t>
            </a:r>
          </a:p>
        </p:txBody>
      </p:sp>
      <p:sp>
        <p:nvSpPr>
          <p:cNvPr id="18" name="Rectangle 15"/>
          <p:cNvSpPr>
            <a:spLocks noGrp="1" noChangeArrowheads="1"/>
          </p:cNvSpPr>
          <p:nvPr>
            <p:ph type="title"/>
          </p:nvPr>
        </p:nvSpPr>
        <p:spPr>
          <a:xfrm>
            <a:off x="457200" y="277813"/>
            <a:ext cx="8229600" cy="774700"/>
          </a:xfrm>
          <a:noFill/>
        </p:spPr>
        <p:txBody>
          <a:bodyPr/>
          <a:lstStyle/>
          <a:p>
            <a:pPr eaLnBrk="1" hangingPunct="1"/>
            <a:r>
              <a:rPr lang="tr-TR" sz="4000"/>
              <a:t>Nakit Döngüsü</a:t>
            </a:r>
          </a:p>
        </p:txBody>
      </p:sp>
    </p:spTree>
    <p:extLst>
      <p:ext uri="{BB962C8B-B14F-4D97-AF65-F5344CB8AC3E}">
        <p14:creationId xmlns:p14="http://schemas.microsoft.com/office/powerpoint/2010/main" val="139554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77</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457200" y="277813"/>
            <a:ext cx="8229600" cy="774700"/>
          </a:xfrm>
        </p:spPr>
        <p:txBody>
          <a:bodyPr/>
          <a:lstStyle/>
          <a:p>
            <a:pPr eaLnBrk="1" hangingPunct="1"/>
            <a:r>
              <a:rPr lang="tr-TR" sz="4000"/>
              <a:t>Alacak Tahsil Süresi</a:t>
            </a:r>
          </a:p>
        </p:txBody>
      </p:sp>
      <p:sp>
        <p:nvSpPr>
          <p:cNvPr id="7" name="Rectangle 3"/>
          <p:cNvSpPr txBox="1">
            <a:spLocks noChangeArrowheads="1"/>
          </p:cNvSpPr>
          <p:nvPr/>
        </p:nvSpPr>
        <p:spPr>
          <a:xfrm>
            <a:off x="468313" y="1341438"/>
            <a:ext cx="8229600" cy="4789487"/>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180000" algn="just">
              <a:spcAft>
                <a:spcPts val="1200"/>
              </a:spcAft>
            </a:pPr>
            <a:r>
              <a:rPr lang="tr-TR" sz="1800">
                <a:latin typeface="Verdana" pitchFamily="34" charset="0"/>
                <a:ea typeface="Verdana" pitchFamily="34" charset="0"/>
                <a:cs typeface="Verdana" pitchFamily="34" charset="0"/>
              </a:rPr>
              <a:t>Müşterilerin hepsi nakit ödeme yapmazlar. Şirket müşterileri ikna etmek için belli bir ödeme süresi tanır. </a:t>
            </a:r>
          </a:p>
          <a:p>
            <a:pPr indent="-180000" algn="just">
              <a:spcAft>
                <a:spcPts val="1200"/>
              </a:spcAft>
            </a:pPr>
            <a:r>
              <a:rPr lang="tr-TR" sz="1800">
                <a:latin typeface="Verdana" pitchFamily="34" charset="0"/>
                <a:ea typeface="Verdana" pitchFamily="34" charset="0"/>
                <a:cs typeface="Verdana" pitchFamily="34" charset="0"/>
              </a:rPr>
              <a:t>Alacak tahsil süresi şirketin rekabet amacıyla stratejik olarak ödeme süresini arttırmasıyla, şirketin tahsilat bölümünün verimsizliğiyle, ya da sorunlu alacaklar yüzünden artabilir. </a:t>
            </a:r>
          </a:p>
          <a:p>
            <a:pPr indent="-180000" algn="just">
              <a:spcAft>
                <a:spcPts val="1200"/>
              </a:spcAft>
            </a:pPr>
            <a:r>
              <a:rPr lang="tr-TR" sz="1800">
                <a:latin typeface="Verdana" pitchFamily="34" charset="0"/>
                <a:ea typeface="Verdana" pitchFamily="34" charset="0"/>
                <a:cs typeface="Verdana" pitchFamily="34" charset="0"/>
              </a:rPr>
              <a:t>Şirketin satışlarında mevsimsellik varsa ortalamalar kullanmak daha doğru karşılaştırma imkanı verebilir.</a:t>
            </a:r>
          </a:p>
          <a:p>
            <a:pPr algn="just"/>
            <a:endParaRPr lang="tr-TR" sz="1600">
              <a:latin typeface="Verdana" pitchFamily="34" charset="0"/>
              <a:ea typeface="Verdana" pitchFamily="34" charset="0"/>
              <a:cs typeface="Verdana" pitchFamily="34" charset="0"/>
            </a:endParaRPr>
          </a:p>
          <a:p>
            <a:pPr algn="just"/>
            <a:r>
              <a:rPr lang="tr-TR" sz="1600">
                <a:solidFill>
                  <a:srgbClr val="3333CC"/>
                </a:solidFill>
                <a:latin typeface="Verdana" pitchFamily="34" charset="0"/>
                <a:ea typeface="Verdana" pitchFamily="34" charset="0"/>
                <a:cs typeface="Verdana" pitchFamily="34" charset="0"/>
              </a:rPr>
              <a:t>	</a:t>
            </a:r>
            <a:r>
              <a:rPr lang="tr-TR" sz="1600" b="1">
                <a:latin typeface="Verdana" pitchFamily="34" charset="0"/>
                <a:ea typeface="Verdana" pitchFamily="34" charset="0"/>
                <a:cs typeface="Verdana" pitchFamily="34" charset="0"/>
              </a:rPr>
              <a:t>Alacak Tahsil Süresi =     </a:t>
            </a:r>
            <a:r>
              <a:rPr lang="tr-TR" sz="1600" b="1" u="sng">
                <a:latin typeface="Verdana" pitchFamily="34" charset="0"/>
                <a:ea typeface="Verdana" pitchFamily="34" charset="0"/>
                <a:cs typeface="Verdana" pitchFamily="34" charset="0"/>
              </a:rPr>
              <a:t>   Ticari Alacaklar    </a:t>
            </a:r>
            <a:r>
              <a:rPr lang="tr-TR" sz="1600" b="1" u="sng">
                <a:solidFill>
                  <a:schemeClr val="bg1"/>
                </a:solidFill>
                <a:latin typeface="Verdana" pitchFamily="34" charset="0"/>
                <a:ea typeface="Verdana" pitchFamily="34" charset="0"/>
                <a:cs typeface="Verdana" pitchFamily="34" charset="0"/>
              </a:rPr>
              <a:t>.</a:t>
            </a:r>
            <a:r>
              <a:rPr lang="tr-TR" sz="1600" b="1">
                <a:solidFill>
                  <a:schemeClr val="bg1"/>
                </a:solidFill>
                <a:latin typeface="Verdana" pitchFamily="34" charset="0"/>
                <a:ea typeface="Verdana" pitchFamily="34" charset="0"/>
                <a:cs typeface="Verdana" pitchFamily="34" charset="0"/>
              </a:rPr>
              <a:t> </a:t>
            </a:r>
          </a:p>
          <a:p>
            <a:pPr algn="just">
              <a:buFont typeface="Wingdings" pitchFamily="2" charset="2"/>
              <a:buNone/>
            </a:pPr>
            <a:r>
              <a:rPr lang="tr-TR" sz="1600" b="1">
                <a:latin typeface="Verdana" pitchFamily="34" charset="0"/>
                <a:ea typeface="Verdana" pitchFamily="34" charset="0"/>
                <a:cs typeface="Verdana" pitchFamily="34" charset="0"/>
              </a:rPr>
              <a:t>   		     		                 Net Satışlar/365</a:t>
            </a:r>
          </a:p>
          <a:p>
            <a:pPr algn="just">
              <a:buNone/>
            </a:pPr>
            <a:endParaRPr lang="tr-TR" sz="160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9845577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14808" cy="352295"/>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5F63B632-DC31-45B7-A1FC-CC3C0893DFB0}" type="slidenum">
              <a:rPr lang="tr-TR" sz="1200">
                <a:solidFill>
                  <a:schemeClr val="tx2"/>
                </a:solidFill>
                <a:latin typeface="Verdana" pitchFamily="34" charset="0"/>
              </a:rPr>
              <a:pPr marL="0" indent="0" eaLnBrk="1" hangingPunct="1">
                <a:buNone/>
              </a:pPr>
              <a:t>78</a:t>
            </a:fld>
            <a:endParaRPr lang="tr-TR" sz="1200">
              <a:solidFill>
                <a:schemeClr val="tx2"/>
              </a:solidFill>
              <a:latin typeface="Verdana" pitchFamily="34" charset="0"/>
            </a:endParaRPr>
          </a:p>
        </p:txBody>
      </p:sp>
      <p:sp>
        <p:nvSpPr>
          <p:cNvPr id="69636" name="Rectangle 2"/>
          <p:cNvSpPr>
            <a:spLocks noGrp="1" noChangeArrowheads="1"/>
          </p:cNvSpPr>
          <p:nvPr>
            <p:ph type="title"/>
          </p:nvPr>
        </p:nvSpPr>
        <p:spPr/>
        <p:txBody>
          <a:bodyPr/>
          <a:lstStyle/>
          <a:p>
            <a:pPr eaLnBrk="1" hangingPunct="1"/>
            <a:r>
              <a:rPr lang="tr-TR" sz="4000"/>
              <a:t>Stok Taşıma Süresi</a:t>
            </a:r>
          </a:p>
        </p:txBody>
      </p:sp>
      <p:sp>
        <p:nvSpPr>
          <p:cNvPr id="69637" name="Rectangle 3"/>
          <p:cNvSpPr>
            <a:spLocks noGrp="1" noChangeArrowheads="1"/>
          </p:cNvSpPr>
          <p:nvPr>
            <p:ph type="body" idx="4294967295"/>
          </p:nvPr>
        </p:nvSpPr>
        <p:spPr>
          <a:xfrm>
            <a:off x="468313" y="1341439"/>
            <a:ext cx="8229600" cy="3959770"/>
          </a:xfrm>
          <a:prstGeom prst="rect">
            <a:avLst/>
          </a:prstGeom>
        </p:spPr>
        <p:txBody>
          <a:bodyPr/>
          <a:lstStyle/>
          <a:p>
            <a:pPr algn="just" eaLnBrk="1" hangingPunct="1">
              <a:buFont typeface="Wingdings" pitchFamily="2" charset="2"/>
              <a:buNone/>
            </a:pPr>
            <a:r>
              <a:rPr lang="tr-TR" sz="1800">
                <a:solidFill>
                  <a:srgbClr val="3333CC"/>
                </a:solidFill>
                <a:latin typeface="Verdana" pitchFamily="34" charset="0"/>
                <a:ea typeface="Verdana" pitchFamily="34" charset="0"/>
                <a:cs typeface="Verdana" pitchFamily="34" charset="0"/>
              </a:rPr>
              <a:t>		</a:t>
            </a:r>
            <a:r>
              <a:rPr lang="tr-TR" sz="1800" b="1">
                <a:latin typeface="Verdana" pitchFamily="34" charset="0"/>
                <a:ea typeface="Verdana" pitchFamily="34" charset="0"/>
                <a:cs typeface="Verdana" pitchFamily="34" charset="0"/>
              </a:rPr>
              <a:t>Stok Taşıma Süresi =   </a:t>
            </a:r>
            <a:r>
              <a:rPr lang="tr-TR" sz="1800" b="1" u="sng">
                <a:latin typeface="Verdana" pitchFamily="34" charset="0"/>
                <a:ea typeface="Verdana" pitchFamily="34" charset="0"/>
                <a:cs typeface="Verdana" pitchFamily="34" charset="0"/>
              </a:rPr>
              <a:t>      Ortalama Stok             </a:t>
            </a:r>
            <a:r>
              <a:rPr lang="tr-TR" sz="1800" b="1" u="sng">
                <a:solidFill>
                  <a:schemeClr val="bg1"/>
                </a:solidFill>
                <a:latin typeface="Verdana" pitchFamily="34" charset="0"/>
                <a:ea typeface="Verdana" pitchFamily="34" charset="0"/>
                <a:cs typeface="Verdana" pitchFamily="34" charset="0"/>
              </a:rPr>
              <a:t>.</a:t>
            </a:r>
            <a:r>
              <a:rPr lang="tr-TR" sz="1800" b="1" u="sng">
                <a:latin typeface="Verdana" pitchFamily="34" charset="0"/>
                <a:ea typeface="Verdana" pitchFamily="34" charset="0"/>
                <a:cs typeface="Verdana" pitchFamily="34" charset="0"/>
              </a:rPr>
              <a:t>     </a:t>
            </a:r>
            <a:endParaRPr lang="tr-TR" sz="1800" b="1">
              <a:latin typeface="Verdana" pitchFamily="34" charset="0"/>
              <a:ea typeface="Verdana" pitchFamily="34" charset="0"/>
              <a:cs typeface="Verdana" pitchFamily="34" charset="0"/>
            </a:endParaRPr>
          </a:p>
          <a:p>
            <a:pPr marL="762000" lvl="1" indent="-304800" algn="just" eaLnBrk="1" hangingPunct="1">
              <a:buFont typeface="Wingdings" pitchFamily="2" charset="2"/>
              <a:buNone/>
            </a:pPr>
            <a:r>
              <a:rPr lang="tr-TR" sz="1800" b="1">
                <a:latin typeface="Verdana" pitchFamily="34" charset="0"/>
                <a:ea typeface="Verdana" pitchFamily="34" charset="0"/>
                <a:cs typeface="Verdana" pitchFamily="34" charset="0"/>
              </a:rPr>
              <a:t>   			   		Satılan Malın Maliyeti /365  </a:t>
            </a:r>
          </a:p>
          <a:p>
            <a:pPr algn="just" eaLnBrk="1" hangingPunct="1"/>
            <a:endParaRPr lang="tr-TR" sz="1800">
              <a:latin typeface="Verdana" pitchFamily="34" charset="0"/>
              <a:ea typeface="Verdana" pitchFamily="34" charset="0"/>
              <a:cs typeface="Verdana" pitchFamily="34" charset="0"/>
            </a:endParaRPr>
          </a:p>
          <a:p>
            <a:pPr algn="just" eaLnBrk="1" hangingPunct="1"/>
            <a:r>
              <a:rPr lang="tr-TR" sz="1800">
                <a:latin typeface="Verdana" pitchFamily="34" charset="0"/>
                <a:ea typeface="Verdana" pitchFamily="34" charset="0"/>
                <a:cs typeface="Verdana" pitchFamily="34" charset="0"/>
              </a:rPr>
              <a:t>Ortalama stok = (Dönem Başı Stok + Dönem Sonu Stok)/2</a:t>
            </a:r>
          </a:p>
          <a:p>
            <a:pPr algn="just" eaLnBrk="1" hangingPunct="1"/>
            <a:r>
              <a:rPr lang="tr-TR" sz="1800">
                <a:latin typeface="Verdana" pitchFamily="34" charset="0"/>
                <a:ea typeface="Verdana" pitchFamily="34" charset="0"/>
                <a:cs typeface="Verdana" pitchFamily="34" charset="0"/>
              </a:rPr>
              <a:t>Şirketin stoklarını kaç günde satışa çevirdiğini gösterir. Hammadde tedarik, üretim ve satış süreçlerinin hepsi bu değişken üzerinde etkilidir. Etkili faktörler:</a:t>
            </a:r>
          </a:p>
          <a:p>
            <a:pPr lvl="1" algn="just"/>
            <a:r>
              <a:rPr lang="tr-TR" sz="1600">
                <a:latin typeface="Verdana" pitchFamily="34" charset="0"/>
                <a:ea typeface="Verdana" pitchFamily="34" charset="0"/>
                <a:cs typeface="Verdana" pitchFamily="34" charset="0"/>
              </a:rPr>
              <a:t>Fiyatların yükseleceği ya da hammadde temininde zorlukla karşılaşılacağı beklentisiyle stoklara aşırı yatırım yapılması.</a:t>
            </a:r>
          </a:p>
          <a:p>
            <a:pPr lvl="1" algn="just"/>
            <a:r>
              <a:rPr lang="tr-TR" sz="1600">
                <a:latin typeface="Verdana" pitchFamily="34" charset="0"/>
                <a:ea typeface="Verdana" pitchFamily="34" charset="0"/>
                <a:cs typeface="Verdana" pitchFamily="34" charset="0"/>
              </a:rPr>
              <a:t>Moda değişimi gibi nedenlerle satış kabiliyeti azalan malların stoklarda tutulması.</a:t>
            </a:r>
          </a:p>
          <a:p>
            <a:pPr lvl="1" algn="just"/>
            <a:r>
              <a:rPr lang="tr-TR" sz="1600">
                <a:latin typeface="Verdana" pitchFamily="34" charset="0"/>
                <a:ea typeface="Verdana" pitchFamily="34" charset="0"/>
                <a:cs typeface="Verdana" pitchFamily="34" charset="0"/>
              </a:rPr>
              <a:t>Üretimin, satış koşullarına uygun olarak programlanması.</a:t>
            </a:r>
          </a:p>
          <a:p>
            <a:pPr lvl="1" algn="just"/>
            <a:r>
              <a:rPr lang="tr-TR" sz="1600">
                <a:latin typeface="Verdana" pitchFamily="34" charset="0"/>
                <a:ea typeface="Verdana" pitchFamily="34" charset="0"/>
                <a:cs typeface="Verdana" pitchFamily="34" charset="0"/>
              </a:rPr>
              <a:t>Stokların çeşitli güçlükler nedeniyle yenilenememesi.</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9" name="Rectangle 3"/>
          <p:cNvSpPr txBox="1">
            <a:spLocks noChangeArrowheads="1"/>
          </p:cNvSpPr>
          <p:nvPr/>
        </p:nvSpPr>
        <p:spPr>
          <a:xfrm>
            <a:off x="468313" y="5445894"/>
            <a:ext cx="8229600" cy="791418"/>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itchFamily="2" charset="2"/>
              <a:buNone/>
            </a:pPr>
            <a:r>
              <a:rPr lang="tr-TR" sz="1800">
                <a:solidFill>
                  <a:srgbClr val="3333CC"/>
                </a:solidFill>
                <a:latin typeface="Verdana" pitchFamily="34" charset="0"/>
                <a:ea typeface="Verdana" pitchFamily="34" charset="0"/>
                <a:cs typeface="Verdana" pitchFamily="34" charset="0"/>
              </a:rPr>
              <a:t>		</a:t>
            </a:r>
            <a:r>
              <a:rPr lang="tr-TR" sz="1800" b="1">
                <a:latin typeface="Verdana" pitchFamily="34" charset="0"/>
                <a:ea typeface="Verdana" pitchFamily="34" charset="0"/>
                <a:cs typeface="Verdana" pitchFamily="34" charset="0"/>
              </a:rPr>
              <a:t>Stok Devir Hızı =   </a:t>
            </a:r>
            <a:r>
              <a:rPr lang="tr-TR" sz="1800" b="1" u="sng">
                <a:latin typeface="Verdana" pitchFamily="34" charset="0"/>
                <a:ea typeface="Verdana" pitchFamily="34" charset="0"/>
                <a:cs typeface="Verdana" pitchFamily="34" charset="0"/>
              </a:rPr>
              <a:t>      Satılan Malın Maliyeti           </a:t>
            </a:r>
            <a:r>
              <a:rPr lang="tr-TR" sz="1800" b="1" u="sng">
                <a:solidFill>
                  <a:schemeClr val="bg1"/>
                </a:solidFill>
                <a:latin typeface="Verdana" pitchFamily="34" charset="0"/>
                <a:ea typeface="Verdana" pitchFamily="34" charset="0"/>
                <a:cs typeface="Verdana" pitchFamily="34" charset="0"/>
              </a:rPr>
              <a:t>.</a:t>
            </a:r>
            <a:r>
              <a:rPr lang="tr-TR" sz="1800" b="1" u="sng">
                <a:latin typeface="Verdana" pitchFamily="34" charset="0"/>
                <a:ea typeface="Verdana" pitchFamily="34" charset="0"/>
                <a:cs typeface="Verdana" pitchFamily="34" charset="0"/>
              </a:rPr>
              <a:t>     </a:t>
            </a:r>
            <a:endParaRPr lang="tr-TR" sz="1800" b="1">
              <a:latin typeface="Verdana" pitchFamily="34" charset="0"/>
              <a:ea typeface="Verdana" pitchFamily="34" charset="0"/>
              <a:cs typeface="Verdana" pitchFamily="34" charset="0"/>
            </a:endParaRPr>
          </a:p>
          <a:p>
            <a:pPr marL="762000" lvl="1" indent="-304800" algn="just">
              <a:buFont typeface="Wingdings" pitchFamily="2" charset="2"/>
              <a:buNone/>
            </a:pPr>
            <a:r>
              <a:rPr lang="tr-TR" sz="1800" b="1">
                <a:latin typeface="Verdana" pitchFamily="34" charset="0"/>
                <a:ea typeface="Verdana" pitchFamily="34" charset="0"/>
                <a:cs typeface="Verdana" pitchFamily="34" charset="0"/>
              </a:rPr>
              <a:t>   			   		       Ortalama Stok</a:t>
            </a:r>
          </a:p>
        </p:txBody>
      </p:sp>
    </p:spTree>
    <p:extLst>
      <p:ext uri="{BB962C8B-B14F-4D97-AF65-F5344CB8AC3E}">
        <p14:creationId xmlns:p14="http://schemas.microsoft.com/office/powerpoint/2010/main" val="180757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63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963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963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963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963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963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9637">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7" grpId="0" build="p"/>
      <p:bldP spid="9"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41000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F9117C56-1D98-464B-A2C0-1C3E834C0B53}" type="slidenum">
              <a:rPr lang="tr-TR" sz="1200">
                <a:solidFill>
                  <a:schemeClr val="tx2"/>
                </a:solidFill>
                <a:latin typeface="Verdana" pitchFamily="34" charset="0"/>
              </a:rPr>
              <a:pPr marL="0" indent="0" eaLnBrk="1" hangingPunct="1">
                <a:buNone/>
              </a:pPr>
              <a:t>79</a:t>
            </a:fld>
            <a:endParaRPr lang="tr-TR" sz="1200">
              <a:solidFill>
                <a:schemeClr val="tx2"/>
              </a:solidFill>
              <a:latin typeface="Verdana" pitchFamily="34" charset="0"/>
            </a:endParaRPr>
          </a:p>
        </p:txBody>
      </p:sp>
      <p:sp>
        <p:nvSpPr>
          <p:cNvPr id="71684" name="Rectangle 2"/>
          <p:cNvSpPr>
            <a:spLocks noGrp="1" noChangeArrowheads="1"/>
          </p:cNvSpPr>
          <p:nvPr>
            <p:ph type="title"/>
          </p:nvPr>
        </p:nvSpPr>
        <p:spPr/>
        <p:txBody>
          <a:bodyPr/>
          <a:lstStyle/>
          <a:p>
            <a:pPr eaLnBrk="1" hangingPunct="1"/>
            <a:r>
              <a:rPr lang="tr-TR" sz="4000"/>
              <a:t>Ticari Borç Ödeme Süresi</a:t>
            </a:r>
          </a:p>
        </p:txBody>
      </p:sp>
      <p:sp>
        <p:nvSpPr>
          <p:cNvPr id="71685" name="Rectangle 3"/>
          <p:cNvSpPr>
            <a:spLocks noGrp="1" noChangeArrowheads="1"/>
          </p:cNvSpPr>
          <p:nvPr>
            <p:ph type="body" idx="4294967295"/>
          </p:nvPr>
        </p:nvSpPr>
        <p:spPr>
          <a:xfrm>
            <a:off x="468313" y="1341438"/>
            <a:ext cx="8229600" cy="4789487"/>
          </a:xfrm>
          <a:prstGeom prst="rect">
            <a:avLst/>
          </a:prstGeom>
        </p:spPr>
        <p:txBody>
          <a:bodyPr/>
          <a:lstStyle/>
          <a:p>
            <a:pPr marL="762000" lvl="1" indent="-304800" algn="just" eaLnBrk="1" hangingPunct="1">
              <a:lnSpc>
                <a:spcPct val="95000"/>
              </a:lnSpc>
              <a:buFont typeface="Wingdings" pitchFamily="2" charset="2"/>
              <a:buNone/>
            </a:pPr>
            <a:endParaRPr lang="tr-TR" sz="1800" b="1">
              <a:solidFill>
                <a:srgbClr val="3333CC"/>
              </a:solidFill>
              <a:latin typeface="Verdana" pitchFamily="34" charset="0"/>
              <a:ea typeface="Verdana" pitchFamily="34" charset="0"/>
              <a:cs typeface="Verdana" pitchFamily="34" charset="0"/>
            </a:endParaRPr>
          </a:p>
          <a:p>
            <a:pPr marL="762000" lvl="1" indent="-304800" algn="just" eaLnBrk="1" hangingPunct="1">
              <a:lnSpc>
                <a:spcPct val="95000"/>
              </a:lnSpc>
              <a:buFont typeface="Wingdings" pitchFamily="2" charset="2"/>
              <a:buNone/>
            </a:pPr>
            <a:r>
              <a:rPr lang="tr-TR" sz="1800" b="1">
                <a:solidFill>
                  <a:srgbClr val="3333CC"/>
                </a:solidFill>
                <a:latin typeface="Verdana" pitchFamily="34" charset="0"/>
                <a:ea typeface="Verdana" pitchFamily="34" charset="0"/>
                <a:cs typeface="Verdana" pitchFamily="34" charset="0"/>
              </a:rPr>
              <a:t>	</a:t>
            </a:r>
            <a:r>
              <a:rPr lang="tr-TR" sz="1800" b="1">
                <a:latin typeface="Verdana" pitchFamily="34" charset="0"/>
                <a:ea typeface="Verdana" pitchFamily="34" charset="0"/>
                <a:cs typeface="Verdana" pitchFamily="34" charset="0"/>
              </a:rPr>
              <a:t>	T. Borç Ödeme Süresi =    </a:t>
            </a:r>
            <a:r>
              <a:rPr lang="tr-TR" sz="1800" b="1" u="sng">
                <a:latin typeface="Verdana" pitchFamily="34" charset="0"/>
                <a:ea typeface="Verdana" pitchFamily="34" charset="0"/>
                <a:cs typeface="Verdana" pitchFamily="34" charset="0"/>
              </a:rPr>
              <a:t>     Ticari Borç      </a:t>
            </a:r>
            <a:r>
              <a:rPr lang="tr-TR" sz="1800" b="1" u="sng">
                <a:solidFill>
                  <a:schemeClr val="bg1"/>
                </a:solidFill>
                <a:latin typeface="Verdana" pitchFamily="34" charset="0"/>
                <a:ea typeface="Verdana" pitchFamily="34" charset="0"/>
                <a:cs typeface="Verdana" pitchFamily="34" charset="0"/>
              </a:rPr>
              <a:t>. </a:t>
            </a:r>
            <a:r>
              <a:rPr lang="tr-TR" sz="1800" b="1" u="sng">
                <a:latin typeface="Verdana" pitchFamily="34" charset="0"/>
                <a:ea typeface="Verdana" pitchFamily="34" charset="0"/>
                <a:cs typeface="Verdana" pitchFamily="34" charset="0"/>
              </a:rPr>
              <a:t>  </a:t>
            </a:r>
            <a:endParaRPr lang="tr-TR" sz="1800" b="1">
              <a:latin typeface="Verdana" pitchFamily="34" charset="0"/>
              <a:ea typeface="Verdana" pitchFamily="34" charset="0"/>
              <a:cs typeface="Verdana" pitchFamily="34" charset="0"/>
            </a:endParaRPr>
          </a:p>
          <a:p>
            <a:pPr marL="762000" lvl="1" indent="-304800" algn="just" eaLnBrk="1" hangingPunct="1">
              <a:lnSpc>
                <a:spcPct val="95000"/>
              </a:lnSpc>
              <a:buFont typeface="Wingdings" pitchFamily="2" charset="2"/>
              <a:buNone/>
            </a:pPr>
            <a:r>
              <a:rPr lang="tr-TR" sz="1800" b="1">
                <a:latin typeface="Verdana" pitchFamily="34" charset="0"/>
                <a:ea typeface="Verdana" pitchFamily="34" charset="0"/>
                <a:cs typeface="Verdana" pitchFamily="34" charset="0"/>
              </a:rPr>
              <a:t>	 		                               Satınalımlar/365</a:t>
            </a:r>
          </a:p>
          <a:p>
            <a:pPr algn="just" eaLnBrk="1" hangingPunct="1">
              <a:lnSpc>
                <a:spcPct val="95000"/>
              </a:lnSpc>
            </a:pPr>
            <a:endParaRPr lang="tr-TR" sz="1800">
              <a:latin typeface="Verdana" pitchFamily="34" charset="0"/>
              <a:ea typeface="Verdana" pitchFamily="34" charset="0"/>
              <a:cs typeface="Verdana" pitchFamily="34" charset="0"/>
            </a:endParaRPr>
          </a:p>
          <a:p>
            <a:pPr algn="just" eaLnBrk="1" hangingPunct="1">
              <a:lnSpc>
                <a:spcPct val="95000"/>
              </a:lnSpc>
            </a:pPr>
            <a:r>
              <a:rPr lang="tr-TR" sz="1800">
                <a:latin typeface="Verdana" pitchFamily="34" charset="0"/>
                <a:ea typeface="Verdana" pitchFamily="34" charset="0"/>
                <a:cs typeface="Verdana" pitchFamily="34" charset="0"/>
              </a:rPr>
              <a:t>Ancak hammadde, ara madde alımları konusunda yeterli bilgi alınamaması durumunda:</a:t>
            </a:r>
          </a:p>
          <a:p>
            <a:pPr algn="just" eaLnBrk="1" hangingPunct="1">
              <a:lnSpc>
                <a:spcPct val="95000"/>
              </a:lnSpc>
            </a:pPr>
            <a:r>
              <a:rPr lang="tr-TR" sz="1800" b="1" err="1">
                <a:latin typeface="Verdana" pitchFamily="34" charset="0"/>
                <a:ea typeface="Verdana" pitchFamily="34" charset="0"/>
                <a:cs typeface="Verdana" pitchFamily="34" charset="0"/>
              </a:rPr>
              <a:t>Satınalımlar</a:t>
            </a:r>
            <a:r>
              <a:rPr lang="tr-TR" sz="1800" b="1">
                <a:latin typeface="Verdana" pitchFamily="34" charset="0"/>
                <a:ea typeface="Verdana" pitchFamily="34" charset="0"/>
                <a:cs typeface="Verdana" pitchFamily="34" charset="0"/>
              </a:rPr>
              <a:t>= Satılan Malın Maliyeti + Stoklardaki Değişim</a:t>
            </a:r>
          </a:p>
          <a:p>
            <a:pPr algn="just" eaLnBrk="1" hangingPunct="1">
              <a:lnSpc>
                <a:spcPct val="95000"/>
              </a:lnSpc>
            </a:pPr>
            <a:r>
              <a:rPr lang="tr-TR" sz="1800">
                <a:latin typeface="Verdana" pitchFamily="34" charset="0"/>
                <a:ea typeface="Verdana" pitchFamily="34" charset="0"/>
                <a:cs typeface="Verdana" pitchFamily="34" charset="0"/>
              </a:rPr>
              <a:t>Firmalarda ticari borçların ortalama ödeme süresinin uzaması finansman olanağı yaratır. Olumludur. </a:t>
            </a:r>
          </a:p>
          <a:p>
            <a:pPr algn="just" eaLnBrk="1" hangingPunct="1">
              <a:lnSpc>
                <a:spcPct val="95000"/>
              </a:lnSpc>
            </a:pPr>
            <a:r>
              <a:rPr lang="tr-TR" sz="1800">
                <a:latin typeface="Verdana" pitchFamily="34" charset="0"/>
                <a:ea typeface="Verdana" pitchFamily="34" charset="0"/>
                <a:cs typeface="Verdana" pitchFamily="34" charset="0"/>
              </a:rPr>
              <a:t>Borç ödeme süresinin yükselmesi; firmanın piyasadaki itibarının artması nedeniyle daha uzun vadeli alım yapabiliyor olmasından, alım politikasını değiştirmesinden veya piyasa koşullarından yararlanarak borç ödeme süresini uzatmasından kaynaklanabileceği gibi firmanın borçları ödemekte güçlük çekmesinden ve ertelemesinden de kaynaklanabilir. </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22295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8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68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68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168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68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68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5"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80</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457200" y="277813"/>
            <a:ext cx="8229600" cy="774700"/>
          </a:xfrm>
        </p:spPr>
        <p:txBody>
          <a:bodyPr/>
          <a:lstStyle/>
          <a:p>
            <a:pPr eaLnBrk="1" hangingPunct="1"/>
            <a:r>
              <a:rPr lang="tr-TR" sz="4000"/>
              <a:t>Nakit Döngüsü</a:t>
            </a:r>
          </a:p>
        </p:txBody>
      </p:sp>
      <p:sp>
        <p:nvSpPr>
          <p:cNvPr id="7" name="Rectangle 3"/>
          <p:cNvSpPr txBox="1">
            <a:spLocks noChangeArrowheads="1"/>
          </p:cNvSpPr>
          <p:nvPr/>
        </p:nvSpPr>
        <p:spPr>
          <a:xfrm>
            <a:off x="468313" y="1124744"/>
            <a:ext cx="8502650" cy="1439862"/>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tr-TR" sz="1600">
                <a:latin typeface="Verdana" pitchFamily="34" charset="0"/>
                <a:ea typeface="Verdana" pitchFamily="34" charset="0"/>
                <a:cs typeface="Verdana" pitchFamily="34" charset="0"/>
              </a:rPr>
              <a:t>Firmalar esas faaliyetlerini gerçekleştirebilmek için işletme sermayesini finanse ederler. Nakit döngüsü bir işletmenin faaliyetlerinden ne kadar sürede nakit yarattığını gösterir.</a:t>
            </a:r>
          </a:p>
          <a:p>
            <a:r>
              <a:rPr lang="tr-TR" sz="1600">
                <a:solidFill>
                  <a:srgbClr val="3333CC"/>
                </a:solidFill>
                <a:latin typeface="Verdana" pitchFamily="34" charset="0"/>
                <a:ea typeface="Verdana" pitchFamily="34" charset="0"/>
                <a:cs typeface="Verdana" pitchFamily="34" charset="0"/>
              </a:rPr>
              <a:t>Nakit döngüsü = Alacak tahsil süresi + Stok taşıma süresi - Ticari borç ödeme süresi</a:t>
            </a:r>
            <a:endParaRPr lang="tr-TR" sz="1800">
              <a:solidFill>
                <a:srgbClr val="3333CC"/>
              </a:solidFill>
            </a:endParaRPr>
          </a:p>
          <a:p>
            <a:r>
              <a:rPr lang="tr-TR" sz="1800"/>
              <a:t>Brisa A.Ş.  </a:t>
            </a:r>
            <a:r>
              <a:rPr lang="tr-TR" sz="1400"/>
              <a:t> (Stok 2006=TL104mn, stok taşıma süresi hesabında ortalama değil yıl sonu stok değerleri alınmıştır)</a:t>
            </a:r>
          </a:p>
        </p:txBody>
      </p:sp>
      <p:sp>
        <p:nvSpPr>
          <p:cNvPr id="8" name="Rectangle 33"/>
          <p:cNvSpPr>
            <a:spLocks noChangeArrowheads="1"/>
          </p:cNvSpPr>
          <p:nvPr/>
        </p:nvSpPr>
        <p:spPr bwMode="auto">
          <a:xfrm>
            <a:off x="539750" y="4868863"/>
            <a:ext cx="82089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bg2"/>
              </a:buClr>
              <a:buSzPct val="75000"/>
              <a:buFont typeface="Wingdings" pitchFamily="2" charset="2"/>
              <a:buChar char="p"/>
            </a:pPr>
            <a:endParaRPr lang="tr-TR" sz="1600" b="0">
              <a:latin typeface="Verdana" pitchFamily="34" charset="0"/>
            </a:endParaRPr>
          </a:p>
          <a:p>
            <a:pPr marL="342900" indent="-342900">
              <a:spcBef>
                <a:spcPct val="20000"/>
              </a:spcBef>
              <a:buClr>
                <a:schemeClr val="bg2"/>
              </a:buClr>
              <a:buSzPct val="75000"/>
              <a:buFont typeface="Wingdings" pitchFamily="2" charset="2"/>
              <a:buChar char="p"/>
            </a:pPr>
            <a:endParaRPr lang="tr-TR" sz="1600">
              <a:latin typeface="Verdana" pitchFamily="34" charset="0"/>
            </a:endParaRPr>
          </a:p>
          <a:p>
            <a:pPr marL="342900" indent="-342900">
              <a:spcBef>
                <a:spcPct val="20000"/>
              </a:spcBef>
              <a:buClr>
                <a:schemeClr val="bg2"/>
              </a:buClr>
              <a:buSzPct val="75000"/>
              <a:buFont typeface="Wingdings" pitchFamily="2" charset="2"/>
              <a:buChar char="p"/>
            </a:pPr>
            <a:r>
              <a:rPr lang="tr-TR" sz="1600" b="0">
                <a:latin typeface="Verdana" pitchFamily="34" charset="0"/>
              </a:rPr>
              <a:t>Şirketin alacak tahsilinde sorun yaşamadığını</a:t>
            </a:r>
          </a:p>
          <a:p>
            <a:pPr marL="342900" indent="-342900">
              <a:spcBef>
                <a:spcPct val="20000"/>
              </a:spcBef>
              <a:buClr>
                <a:schemeClr val="bg2"/>
              </a:buClr>
              <a:buSzPct val="75000"/>
              <a:buFont typeface="Wingdings" pitchFamily="2" charset="2"/>
              <a:buChar char="p"/>
            </a:pPr>
            <a:r>
              <a:rPr lang="tr-TR" sz="1600" b="0">
                <a:latin typeface="Verdana" pitchFamily="34" charset="0"/>
              </a:rPr>
              <a:t>2008 senesinde kriz yüzünden elinde stok patladığını</a:t>
            </a:r>
          </a:p>
          <a:p>
            <a:pPr marL="342900" indent="-342900">
              <a:spcBef>
                <a:spcPct val="20000"/>
              </a:spcBef>
              <a:buClr>
                <a:schemeClr val="bg2"/>
              </a:buClr>
              <a:buSzPct val="75000"/>
              <a:buFont typeface="Wingdings" pitchFamily="2" charset="2"/>
              <a:buChar char="p"/>
            </a:pPr>
            <a:r>
              <a:rPr lang="tr-TR" sz="1600" b="0">
                <a:latin typeface="Verdana" pitchFamily="34" charset="0"/>
              </a:rPr>
              <a:t>2009’da stok sorununun çözüldüğünü, ilaveten tedarikçilere daha uzun vade ödeme yapabildiğini gözlemlemekteyiz.</a:t>
            </a:r>
          </a:p>
        </p:txBody>
      </p:sp>
      <p:graphicFrame>
        <p:nvGraphicFramePr>
          <p:cNvPr id="12" name="Table 11"/>
          <p:cNvGraphicFramePr>
            <a:graphicFrameLocks noGrp="1"/>
          </p:cNvGraphicFramePr>
          <p:nvPr/>
        </p:nvGraphicFramePr>
        <p:xfrm>
          <a:off x="1547813" y="3120766"/>
          <a:ext cx="6264275" cy="2036426"/>
        </p:xfrm>
        <a:graphic>
          <a:graphicData uri="http://schemas.openxmlformats.org/drawingml/2006/table">
            <a:tbl>
              <a:tblPr/>
              <a:tblGrid>
                <a:gridCol w="3455036">
                  <a:extLst>
                    <a:ext uri="{9D8B030D-6E8A-4147-A177-3AD203B41FA5}">
                      <a16:colId xmlns:a16="http://schemas.microsoft.com/office/drawing/2014/main" val="20000"/>
                    </a:ext>
                  </a:extLst>
                </a:gridCol>
                <a:gridCol w="936413">
                  <a:extLst>
                    <a:ext uri="{9D8B030D-6E8A-4147-A177-3AD203B41FA5}">
                      <a16:colId xmlns:a16="http://schemas.microsoft.com/office/drawing/2014/main" val="20001"/>
                    </a:ext>
                  </a:extLst>
                </a:gridCol>
                <a:gridCol w="936413">
                  <a:extLst>
                    <a:ext uri="{9D8B030D-6E8A-4147-A177-3AD203B41FA5}">
                      <a16:colId xmlns:a16="http://schemas.microsoft.com/office/drawing/2014/main" val="20002"/>
                    </a:ext>
                  </a:extLst>
                </a:gridCol>
                <a:gridCol w="936413">
                  <a:extLst>
                    <a:ext uri="{9D8B030D-6E8A-4147-A177-3AD203B41FA5}">
                      <a16:colId xmlns:a16="http://schemas.microsoft.com/office/drawing/2014/main" val="20003"/>
                    </a:ext>
                  </a:extLst>
                </a:gridCol>
              </a:tblGrid>
              <a:tr h="312126">
                <a:tc>
                  <a:txBody>
                    <a:bodyPr/>
                    <a:lstStyle/>
                    <a:p>
                      <a:pPr algn="l" fontAlgn="b"/>
                      <a:endParaRPr lang="en-GB" sz="1600" b="1" i="0" u="none" strike="noStrike" baseline="0">
                        <a:solidFill>
                          <a:srgbClr val="000000"/>
                        </a:solidFill>
                        <a:latin typeface="Verdana" pitchFamily="34" charset="0"/>
                      </a:endParaRPr>
                    </a:p>
                  </a:txBody>
                  <a:tcPr marL="7619" marR="7619" marT="7621" marB="0" anchor="b">
                    <a:lnL>
                      <a:noFill/>
                    </a:lnL>
                    <a:lnR>
                      <a:noFill/>
                    </a:lnR>
                    <a:lnT>
                      <a:noFill/>
                    </a:lnT>
                    <a:lnB>
                      <a:noFill/>
                    </a:lnB>
                  </a:tcPr>
                </a:tc>
                <a:tc>
                  <a:txBody>
                    <a:bodyPr/>
                    <a:lstStyle/>
                    <a:p>
                      <a:pPr algn="r" fontAlgn="b"/>
                      <a:r>
                        <a:rPr lang="en-GB" sz="1600" b="1" i="0" u="none" strike="noStrike" baseline="0">
                          <a:solidFill>
                            <a:srgbClr val="000000"/>
                          </a:solidFill>
                          <a:latin typeface="Verdana" pitchFamily="34" charset="0"/>
                        </a:rPr>
                        <a:t>2007</a:t>
                      </a:r>
                    </a:p>
                  </a:txBody>
                  <a:tcPr marL="7619" marR="7619" marT="7621" marB="0" anchor="b">
                    <a:lnL>
                      <a:noFill/>
                    </a:lnL>
                    <a:lnR>
                      <a:noFill/>
                    </a:lnR>
                    <a:lnT>
                      <a:noFill/>
                    </a:lnT>
                    <a:lnB>
                      <a:noFill/>
                    </a:lnB>
                  </a:tcPr>
                </a:tc>
                <a:tc>
                  <a:txBody>
                    <a:bodyPr/>
                    <a:lstStyle/>
                    <a:p>
                      <a:pPr algn="r" fontAlgn="b"/>
                      <a:r>
                        <a:rPr lang="en-GB" sz="1600" b="1" i="0" u="none" strike="noStrike" baseline="0">
                          <a:solidFill>
                            <a:srgbClr val="000000"/>
                          </a:solidFill>
                          <a:latin typeface="Verdana" pitchFamily="34" charset="0"/>
                        </a:rPr>
                        <a:t>2008</a:t>
                      </a:r>
                    </a:p>
                  </a:txBody>
                  <a:tcPr marL="7619" marR="7619" marT="7621" marB="0" anchor="b">
                    <a:lnL>
                      <a:noFill/>
                    </a:lnL>
                    <a:lnR>
                      <a:noFill/>
                    </a:lnR>
                    <a:lnT>
                      <a:noFill/>
                    </a:lnT>
                    <a:lnB>
                      <a:noFill/>
                    </a:lnB>
                  </a:tcPr>
                </a:tc>
                <a:tc>
                  <a:txBody>
                    <a:bodyPr/>
                    <a:lstStyle/>
                    <a:p>
                      <a:pPr algn="r" fontAlgn="b"/>
                      <a:r>
                        <a:rPr lang="en-GB" sz="1600" b="1" i="0" u="none" strike="noStrike" baseline="0">
                          <a:solidFill>
                            <a:srgbClr val="000000"/>
                          </a:solidFill>
                          <a:latin typeface="Verdana" pitchFamily="34" charset="0"/>
                        </a:rPr>
                        <a:t>2009</a:t>
                      </a:r>
                    </a:p>
                  </a:txBody>
                  <a:tcPr marL="7619" marR="7619" marT="7621" marB="0" anchor="b">
                    <a:lnL>
                      <a:noFill/>
                    </a:lnL>
                    <a:lnR>
                      <a:noFill/>
                    </a:lnR>
                    <a:lnT>
                      <a:noFill/>
                    </a:lnT>
                    <a:lnB>
                      <a:noFill/>
                    </a:lnB>
                  </a:tcPr>
                </a:tc>
                <a:extLst>
                  <a:ext uri="{0D108BD9-81ED-4DB2-BD59-A6C34878D82A}">
                    <a16:rowId xmlns:a16="http://schemas.microsoft.com/office/drawing/2014/main" val="10000"/>
                  </a:ext>
                </a:extLst>
              </a:tr>
              <a:tr h="307169">
                <a:tc>
                  <a:txBody>
                    <a:bodyPr/>
                    <a:lstStyle/>
                    <a:p>
                      <a:pPr algn="l" fontAlgn="b"/>
                      <a:r>
                        <a:rPr lang="tr-TR" sz="1600" b="1" i="0" u="none" strike="noStrike" baseline="0">
                          <a:solidFill>
                            <a:srgbClr val="000000"/>
                          </a:solidFill>
                          <a:latin typeface="Verdana" pitchFamily="34" charset="0"/>
                        </a:rPr>
                        <a:t> WCR</a:t>
                      </a:r>
                      <a:r>
                        <a:rPr lang="en-GB" sz="1600" b="1" i="0" u="none" strike="noStrike" baseline="0">
                          <a:solidFill>
                            <a:srgbClr val="000000"/>
                          </a:solidFill>
                          <a:latin typeface="Verdana" pitchFamily="34" charset="0"/>
                        </a:rPr>
                        <a:t> / </a:t>
                      </a:r>
                      <a:r>
                        <a:rPr lang="tr-TR" sz="1600" b="1" i="0" u="none" strike="noStrike" baseline="0">
                          <a:solidFill>
                            <a:srgbClr val="000000"/>
                          </a:solidFill>
                          <a:latin typeface="Verdana" pitchFamily="34" charset="0"/>
                        </a:rPr>
                        <a:t>Ciro</a:t>
                      </a:r>
                      <a:r>
                        <a:rPr lang="en-GB" sz="1600" b="1" i="0" u="none" strike="noStrike" baseline="0">
                          <a:solidFill>
                            <a:srgbClr val="000000"/>
                          </a:solidFill>
                          <a:latin typeface="Verdana" pitchFamily="34" charset="0"/>
                        </a:rPr>
                        <a:t> (%)</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25</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37</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22</a:t>
                      </a:r>
                    </a:p>
                  </a:txBody>
                  <a:tcPr marL="7619" marR="7619" marT="7621" marB="0" anchor="b">
                    <a:lnL>
                      <a:noFill/>
                    </a:lnL>
                    <a:lnR>
                      <a:noFill/>
                    </a:lnR>
                    <a:lnT>
                      <a:noFill/>
                    </a:lnT>
                    <a:lnB>
                      <a:noFill/>
                    </a:lnB>
                  </a:tcPr>
                </a:tc>
                <a:extLst>
                  <a:ext uri="{0D108BD9-81ED-4DB2-BD59-A6C34878D82A}">
                    <a16:rowId xmlns:a16="http://schemas.microsoft.com/office/drawing/2014/main" val="10001"/>
                  </a:ext>
                </a:extLst>
              </a:tr>
              <a:tr h="35058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pitchFamily="34" charset="0"/>
                        </a:rPr>
                        <a:t>Alacak tahsil süresi</a:t>
                      </a:r>
                      <a:endParaRPr kumimoji="0" lang="tr-TR" sz="1600" b="0" i="0" u="none" strike="noStrike" cap="none" normalizeH="0" baseline="0">
                        <a:ln>
                          <a:noFill/>
                        </a:ln>
                        <a:solidFill>
                          <a:schemeClr val="tx1"/>
                        </a:solidFill>
                        <a:effectLst/>
                        <a:latin typeface="Verdana" pitchFamily="34" charset="0"/>
                      </a:endParaRPr>
                    </a:p>
                  </a:txBody>
                  <a:tcPr marL="84400" marR="84400" marT="45729" marB="45729" anchor="b" horzOverflow="overflow">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64.3</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68.5</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66.2</a:t>
                      </a:r>
                    </a:p>
                  </a:txBody>
                  <a:tcPr marL="7619" marR="7619" marT="7621" marB="0" anchor="b">
                    <a:lnL>
                      <a:noFill/>
                    </a:lnL>
                    <a:lnR>
                      <a:noFill/>
                    </a:lnR>
                    <a:lnT>
                      <a:noFill/>
                    </a:lnT>
                    <a:lnB>
                      <a:noFill/>
                    </a:lnB>
                  </a:tcPr>
                </a:tc>
                <a:extLst>
                  <a:ext uri="{0D108BD9-81ED-4DB2-BD59-A6C34878D82A}">
                    <a16:rowId xmlns:a16="http://schemas.microsoft.com/office/drawing/2014/main" val="10002"/>
                  </a:ext>
                </a:extLst>
              </a:tr>
              <a:tr h="35058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pitchFamily="34" charset="0"/>
                        </a:rPr>
                        <a:t>Stok taşıma süresi</a:t>
                      </a:r>
                      <a:endParaRPr kumimoji="0" lang="tr-TR" sz="1600" b="0" i="0" u="none" strike="noStrike" cap="none" normalizeH="0" baseline="0">
                        <a:ln>
                          <a:noFill/>
                        </a:ln>
                        <a:solidFill>
                          <a:schemeClr val="tx1"/>
                        </a:solidFill>
                        <a:effectLst/>
                        <a:latin typeface="Verdana" pitchFamily="34" charset="0"/>
                      </a:endParaRPr>
                    </a:p>
                  </a:txBody>
                  <a:tcPr marL="84400" marR="84400" marT="45729" marB="45729" anchor="b" horzOverflow="overflow">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78.3</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108.5</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84.0</a:t>
                      </a:r>
                    </a:p>
                  </a:txBody>
                  <a:tcPr marL="7619" marR="7619" marT="7621" marB="0" anchor="b">
                    <a:lnL>
                      <a:noFill/>
                    </a:lnL>
                    <a:lnR>
                      <a:noFill/>
                    </a:lnR>
                    <a:lnT>
                      <a:noFill/>
                    </a:lnT>
                    <a:lnB>
                      <a:noFill/>
                    </a:lnB>
                  </a:tcPr>
                </a:tc>
                <a:extLst>
                  <a:ext uri="{0D108BD9-81ED-4DB2-BD59-A6C34878D82A}">
                    <a16:rowId xmlns:a16="http://schemas.microsoft.com/office/drawing/2014/main" val="10003"/>
                  </a:ext>
                </a:extLst>
              </a:tr>
              <a:tr h="365376">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rPr>
                        <a:t>Ticari borç ödeme süresi</a:t>
                      </a:r>
                    </a:p>
                  </a:txBody>
                  <a:tcPr marL="84400" marR="84400" marT="45729" marB="45729" anchor="b" horzOverflow="overflow">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41.3</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36.3</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61.2</a:t>
                      </a:r>
                    </a:p>
                  </a:txBody>
                  <a:tcPr marL="7619" marR="7619" marT="7621" marB="0" anchor="b">
                    <a:lnL>
                      <a:noFill/>
                    </a:lnL>
                    <a:lnR>
                      <a:noFill/>
                    </a:lnR>
                    <a:lnT>
                      <a:noFill/>
                    </a:lnT>
                    <a:lnB>
                      <a:noFill/>
                    </a:lnB>
                  </a:tcPr>
                </a:tc>
                <a:extLst>
                  <a:ext uri="{0D108BD9-81ED-4DB2-BD59-A6C34878D82A}">
                    <a16:rowId xmlns:a16="http://schemas.microsoft.com/office/drawing/2014/main" val="10004"/>
                  </a:ext>
                </a:extLst>
              </a:tr>
              <a:tr h="35058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600" b="1" i="0" u="none" strike="noStrike" cap="none" normalizeH="0" baseline="0">
                          <a:ln>
                            <a:noFill/>
                          </a:ln>
                          <a:solidFill>
                            <a:schemeClr val="tx1"/>
                          </a:solidFill>
                          <a:effectLst/>
                          <a:latin typeface="Verdana" pitchFamily="34" charset="0"/>
                          <a:cs typeface="Arial" pitchFamily="34" charset="0"/>
                        </a:rPr>
                        <a:t>Nakit döngüsü</a:t>
                      </a:r>
                      <a:endParaRPr kumimoji="0" lang="tr-TR" sz="1600" b="1" i="0" u="none" strike="noStrike" cap="none" normalizeH="0" baseline="0">
                        <a:ln>
                          <a:noFill/>
                        </a:ln>
                        <a:solidFill>
                          <a:schemeClr val="tx1"/>
                        </a:solidFill>
                        <a:effectLst/>
                        <a:latin typeface="Verdana" pitchFamily="34" charset="0"/>
                      </a:endParaRPr>
                    </a:p>
                  </a:txBody>
                  <a:tcPr marL="84400" marR="84400" marT="45729" marB="45729" anchor="b" horzOverflow="overflow">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101.3</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140.7</a:t>
                      </a:r>
                    </a:p>
                  </a:txBody>
                  <a:tcPr marL="7619" marR="7619" marT="7621" marB="0" anchor="b">
                    <a:lnL>
                      <a:noFill/>
                    </a:lnL>
                    <a:lnR>
                      <a:noFill/>
                    </a:lnR>
                    <a:lnT>
                      <a:noFill/>
                    </a:lnT>
                    <a:lnB>
                      <a:noFill/>
                    </a:lnB>
                  </a:tcPr>
                </a:tc>
                <a:tc>
                  <a:txBody>
                    <a:bodyPr/>
                    <a:lstStyle/>
                    <a:p>
                      <a:pPr algn="r" fontAlgn="b"/>
                      <a:r>
                        <a:rPr lang="en-GB" sz="1600" b="0" i="0" u="none" strike="noStrike" baseline="0">
                          <a:solidFill>
                            <a:srgbClr val="000000"/>
                          </a:solidFill>
                          <a:latin typeface="Verdana" pitchFamily="34" charset="0"/>
                        </a:rPr>
                        <a:t>89.1</a:t>
                      </a:r>
                    </a:p>
                  </a:txBody>
                  <a:tcPr marL="7619" marR="7619" marT="7621" marB="0" anchor="b">
                    <a:lnL>
                      <a:noFill/>
                    </a:lnL>
                    <a:lnR>
                      <a:noFill/>
                    </a:lnR>
                    <a:lnT>
                      <a:noFill/>
                    </a:lnT>
                    <a:lnB>
                      <a:noFill/>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7325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utoUpdateAnimBg="0"/>
      <p:bldP spid="8" grpId="0" build="p"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81</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457200" y="277813"/>
            <a:ext cx="8229600" cy="774700"/>
          </a:xfrm>
        </p:spPr>
        <p:txBody>
          <a:bodyPr/>
          <a:lstStyle/>
          <a:p>
            <a:pPr eaLnBrk="1" hangingPunct="1"/>
            <a:r>
              <a:rPr lang="tr-TR" sz="4000"/>
              <a:t>Nakit Döngüsü</a:t>
            </a:r>
          </a:p>
        </p:txBody>
      </p:sp>
      <p:graphicFrame>
        <p:nvGraphicFramePr>
          <p:cNvPr id="11" name="Table 10"/>
          <p:cNvGraphicFramePr>
            <a:graphicFrameLocks noGrp="1"/>
          </p:cNvGraphicFramePr>
          <p:nvPr/>
        </p:nvGraphicFramePr>
        <p:xfrm>
          <a:off x="611562" y="4365104"/>
          <a:ext cx="7992891" cy="1440160"/>
        </p:xfrm>
        <a:graphic>
          <a:graphicData uri="http://schemas.openxmlformats.org/drawingml/2006/table">
            <a:tbl>
              <a:tblPr/>
              <a:tblGrid>
                <a:gridCol w="2522827">
                  <a:extLst>
                    <a:ext uri="{9D8B030D-6E8A-4147-A177-3AD203B41FA5}">
                      <a16:colId xmlns:a16="http://schemas.microsoft.com/office/drawing/2014/main" val="20000"/>
                    </a:ext>
                  </a:extLst>
                </a:gridCol>
                <a:gridCol w="683758">
                  <a:extLst>
                    <a:ext uri="{9D8B030D-6E8A-4147-A177-3AD203B41FA5}">
                      <a16:colId xmlns:a16="http://schemas.microsoft.com/office/drawing/2014/main" val="20001"/>
                    </a:ext>
                  </a:extLst>
                </a:gridCol>
                <a:gridCol w="683758">
                  <a:extLst>
                    <a:ext uri="{9D8B030D-6E8A-4147-A177-3AD203B41FA5}">
                      <a16:colId xmlns:a16="http://schemas.microsoft.com/office/drawing/2014/main" val="20002"/>
                    </a:ext>
                  </a:extLst>
                </a:gridCol>
                <a:gridCol w="683758">
                  <a:extLst>
                    <a:ext uri="{9D8B030D-6E8A-4147-A177-3AD203B41FA5}">
                      <a16:colId xmlns:a16="http://schemas.microsoft.com/office/drawing/2014/main" val="20003"/>
                    </a:ext>
                  </a:extLst>
                </a:gridCol>
                <a:gridCol w="683758">
                  <a:extLst>
                    <a:ext uri="{9D8B030D-6E8A-4147-A177-3AD203B41FA5}">
                      <a16:colId xmlns:a16="http://schemas.microsoft.com/office/drawing/2014/main" val="20004"/>
                    </a:ext>
                  </a:extLst>
                </a:gridCol>
                <a:gridCol w="683758">
                  <a:extLst>
                    <a:ext uri="{9D8B030D-6E8A-4147-A177-3AD203B41FA5}">
                      <a16:colId xmlns:a16="http://schemas.microsoft.com/office/drawing/2014/main" val="20005"/>
                    </a:ext>
                  </a:extLst>
                </a:gridCol>
                <a:gridCol w="683758">
                  <a:extLst>
                    <a:ext uri="{9D8B030D-6E8A-4147-A177-3AD203B41FA5}">
                      <a16:colId xmlns:a16="http://schemas.microsoft.com/office/drawing/2014/main" val="20006"/>
                    </a:ext>
                  </a:extLst>
                </a:gridCol>
                <a:gridCol w="683758">
                  <a:extLst>
                    <a:ext uri="{9D8B030D-6E8A-4147-A177-3AD203B41FA5}">
                      <a16:colId xmlns:a16="http://schemas.microsoft.com/office/drawing/2014/main" val="20007"/>
                    </a:ext>
                  </a:extLst>
                </a:gridCol>
                <a:gridCol w="683758">
                  <a:extLst>
                    <a:ext uri="{9D8B030D-6E8A-4147-A177-3AD203B41FA5}">
                      <a16:colId xmlns:a16="http://schemas.microsoft.com/office/drawing/2014/main" val="20008"/>
                    </a:ext>
                  </a:extLst>
                </a:gridCol>
              </a:tblGrid>
              <a:tr h="288032">
                <a:tc>
                  <a:txBody>
                    <a:bodyPr/>
                    <a:lstStyle/>
                    <a:p>
                      <a:pPr algn="l" fontAlgn="b"/>
                      <a:r>
                        <a:rPr lang="en-GB" sz="1800" b="1" i="0" u="none" strike="noStrike">
                          <a:solidFill>
                            <a:srgbClr val="FF0000"/>
                          </a:solidFill>
                          <a:latin typeface="Calibri"/>
                        </a:rPr>
                        <a:t>Goodyear</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2009</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2010</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2011</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2012</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2013</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201</a:t>
                      </a:r>
                      <a:r>
                        <a:rPr lang="tr-TR" sz="1800" b="1" i="0" u="none" strike="noStrike">
                          <a:solidFill>
                            <a:srgbClr val="000000"/>
                          </a:solidFill>
                          <a:latin typeface="Calibri"/>
                        </a:rPr>
                        <a:t>4</a:t>
                      </a:r>
                      <a:endParaRPr lang="en-GB" sz="1800" b="1"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1" i="0" u="none" strike="noStrike">
                          <a:solidFill>
                            <a:srgbClr val="000000"/>
                          </a:solidFill>
                          <a:latin typeface="Calibri"/>
                        </a:rPr>
                        <a:t>2015</a:t>
                      </a:r>
                      <a:endParaRPr lang="en-GB" sz="1800" b="1"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1" i="0" u="none" strike="noStrike">
                          <a:solidFill>
                            <a:srgbClr val="000000"/>
                          </a:solidFill>
                          <a:latin typeface="Calibri"/>
                        </a:rPr>
                        <a:t>2016</a:t>
                      </a:r>
                      <a:endParaRPr lang="en-GB" sz="1800" b="1" i="0" u="none" strike="noStrike">
                        <a:solidFill>
                          <a:srgbClr val="000000"/>
                        </a:solidFill>
                        <a:latin typeface="Calibri"/>
                      </a:endParaRPr>
                    </a:p>
                  </a:txBody>
                  <a:tcPr marL="7257" marR="7257" marT="7257" marB="0" anchor="b">
                    <a:lnL>
                      <a:noFill/>
                    </a:lnL>
                    <a:lnR>
                      <a:noFill/>
                    </a:lnR>
                    <a:lnT>
                      <a:noFill/>
                    </a:lnT>
                    <a:lnB>
                      <a:noFill/>
                    </a:lnB>
                  </a:tcPr>
                </a:tc>
                <a:extLst>
                  <a:ext uri="{0D108BD9-81ED-4DB2-BD59-A6C34878D82A}">
                    <a16:rowId xmlns:a16="http://schemas.microsoft.com/office/drawing/2014/main" val="10000"/>
                  </a:ext>
                </a:extLst>
              </a:tr>
              <a:tr h="288032">
                <a:tc>
                  <a:txBody>
                    <a:bodyPr/>
                    <a:lstStyle/>
                    <a:p>
                      <a:pPr algn="l" fontAlgn="b"/>
                      <a:r>
                        <a:rPr lang="en-GB" sz="1800" b="0" i="0" u="none" strike="noStrike" err="1">
                          <a:solidFill>
                            <a:srgbClr val="000000"/>
                          </a:solidFill>
                          <a:latin typeface="Calibri"/>
                        </a:rPr>
                        <a:t>Alacak</a:t>
                      </a:r>
                      <a:r>
                        <a:rPr lang="en-GB" sz="1800" b="0" i="0" u="none" strike="noStrike">
                          <a:solidFill>
                            <a:srgbClr val="000000"/>
                          </a:solidFill>
                          <a:latin typeface="Calibri"/>
                        </a:rPr>
                        <a:t> </a:t>
                      </a:r>
                      <a:r>
                        <a:rPr lang="en-GB" sz="1800" b="0" i="0" u="none" strike="noStrike" err="1">
                          <a:solidFill>
                            <a:srgbClr val="000000"/>
                          </a:solidFill>
                          <a:latin typeface="Calibri"/>
                        </a:rPr>
                        <a:t>Tahsil</a:t>
                      </a:r>
                      <a:r>
                        <a:rPr lang="en-GB" sz="1800" b="0" i="0" u="none" strike="noStrike">
                          <a:solidFill>
                            <a:srgbClr val="000000"/>
                          </a:solidFill>
                          <a:latin typeface="Calibri"/>
                        </a:rPr>
                        <a:t> </a:t>
                      </a:r>
                      <a:r>
                        <a:rPr lang="en-GB" sz="1800" b="0" i="0" u="none" strike="noStrike" err="1">
                          <a:solidFill>
                            <a:srgbClr val="000000"/>
                          </a:solidFill>
                          <a:latin typeface="Calibri"/>
                        </a:rPr>
                        <a:t>Süresi</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51</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76</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59</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64</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70</a:t>
                      </a: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52</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67</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74</a:t>
                      </a:r>
                      <a:endParaRPr lang="en-GB" sz="1800" b="0" i="0" u="none" strike="noStrike">
                        <a:solidFill>
                          <a:srgbClr val="000000"/>
                        </a:solidFill>
                        <a:latin typeface="Calibri"/>
                      </a:endParaRPr>
                    </a:p>
                  </a:txBody>
                  <a:tcPr marL="7257" marR="7257" marT="7257" marB="0" anchor="b">
                    <a:lnL>
                      <a:noFill/>
                    </a:lnL>
                    <a:lnR>
                      <a:noFill/>
                    </a:lnR>
                    <a:lnT>
                      <a:noFill/>
                    </a:lnT>
                    <a:lnB>
                      <a:noFill/>
                    </a:lnB>
                  </a:tcPr>
                </a:tc>
                <a:extLst>
                  <a:ext uri="{0D108BD9-81ED-4DB2-BD59-A6C34878D82A}">
                    <a16:rowId xmlns:a16="http://schemas.microsoft.com/office/drawing/2014/main" val="10001"/>
                  </a:ext>
                </a:extLst>
              </a:tr>
              <a:tr h="288032">
                <a:tc>
                  <a:txBody>
                    <a:bodyPr/>
                    <a:lstStyle/>
                    <a:p>
                      <a:pPr algn="l" fontAlgn="b"/>
                      <a:r>
                        <a:rPr lang="en-GB" sz="1800" b="0" i="0" u="none" strike="noStrike">
                          <a:solidFill>
                            <a:srgbClr val="000000"/>
                          </a:solidFill>
                          <a:latin typeface="Calibri"/>
                        </a:rPr>
                        <a:t>Stok </a:t>
                      </a:r>
                      <a:r>
                        <a:rPr lang="en-GB" sz="1800" b="0" i="0" u="none" strike="noStrike" err="1">
                          <a:solidFill>
                            <a:srgbClr val="000000"/>
                          </a:solidFill>
                          <a:latin typeface="Calibri"/>
                        </a:rPr>
                        <a:t>Taşıma</a:t>
                      </a:r>
                      <a:r>
                        <a:rPr lang="en-GB" sz="1800" b="0" i="0" u="none" strike="noStrike">
                          <a:solidFill>
                            <a:srgbClr val="000000"/>
                          </a:solidFill>
                          <a:latin typeface="Calibri"/>
                        </a:rPr>
                        <a:t> </a:t>
                      </a:r>
                      <a:r>
                        <a:rPr lang="en-GB" sz="1800" b="0" i="0" u="none" strike="noStrike" err="1">
                          <a:solidFill>
                            <a:srgbClr val="000000"/>
                          </a:solidFill>
                          <a:latin typeface="Calibri"/>
                        </a:rPr>
                        <a:t>Süresi</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47</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52</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55</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56</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62</a:t>
                      </a: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59</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56</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55</a:t>
                      </a:r>
                      <a:endParaRPr lang="en-GB" sz="1800" b="0" i="0" u="none" strike="noStrike">
                        <a:solidFill>
                          <a:srgbClr val="000000"/>
                        </a:solidFill>
                        <a:latin typeface="Calibri"/>
                      </a:endParaRPr>
                    </a:p>
                  </a:txBody>
                  <a:tcPr marL="7257" marR="7257" marT="7257" marB="0" anchor="b">
                    <a:lnL>
                      <a:noFill/>
                    </a:lnL>
                    <a:lnR>
                      <a:noFill/>
                    </a:lnR>
                    <a:lnT>
                      <a:noFill/>
                    </a:lnT>
                    <a:lnB>
                      <a:noFill/>
                    </a:lnB>
                  </a:tcPr>
                </a:tc>
                <a:extLst>
                  <a:ext uri="{0D108BD9-81ED-4DB2-BD59-A6C34878D82A}">
                    <a16:rowId xmlns:a16="http://schemas.microsoft.com/office/drawing/2014/main" val="10002"/>
                  </a:ext>
                </a:extLst>
              </a:tr>
              <a:tr h="288032">
                <a:tc>
                  <a:txBody>
                    <a:bodyPr/>
                    <a:lstStyle/>
                    <a:p>
                      <a:pPr algn="l" fontAlgn="b"/>
                      <a:r>
                        <a:rPr lang="en-GB" sz="1800" b="0" i="0" u="none" strike="noStrike" err="1">
                          <a:solidFill>
                            <a:srgbClr val="000000"/>
                          </a:solidFill>
                          <a:latin typeface="Calibri"/>
                        </a:rPr>
                        <a:t>Ticari</a:t>
                      </a:r>
                      <a:r>
                        <a:rPr lang="en-GB" sz="1800" b="0" i="0" u="none" strike="noStrike">
                          <a:solidFill>
                            <a:srgbClr val="000000"/>
                          </a:solidFill>
                          <a:latin typeface="Calibri"/>
                        </a:rPr>
                        <a:t> </a:t>
                      </a:r>
                      <a:r>
                        <a:rPr lang="en-GB" sz="1800" b="0" i="0" u="none" strike="noStrike" err="1">
                          <a:solidFill>
                            <a:srgbClr val="000000"/>
                          </a:solidFill>
                          <a:latin typeface="Calibri"/>
                        </a:rPr>
                        <a:t>Borç</a:t>
                      </a:r>
                      <a:r>
                        <a:rPr lang="en-GB" sz="1800" b="0" i="0" u="none" strike="noStrike">
                          <a:solidFill>
                            <a:srgbClr val="000000"/>
                          </a:solidFill>
                          <a:latin typeface="Calibri"/>
                        </a:rPr>
                        <a:t> </a:t>
                      </a:r>
                      <a:r>
                        <a:rPr lang="en-GB" sz="1800" b="0" i="0" u="none" strike="noStrike" err="1">
                          <a:solidFill>
                            <a:srgbClr val="000000"/>
                          </a:solidFill>
                          <a:latin typeface="Calibri"/>
                        </a:rPr>
                        <a:t>Ödeme</a:t>
                      </a:r>
                      <a:r>
                        <a:rPr lang="en-GB" sz="1800" b="0" i="0" u="none" strike="noStrike">
                          <a:solidFill>
                            <a:srgbClr val="000000"/>
                          </a:solidFill>
                          <a:latin typeface="Calibri"/>
                        </a:rPr>
                        <a:t> </a:t>
                      </a:r>
                      <a:r>
                        <a:rPr lang="en-GB" sz="1800" b="0" i="0" u="none" strike="noStrike" err="1">
                          <a:solidFill>
                            <a:srgbClr val="000000"/>
                          </a:solidFill>
                          <a:latin typeface="Calibri"/>
                        </a:rPr>
                        <a:t>Süresi</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36</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49</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46</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50</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59</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5</a:t>
                      </a:r>
                      <a:r>
                        <a:rPr lang="tr-TR" sz="1800" b="0" i="0" u="none" strike="noStrike">
                          <a:solidFill>
                            <a:srgbClr val="000000"/>
                          </a:solidFill>
                          <a:latin typeface="Calibri"/>
                        </a:rPr>
                        <a:t>6</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92</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85</a:t>
                      </a:r>
                      <a:endParaRPr lang="en-GB" sz="1800" b="0" i="0" u="none" strike="noStrike">
                        <a:solidFill>
                          <a:srgbClr val="000000"/>
                        </a:solidFill>
                        <a:latin typeface="Calibri"/>
                      </a:endParaRPr>
                    </a:p>
                  </a:txBody>
                  <a:tcPr marL="7257" marR="7257" marT="7257" marB="0" anchor="b">
                    <a:lnL>
                      <a:noFill/>
                    </a:lnL>
                    <a:lnR>
                      <a:noFill/>
                    </a:lnR>
                    <a:lnT>
                      <a:noFill/>
                    </a:lnT>
                    <a:lnB>
                      <a:noFill/>
                    </a:lnB>
                  </a:tcPr>
                </a:tc>
                <a:extLst>
                  <a:ext uri="{0D108BD9-81ED-4DB2-BD59-A6C34878D82A}">
                    <a16:rowId xmlns:a16="http://schemas.microsoft.com/office/drawing/2014/main" val="10003"/>
                  </a:ext>
                </a:extLst>
              </a:tr>
              <a:tr h="288032">
                <a:tc>
                  <a:txBody>
                    <a:bodyPr/>
                    <a:lstStyle/>
                    <a:p>
                      <a:pPr algn="l" fontAlgn="b"/>
                      <a:r>
                        <a:rPr lang="en-GB" sz="1800" b="1" i="0" u="none" strike="noStrike" err="1">
                          <a:solidFill>
                            <a:srgbClr val="000000"/>
                          </a:solidFill>
                          <a:latin typeface="Calibri"/>
                        </a:rPr>
                        <a:t>Nakit</a:t>
                      </a:r>
                      <a:r>
                        <a:rPr lang="en-GB" sz="1800" b="1" i="0" u="none" strike="noStrike">
                          <a:solidFill>
                            <a:srgbClr val="000000"/>
                          </a:solidFill>
                          <a:latin typeface="Calibri"/>
                        </a:rPr>
                        <a:t> </a:t>
                      </a:r>
                      <a:r>
                        <a:rPr lang="en-GB" sz="1800" b="1" i="0" u="none" strike="noStrike" err="1">
                          <a:solidFill>
                            <a:srgbClr val="000000"/>
                          </a:solidFill>
                          <a:latin typeface="Calibri"/>
                        </a:rPr>
                        <a:t>Döngüsü</a:t>
                      </a:r>
                      <a:endParaRPr lang="en-GB" sz="1800" b="1"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62</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79</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68</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70</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73</a:t>
                      </a:r>
                    </a:p>
                  </a:txBody>
                  <a:tcPr marL="7257" marR="7257" marT="7257" marB="0" anchor="b">
                    <a:lnL>
                      <a:noFill/>
                    </a:lnL>
                    <a:lnR>
                      <a:noFill/>
                    </a:lnR>
                    <a:lnT>
                      <a:noFill/>
                    </a:lnT>
                    <a:lnB>
                      <a:noFill/>
                    </a:lnB>
                  </a:tcPr>
                </a:tc>
                <a:tc>
                  <a:txBody>
                    <a:bodyPr/>
                    <a:lstStyle/>
                    <a:p>
                      <a:pPr algn="r" fontAlgn="b"/>
                      <a:r>
                        <a:rPr lang="tr-TR" sz="1800" b="1" i="0" u="none" strike="noStrike">
                          <a:solidFill>
                            <a:srgbClr val="000000"/>
                          </a:solidFill>
                          <a:latin typeface="Calibri"/>
                        </a:rPr>
                        <a:t>55</a:t>
                      </a:r>
                      <a:endParaRPr lang="en-GB" sz="1800" b="1"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1" i="0" u="none" strike="noStrike">
                          <a:solidFill>
                            <a:srgbClr val="000000"/>
                          </a:solidFill>
                          <a:latin typeface="Calibri"/>
                        </a:rPr>
                        <a:t>31</a:t>
                      </a:r>
                      <a:endParaRPr lang="en-GB" sz="1800" b="1"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1" i="0" u="none" strike="noStrike">
                          <a:solidFill>
                            <a:srgbClr val="000000"/>
                          </a:solidFill>
                          <a:latin typeface="Calibri"/>
                        </a:rPr>
                        <a:t>45</a:t>
                      </a:r>
                      <a:endParaRPr lang="en-GB" sz="1800" b="1" i="0" u="none" strike="noStrike">
                        <a:solidFill>
                          <a:srgbClr val="000000"/>
                        </a:solidFill>
                        <a:latin typeface="Calibri"/>
                      </a:endParaRPr>
                    </a:p>
                  </a:txBody>
                  <a:tcPr marL="7257" marR="7257" marT="7257" marB="0" anchor="b">
                    <a:lnL>
                      <a:noFill/>
                    </a:lnL>
                    <a:lnR>
                      <a:noFill/>
                    </a:lnR>
                    <a:lnT>
                      <a:noFill/>
                    </a:lnT>
                    <a:lnB>
                      <a:noFill/>
                    </a:lnB>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nvGraphicFramePr>
        <p:xfrm>
          <a:off x="652279" y="1916832"/>
          <a:ext cx="7952170" cy="1407885"/>
        </p:xfrm>
        <a:graphic>
          <a:graphicData uri="http://schemas.openxmlformats.org/drawingml/2006/table">
            <a:tbl>
              <a:tblPr/>
              <a:tblGrid>
                <a:gridCol w="2509978">
                  <a:extLst>
                    <a:ext uri="{9D8B030D-6E8A-4147-A177-3AD203B41FA5}">
                      <a16:colId xmlns:a16="http://schemas.microsoft.com/office/drawing/2014/main" val="20000"/>
                    </a:ext>
                  </a:extLst>
                </a:gridCol>
                <a:gridCol w="680274">
                  <a:extLst>
                    <a:ext uri="{9D8B030D-6E8A-4147-A177-3AD203B41FA5}">
                      <a16:colId xmlns:a16="http://schemas.microsoft.com/office/drawing/2014/main" val="20001"/>
                    </a:ext>
                  </a:extLst>
                </a:gridCol>
                <a:gridCol w="680274">
                  <a:extLst>
                    <a:ext uri="{9D8B030D-6E8A-4147-A177-3AD203B41FA5}">
                      <a16:colId xmlns:a16="http://schemas.microsoft.com/office/drawing/2014/main" val="20002"/>
                    </a:ext>
                  </a:extLst>
                </a:gridCol>
                <a:gridCol w="680274">
                  <a:extLst>
                    <a:ext uri="{9D8B030D-6E8A-4147-A177-3AD203B41FA5}">
                      <a16:colId xmlns:a16="http://schemas.microsoft.com/office/drawing/2014/main" val="20003"/>
                    </a:ext>
                  </a:extLst>
                </a:gridCol>
                <a:gridCol w="680274">
                  <a:extLst>
                    <a:ext uri="{9D8B030D-6E8A-4147-A177-3AD203B41FA5}">
                      <a16:colId xmlns:a16="http://schemas.microsoft.com/office/drawing/2014/main" val="20004"/>
                    </a:ext>
                  </a:extLst>
                </a:gridCol>
                <a:gridCol w="680274">
                  <a:extLst>
                    <a:ext uri="{9D8B030D-6E8A-4147-A177-3AD203B41FA5}">
                      <a16:colId xmlns:a16="http://schemas.microsoft.com/office/drawing/2014/main" val="20005"/>
                    </a:ext>
                  </a:extLst>
                </a:gridCol>
                <a:gridCol w="680274">
                  <a:extLst>
                    <a:ext uri="{9D8B030D-6E8A-4147-A177-3AD203B41FA5}">
                      <a16:colId xmlns:a16="http://schemas.microsoft.com/office/drawing/2014/main" val="20006"/>
                    </a:ext>
                  </a:extLst>
                </a:gridCol>
                <a:gridCol w="680274">
                  <a:extLst>
                    <a:ext uri="{9D8B030D-6E8A-4147-A177-3AD203B41FA5}">
                      <a16:colId xmlns:a16="http://schemas.microsoft.com/office/drawing/2014/main" val="20007"/>
                    </a:ext>
                  </a:extLst>
                </a:gridCol>
                <a:gridCol w="680274">
                  <a:extLst>
                    <a:ext uri="{9D8B030D-6E8A-4147-A177-3AD203B41FA5}">
                      <a16:colId xmlns:a16="http://schemas.microsoft.com/office/drawing/2014/main" val="20008"/>
                    </a:ext>
                  </a:extLst>
                </a:gridCol>
              </a:tblGrid>
              <a:tr h="174171">
                <a:tc>
                  <a:txBody>
                    <a:bodyPr/>
                    <a:lstStyle/>
                    <a:p>
                      <a:pPr algn="l" fontAlgn="b"/>
                      <a:r>
                        <a:rPr lang="en-GB" sz="1800" b="1" i="0" u="none" strike="noStrike" err="1">
                          <a:solidFill>
                            <a:srgbClr val="FF0000"/>
                          </a:solidFill>
                          <a:latin typeface="Calibri"/>
                        </a:rPr>
                        <a:t>Brisa</a:t>
                      </a:r>
                      <a:endParaRPr lang="en-GB" sz="1800" b="1" i="0" u="none" strike="noStrike">
                        <a:solidFill>
                          <a:srgbClr val="FF0000"/>
                        </a:solidFill>
                        <a:latin typeface="Calibri"/>
                      </a:endParaRP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2009</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2010</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2011</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2012</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2013</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201</a:t>
                      </a:r>
                      <a:r>
                        <a:rPr lang="tr-TR" sz="1800" b="1" i="0" u="none" strike="noStrike">
                          <a:solidFill>
                            <a:srgbClr val="000000"/>
                          </a:solidFill>
                          <a:latin typeface="Calibri"/>
                        </a:rPr>
                        <a:t>4</a:t>
                      </a:r>
                      <a:endParaRPr lang="en-GB" sz="1800" b="1"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1" i="0" u="none" strike="noStrike">
                          <a:solidFill>
                            <a:srgbClr val="000000"/>
                          </a:solidFill>
                          <a:latin typeface="Calibri"/>
                        </a:rPr>
                        <a:t>2015</a:t>
                      </a:r>
                      <a:endParaRPr lang="en-GB" sz="1800" b="1"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1" i="0" u="none" strike="noStrike">
                          <a:solidFill>
                            <a:srgbClr val="000000"/>
                          </a:solidFill>
                          <a:latin typeface="Calibri"/>
                        </a:rPr>
                        <a:t>2016</a:t>
                      </a:r>
                      <a:endParaRPr lang="en-GB" sz="1800" b="1" i="0" u="none" strike="noStrike">
                        <a:solidFill>
                          <a:srgbClr val="000000"/>
                        </a:solidFill>
                        <a:latin typeface="Calibri"/>
                      </a:endParaRPr>
                    </a:p>
                  </a:txBody>
                  <a:tcPr marL="7257" marR="7257" marT="7257" marB="0" anchor="b">
                    <a:lnL>
                      <a:noFill/>
                    </a:lnL>
                    <a:lnR>
                      <a:noFill/>
                    </a:lnR>
                    <a:lnT>
                      <a:noFill/>
                    </a:lnT>
                    <a:lnB>
                      <a:noFill/>
                    </a:lnB>
                  </a:tcPr>
                </a:tc>
                <a:extLst>
                  <a:ext uri="{0D108BD9-81ED-4DB2-BD59-A6C34878D82A}">
                    <a16:rowId xmlns:a16="http://schemas.microsoft.com/office/drawing/2014/main" val="10000"/>
                  </a:ext>
                </a:extLst>
              </a:tr>
              <a:tr h="174171">
                <a:tc>
                  <a:txBody>
                    <a:bodyPr/>
                    <a:lstStyle/>
                    <a:p>
                      <a:pPr algn="l" fontAlgn="b"/>
                      <a:r>
                        <a:rPr lang="en-GB" sz="1800" b="0" i="0" u="none" strike="noStrike" err="1">
                          <a:solidFill>
                            <a:srgbClr val="000000"/>
                          </a:solidFill>
                          <a:latin typeface="Calibri"/>
                        </a:rPr>
                        <a:t>Alacak</a:t>
                      </a:r>
                      <a:r>
                        <a:rPr lang="en-GB" sz="1800" b="0" i="0" u="none" strike="noStrike">
                          <a:solidFill>
                            <a:srgbClr val="000000"/>
                          </a:solidFill>
                          <a:latin typeface="Calibri"/>
                        </a:rPr>
                        <a:t> </a:t>
                      </a:r>
                      <a:r>
                        <a:rPr lang="en-GB" sz="1800" b="0" i="0" u="none" strike="noStrike" err="1">
                          <a:solidFill>
                            <a:srgbClr val="000000"/>
                          </a:solidFill>
                          <a:latin typeface="Calibri"/>
                        </a:rPr>
                        <a:t>Tahsil</a:t>
                      </a:r>
                      <a:r>
                        <a:rPr lang="en-GB" sz="1800" b="0" i="0" u="none" strike="noStrike">
                          <a:solidFill>
                            <a:srgbClr val="000000"/>
                          </a:solidFill>
                          <a:latin typeface="Calibri"/>
                        </a:rPr>
                        <a:t> </a:t>
                      </a:r>
                      <a:r>
                        <a:rPr lang="en-GB" sz="1800" b="0" i="0" u="none" strike="noStrike" err="1">
                          <a:solidFill>
                            <a:srgbClr val="000000"/>
                          </a:solidFill>
                          <a:latin typeface="Calibri"/>
                        </a:rPr>
                        <a:t>Süresi</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66</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82</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90</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110</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111</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11</a:t>
                      </a:r>
                      <a:r>
                        <a:rPr lang="tr-TR" sz="1800" b="0" i="0" u="none" strike="noStrike">
                          <a:solidFill>
                            <a:srgbClr val="000000"/>
                          </a:solidFill>
                          <a:latin typeface="Calibri"/>
                        </a:rPr>
                        <a:t>5</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154</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152</a:t>
                      </a:r>
                      <a:endParaRPr lang="en-GB" sz="1800" b="0" i="0" u="none" strike="noStrike">
                        <a:solidFill>
                          <a:srgbClr val="000000"/>
                        </a:solidFill>
                        <a:latin typeface="Calibri"/>
                      </a:endParaRPr>
                    </a:p>
                  </a:txBody>
                  <a:tcPr marL="7257" marR="7257" marT="7257" marB="0" anchor="b">
                    <a:lnL>
                      <a:noFill/>
                    </a:lnL>
                    <a:lnR>
                      <a:noFill/>
                    </a:lnR>
                    <a:lnT>
                      <a:noFill/>
                    </a:lnT>
                    <a:lnB>
                      <a:noFill/>
                    </a:lnB>
                  </a:tcPr>
                </a:tc>
                <a:extLst>
                  <a:ext uri="{0D108BD9-81ED-4DB2-BD59-A6C34878D82A}">
                    <a16:rowId xmlns:a16="http://schemas.microsoft.com/office/drawing/2014/main" val="10001"/>
                  </a:ext>
                </a:extLst>
              </a:tr>
              <a:tr h="174171">
                <a:tc>
                  <a:txBody>
                    <a:bodyPr/>
                    <a:lstStyle/>
                    <a:p>
                      <a:pPr algn="l" fontAlgn="b"/>
                      <a:r>
                        <a:rPr lang="en-GB" sz="1800" b="0" i="0" u="none" strike="noStrike">
                          <a:solidFill>
                            <a:srgbClr val="000000"/>
                          </a:solidFill>
                          <a:latin typeface="Calibri"/>
                        </a:rPr>
                        <a:t>Stok Taşıma Süresi</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84</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85</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100</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83</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93</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9</a:t>
                      </a:r>
                      <a:r>
                        <a:rPr lang="tr-TR" sz="1800" b="0" i="0" u="none" strike="noStrike">
                          <a:solidFill>
                            <a:srgbClr val="000000"/>
                          </a:solidFill>
                          <a:latin typeface="Calibri"/>
                        </a:rPr>
                        <a:t>5</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105</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106</a:t>
                      </a:r>
                      <a:endParaRPr lang="en-GB" sz="1800" b="0" i="0" u="none" strike="noStrike">
                        <a:solidFill>
                          <a:srgbClr val="000000"/>
                        </a:solidFill>
                        <a:latin typeface="Calibri"/>
                      </a:endParaRPr>
                    </a:p>
                  </a:txBody>
                  <a:tcPr marL="7257" marR="7257" marT="7257" marB="0" anchor="b">
                    <a:lnL>
                      <a:noFill/>
                    </a:lnL>
                    <a:lnR>
                      <a:noFill/>
                    </a:lnR>
                    <a:lnT>
                      <a:noFill/>
                    </a:lnT>
                    <a:lnB>
                      <a:noFill/>
                    </a:lnB>
                  </a:tcPr>
                </a:tc>
                <a:extLst>
                  <a:ext uri="{0D108BD9-81ED-4DB2-BD59-A6C34878D82A}">
                    <a16:rowId xmlns:a16="http://schemas.microsoft.com/office/drawing/2014/main" val="10002"/>
                  </a:ext>
                </a:extLst>
              </a:tr>
              <a:tr h="174171">
                <a:tc>
                  <a:txBody>
                    <a:bodyPr/>
                    <a:lstStyle/>
                    <a:p>
                      <a:pPr algn="l" fontAlgn="b"/>
                      <a:r>
                        <a:rPr lang="en-GB" sz="1800" b="0" i="0" u="none" strike="noStrike">
                          <a:solidFill>
                            <a:srgbClr val="000000"/>
                          </a:solidFill>
                          <a:latin typeface="Calibri"/>
                        </a:rPr>
                        <a:t>Ticari Borç Ödeme Süresi</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61</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50</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50</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49</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62</a:t>
                      </a:r>
                    </a:p>
                  </a:txBody>
                  <a:tcPr marL="7257" marR="7257" marT="7257" marB="0" anchor="b">
                    <a:lnL>
                      <a:noFill/>
                    </a:lnL>
                    <a:lnR>
                      <a:noFill/>
                    </a:lnR>
                    <a:lnT>
                      <a:noFill/>
                    </a:lnT>
                    <a:lnB>
                      <a:noFill/>
                    </a:lnB>
                  </a:tcPr>
                </a:tc>
                <a:tc>
                  <a:txBody>
                    <a:bodyPr/>
                    <a:lstStyle/>
                    <a:p>
                      <a:pPr algn="r" fontAlgn="b"/>
                      <a:r>
                        <a:rPr lang="en-GB" sz="1800" b="0" i="0" u="none" strike="noStrike">
                          <a:solidFill>
                            <a:srgbClr val="000000"/>
                          </a:solidFill>
                          <a:latin typeface="Calibri"/>
                        </a:rPr>
                        <a:t>62</a:t>
                      </a: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77</a:t>
                      </a:r>
                      <a:endParaRPr lang="en-GB" sz="1800" b="0"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0" i="0" u="none" strike="noStrike">
                          <a:solidFill>
                            <a:srgbClr val="000000"/>
                          </a:solidFill>
                          <a:latin typeface="Calibri"/>
                        </a:rPr>
                        <a:t>105</a:t>
                      </a:r>
                      <a:endParaRPr lang="en-GB" sz="1800" b="0" i="0" u="none" strike="noStrike">
                        <a:solidFill>
                          <a:srgbClr val="000000"/>
                        </a:solidFill>
                        <a:latin typeface="Calibri"/>
                      </a:endParaRPr>
                    </a:p>
                  </a:txBody>
                  <a:tcPr marL="7257" marR="7257" marT="7257" marB="0" anchor="b">
                    <a:lnL>
                      <a:noFill/>
                    </a:lnL>
                    <a:lnR>
                      <a:noFill/>
                    </a:lnR>
                    <a:lnT>
                      <a:noFill/>
                    </a:lnT>
                    <a:lnB>
                      <a:noFill/>
                    </a:lnB>
                  </a:tcPr>
                </a:tc>
                <a:extLst>
                  <a:ext uri="{0D108BD9-81ED-4DB2-BD59-A6C34878D82A}">
                    <a16:rowId xmlns:a16="http://schemas.microsoft.com/office/drawing/2014/main" val="10003"/>
                  </a:ext>
                </a:extLst>
              </a:tr>
              <a:tr h="174171">
                <a:tc>
                  <a:txBody>
                    <a:bodyPr/>
                    <a:lstStyle/>
                    <a:p>
                      <a:pPr algn="l" fontAlgn="b"/>
                      <a:r>
                        <a:rPr lang="en-GB" sz="1800" b="1" i="0" u="none" strike="noStrike" err="1">
                          <a:solidFill>
                            <a:srgbClr val="000000"/>
                          </a:solidFill>
                          <a:latin typeface="Calibri"/>
                        </a:rPr>
                        <a:t>Nakit</a:t>
                      </a:r>
                      <a:r>
                        <a:rPr lang="en-GB" sz="1800" b="1" i="0" u="none" strike="noStrike">
                          <a:solidFill>
                            <a:srgbClr val="000000"/>
                          </a:solidFill>
                          <a:latin typeface="Calibri"/>
                        </a:rPr>
                        <a:t> </a:t>
                      </a:r>
                      <a:r>
                        <a:rPr lang="en-GB" sz="1800" b="1" i="0" u="none" strike="noStrike" err="1">
                          <a:solidFill>
                            <a:srgbClr val="000000"/>
                          </a:solidFill>
                          <a:latin typeface="Calibri"/>
                        </a:rPr>
                        <a:t>Döngüsü</a:t>
                      </a:r>
                      <a:endParaRPr lang="en-GB" sz="1800" b="1"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89</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117</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140</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144</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143</a:t>
                      </a:r>
                    </a:p>
                  </a:txBody>
                  <a:tcPr marL="7257" marR="7257" marT="7257" marB="0" anchor="b">
                    <a:lnL>
                      <a:noFill/>
                    </a:lnL>
                    <a:lnR>
                      <a:noFill/>
                    </a:lnR>
                    <a:lnT>
                      <a:noFill/>
                    </a:lnT>
                    <a:lnB>
                      <a:noFill/>
                    </a:lnB>
                  </a:tcPr>
                </a:tc>
                <a:tc>
                  <a:txBody>
                    <a:bodyPr/>
                    <a:lstStyle/>
                    <a:p>
                      <a:pPr algn="r" fontAlgn="b"/>
                      <a:r>
                        <a:rPr lang="en-GB" sz="1800" b="1" i="0" u="none" strike="noStrike">
                          <a:solidFill>
                            <a:srgbClr val="000000"/>
                          </a:solidFill>
                          <a:latin typeface="Calibri"/>
                        </a:rPr>
                        <a:t>14</a:t>
                      </a:r>
                      <a:r>
                        <a:rPr lang="tr-TR" sz="1800" b="1" i="0" u="none" strike="noStrike">
                          <a:solidFill>
                            <a:srgbClr val="000000"/>
                          </a:solidFill>
                          <a:latin typeface="Calibri"/>
                        </a:rPr>
                        <a:t>8</a:t>
                      </a:r>
                      <a:endParaRPr lang="en-GB" sz="1800" b="1"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1" i="0" u="none" strike="noStrike">
                          <a:solidFill>
                            <a:srgbClr val="000000"/>
                          </a:solidFill>
                          <a:latin typeface="Calibri"/>
                        </a:rPr>
                        <a:t>183</a:t>
                      </a:r>
                      <a:endParaRPr lang="en-GB" sz="1800" b="1" i="0" u="none" strike="noStrike">
                        <a:solidFill>
                          <a:srgbClr val="000000"/>
                        </a:solidFill>
                        <a:latin typeface="Calibri"/>
                      </a:endParaRPr>
                    </a:p>
                  </a:txBody>
                  <a:tcPr marL="7257" marR="7257" marT="7257" marB="0" anchor="b">
                    <a:lnL>
                      <a:noFill/>
                    </a:lnL>
                    <a:lnR>
                      <a:noFill/>
                    </a:lnR>
                    <a:lnT>
                      <a:noFill/>
                    </a:lnT>
                    <a:lnB>
                      <a:noFill/>
                    </a:lnB>
                  </a:tcPr>
                </a:tc>
                <a:tc>
                  <a:txBody>
                    <a:bodyPr/>
                    <a:lstStyle/>
                    <a:p>
                      <a:pPr algn="r" fontAlgn="b"/>
                      <a:r>
                        <a:rPr lang="tr-TR" sz="1800" b="1" i="0" u="none" strike="noStrike">
                          <a:solidFill>
                            <a:srgbClr val="000000"/>
                          </a:solidFill>
                          <a:latin typeface="Calibri"/>
                        </a:rPr>
                        <a:t>154</a:t>
                      </a:r>
                    </a:p>
                  </a:txBody>
                  <a:tcPr marL="7257" marR="7257" marT="7257" marB="0" anchor="b">
                    <a:lnL>
                      <a:noFill/>
                    </a:lnL>
                    <a:lnR>
                      <a:noFill/>
                    </a:lnR>
                    <a:lnT>
                      <a:noFill/>
                    </a:lnT>
                    <a:lnB>
                      <a:noFill/>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4622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82</a:t>
            </a:fld>
            <a:endParaRPr lang="tr-TR" sz="1200">
              <a:solidFill>
                <a:schemeClr val="tx2"/>
              </a:solidFill>
              <a:latin typeface="Verdana" pitchFamily="34" charset="0"/>
            </a:endParaRPr>
          </a:p>
        </p:txBody>
      </p:sp>
      <p:sp>
        <p:nvSpPr>
          <p:cNvPr id="9" name="Rectangle 2"/>
          <p:cNvSpPr>
            <a:spLocks noGrp="1" noChangeArrowheads="1"/>
          </p:cNvSpPr>
          <p:nvPr>
            <p:ph type="title"/>
          </p:nvPr>
        </p:nvSpPr>
        <p:spPr>
          <a:xfrm>
            <a:off x="611560" y="-99392"/>
            <a:ext cx="8229600" cy="774700"/>
          </a:xfrm>
        </p:spPr>
        <p:txBody>
          <a:bodyPr/>
          <a:lstStyle/>
          <a:p>
            <a:r>
              <a:rPr lang="tr-TR" sz="3600"/>
              <a:t>Konsept Çalışması: </a:t>
            </a:r>
            <a:br>
              <a:rPr lang="tr-TR" sz="3600"/>
            </a:br>
            <a:r>
              <a:rPr lang="tr-TR" sz="3600"/>
              <a:t>Operasyonel Verimlilik Analizi</a:t>
            </a:r>
          </a:p>
        </p:txBody>
      </p:sp>
      <p:sp>
        <p:nvSpPr>
          <p:cNvPr id="8" name="Rectangle 3"/>
          <p:cNvSpPr txBox="1">
            <a:spLocks noChangeArrowheads="1"/>
          </p:cNvSpPr>
          <p:nvPr/>
        </p:nvSpPr>
        <p:spPr>
          <a:xfrm>
            <a:off x="395537" y="5983659"/>
            <a:ext cx="8445624" cy="613693"/>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tr-TR" sz="1600">
                <a:latin typeface="Verdana" pitchFamily="34" charset="0"/>
                <a:ea typeface="Verdana" pitchFamily="34" charset="0"/>
                <a:cs typeface="Verdana" pitchFamily="34" charset="0"/>
              </a:rPr>
              <a:t>Brisa 2016 sonrasını analiz eder misiniz? </a:t>
            </a:r>
          </a:p>
        </p:txBody>
      </p:sp>
      <p:pic>
        <p:nvPicPr>
          <p:cNvPr id="4" name="Picture 3">
            <a:extLst>
              <a:ext uri="{FF2B5EF4-FFF2-40B4-BE49-F238E27FC236}">
                <a16:creationId xmlns:a16="http://schemas.microsoft.com/office/drawing/2014/main" id="{1E76801E-CC80-EE3D-660D-C165D752DE7C}"/>
              </a:ext>
            </a:extLst>
          </p:cNvPr>
          <p:cNvPicPr>
            <a:picLocks noChangeAspect="1"/>
          </p:cNvPicPr>
          <p:nvPr/>
        </p:nvPicPr>
        <p:blipFill>
          <a:blip r:embed="rId2"/>
          <a:stretch>
            <a:fillRect/>
          </a:stretch>
        </p:blipFill>
        <p:spPr>
          <a:xfrm>
            <a:off x="422116" y="1412776"/>
            <a:ext cx="8392465" cy="4513420"/>
          </a:xfrm>
          <a:prstGeom prst="rect">
            <a:avLst/>
          </a:prstGeom>
        </p:spPr>
      </p:pic>
    </p:spTree>
    <p:extLst>
      <p:ext uri="{BB962C8B-B14F-4D97-AF65-F5344CB8AC3E}">
        <p14:creationId xmlns:p14="http://schemas.microsoft.com/office/powerpoint/2010/main" val="389174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83</a:t>
            </a:fld>
            <a:endParaRPr lang="tr-TR" sz="1200">
              <a:solidFill>
                <a:schemeClr val="tx2"/>
              </a:solidFill>
              <a:latin typeface="Verdana" pitchFamily="34" charset="0"/>
            </a:endParaRPr>
          </a:p>
        </p:txBody>
      </p:sp>
      <p:sp>
        <p:nvSpPr>
          <p:cNvPr id="9" name="Rectangle 2"/>
          <p:cNvSpPr>
            <a:spLocks noGrp="1" noChangeArrowheads="1"/>
          </p:cNvSpPr>
          <p:nvPr>
            <p:ph type="title"/>
          </p:nvPr>
        </p:nvSpPr>
        <p:spPr>
          <a:xfrm>
            <a:off x="611560" y="-99392"/>
            <a:ext cx="8229600" cy="774700"/>
          </a:xfrm>
        </p:spPr>
        <p:txBody>
          <a:bodyPr/>
          <a:lstStyle/>
          <a:p>
            <a:r>
              <a:rPr lang="tr-TR" sz="3600"/>
              <a:t>Konsept Çalışması: </a:t>
            </a:r>
            <a:br>
              <a:rPr lang="tr-TR" sz="3600"/>
            </a:br>
            <a:r>
              <a:rPr lang="tr-TR" sz="3600"/>
              <a:t>Operasyonel Verimlilik Analizi</a:t>
            </a:r>
          </a:p>
        </p:txBody>
      </p:sp>
      <p:sp>
        <p:nvSpPr>
          <p:cNvPr id="8" name="Rectangle 3"/>
          <p:cNvSpPr txBox="1">
            <a:spLocks noChangeArrowheads="1"/>
          </p:cNvSpPr>
          <p:nvPr/>
        </p:nvSpPr>
        <p:spPr>
          <a:xfrm>
            <a:off x="395537" y="5695627"/>
            <a:ext cx="8445624" cy="613693"/>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tr-TR" sz="1600">
                <a:latin typeface="Verdana" pitchFamily="34" charset="0"/>
                <a:ea typeface="Verdana" pitchFamily="34" charset="0"/>
                <a:cs typeface="Verdana" pitchFamily="34" charset="0"/>
              </a:rPr>
              <a:t>Goodyear 2016 sonrasını analiz eder misiniz? </a:t>
            </a:r>
          </a:p>
        </p:txBody>
      </p:sp>
      <p:pic>
        <p:nvPicPr>
          <p:cNvPr id="4" name="Picture 3">
            <a:extLst>
              <a:ext uri="{FF2B5EF4-FFF2-40B4-BE49-F238E27FC236}">
                <a16:creationId xmlns:a16="http://schemas.microsoft.com/office/drawing/2014/main" id="{AF19353C-32D9-E857-2CE0-41DFCCFECF90}"/>
              </a:ext>
            </a:extLst>
          </p:cNvPr>
          <p:cNvPicPr>
            <a:picLocks noChangeAspect="1"/>
          </p:cNvPicPr>
          <p:nvPr/>
        </p:nvPicPr>
        <p:blipFill>
          <a:blip r:embed="rId2"/>
          <a:stretch>
            <a:fillRect/>
          </a:stretch>
        </p:blipFill>
        <p:spPr>
          <a:xfrm>
            <a:off x="459766" y="1249731"/>
            <a:ext cx="8156087" cy="4386297"/>
          </a:xfrm>
          <a:prstGeom prst="rect">
            <a:avLst/>
          </a:prstGeom>
        </p:spPr>
      </p:pic>
    </p:spTree>
    <p:extLst>
      <p:ext uri="{BB962C8B-B14F-4D97-AF65-F5344CB8AC3E}">
        <p14:creationId xmlns:p14="http://schemas.microsoft.com/office/powerpoint/2010/main" val="417477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84</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3002632" y="260648"/>
            <a:ext cx="4593704" cy="774700"/>
          </a:xfrm>
        </p:spPr>
        <p:txBody>
          <a:bodyPr/>
          <a:lstStyle/>
          <a:p>
            <a:pPr eaLnBrk="1" hangingPunct="1"/>
            <a:r>
              <a:rPr lang="tr-TR" sz="3600"/>
              <a:t>Sektör Etkisi			</a:t>
            </a:r>
            <a:r>
              <a:rPr lang="tr-TR" sz="2400" b="1"/>
              <a:t>		     </a:t>
            </a:r>
          </a:p>
        </p:txBody>
      </p:sp>
      <p:graphicFrame>
        <p:nvGraphicFramePr>
          <p:cNvPr id="7" name="Group 54"/>
          <p:cNvGraphicFramePr>
            <a:graphicFrameLocks noGrp="1"/>
          </p:cNvGraphicFramePr>
          <p:nvPr>
            <p:ph idx="4294967295"/>
          </p:nvPr>
        </p:nvGraphicFramePr>
        <p:xfrm>
          <a:off x="1089422" y="1158774"/>
          <a:ext cx="6938962" cy="4862514"/>
        </p:xfrm>
        <a:graphic>
          <a:graphicData uri="http://schemas.openxmlformats.org/drawingml/2006/table">
            <a:tbl>
              <a:tblPr/>
              <a:tblGrid>
                <a:gridCol w="2370137">
                  <a:extLst>
                    <a:ext uri="{9D8B030D-6E8A-4147-A177-3AD203B41FA5}">
                      <a16:colId xmlns:a16="http://schemas.microsoft.com/office/drawing/2014/main" val="20000"/>
                    </a:ext>
                  </a:extLst>
                </a:gridCol>
                <a:gridCol w="1109663">
                  <a:extLst>
                    <a:ext uri="{9D8B030D-6E8A-4147-A177-3AD203B41FA5}">
                      <a16:colId xmlns:a16="http://schemas.microsoft.com/office/drawing/2014/main" val="20001"/>
                    </a:ext>
                  </a:extLst>
                </a:gridCol>
                <a:gridCol w="1174750">
                  <a:extLst>
                    <a:ext uri="{9D8B030D-6E8A-4147-A177-3AD203B41FA5}">
                      <a16:colId xmlns:a16="http://schemas.microsoft.com/office/drawing/2014/main" val="20002"/>
                    </a:ext>
                  </a:extLst>
                </a:gridCol>
                <a:gridCol w="1109662">
                  <a:extLst>
                    <a:ext uri="{9D8B030D-6E8A-4147-A177-3AD203B41FA5}">
                      <a16:colId xmlns:a16="http://schemas.microsoft.com/office/drawing/2014/main" val="20003"/>
                    </a:ext>
                  </a:extLst>
                </a:gridCol>
                <a:gridCol w="1174750">
                  <a:extLst>
                    <a:ext uri="{9D8B030D-6E8A-4147-A177-3AD203B41FA5}">
                      <a16:colId xmlns:a16="http://schemas.microsoft.com/office/drawing/2014/main" val="20004"/>
                    </a:ext>
                  </a:extLst>
                </a:gridCol>
              </a:tblGrid>
              <a:tr h="9731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 </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1" i="0" u="none" strike="noStrike" cap="none" normalizeH="0" baseline="0">
                          <a:ln>
                            <a:noFill/>
                          </a:ln>
                          <a:solidFill>
                            <a:schemeClr val="tx1"/>
                          </a:solidFill>
                          <a:effectLst/>
                          <a:latin typeface="Arial" charset="0"/>
                          <a:cs typeface="Arial" charset="0"/>
                        </a:rPr>
                        <a:t>Firma 1</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1" i="0" u="none" strike="noStrike" cap="none" normalizeH="0" baseline="0">
                          <a:ln>
                            <a:noFill/>
                          </a:ln>
                          <a:solidFill>
                            <a:schemeClr val="tx1"/>
                          </a:solidFill>
                          <a:effectLst/>
                          <a:latin typeface="Arial" charset="0"/>
                          <a:cs typeface="Arial" charset="0"/>
                        </a:rPr>
                        <a:t>Firma 2</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1" i="0" u="none" strike="noStrike" cap="none" normalizeH="0" baseline="0">
                          <a:ln>
                            <a:noFill/>
                          </a:ln>
                          <a:solidFill>
                            <a:schemeClr val="tx1"/>
                          </a:solidFill>
                          <a:effectLst/>
                          <a:latin typeface="Arial" charset="0"/>
                          <a:cs typeface="Arial" charset="0"/>
                        </a:rPr>
                        <a:t>Firma 3</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1" i="0" u="none" strike="noStrike" cap="none" normalizeH="0" baseline="0">
                          <a:ln>
                            <a:noFill/>
                          </a:ln>
                          <a:solidFill>
                            <a:schemeClr val="tx1"/>
                          </a:solidFill>
                          <a:effectLst/>
                          <a:latin typeface="Arial" charset="0"/>
                          <a:cs typeface="Arial" charset="0"/>
                        </a:rPr>
                        <a:t>Firma 4</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7155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2000" b="1" i="0" u="none" strike="noStrike" cap="none" normalizeH="0" baseline="0">
                          <a:ln>
                            <a:noFill/>
                          </a:ln>
                          <a:solidFill>
                            <a:schemeClr val="tx1"/>
                          </a:solidFill>
                          <a:effectLst/>
                          <a:latin typeface="Arial" charset="0"/>
                          <a:cs typeface="Arial" charset="0"/>
                        </a:rPr>
                        <a:t>İşletme sermayesi</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$335</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($952)</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$2,742</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$2,105</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731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2000" b="1" i="0" u="none" strike="noStrike" cap="none" normalizeH="0" baseline="0">
                          <a:ln>
                            <a:noFill/>
                          </a:ln>
                          <a:solidFill>
                            <a:schemeClr val="tx1"/>
                          </a:solidFill>
                          <a:effectLst/>
                          <a:latin typeface="Arial" charset="0"/>
                          <a:cs typeface="Arial" charset="0"/>
                        </a:rPr>
                        <a:t>İS/Ciro</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78%</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-27%</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12.50%</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1.30%</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7155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2000" b="1" i="0" u="none" strike="noStrike" cap="none" normalizeH="0" baseline="0">
                          <a:ln>
                            <a:noFill/>
                          </a:ln>
                          <a:solidFill>
                            <a:schemeClr val="tx1"/>
                          </a:solidFill>
                          <a:effectLst/>
                          <a:latin typeface="Arial" charset="0"/>
                        </a:rPr>
                        <a:t>Tahsilat süresi</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67 gün</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6.6 gün</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90 gün</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2.9 gün</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731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2000" b="1" i="0" u="none" strike="noStrike" cap="none" normalizeH="0" baseline="0">
                          <a:ln>
                            <a:noFill/>
                          </a:ln>
                          <a:solidFill>
                            <a:schemeClr val="tx1"/>
                          </a:solidFill>
                          <a:effectLst/>
                          <a:latin typeface="Arial" charset="0"/>
                          <a:cs typeface="Arial" charset="0"/>
                        </a:rPr>
                        <a:t>Stok devir süresi</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257 gün</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9 gün</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57 gün</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2000" b="0" i="0" u="none" strike="noStrike" cap="none" normalizeH="0" baseline="0">
                          <a:ln>
                            <a:noFill/>
                          </a:ln>
                          <a:solidFill>
                            <a:schemeClr val="tx1"/>
                          </a:solidFill>
                          <a:effectLst/>
                          <a:latin typeface="Arial" charset="0"/>
                          <a:cs typeface="Arial" charset="0"/>
                        </a:rPr>
                        <a:t>43 gün</a:t>
                      </a:r>
                      <a:endParaRPr kumimoji="0" lang="tr-TR" sz="20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Rectangle 2"/>
          <p:cNvSpPr txBox="1">
            <a:spLocks noChangeArrowheads="1"/>
          </p:cNvSpPr>
          <p:nvPr/>
        </p:nvSpPr>
        <p:spPr>
          <a:xfrm>
            <a:off x="467544" y="5822652"/>
            <a:ext cx="8229600" cy="774700"/>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sz="2400" b="1" i="0" u="none" strike="noStrike" kern="1200" cap="none" spc="0" normalizeH="0" baseline="0" noProof="0">
                <a:ln>
                  <a:noFill/>
                </a:ln>
                <a:solidFill>
                  <a:schemeClr val="tx1"/>
                </a:solidFill>
                <a:effectLst/>
                <a:uLnTx/>
                <a:uFillTx/>
                <a:latin typeface="+mj-lt"/>
                <a:ea typeface="+mj-ea"/>
                <a:cs typeface="+mj-cs"/>
              </a:rPr>
              <a:t>				       </a:t>
            </a:r>
            <a:br>
              <a:rPr kumimoji="0" lang="tr-TR" sz="2400" b="1" i="0" u="none" strike="noStrike" kern="1200" cap="none" spc="0" normalizeH="0" baseline="0" noProof="0">
                <a:ln>
                  <a:noFill/>
                </a:ln>
                <a:solidFill>
                  <a:schemeClr val="tx1"/>
                </a:solidFill>
                <a:effectLst/>
                <a:uLnTx/>
                <a:uFillTx/>
                <a:latin typeface="+mj-lt"/>
                <a:ea typeface="+mj-ea"/>
                <a:cs typeface="+mj-cs"/>
              </a:rPr>
            </a:br>
            <a:r>
              <a:rPr kumimoji="0" lang="tr-TR" sz="2400" b="1" i="0" u="none" strike="noStrike" kern="1200" cap="none" spc="0" normalizeH="0" baseline="0" noProof="0">
                <a:ln>
                  <a:noFill/>
                </a:ln>
                <a:solidFill>
                  <a:schemeClr val="tx1"/>
                </a:solidFill>
                <a:effectLst/>
                <a:uLnTx/>
                <a:uFillTx/>
                <a:latin typeface="+mj-lt"/>
                <a:ea typeface="+mj-ea"/>
                <a:cs typeface="+mj-cs"/>
              </a:rPr>
              <a:t>Wal-Mart, R.Mondavi, Dow Chemical, Carnival C.</a:t>
            </a:r>
          </a:p>
        </p:txBody>
      </p:sp>
    </p:spTree>
    <p:extLst>
      <p:ext uri="{BB962C8B-B14F-4D97-AF65-F5344CB8AC3E}">
        <p14:creationId xmlns:p14="http://schemas.microsoft.com/office/powerpoint/2010/main" val="7051260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286000"/>
            <a:ext cx="8229600" cy="1143000"/>
          </a:xfrm>
        </p:spPr>
        <p:txBody>
          <a:bodyPr/>
          <a:lstStyle/>
          <a:p>
            <a:r>
              <a:rPr lang="tr-TR"/>
              <a:t>NAKİT AKIM ANALİZİ</a:t>
            </a:r>
            <a:endParaRPr lang="en-GB"/>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5"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85</a:t>
            </a:fld>
            <a:endParaRPr lang="tr-TR" sz="1200">
              <a:solidFill>
                <a:schemeClr val="tx2"/>
              </a:solidFill>
              <a:latin typeface="Verdana" pitchFamily="34" charset="0"/>
            </a:endParaRPr>
          </a:p>
        </p:txBody>
      </p:sp>
      <p:sp>
        <p:nvSpPr>
          <p:cNvPr id="6" name="Rectangle 5"/>
          <p:cNvSpPr/>
          <p:nvPr/>
        </p:nvSpPr>
        <p:spPr>
          <a:xfrm>
            <a:off x="2586621" y="188640"/>
            <a:ext cx="4361643" cy="769441"/>
          </a:xfrm>
          <a:prstGeom prst="rect">
            <a:avLst/>
          </a:prstGeom>
        </p:spPr>
        <p:txBody>
          <a:bodyPr wrap="none">
            <a:spAutoFit/>
          </a:bodyPr>
          <a:lstStyle/>
          <a:p>
            <a:r>
              <a:rPr lang="tr-TR" sz="4400" b="1">
                <a:latin typeface="+mj-lt"/>
              </a:rPr>
              <a:t>FİNANSAL ANALİZ</a:t>
            </a:r>
            <a:endParaRPr lang="en-GB" sz="4400" b="1">
              <a:latin typeface="+mj-lt"/>
            </a:endParaRPr>
          </a:p>
        </p:txBody>
      </p:sp>
    </p:spTree>
    <p:extLst>
      <p:ext uri="{BB962C8B-B14F-4D97-AF65-F5344CB8AC3E}">
        <p14:creationId xmlns:p14="http://schemas.microsoft.com/office/powerpoint/2010/main" val="300619238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6C09AB8B-7F6A-45CB-ABE2-A0996D4A0522}" type="slidenum">
              <a:rPr lang="tr-TR" sz="1200">
                <a:solidFill>
                  <a:schemeClr val="tx2"/>
                </a:solidFill>
                <a:latin typeface="Verdana" pitchFamily="34" charset="0"/>
              </a:rPr>
              <a:pPr marL="0" indent="0" eaLnBrk="1" hangingPunct="1">
                <a:buNone/>
              </a:pPr>
              <a:t>86</a:t>
            </a:fld>
            <a:endParaRPr lang="tr-TR" sz="1200">
              <a:solidFill>
                <a:schemeClr val="tx2"/>
              </a:solidFill>
              <a:latin typeface="Verdana" pitchFamily="34" charset="0"/>
            </a:endParaRPr>
          </a:p>
        </p:txBody>
      </p:sp>
      <p:sp>
        <p:nvSpPr>
          <p:cNvPr id="77827" name="Rectangle 2"/>
          <p:cNvSpPr>
            <a:spLocks noGrp="1" noChangeArrowheads="1"/>
          </p:cNvSpPr>
          <p:nvPr>
            <p:ph type="title"/>
          </p:nvPr>
        </p:nvSpPr>
        <p:spPr>
          <a:xfrm>
            <a:off x="684213" y="260350"/>
            <a:ext cx="8162925" cy="720725"/>
          </a:xfrm>
        </p:spPr>
        <p:txBody>
          <a:bodyPr/>
          <a:lstStyle/>
          <a:p>
            <a:pPr eaLnBrk="1" hangingPunct="1"/>
            <a:r>
              <a:rPr lang="tr-TR" sz="3600">
                <a:solidFill>
                  <a:srgbClr val="0C0000"/>
                </a:solidFill>
                <a:cs typeface="Times New Roman" pitchFamily="18" charset="0"/>
              </a:rPr>
              <a:t>Nakit Akım Analizi</a:t>
            </a:r>
            <a:endParaRPr lang="en-US" sz="3600">
              <a:solidFill>
                <a:srgbClr val="0C0000"/>
              </a:solidFill>
            </a:endParaRPr>
          </a:p>
        </p:txBody>
      </p:sp>
      <p:sp>
        <p:nvSpPr>
          <p:cNvPr id="77828" name="Rectangle 3"/>
          <p:cNvSpPr>
            <a:spLocks noGrp="1" noChangeArrowheads="1"/>
          </p:cNvSpPr>
          <p:nvPr>
            <p:ph type="body" idx="4294967295"/>
          </p:nvPr>
        </p:nvSpPr>
        <p:spPr>
          <a:xfrm>
            <a:off x="395288" y="1309688"/>
            <a:ext cx="8477250" cy="4887912"/>
          </a:xfrm>
          <a:prstGeom prst="rect">
            <a:avLst/>
          </a:prstGeom>
        </p:spPr>
        <p:txBody>
          <a:bodyPr/>
          <a:lstStyle/>
          <a:p>
            <a:pPr eaLnBrk="1" hangingPunct="1"/>
            <a:r>
              <a:rPr lang="tr-TR" sz="2000">
                <a:latin typeface="Verdana" pitchFamily="34" charset="0"/>
                <a:ea typeface="Verdana" pitchFamily="34" charset="0"/>
                <a:cs typeface="Verdana" pitchFamily="34" charset="0"/>
              </a:rPr>
              <a:t>Yönetimin nakit yaratan kararlar alması şirketin uzun vadede hayatta kalabilmesi için zaruridir.</a:t>
            </a:r>
            <a:endParaRPr lang="en-CA" sz="2000">
              <a:latin typeface="Verdana" pitchFamily="34" charset="0"/>
              <a:ea typeface="Verdana" pitchFamily="34" charset="0"/>
              <a:cs typeface="Verdana" pitchFamily="34" charset="0"/>
            </a:endParaRPr>
          </a:p>
          <a:p>
            <a:pPr lvl="2" eaLnBrk="1" hangingPunct="1"/>
            <a:r>
              <a:rPr lang="tr-TR" sz="1800">
                <a:latin typeface="Verdana" pitchFamily="34" charset="0"/>
                <a:ea typeface="Verdana" pitchFamily="34" charset="0"/>
                <a:cs typeface="Verdana" pitchFamily="34" charset="0"/>
              </a:rPr>
              <a:t>Tedarikçiler, bankalar ve vergi daireleri ödemeleri nakit ister. Şirketin karlı olması nakit yaratması için yeterli değildir.</a:t>
            </a:r>
          </a:p>
          <a:p>
            <a:pPr eaLnBrk="1" hangingPunct="1"/>
            <a:r>
              <a:rPr lang="tr-TR" sz="2000">
                <a:latin typeface="Verdana" pitchFamily="34" charset="0"/>
                <a:ea typeface="Verdana" pitchFamily="34" charset="0"/>
                <a:cs typeface="Verdana" pitchFamily="34" charset="0"/>
              </a:rPr>
              <a:t>Başarılı bir yönetici değer yaratırken nakit akımlarının nereden </a:t>
            </a:r>
            <a:r>
              <a:rPr lang="tr-TR" sz="2000" err="1">
                <a:latin typeface="Verdana" pitchFamily="34" charset="0"/>
                <a:ea typeface="Verdana" pitchFamily="34" charset="0"/>
                <a:cs typeface="Verdana" pitchFamily="34" charset="0"/>
              </a:rPr>
              <a:t>kaynaklandığını,nasıl</a:t>
            </a:r>
            <a:r>
              <a:rPr lang="tr-TR" sz="2000">
                <a:latin typeface="Verdana" pitchFamily="34" charset="0"/>
                <a:ea typeface="Verdana" pitchFamily="34" charset="0"/>
                <a:cs typeface="Verdana" pitchFamily="34" charset="0"/>
              </a:rPr>
              <a:t> ölçüldüğünü ve nasıl yönetileceğini bilmelidir.</a:t>
            </a:r>
            <a:endParaRPr lang="en-CA" sz="2000">
              <a:latin typeface="Verdana" pitchFamily="34" charset="0"/>
              <a:ea typeface="Verdana" pitchFamily="34" charset="0"/>
              <a:cs typeface="Verdana" pitchFamily="34" charset="0"/>
            </a:endParaRPr>
          </a:p>
          <a:p>
            <a:pPr eaLnBrk="1" hangingPunct="1"/>
            <a:r>
              <a:rPr lang="tr-TR" sz="2000">
                <a:latin typeface="Verdana" pitchFamily="34" charset="0"/>
                <a:ea typeface="Verdana" pitchFamily="34" charset="0"/>
                <a:cs typeface="Verdana" pitchFamily="34" charset="0"/>
              </a:rPr>
              <a:t>Nakit akım analizi için:</a:t>
            </a:r>
            <a:endParaRPr lang="en-US" sz="2000">
              <a:latin typeface="Verdana" pitchFamily="34" charset="0"/>
              <a:ea typeface="Verdana" pitchFamily="34" charset="0"/>
              <a:cs typeface="Verdana" pitchFamily="34" charset="0"/>
            </a:endParaRPr>
          </a:p>
          <a:p>
            <a:pPr lvl="1" eaLnBrk="1" hangingPunct="1"/>
            <a:r>
              <a:rPr lang="tr-TR" sz="1800">
                <a:latin typeface="Verdana" pitchFamily="34" charset="0"/>
                <a:ea typeface="Verdana" pitchFamily="34" charset="0"/>
                <a:cs typeface="Verdana" pitchFamily="34" charset="0"/>
              </a:rPr>
              <a:t>Senenin gelir tablosu</a:t>
            </a:r>
            <a:endParaRPr lang="en-CA" sz="1800">
              <a:latin typeface="Verdana" pitchFamily="34" charset="0"/>
              <a:ea typeface="Verdana" pitchFamily="34" charset="0"/>
              <a:cs typeface="Verdana" pitchFamily="34" charset="0"/>
            </a:endParaRPr>
          </a:p>
          <a:p>
            <a:pPr lvl="1" eaLnBrk="1" hangingPunct="1"/>
            <a:r>
              <a:rPr lang="en-CA" sz="1800">
                <a:latin typeface="Verdana" pitchFamily="34" charset="0"/>
                <a:ea typeface="Verdana" pitchFamily="34" charset="0"/>
                <a:cs typeface="Verdana" pitchFamily="34" charset="0"/>
              </a:rPr>
              <a:t>B</a:t>
            </a:r>
            <a:r>
              <a:rPr lang="tr-TR" sz="1800" err="1">
                <a:latin typeface="Verdana" pitchFamily="34" charset="0"/>
                <a:ea typeface="Verdana" pitchFamily="34" charset="0"/>
                <a:cs typeface="Verdana" pitchFamily="34" charset="0"/>
              </a:rPr>
              <a:t>ilanço</a:t>
            </a:r>
            <a:endParaRPr lang="en-CA" sz="1800">
              <a:latin typeface="Verdana" pitchFamily="34" charset="0"/>
              <a:ea typeface="Verdana" pitchFamily="34" charset="0"/>
              <a:cs typeface="Verdana" pitchFamily="34" charset="0"/>
            </a:endParaRPr>
          </a:p>
          <a:p>
            <a:pPr lvl="2" eaLnBrk="1" hangingPunct="1"/>
            <a:r>
              <a:rPr lang="tr-TR" sz="1800">
                <a:latin typeface="Verdana" pitchFamily="34" charset="0"/>
                <a:ea typeface="Verdana" pitchFamily="34" charset="0"/>
                <a:cs typeface="Verdana" pitchFamily="34" charset="0"/>
              </a:rPr>
              <a:t>Sene başı (Bir önceki yılsonu)</a:t>
            </a:r>
            <a:endParaRPr lang="en-CA" sz="1800">
              <a:latin typeface="Verdana" pitchFamily="34" charset="0"/>
              <a:ea typeface="Verdana" pitchFamily="34" charset="0"/>
              <a:cs typeface="Verdana" pitchFamily="34" charset="0"/>
            </a:endParaRPr>
          </a:p>
          <a:p>
            <a:pPr lvl="2" eaLnBrk="1" hangingPunct="1"/>
            <a:r>
              <a:rPr lang="tr-TR" sz="1800">
                <a:latin typeface="Verdana" pitchFamily="34" charset="0"/>
                <a:ea typeface="Verdana" pitchFamily="34" charset="0"/>
                <a:cs typeface="Verdana" pitchFamily="34" charset="0"/>
              </a:rPr>
              <a:t>Sene sonu</a:t>
            </a:r>
          </a:p>
          <a:p>
            <a:pPr eaLnBrk="1" hangingPunct="1"/>
            <a:r>
              <a:rPr lang="tr-TR" sz="2000">
                <a:latin typeface="Verdana" pitchFamily="34" charset="0"/>
                <a:ea typeface="Verdana" pitchFamily="34" charset="0"/>
                <a:cs typeface="Verdana" pitchFamily="34" charset="0"/>
              </a:rPr>
              <a:t>Nakit akım tablosu şirketin </a:t>
            </a:r>
            <a:r>
              <a:rPr lang="tr-TR" sz="2000">
                <a:solidFill>
                  <a:srgbClr val="0000CC"/>
                </a:solidFill>
                <a:latin typeface="Verdana" pitchFamily="34" charset="0"/>
                <a:ea typeface="Verdana" pitchFamily="34" charset="0"/>
                <a:cs typeface="Verdana" pitchFamily="34" charset="0"/>
              </a:rPr>
              <a:t>faaliyet, yatırım ve finansman kararlarının</a:t>
            </a:r>
            <a:r>
              <a:rPr lang="tr-TR" sz="2000">
                <a:latin typeface="Verdana" pitchFamily="34" charset="0"/>
                <a:ea typeface="Verdana" pitchFamily="34" charset="0"/>
                <a:cs typeface="Verdana" pitchFamily="34" charset="0"/>
              </a:rPr>
              <a:t> hangisinin nakit yarattığını, hangisinin nakit kullandığını anlatır.</a:t>
            </a:r>
            <a:endParaRPr lang="en-CA" sz="20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77163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8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78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78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78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78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782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782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782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p:tmplLst>
          <p:tmpl lvl="1">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Lst>
      </p:bldP>
      <p:bldP spid="77828" grpId="0" build="p" bldLvl="3"/>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4294967295"/>
          </p:nvPr>
        </p:nvSpPr>
        <p:spPr>
          <a:xfrm>
            <a:off x="650875" y="1412875"/>
            <a:ext cx="8458200" cy="4392613"/>
          </a:xfrm>
          <a:prstGeom prst="rect">
            <a:avLst/>
          </a:prstGeom>
        </p:spPr>
        <p:txBody>
          <a:bodyPr/>
          <a:lstStyle/>
          <a:p>
            <a:pPr>
              <a:buFont typeface="Wingdings" pitchFamily="2" charset="2"/>
              <a:buNone/>
            </a:pPr>
            <a:endParaRPr lang="tr-TR" sz="2500" b="1">
              <a:latin typeface="Arial" charset="0"/>
              <a:cs typeface="Arial" charset="0"/>
            </a:endParaRPr>
          </a:p>
          <a:p>
            <a:pPr>
              <a:buFont typeface="Wingdings" pitchFamily="2" charset="2"/>
              <a:buNone/>
            </a:pPr>
            <a:r>
              <a:rPr lang="tr-TR" sz="2500" b="1">
                <a:latin typeface="Arial" charset="0"/>
                <a:cs typeface="Arial" charset="0"/>
              </a:rPr>
              <a:t> </a:t>
            </a:r>
            <a:r>
              <a:rPr lang="tr-TR" sz="2500">
                <a:latin typeface="Arial" charset="0"/>
                <a:cs typeface="Arial" charset="0"/>
              </a:rPr>
              <a:t>= Net Satışlar – Satışların maliyeti – Faaliyet giderleri + Amortisman– Ödenen vergi – </a:t>
            </a:r>
            <a:r>
              <a:rPr lang="el-GR" sz="2500">
                <a:latin typeface="Arial" charset="0"/>
                <a:cs typeface="Arial" charset="0"/>
              </a:rPr>
              <a:t>Δ</a:t>
            </a:r>
            <a:r>
              <a:rPr lang="tr-TR" sz="2500">
                <a:latin typeface="Arial" charset="0"/>
                <a:cs typeface="Arial" charset="0"/>
              </a:rPr>
              <a:t>İşletme Sermayesi </a:t>
            </a:r>
            <a:r>
              <a:rPr lang="tr-TR" sz="2500" b="1">
                <a:latin typeface="Arial" charset="0"/>
                <a:cs typeface="Arial" charset="0"/>
              </a:rPr>
              <a:t> </a:t>
            </a:r>
          </a:p>
          <a:p>
            <a:pPr>
              <a:buFont typeface="Wingdings" pitchFamily="2" charset="2"/>
              <a:buNone/>
            </a:pPr>
            <a:endParaRPr lang="tr-TR" sz="2500">
              <a:latin typeface="Arial" charset="0"/>
              <a:cs typeface="Arial" charset="0"/>
            </a:endParaRPr>
          </a:p>
          <a:p>
            <a:pPr>
              <a:buFont typeface="Wingdings" pitchFamily="2" charset="2"/>
              <a:buNone/>
            </a:pPr>
            <a:r>
              <a:rPr lang="tr-TR" sz="2500" b="1">
                <a:latin typeface="Arial" charset="0"/>
                <a:cs typeface="Arial" charset="0"/>
              </a:rPr>
              <a:t> </a:t>
            </a:r>
            <a:r>
              <a:rPr lang="tr-TR" sz="2500">
                <a:latin typeface="Arial" charset="0"/>
                <a:cs typeface="Arial" charset="0"/>
              </a:rPr>
              <a:t>= FVÖK + Amortisman– Ödenen vergi – </a:t>
            </a:r>
            <a:r>
              <a:rPr lang="el-GR" sz="2500">
                <a:latin typeface="Arial" charset="0"/>
                <a:cs typeface="Arial" charset="0"/>
              </a:rPr>
              <a:t>Δ</a:t>
            </a:r>
            <a:r>
              <a:rPr lang="tr-TR" sz="2500">
                <a:latin typeface="Arial" charset="0"/>
                <a:cs typeface="Arial" charset="0"/>
              </a:rPr>
              <a:t>İşletme Sermayesi </a:t>
            </a:r>
            <a:r>
              <a:rPr lang="tr-TR" sz="2500" b="1">
                <a:latin typeface="Arial" charset="0"/>
                <a:cs typeface="Arial" charset="0"/>
              </a:rPr>
              <a:t> </a:t>
            </a:r>
            <a:endParaRPr lang="tr-TR" sz="2500">
              <a:latin typeface="Arial" charset="0"/>
              <a:cs typeface="Arial" charset="0"/>
            </a:endParaRPr>
          </a:p>
          <a:p>
            <a:pPr>
              <a:buFont typeface="Wingdings" pitchFamily="2" charset="2"/>
              <a:buNone/>
            </a:pPr>
            <a:r>
              <a:rPr lang="tr-TR" sz="2500">
                <a:latin typeface="Arial" charset="0"/>
                <a:cs typeface="Arial" charset="0"/>
              </a:rPr>
              <a:t> </a:t>
            </a:r>
          </a:p>
          <a:p>
            <a:pPr>
              <a:buFont typeface="Wingdings" pitchFamily="2" charset="2"/>
              <a:buNone/>
            </a:pPr>
            <a:r>
              <a:rPr lang="tr-TR" sz="2500">
                <a:latin typeface="Arial" charset="0"/>
                <a:cs typeface="Arial" charset="0"/>
              </a:rPr>
              <a:t> = FAVÖK – Ödenen vergi – </a:t>
            </a:r>
            <a:r>
              <a:rPr lang="el-GR" sz="2500">
                <a:latin typeface="Arial" charset="0"/>
                <a:cs typeface="Arial" charset="0"/>
              </a:rPr>
              <a:t>Δ</a:t>
            </a:r>
            <a:r>
              <a:rPr lang="tr-TR" sz="2500">
                <a:latin typeface="Arial" charset="0"/>
                <a:cs typeface="Arial" charset="0"/>
              </a:rPr>
              <a:t>İşletme Sermayesi </a:t>
            </a:r>
          </a:p>
          <a:p>
            <a:endParaRPr lang="en-US" sz="2500" b="1">
              <a:latin typeface="Arial" charset="0"/>
              <a:cs typeface="Arial" charset="0"/>
            </a:endParaRPr>
          </a:p>
        </p:txBody>
      </p:sp>
      <p:sp>
        <p:nvSpPr>
          <p:cNvPr id="4" name="Slide Number Placeholder 3"/>
          <p:cNvSpPr>
            <a:spLocks noGrp="1"/>
          </p:cNvSpPr>
          <p:nvPr>
            <p:ph type="sldNum" sz="quarter" idx="10"/>
          </p:nvPr>
        </p:nvSpPr>
        <p:spPr>
          <a:xfrm>
            <a:off x="8604448" y="6469288"/>
            <a:ext cx="546536" cy="377840"/>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14982DB5-0434-422A-8B74-8C46A7F1A59D}" type="slidenum">
              <a:rPr lang="en-US" sz="1200">
                <a:solidFill>
                  <a:schemeClr val="tx2"/>
                </a:solidFill>
                <a:latin typeface="Verdana" pitchFamily="34" charset="0"/>
              </a:rPr>
              <a:pPr marL="0" indent="0" eaLnBrk="1" hangingPunct="1">
                <a:buNone/>
              </a:pPr>
              <a:t>87</a:t>
            </a:fld>
            <a:endParaRPr lang="en-US" sz="1200">
              <a:solidFill>
                <a:schemeClr val="tx2"/>
              </a:solidFill>
              <a:latin typeface="Verdana" pitchFamily="34"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9" name="Rectangle 2"/>
          <p:cNvSpPr>
            <a:spLocks noGrp="1" noChangeArrowheads="1"/>
          </p:cNvSpPr>
          <p:nvPr>
            <p:ph type="title"/>
          </p:nvPr>
        </p:nvSpPr>
        <p:spPr>
          <a:xfrm>
            <a:off x="801563" y="260350"/>
            <a:ext cx="8162925" cy="720725"/>
          </a:xfrm>
        </p:spPr>
        <p:txBody>
          <a:bodyPr/>
          <a:lstStyle/>
          <a:p>
            <a:r>
              <a:rPr lang="tr-TR" sz="3600">
                <a:latin typeface="Arial" charset="0"/>
                <a:cs typeface="Arial" charset="0"/>
              </a:rPr>
              <a:t>Faaliyetlerden nakit akımı</a:t>
            </a:r>
          </a:p>
        </p:txBody>
      </p:sp>
    </p:spTree>
    <p:extLst>
      <p:ext uri="{BB962C8B-B14F-4D97-AF65-F5344CB8AC3E}">
        <p14:creationId xmlns:p14="http://schemas.microsoft.com/office/powerpoint/2010/main" val="268422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5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85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85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P spid="4" grpId="0" build="p" bldLvl="5">
        <p:tmplLst>
          <p:tmpl lvl="1">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4294967295"/>
          </p:nvPr>
        </p:nvSpPr>
        <p:spPr>
          <a:xfrm>
            <a:off x="650875" y="1412875"/>
            <a:ext cx="8458200" cy="4392613"/>
          </a:xfrm>
          <a:prstGeom prst="rect">
            <a:avLst/>
          </a:prstGeom>
        </p:spPr>
        <p:txBody>
          <a:bodyPr/>
          <a:lstStyle/>
          <a:p>
            <a:pPr lvl="2"/>
            <a:r>
              <a:rPr lang="tr-TR" altLang="tr-TR" sz="2800"/>
              <a:t>(+) Sabit kıymet satışları</a:t>
            </a:r>
          </a:p>
          <a:p>
            <a:pPr lvl="2"/>
            <a:r>
              <a:rPr lang="en-GB" altLang="tr-TR" sz="2800"/>
              <a:t>(</a:t>
            </a:r>
            <a:r>
              <a:rPr lang="tr-TR" altLang="tr-TR" sz="2800"/>
              <a:t>+)</a:t>
            </a:r>
            <a:r>
              <a:rPr lang="en-GB" altLang="tr-TR" sz="2800"/>
              <a:t> </a:t>
            </a:r>
            <a:r>
              <a:rPr lang="tr-TR" altLang="tr-TR" sz="2800"/>
              <a:t>Uzun vadeli finansal varlık satışları</a:t>
            </a:r>
          </a:p>
          <a:p>
            <a:pPr lvl="2"/>
            <a:r>
              <a:rPr lang="en-GB" altLang="tr-TR" sz="2800"/>
              <a:t>(</a:t>
            </a:r>
            <a:r>
              <a:rPr lang="tr-TR" altLang="tr-TR" sz="2800"/>
              <a:t>+</a:t>
            </a:r>
            <a:r>
              <a:rPr lang="en-GB" altLang="tr-TR" sz="2800"/>
              <a:t>) </a:t>
            </a:r>
            <a:r>
              <a:rPr lang="tr-TR" altLang="tr-TR" sz="2800"/>
              <a:t>Temettü ve faiz gelirleri</a:t>
            </a:r>
          </a:p>
          <a:p>
            <a:pPr lvl="2"/>
            <a:r>
              <a:rPr lang="en-GB" altLang="tr-TR" sz="2800"/>
              <a:t>(</a:t>
            </a:r>
            <a:r>
              <a:rPr lang="tr-TR" altLang="tr-TR" sz="2800"/>
              <a:t>-</a:t>
            </a:r>
            <a:r>
              <a:rPr lang="en-GB" altLang="tr-TR" sz="2800"/>
              <a:t>)</a:t>
            </a:r>
            <a:r>
              <a:rPr lang="tr-TR" altLang="tr-TR" sz="2800"/>
              <a:t> Sabit kıymet alımları</a:t>
            </a:r>
            <a:r>
              <a:rPr lang="en-GB" altLang="tr-TR" sz="2800"/>
              <a:t> </a:t>
            </a:r>
            <a:endParaRPr lang="tr-TR" altLang="tr-TR" sz="2800"/>
          </a:p>
          <a:p>
            <a:pPr lvl="2"/>
            <a:r>
              <a:rPr lang="en-GB" altLang="tr-TR" sz="2800"/>
              <a:t>(-) </a:t>
            </a:r>
            <a:r>
              <a:rPr lang="tr-TR" altLang="tr-TR" sz="2800"/>
              <a:t>Uzun vadeli finansal varlık alımları</a:t>
            </a:r>
          </a:p>
          <a:p>
            <a:pPr>
              <a:buFont typeface="Wingdings" pitchFamily="2" charset="2"/>
              <a:buNone/>
            </a:pPr>
            <a:endParaRPr lang="tr-TR" sz="2800" b="1">
              <a:latin typeface="Arial" charset="0"/>
              <a:cs typeface="Arial" charset="0"/>
            </a:endParaRPr>
          </a:p>
        </p:txBody>
      </p:sp>
      <p:sp>
        <p:nvSpPr>
          <p:cNvPr id="4" name="Slide Number Placeholder 3"/>
          <p:cNvSpPr>
            <a:spLocks noGrp="1"/>
          </p:cNvSpPr>
          <p:nvPr>
            <p:ph type="sldNum" sz="quarter" idx="10"/>
          </p:nvPr>
        </p:nvSpPr>
        <p:spPr>
          <a:xfrm>
            <a:off x="8604448" y="6469287"/>
            <a:ext cx="499479"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4BC7FAB0-EF63-4572-AB24-04407250DB41}" type="slidenum">
              <a:rPr lang="en-US" sz="1200">
                <a:solidFill>
                  <a:schemeClr val="tx2"/>
                </a:solidFill>
                <a:latin typeface="Verdana" pitchFamily="34" charset="0"/>
              </a:rPr>
              <a:pPr marL="0" indent="0" eaLnBrk="1" hangingPunct="1">
                <a:buNone/>
              </a:pPr>
              <a:t>88</a:t>
            </a:fld>
            <a:endParaRPr lang="en-US" sz="1200">
              <a:solidFill>
                <a:schemeClr val="tx2"/>
              </a:solidFill>
              <a:latin typeface="Verdana" pitchFamily="34"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9" name="Rectangle 2"/>
          <p:cNvSpPr>
            <a:spLocks noGrp="1" noChangeArrowheads="1"/>
          </p:cNvSpPr>
          <p:nvPr>
            <p:ph type="title"/>
          </p:nvPr>
        </p:nvSpPr>
        <p:spPr>
          <a:xfrm>
            <a:off x="539552" y="260350"/>
            <a:ext cx="8162925" cy="720725"/>
          </a:xfrm>
        </p:spPr>
        <p:txBody>
          <a:bodyPr/>
          <a:lstStyle/>
          <a:p>
            <a:r>
              <a:rPr lang="tr-TR" sz="3600">
                <a:latin typeface="Arial" charset="0"/>
                <a:cs typeface="Arial" charset="0"/>
              </a:rPr>
              <a:t>Yatırımlardan nakit akımı</a:t>
            </a:r>
          </a:p>
        </p:txBody>
      </p:sp>
    </p:spTree>
    <p:extLst>
      <p:ext uri="{BB962C8B-B14F-4D97-AF65-F5344CB8AC3E}">
        <p14:creationId xmlns:p14="http://schemas.microsoft.com/office/powerpoint/2010/main" val="383915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8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8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8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98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87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uild="p"/>
      <p:bldP spid="4" grpId="0" build="p" bldLvl="5">
        <p:tmplLst>
          <p:tmpl lvl="1">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4294967295"/>
          </p:nvPr>
        </p:nvSpPr>
        <p:spPr>
          <a:xfrm>
            <a:off x="650875" y="1412875"/>
            <a:ext cx="8458200" cy="4392613"/>
          </a:xfrm>
          <a:prstGeom prst="rect">
            <a:avLst/>
          </a:prstGeom>
        </p:spPr>
        <p:txBody>
          <a:bodyPr/>
          <a:lstStyle/>
          <a:p>
            <a:pPr>
              <a:lnSpc>
                <a:spcPct val="150000"/>
              </a:lnSpc>
            </a:pPr>
            <a:r>
              <a:rPr lang="tr-TR" sz="2500">
                <a:latin typeface="Arial" charset="0"/>
                <a:cs typeface="Arial" charset="0"/>
              </a:rPr>
              <a:t>+ kısa/uzun vadeli yeni borç (bono ihracı)</a:t>
            </a:r>
          </a:p>
          <a:p>
            <a:pPr>
              <a:lnSpc>
                <a:spcPct val="150000"/>
              </a:lnSpc>
            </a:pPr>
            <a:r>
              <a:rPr lang="tr-TR" sz="2500">
                <a:latin typeface="Arial" charset="0"/>
                <a:cs typeface="Arial" charset="0"/>
              </a:rPr>
              <a:t>– ödenen kısa/uzun vadeli eski borç (bono itfası) </a:t>
            </a:r>
          </a:p>
          <a:p>
            <a:pPr>
              <a:lnSpc>
                <a:spcPct val="150000"/>
              </a:lnSpc>
            </a:pPr>
            <a:r>
              <a:rPr lang="tr-TR" sz="2500">
                <a:latin typeface="Arial" charset="0"/>
                <a:cs typeface="Arial" charset="0"/>
              </a:rPr>
              <a:t>– faiz ödemeleri </a:t>
            </a:r>
          </a:p>
          <a:p>
            <a:pPr>
              <a:lnSpc>
                <a:spcPct val="150000"/>
              </a:lnSpc>
            </a:pPr>
            <a:r>
              <a:rPr lang="tr-TR" sz="2500">
                <a:latin typeface="Arial" charset="0"/>
                <a:cs typeface="Arial" charset="0"/>
              </a:rPr>
              <a:t>– temettü ödemeleri </a:t>
            </a:r>
          </a:p>
          <a:p>
            <a:pPr>
              <a:lnSpc>
                <a:spcPct val="150000"/>
              </a:lnSpc>
            </a:pPr>
            <a:r>
              <a:rPr lang="tr-TR" sz="2500">
                <a:latin typeface="Arial" charset="0"/>
                <a:cs typeface="Arial" charset="0"/>
              </a:rPr>
              <a:t>+ nakit sermaye artırımı</a:t>
            </a:r>
          </a:p>
          <a:p>
            <a:pPr>
              <a:lnSpc>
                <a:spcPct val="150000"/>
              </a:lnSpc>
            </a:pPr>
            <a:r>
              <a:rPr lang="tr-TR" sz="2500">
                <a:latin typeface="Arial" charset="0"/>
                <a:cs typeface="Arial" charset="0"/>
              </a:rPr>
              <a:t>– hisse alımı</a:t>
            </a:r>
            <a:endParaRPr lang="tr-TR" sz="2500" b="1">
              <a:latin typeface="Arial" charset="0"/>
              <a:cs typeface="Arial" charset="0"/>
            </a:endParaRPr>
          </a:p>
          <a:p>
            <a:pPr>
              <a:buFont typeface="Wingdings" pitchFamily="2" charset="2"/>
              <a:buNone/>
            </a:pPr>
            <a:endParaRPr lang="tr-TR" sz="2500" b="1">
              <a:latin typeface="Arial" charset="0"/>
              <a:cs typeface="Arial" charset="0"/>
            </a:endParaRPr>
          </a:p>
        </p:txBody>
      </p:sp>
      <p:sp>
        <p:nvSpPr>
          <p:cNvPr id="4" name="Slide Number Placeholder 3"/>
          <p:cNvSpPr>
            <a:spLocks noGrp="1"/>
          </p:cNvSpPr>
          <p:nvPr>
            <p:ph type="sldNum" sz="quarter" idx="10"/>
          </p:nvPr>
        </p:nvSpPr>
        <p:spPr>
          <a:xfrm>
            <a:off x="8604448" y="6469287"/>
            <a:ext cx="499479"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4BC7FAB0-EF63-4572-AB24-04407250DB41}" type="slidenum">
              <a:rPr lang="en-US" sz="1200">
                <a:solidFill>
                  <a:schemeClr val="tx2"/>
                </a:solidFill>
                <a:latin typeface="Verdana" pitchFamily="34" charset="0"/>
              </a:rPr>
              <a:pPr marL="0" indent="0" eaLnBrk="1" hangingPunct="1">
                <a:buNone/>
              </a:pPr>
              <a:t>89</a:t>
            </a:fld>
            <a:endParaRPr lang="en-US" sz="1200">
              <a:solidFill>
                <a:schemeClr val="tx2"/>
              </a:solidFill>
              <a:latin typeface="Verdana" pitchFamily="34"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9" name="Rectangle 2"/>
          <p:cNvSpPr>
            <a:spLocks noGrp="1" noChangeArrowheads="1"/>
          </p:cNvSpPr>
          <p:nvPr>
            <p:ph type="title"/>
          </p:nvPr>
        </p:nvSpPr>
        <p:spPr>
          <a:xfrm>
            <a:off x="1017587" y="260350"/>
            <a:ext cx="8162925" cy="720725"/>
          </a:xfrm>
        </p:spPr>
        <p:txBody>
          <a:bodyPr/>
          <a:lstStyle/>
          <a:p>
            <a:r>
              <a:rPr lang="tr-TR" sz="3600">
                <a:latin typeface="Arial" charset="0"/>
                <a:cs typeface="Arial" charset="0"/>
              </a:rPr>
              <a:t>Finansman faaliyetlerinden nakit akımı</a:t>
            </a:r>
          </a:p>
        </p:txBody>
      </p:sp>
    </p:spTree>
    <p:extLst>
      <p:ext uri="{BB962C8B-B14F-4D97-AF65-F5344CB8AC3E}">
        <p14:creationId xmlns:p14="http://schemas.microsoft.com/office/powerpoint/2010/main" val="248333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8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8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8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98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8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987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uild="p"/>
      <p:bldP spid="4" grpId="0" build="p" bldLvl="5">
        <p:tmplLst>
          <p:tmpl lvl="1">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childTnLst>
                </p:cTn>
              </p:par>
            </p:tnLst>
          </p:tmpl>
        </p:tmplLst>
      </p:b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tr-TR" sz="3600"/>
              <a:t>Pide A.Ş. Nakit Akım Tablosu</a:t>
            </a:r>
          </a:p>
        </p:txBody>
      </p:sp>
      <p:sp>
        <p:nvSpPr>
          <p:cNvPr id="80899" name="Content Placeholder 2"/>
          <p:cNvSpPr>
            <a:spLocks noGrp="1"/>
          </p:cNvSpPr>
          <p:nvPr>
            <p:ph idx="4294967295"/>
          </p:nvPr>
        </p:nvSpPr>
        <p:spPr>
          <a:xfrm>
            <a:off x="457200" y="1268413"/>
            <a:ext cx="8229600" cy="4862512"/>
          </a:xfrm>
          <a:prstGeom prst="rect">
            <a:avLst/>
          </a:prstGeom>
        </p:spPr>
        <p:txBody>
          <a:bodyPr/>
          <a:lstStyle/>
          <a:p>
            <a:r>
              <a:rPr lang="tr-TR" sz="2400">
                <a:latin typeface="Verdana" pitchFamily="34" charset="0"/>
                <a:ea typeface="Verdana" pitchFamily="34" charset="0"/>
                <a:cs typeface="Verdana" pitchFamily="34" charset="0"/>
              </a:rPr>
              <a:t>İlave bilgiler:</a:t>
            </a:r>
          </a:p>
          <a:p>
            <a:r>
              <a:rPr lang="tr-TR" sz="2400">
                <a:latin typeface="Verdana" pitchFamily="34" charset="0"/>
                <a:ea typeface="Verdana" pitchFamily="34" charset="0"/>
                <a:cs typeface="Verdana" pitchFamily="34" charset="0"/>
              </a:rPr>
              <a:t>Şirket 2011’de varlık alım ya da satımı yapmamıştır. Ancak 2012’de TL12mn bedelle bir depo yaptırmıştır. Bu yatırım uzun vadeli banka kredisi ile finanse edilmiştir. Şirket ayrıca 2012’de maliyeti 9 milyon TL olan bir varlığını defter değeri olan 2 milyon TL’ye satmıştır.</a:t>
            </a:r>
          </a:p>
          <a:p>
            <a:r>
              <a:rPr lang="tr-TR" sz="2400">
                <a:latin typeface="Verdana" pitchFamily="34" charset="0"/>
                <a:ea typeface="Verdana" pitchFamily="34" charset="0"/>
                <a:cs typeface="Verdana" pitchFamily="34" charset="0"/>
              </a:rPr>
              <a:t>Şirket her sene uzun vadeli borcundan 8 milyon TL ödeme yapmaktadır.</a:t>
            </a:r>
          </a:p>
          <a:p>
            <a:r>
              <a:rPr lang="tr-TR" sz="2400">
                <a:latin typeface="Verdana" pitchFamily="34" charset="0"/>
                <a:ea typeface="Verdana" pitchFamily="34" charset="0"/>
                <a:cs typeface="Verdana" pitchFamily="34" charset="0"/>
              </a:rPr>
              <a:t>2011’de yeni uzun vadeli borç alınmamıştır.</a:t>
            </a:r>
          </a:p>
          <a:p>
            <a:r>
              <a:rPr lang="tr-TR" sz="2400">
                <a:latin typeface="Verdana" pitchFamily="34" charset="0"/>
                <a:ea typeface="Verdana" pitchFamily="34" charset="0"/>
                <a:cs typeface="Verdana" pitchFamily="34" charset="0"/>
              </a:rPr>
              <a:t>Şirket hisse alım ya da satımı yapmamıştır.</a:t>
            </a:r>
          </a:p>
          <a:p>
            <a:endParaRPr lang="tr-TR" sz="2400">
              <a:latin typeface="Verdana" pitchFamily="34" charset="0"/>
              <a:ea typeface="Verdana" pitchFamily="34" charset="0"/>
              <a:cs typeface="Verdana" pitchFamily="34" charset="0"/>
            </a:endParaRPr>
          </a:p>
        </p:txBody>
      </p:sp>
      <p:sp>
        <p:nvSpPr>
          <p:cNvPr id="5" name="Slide Number Placeholder 4"/>
          <p:cNvSpPr>
            <a:spLocks noGrp="1"/>
          </p:cNvSpPr>
          <p:nvPr>
            <p:ph type="sldNum" sz="quarter" idx="10"/>
          </p:nvPr>
        </p:nvSpPr>
        <p:spPr>
          <a:xfrm>
            <a:off x="8604448" y="6469287"/>
            <a:ext cx="480302" cy="372501"/>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79DBAC71-A03E-4251-870F-4BE73296DFBC}" type="slidenum">
              <a:rPr lang="tr-TR" sz="1200">
                <a:solidFill>
                  <a:schemeClr val="tx2"/>
                </a:solidFill>
                <a:latin typeface="Verdana" pitchFamily="34" charset="0"/>
              </a:rPr>
              <a:pPr marL="0" indent="0" eaLnBrk="1" hangingPunct="1">
                <a:buNone/>
              </a:pPr>
              <a:t>90</a:t>
            </a:fld>
            <a:endParaRPr lang="tr-TR" sz="1200">
              <a:solidFill>
                <a:schemeClr val="tx2"/>
              </a:solidFill>
              <a:latin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7" name="TextBox 6"/>
          <p:cNvSpPr txBox="1"/>
          <p:nvPr/>
        </p:nvSpPr>
        <p:spPr>
          <a:xfrm>
            <a:off x="1043608" y="6093296"/>
            <a:ext cx="5036379" cy="369332"/>
          </a:xfrm>
          <a:prstGeom prst="rect">
            <a:avLst/>
          </a:prstGeom>
          <a:noFill/>
        </p:spPr>
        <p:txBody>
          <a:bodyPr wrap="none" rtlCol="0">
            <a:spAutoFit/>
          </a:bodyPr>
          <a:lstStyle/>
          <a:p>
            <a:r>
              <a:rPr lang="tr-TR" b="1"/>
              <a:t>Pide. A.Ş. nakit akım tablosu hazırlayınız…</a:t>
            </a:r>
            <a:endParaRPr lang="en-GB" b="1"/>
          </a:p>
        </p:txBody>
      </p:sp>
    </p:spTree>
    <p:extLst>
      <p:ext uri="{BB962C8B-B14F-4D97-AF65-F5344CB8AC3E}">
        <p14:creationId xmlns:p14="http://schemas.microsoft.com/office/powerpoint/2010/main" val="296841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10" dur="1000" fill="hold"/>
                                        <p:tgtEl>
                                          <p:spTgt spid="7"/>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p:tmplLst>
          <p:tmpl lvl="1">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Lst>
      </p:bldP>
      <p:bldP spid="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91</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899592" y="277813"/>
            <a:ext cx="8229600" cy="774700"/>
          </a:xfrm>
        </p:spPr>
        <p:txBody>
          <a:bodyPr/>
          <a:lstStyle/>
          <a:p>
            <a:r>
              <a:rPr lang="tr-TR" sz="3600"/>
              <a:t>Örnek – Pide A.Ş.  - Bilanço   </a:t>
            </a:r>
            <a:r>
              <a:rPr lang="tr-TR" sz="2800"/>
              <a:t>(Milyon TL)</a:t>
            </a:r>
          </a:p>
        </p:txBody>
      </p:sp>
      <p:graphicFrame>
        <p:nvGraphicFramePr>
          <p:cNvPr id="7" name="Group 123"/>
          <p:cNvGraphicFramePr>
            <a:graphicFrameLocks/>
          </p:cNvGraphicFramePr>
          <p:nvPr/>
        </p:nvGraphicFramePr>
        <p:xfrm>
          <a:off x="179513" y="1196752"/>
          <a:ext cx="8784974" cy="4915540"/>
        </p:xfrm>
        <a:graphic>
          <a:graphicData uri="http://schemas.openxmlformats.org/drawingml/2006/table">
            <a:tbl>
              <a:tblPr/>
              <a:tblGrid>
                <a:gridCol w="2479249">
                  <a:extLst>
                    <a:ext uri="{9D8B030D-6E8A-4147-A177-3AD203B41FA5}">
                      <a16:colId xmlns:a16="http://schemas.microsoft.com/office/drawing/2014/main" val="20000"/>
                    </a:ext>
                  </a:extLst>
                </a:gridCol>
                <a:gridCol w="684632">
                  <a:extLst>
                    <a:ext uri="{9D8B030D-6E8A-4147-A177-3AD203B41FA5}">
                      <a16:colId xmlns:a16="http://schemas.microsoft.com/office/drawing/2014/main" val="20001"/>
                    </a:ext>
                  </a:extLst>
                </a:gridCol>
                <a:gridCol w="686325">
                  <a:extLst>
                    <a:ext uri="{9D8B030D-6E8A-4147-A177-3AD203B41FA5}">
                      <a16:colId xmlns:a16="http://schemas.microsoft.com/office/drawing/2014/main" val="20002"/>
                    </a:ext>
                  </a:extLst>
                </a:gridCol>
                <a:gridCol w="686326">
                  <a:extLst>
                    <a:ext uri="{9D8B030D-6E8A-4147-A177-3AD203B41FA5}">
                      <a16:colId xmlns:a16="http://schemas.microsoft.com/office/drawing/2014/main" val="20003"/>
                    </a:ext>
                  </a:extLst>
                </a:gridCol>
                <a:gridCol w="2189466">
                  <a:extLst>
                    <a:ext uri="{9D8B030D-6E8A-4147-A177-3AD203B41FA5}">
                      <a16:colId xmlns:a16="http://schemas.microsoft.com/office/drawing/2014/main" val="20004"/>
                    </a:ext>
                  </a:extLst>
                </a:gridCol>
                <a:gridCol w="686325">
                  <a:extLst>
                    <a:ext uri="{9D8B030D-6E8A-4147-A177-3AD203B41FA5}">
                      <a16:colId xmlns:a16="http://schemas.microsoft.com/office/drawing/2014/main" val="20005"/>
                    </a:ext>
                  </a:extLst>
                </a:gridCol>
                <a:gridCol w="686326">
                  <a:extLst>
                    <a:ext uri="{9D8B030D-6E8A-4147-A177-3AD203B41FA5}">
                      <a16:colId xmlns:a16="http://schemas.microsoft.com/office/drawing/2014/main" val="20006"/>
                    </a:ext>
                  </a:extLst>
                </a:gridCol>
                <a:gridCol w="686325">
                  <a:extLst>
                    <a:ext uri="{9D8B030D-6E8A-4147-A177-3AD203B41FA5}">
                      <a16:colId xmlns:a16="http://schemas.microsoft.com/office/drawing/2014/main" val="20007"/>
                    </a:ext>
                  </a:extLst>
                </a:gridCol>
              </a:tblGrid>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Aktifler</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2010</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2011</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2012</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Pasifler</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2010</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2011</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2012</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Kasa</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6</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12</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8</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K</a:t>
                      </a:r>
                      <a:r>
                        <a:rPr kumimoji="0" lang="tr-TR" sz="1400" b="1" i="0" u="none" strike="noStrike" cap="none" normalizeH="0" baseline="0">
                          <a:ln>
                            <a:noFill/>
                          </a:ln>
                          <a:solidFill>
                            <a:schemeClr val="tx1"/>
                          </a:solidFill>
                          <a:effectLst/>
                          <a:latin typeface="Verdana" pitchFamily="34" charset="0"/>
                        </a:rPr>
                        <a:t>ı</a:t>
                      </a:r>
                      <a:r>
                        <a:rPr kumimoji="0" lang="tr-TR" sz="1400" b="1" i="0" u="none" strike="noStrike" cap="none" normalizeH="0" baseline="0">
                          <a:ln>
                            <a:noFill/>
                          </a:ln>
                          <a:solidFill>
                            <a:schemeClr val="tx1"/>
                          </a:solidFill>
                          <a:effectLst/>
                          <a:latin typeface="Verdana" pitchFamily="34" charset="0"/>
                          <a:cs typeface="Times New Roman" pitchFamily="18" charset="0"/>
                        </a:rPr>
                        <a:t>sa Vadeli Borçlar</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15</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22</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23</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Ticari alacaklar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44</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48</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56</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    Banka kredileri</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7</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14</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15</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Stoklar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52</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57</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72</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    U.</a:t>
                      </a:r>
                      <a:r>
                        <a:rPr kumimoji="0" lang="tr-TR" sz="1400" b="0" i="0" u="none" strike="noStrike" cap="none" normalizeH="0" baseline="0">
                          <a:ln>
                            <a:noFill/>
                          </a:ln>
                          <a:solidFill>
                            <a:schemeClr val="tx1"/>
                          </a:solidFill>
                          <a:effectLst/>
                          <a:latin typeface="Verdana" pitchFamily="34" charset="0"/>
                        </a:rPr>
                        <a:t>V</a:t>
                      </a:r>
                      <a:r>
                        <a:rPr kumimoji="0" lang="tr-TR" sz="1400" b="0" i="0" u="none" strike="noStrike" cap="none" normalizeH="0" baseline="0">
                          <a:ln>
                            <a:noFill/>
                          </a:ln>
                          <a:solidFill>
                            <a:schemeClr val="tx1"/>
                          </a:solidFill>
                          <a:effectLst/>
                          <a:latin typeface="Verdana" pitchFamily="34" charset="0"/>
                          <a:cs typeface="Times New Roman" pitchFamily="18" charset="0"/>
                        </a:rPr>
                        <a:t>. kredi taksitleri</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8</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8</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8</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05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Pe</a:t>
                      </a:r>
                      <a:r>
                        <a:rPr kumimoji="0" lang="tr-TR" sz="1400" b="0" i="0" u="none" strike="noStrike" cap="none" normalizeH="0" baseline="0">
                          <a:ln>
                            <a:noFill/>
                          </a:ln>
                          <a:solidFill>
                            <a:schemeClr val="tx1"/>
                          </a:solidFill>
                          <a:effectLst/>
                          <a:latin typeface="Verdana" pitchFamily="34" charset="0"/>
                        </a:rPr>
                        <a:t>ş</a:t>
                      </a:r>
                      <a:r>
                        <a:rPr kumimoji="0" lang="tr-TR" sz="1400" b="0" i="0" u="none" strike="noStrike" cap="none" normalizeH="0" baseline="0">
                          <a:ln>
                            <a:noFill/>
                          </a:ln>
                          <a:solidFill>
                            <a:schemeClr val="tx1"/>
                          </a:solidFill>
                          <a:effectLst/>
                          <a:latin typeface="Verdana" pitchFamily="34" charset="0"/>
                          <a:cs typeface="Times New Roman" pitchFamily="18" charset="0"/>
                        </a:rPr>
                        <a:t>in ödenen giderler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2</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2</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1</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Sat</a:t>
                      </a:r>
                      <a:r>
                        <a:rPr kumimoji="0" lang="tr-TR" sz="1400" b="0" i="0" u="none" strike="noStrike" cap="none" normalizeH="0" baseline="0">
                          <a:ln>
                            <a:noFill/>
                          </a:ln>
                          <a:solidFill>
                            <a:schemeClr val="tx1"/>
                          </a:solidFill>
                          <a:effectLst/>
                          <a:latin typeface="Verdana" pitchFamily="34" charset="0"/>
                        </a:rPr>
                        <a:t>ı</a:t>
                      </a:r>
                      <a:r>
                        <a:rPr kumimoji="0" lang="tr-TR" sz="1400" b="0" i="0" u="none" strike="noStrike" cap="none" normalizeH="0" baseline="0">
                          <a:ln>
                            <a:noFill/>
                          </a:ln>
                          <a:solidFill>
                            <a:schemeClr val="tx1"/>
                          </a:solidFill>
                          <a:effectLst/>
                          <a:latin typeface="Verdana" pitchFamily="34" charset="0"/>
                          <a:cs typeface="Times New Roman" pitchFamily="18" charset="0"/>
                        </a:rPr>
                        <a:t>c</a:t>
                      </a:r>
                      <a:r>
                        <a:rPr kumimoji="0" lang="tr-TR" sz="1400" b="0" i="0" u="none" strike="noStrike" cap="none" normalizeH="0" baseline="0">
                          <a:ln>
                            <a:noFill/>
                          </a:ln>
                          <a:solidFill>
                            <a:schemeClr val="tx1"/>
                          </a:solidFill>
                          <a:effectLst/>
                          <a:latin typeface="Verdana" pitchFamily="34" charset="0"/>
                        </a:rPr>
                        <a:t>ı</a:t>
                      </a:r>
                      <a:r>
                        <a:rPr kumimoji="0" lang="tr-TR" sz="1400" b="0" i="0" u="none" strike="noStrike" cap="none" normalizeH="0" baseline="0">
                          <a:ln>
                            <a:noFill/>
                          </a:ln>
                          <a:solidFill>
                            <a:schemeClr val="tx1"/>
                          </a:solidFill>
                          <a:effectLst/>
                          <a:latin typeface="Verdana" pitchFamily="34" charset="0"/>
                          <a:cs typeface="Times New Roman" pitchFamily="18" charset="0"/>
                        </a:rPr>
                        <a:t>lar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37</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48</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Dönen varl</a:t>
                      </a:r>
                      <a:r>
                        <a:rPr kumimoji="0" lang="tr-TR" sz="1400" b="1" i="0" u="none" strike="noStrike" cap="none" normalizeH="0" baseline="0">
                          <a:ln>
                            <a:noFill/>
                          </a:ln>
                          <a:solidFill>
                            <a:srgbClr val="0000FF"/>
                          </a:solidFill>
                          <a:effectLst/>
                          <a:latin typeface="Verdana" pitchFamily="34" charset="0"/>
                        </a:rPr>
                        <a:t>ı</a:t>
                      </a:r>
                      <a:r>
                        <a:rPr kumimoji="0" lang="tr-TR" sz="1400" b="1" i="0" u="none" strike="noStrike" cap="none" normalizeH="0" baseline="0">
                          <a:ln>
                            <a:noFill/>
                          </a:ln>
                          <a:solidFill>
                            <a:srgbClr val="0000FF"/>
                          </a:solidFill>
                          <a:effectLst/>
                          <a:latin typeface="Verdana" pitchFamily="34" charset="0"/>
                          <a:cs typeface="Times New Roman" pitchFamily="18" charset="0"/>
                        </a:rPr>
                        <a:t>klar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104</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119</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137</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Maa</a:t>
                      </a:r>
                      <a:r>
                        <a:rPr kumimoji="0" lang="tr-TR" sz="1400" b="0" i="0" u="none" strike="noStrike" cap="none" normalizeH="0" baseline="0">
                          <a:ln>
                            <a:noFill/>
                          </a:ln>
                          <a:solidFill>
                            <a:schemeClr val="tx1"/>
                          </a:solidFill>
                          <a:effectLst/>
                          <a:latin typeface="Verdana" pitchFamily="34" charset="0"/>
                        </a:rPr>
                        <a:t>ş</a:t>
                      </a:r>
                      <a:r>
                        <a:rPr kumimoji="0" lang="tr-TR" sz="1400" b="0" i="0" u="none" strike="noStrike" cap="none" normalizeH="0" baseline="0">
                          <a:ln>
                            <a:noFill/>
                          </a:ln>
                          <a:solidFill>
                            <a:schemeClr val="tx1"/>
                          </a:solidFill>
                          <a:effectLst/>
                          <a:latin typeface="Verdana" pitchFamily="34" charset="0"/>
                          <a:cs typeface="Times New Roman" pitchFamily="18" charset="0"/>
                        </a:rPr>
                        <a:t> ve vergi borçlar</a:t>
                      </a:r>
                      <a:r>
                        <a:rPr kumimoji="0" lang="tr-TR" sz="1400" b="0" i="0" u="none" strike="noStrike" cap="none" normalizeH="0" baseline="0">
                          <a:ln>
                            <a:noFill/>
                          </a:ln>
                          <a:solidFill>
                            <a:schemeClr val="tx1"/>
                          </a:solidFill>
                          <a:effectLst/>
                          <a:latin typeface="Verdana" pitchFamily="34" charset="0"/>
                        </a:rPr>
                        <a:t>ı</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2</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Finansal varl</a:t>
                      </a:r>
                      <a:r>
                        <a:rPr kumimoji="0" lang="tr-TR" sz="1400" b="0" i="0" u="none" strike="noStrike" cap="none" normalizeH="0" baseline="0">
                          <a:ln>
                            <a:noFill/>
                          </a:ln>
                          <a:solidFill>
                            <a:schemeClr val="tx1"/>
                          </a:solidFill>
                          <a:effectLst/>
                          <a:latin typeface="Verdana" pitchFamily="34" charset="0"/>
                        </a:rPr>
                        <a:t>ı</a:t>
                      </a:r>
                      <a:r>
                        <a:rPr kumimoji="0" lang="tr-TR" sz="1400" b="0" i="0" u="none" strike="noStrike" cap="none" normalizeH="0" baseline="0">
                          <a:ln>
                            <a:noFill/>
                          </a:ln>
                          <a:solidFill>
                            <a:schemeClr val="tx1"/>
                          </a:solidFill>
                          <a:effectLst/>
                          <a:latin typeface="Verdana" pitchFamily="34" charset="0"/>
                          <a:cs typeface="Times New Roman" pitchFamily="18" charset="0"/>
                        </a:rPr>
                        <a:t>klar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Toplam K.V. Borçlar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54</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66</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75</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Net maddi duran varl</a:t>
                      </a:r>
                      <a:r>
                        <a:rPr kumimoji="0" lang="tr-TR" sz="1400" b="1" i="0" u="none" strike="noStrike" cap="none" normalizeH="0" baseline="0">
                          <a:ln>
                            <a:noFill/>
                          </a:ln>
                          <a:solidFill>
                            <a:schemeClr val="tx1"/>
                          </a:solidFill>
                          <a:effectLst/>
                          <a:latin typeface="Verdana" pitchFamily="34" charset="0"/>
                        </a:rPr>
                        <a:t>ı</a:t>
                      </a:r>
                      <a:r>
                        <a:rPr kumimoji="0" lang="tr-TR" sz="1400" b="1" i="0" u="none" strike="noStrike" cap="none" normalizeH="0" baseline="0">
                          <a:ln>
                            <a:noFill/>
                          </a:ln>
                          <a:solidFill>
                            <a:schemeClr val="tx1"/>
                          </a:solidFill>
                          <a:effectLst/>
                          <a:latin typeface="Verdana" pitchFamily="34" charset="0"/>
                          <a:cs typeface="Times New Roman" pitchFamily="18" charset="0"/>
                        </a:rPr>
                        <a:t>klar</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56</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51</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53</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Uzun vadeli banka kredileri</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42</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34</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38</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      Brüt maddi duran v.</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90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90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93</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Toplam U.V. Borçlar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42</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34</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38</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      Birikmi</a:t>
                      </a:r>
                      <a:r>
                        <a:rPr kumimoji="0" lang="tr-TR" sz="1400" b="0" i="0" u="none" strike="noStrike" cap="none" normalizeH="0" baseline="0">
                          <a:ln>
                            <a:noFill/>
                          </a:ln>
                          <a:solidFill>
                            <a:schemeClr val="tx1"/>
                          </a:solidFill>
                          <a:effectLst/>
                          <a:latin typeface="Verdana" pitchFamily="34" charset="0"/>
                        </a:rPr>
                        <a:t>ş</a:t>
                      </a:r>
                      <a:r>
                        <a:rPr kumimoji="0" lang="tr-TR" sz="1400" b="0" i="0" u="none" strike="noStrike" cap="none" normalizeH="0" baseline="0">
                          <a:ln>
                            <a:noFill/>
                          </a:ln>
                          <a:solidFill>
                            <a:schemeClr val="tx1"/>
                          </a:solidFill>
                          <a:effectLst/>
                          <a:latin typeface="Verdana" pitchFamily="34" charset="0"/>
                          <a:cs typeface="Times New Roman" pitchFamily="18" charset="0"/>
                        </a:rPr>
                        <a:t> amortisman</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(34)</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(39)</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Özsermaye</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64</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70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77</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778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Duran varl</a:t>
                      </a:r>
                      <a:r>
                        <a:rPr kumimoji="0" lang="tr-TR" sz="1400" b="1" i="0" u="none" strike="noStrike" cap="none" normalizeH="0" baseline="0">
                          <a:ln>
                            <a:noFill/>
                          </a:ln>
                          <a:solidFill>
                            <a:srgbClr val="0000FF"/>
                          </a:solidFill>
                          <a:effectLst/>
                          <a:latin typeface="Verdana" pitchFamily="34" charset="0"/>
                        </a:rPr>
                        <a:t>ı</a:t>
                      </a:r>
                      <a:r>
                        <a:rPr kumimoji="0" lang="tr-TR" sz="1400" b="1" i="0" u="none" strike="noStrike" cap="none" normalizeH="0" baseline="0">
                          <a:ln>
                            <a:noFill/>
                          </a:ln>
                          <a:solidFill>
                            <a:srgbClr val="0000FF"/>
                          </a:solidFill>
                          <a:effectLst/>
                          <a:latin typeface="Verdana" pitchFamily="34" charset="0"/>
                          <a:cs typeface="Times New Roman" pitchFamily="18" charset="0"/>
                        </a:rPr>
                        <a:t>klar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56</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51</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FF"/>
                          </a:solidFill>
                          <a:effectLst/>
                          <a:latin typeface="Verdana" pitchFamily="34" charset="0"/>
                          <a:cs typeface="Times New Roman" pitchFamily="18" charset="0"/>
                        </a:rPr>
                        <a:t>53</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921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Toplam aktifler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160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170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190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Toplam pasifler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160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170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190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1013514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92</a:t>
            </a:fld>
            <a:endParaRPr lang="tr-TR" sz="1200">
              <a:solidFill>
                <a:schemeClr val="tx2"/>
              </a:solidFill>
              <a:latin typeface="Verdana" pitchFamily="34" charset="0"/>
            </a:endParaRPr>
          </a:p>
        </p:txBody>
      </p:sp>
      <p:sp>
        <p:nvSpPr>
          <p:cNvPr id="6" name="Rectangle 2"/>
          <p:cNvSpPr>
            <a:spLocks noGrp="1" noChangeArrowheads="1"/>
          </p:cNvSpPr>
          <p:nvPr>
            <p:ph type="title"/>
          </p:nvPr>
        </p:nvSpPr>
        <p:spPr>
          <a:xfrm>
            <a:off x="457200" y="277813"/>
            <a:ext cx="8229600" cy="774700"/>
          </a:xfrm>
        </p:spPr>
        <p:txBody>
          <a:bodyPr/>
          <a:lstStyle/>
          <a:p>
            <a:r>
              <a:rPr lang="tr-TR" sz="3600"/>
              <a:t>Pide A.Ş.  - Gelir Tablosu  </a:t>
            </a:r>
            <a:r>
              <a:rPr lang="tr-TR" sz="2800"/>
              <a:t>(Milyon TL)</a:t>
            </a:r>
          </a:p>
        </p:txBody>
      </p:sp>
      <p:graphicFrame>
        <p:nvGraphicFramePr>
          <p:cNvPr id="8" name="Group 86"/>
          <p:cNvGraphicFramePr>
            <a:graphicFrameLocks/>
          </p:cNvGraphicFramePr>
          <p:nvPr/>
        </p:nvGraphicFramePr>
        <p:xfrm>
          <a:off x="1403648" y="1484313"/>
          <a:ext cx="6120910" cy="4693920"/>
        </p:xfrm>
        <a:graphic>
          <a:graphicData uri="http://schemas.openxmlformats.org/drawingml/2006/table">
            <a:tbl>
              <a:tblPr/>
              <a:tblGrid>
                <a:gridCol w="3004038">
                  <a:extLst>
                    <a:ext uri="{9D8B030D-6E8A-4147-A177-3AD203B41FA5}">
                      <a16:colId xmlns:a16="http://schemas.microsoft.com/office/drawing/2014/main" val="20000"/>
                    </a:ext>
                  </a:extLst>
                </a:gridCol>
                <a:gridCol w="1038957">
                  <a:extLst>
                    <a:ext uri="{9D8B030D-6E8A-4147-A177-3AD203B41FA5}">
                      <a16:colId xmlns:a16="http://schemas.microsoft.com/office/drawing/2014/main" val="20001"/>
                    </a:ext>
                  </a:extLst>
                </a:gridCol>
                <a:gridCol w="1038958">
                  <a:extLst>
                    <a:ext uri="{9D8B030D-6E8A-4147-A177-3AD203B41FA5}">
                      <a16:colId xmlns:a16="http://schemas.microsoft.com/office/drawing/2014/main" val="20002"/>
                    </a:ext>
                  </a:extLst>
                </a:gridCol>
                <a:gridCol w="1038957">
                  <a:extLst>
                    <a:ext uri="{9D8B030D-6E8A-4147-A177-3AD203B41FA5}">
                      <a16:colId xmlns:a16="http://schemas.microsoft.com/office/drawing/2014/main" val="20003"/>
                    </a:ext>
                  </a:extLst>
                </a:gridCol>
              </a:tblGrid>
              <a:tr h="355600">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2010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2011</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2012</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Net sat</a:t>
                      </a:r>
                      <a:r>
                        <a:rPr kumimoji="0" lang="tr-TR" sz="1400" b="0" i="0" u="none" strike="noStrike" cap="none" normalizeH="0" baseline="0">
                          <a:ln>
                            <a:noFill/>
                          </a:ln>
                          <a:solidFill>
                            <a:schemeClr val="tx1"/>
                          </a:solidFill>
                          <a:effectLst/>
                          <a:latin typeface="Verdana" pitchFamily="34" charset="0"/>
                        </a:rPr>
                        <a:t>ış</a:t>
                      </a:r>
                      <a:r>
                        <a:rPr kumimoji="0" lang="tr-TR" sz="1400" b="0" i="0" u="none" strike="noStrike" cap="none" normalizeH="0" baseline="0">
                          <a:ln>
                            <a:noFill/>
                          </a:ln>
                          <a:solidFill>
                            <a:schemeClr val="tx1"/>
                          </a:solidFill>
                          <a:effectLst/>
                          <a:latin typeface="Verdana" pitchFamily="34" charset="0"/>
                          <a:cs typeface="Times New Roman" pitchFamily="18" charset="0"/>
                        </a:rPr>
                        <a:t>lar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390.0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420.0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480.0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S</a:t>
                      </a:r>
                      <a:r>
                        <a:rPr kumimoji="0" lang="tr-TR" sz="1400" b="0" i="0" u="none" strike="noStrike" cap="none" normalizeH="0" baseline="0">
                          <a:ln>
                            <a:noFill/>
                          </a:ln>
                          <a:solidFill>
                            <a:schemeClr val="tx1"/>
                          </a:solidFill>
                          <a:effectLst/>
                          <a:latin typeface="Verdana" pitchFamily="34" charset="0"/>
                        </a:rPr>
                        <a:t>atılan malın </a:t>
                      </a:r>
                      <a:r>
                        <a:rPr kumimoji="0" lang="tr-TR" sz="1400" b="0" i="0" u="none" strike="noStrike" cap="none" normalizeH="0" baseline="0">
                          <a:ln>
                            <a:noFill/>
                          </a:ln>
                          <a:solidFill>
                            <a:schemeClr val="tx1"/>
                          </a:solidFill>
                          <a:effectLst/>
                          <a:latin typeface="Verdana" pitchFamily="34" charset="0"/>
                          <a:cs typeface="Times New Roman" pitchFamily="18" charset="0"/>
                        </a:rPr>
                        <a:t>maliyeti</a:t>
                      </a:r>
                      <a:r>
                        <a:rPr kumimoji="0" lang="tr-TR" sz="1400" b="0" i="0" u="none" strike="noStrike" cap="none" normalizeH="0" baseline="0">
                          <a:ln>
                            <a:noFill/>
                          </a:ln>
                          <a:solidFill>
                            <a:schemeClr val="tx1"/>
                          </a:solidFill>
                          <a:effectLst/>
                          <a:latin typeface="Verdana" pitchFamily="34" charset="0"/>
                        </a:rPr>
                        <a:t> (-)</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328.0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353.0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400.0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Brüt sat</a:t>
                      </a:r>
                      <a:r>
                        <a:rPr kumimoji="0" lang="tr-TR" sz="1400" b="1" i="0" u="none" strike="noStrike" cap="none" normalizeH="0" baseline="0">
                          <a:ln>
                            <a:noFill/>
                          </a:ln>
                          <a:solidFill>
                            <a:schemeClr val="tx1"/>
                          </a:solidFill>
                          <a:effectLst/>
                          <a:latin typeface="Verdana" pitchFamily="34" charset="0"/>
                        </a:rPr>
                        <a:t>ış</a:t>
                      </a:r>
                      <a:r>
                        <a:rPr kumimoji="0" lang="tr-TR" sz="1400" b="1" i="0" u="none" strike="noStrike" cap="none" normalizeH="0" baseline="0">
                          <a:ln>
                            <a:noFill/>
                          </a:ln>
                          <a:solidFill>
                            <a:schemeClr val="tx1"/>
                          </a:solidFill>
                          <a:effectLst/>
                          <a:latin typeface="Verdana" pitchFamily="34" charset="0"/>
                          <a:cs typeface="Times New Roman" pitchFamily="18" charset="0"/>
                        </a:rPr>
                        <a:t> kar</a:t>
                      </a:r>
                      <a:r>
                        <a:rPr kumimoji="0" lang="tr-TR" sz="1400" b="1" i="0" u="none" strike="noStrike" cap="none" normalizeH="0" baseline="0">
                          <a:ln>
                            <a:noFill/>
                          </a:ln>
                          <a:solidFill>
                            <a:schemeClr val="tx1"/>
                          </a:solidFill>
                          <a:effectLst/>
                          <a:latin typeface="Verdana" pitchFamily="34" charset="0"/>
                        </a:rPr>
                        <a:t>ı</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62.0</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67.0</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80.0</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Faaliyet giderleri</a:t>
                      </a:r>
                      <a:r>
                        <a:rPr kumimoji="0" lang="tr-TR" sz="1400" b="0" i="0" u="none" strike="noStrike" cap="none" normalizeH="0" baseline="0">
                          <a:ln>
                            <a:noFill/>
                          </a:ln>
                          <a:solidFill>
                            <a:schemeClr val="tx1"/>
                          </a:solidFill>
                          <a:effectLst/>
                          <a:latin typeface="Verdana" pitchFamily="34" charset="0"/>
                        </a:rPr>
                        <a:t> (-)</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44.8</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48.7</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56.0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Faaliyet kar</a:t>
                      </a:r>
                      <a:r>
                        <a:rPr kumimoji="0" lang="tr-TR" sz="1400" b="1" i="0" u="none" strike="noStrike" cap="none" normalizeH="0" baseline="0">
                          <a:ln>
                            <a:noFill/>
                          </a:ln>
                          <a:solidFill>
                            <a:schemeClr val="tx1"/>
                          </a:solidFill>
                          <a:effectLst/>
                          <a:latin typeface="Verdana" pitchFamily="34" charset="0"/>
                        </a:rPr>
                        <a:t>ı (FVÖK)</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17.2</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18.3</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24.0</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Di</a:t>
                      </a:r>
                      <a:r>
                        <a:rPr kumimoji="0" lang="tr-TR" sz="1400" b="0" i="0" u="none" strike="noStrike" cap="none" normalizeH="0" baseline="0">
                          <a:ln>
                            <a:noFill/>
                          </a:ln>
                          <a:solidFill>
                            <a:schemeClr val="tx1"/>
                          </a:solidFill>
                          <a:effectLst/>
                          <a:latin typeface="Verdana" pitchFamily="34" charset="0"/>
                        </a:rPr>
                        <a:t>ğ</a:t>
                      </a:r>
                      <a:r>
                        <a:rPr kumimoji="0" lang="tr-TR" sz="1400" b="0" i="0" u="none" strike="noStrike" cap="none" normalizeH="0" baseline="0">
                          <a:ln>
                            <a:noFill/>
                          </a:ln>
                          <a:solidFill>
                            <a:schemeClr val="tx1"/>
                          </a:solidFill>
                          <a:effectLst/>
                          <a:latin typeface="Verdana" pitchFamily="34" charset="0"/>
                          <a:cs typeface="Times New Roman" pitchFamily="18" charset="0"/>
                        </a:rPr>
                        <a:t>er gelirler/giderler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Ola</a:t>
                      </a:r>
                      <a:r>
                        <a:rPr kumimoji="0" lang="tr-TR" sz="1400" b="0" i="0" u="none" strike="noStrike" cap="none" normalizeH="0" baseline="0">
                          <a:ln>
                            <a:noFill/>
                          </a:ln>
                          <a:solidFill>
                            <a:schemeClr val="tx1"/>
                          </a:solidFill>
                          <a:effectLst/>
                          <a:latin typeface="Verdana" pitchFamily="34" charset="0"/>
                        </a:rPr>
                        <a:t>ğ</a:t>
                      </a:r>
                      <a:r>
                        <a:rPr kumimoji="0" lang="tr-TR" sz="1400" b="0" i="0" u="none" strike="noStrike" cap="none" normalizeH="0" baseline="0">
                          <a:ln>
                            <a:noFill/>
                          </a:ln>
                          <a:solidFill>
                            <a:schemeClr val="tx1"/>
                          </a:solidFill>
                          <a:effectLst/>
                          <a:latin typeface="Verdana" pitchFamily="34" charset="0"/>
                          <a:cs typeface="Times New Roman" pitchFamily="18" charset="0"/>
                        </a:rPr>
                        <a:t>anüstü g</a:t>
                      </a:r>
                      <a:r>
                        <a:rPr kumimoji="0" lang="tr-TR" sz="1400" b="0" i="0" u="none" strike="noStrike" cap="none" normalizeH="0" baseline="0">
                          <a:ln>
                            <a:noFill/>
                          </a:ln>
                          <a:solidFill>
                            <a:schemeClr val="tx1"/>
                          </a:solidFill>
                          <a:effectLst/>
                          <a:latin typeface="Verdana" pitchFamily="34" charset="0"/>
                        </a:rPr>
                        <a:t>elirler</a:t>
                      </a:r>
                      <a:r>
                        <a:rPr kumimoji="0" lang="tr-TR" sz="1400" b="0" i="0" u="none" strike="noStrike" cap="none" normalizeH="0" baseline="0">
                          <a:ln>
                            <a:noFill/>
                          </a:ln>
                          <a:solidFill>
                            <a:schemeClr val="tx1"/>
                          </a:solidFill>
                          <a:effectLst/>
                          <a:latin typeface="Verdana" pitchFamily="34" charset="0"/>
                          <a:cs typeface="Times New Roman" pitchFamily="18" charset="0"/>
                        </a:rPr>
                        <a:t>/g</a:t>
                      </a:r>
                      <a:r>
                        <a:rPr kumimoji="0" lang="tr-TR" sz="1400" b="0" i="0" u="none" strike="noStrike" cap="none" normalizeH="0" baseline="0">
                          <a:ln>
                            <a:noFill/>
                          </a:ln>
                          <a:solidFill>
                            <a:schemeClr val="tx1"/>
                          </a:solidFill>
                          <a:effectLst/>
                          <a:latin typeface="Verdana" pitchFamily="34" charset="0"/>
                        </a:rPr>
                        <a:t>iderler</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Faiz giderleri</a:t>
                      </a:r>
                      <a:r>
                        <a:rPr kumimoji="0" lang="tr-TR" sz="1400" b="0" i="0" u="none" strike="noStrike" cap="none" normalizeH="0" baseline="0">
                          <a:ln>
                            <a:noFill/>
                          </a:ln>
                          <a:solidFill>
                            <a:schemeClr val="tx1"/>
                          </a:solidFill>
                          <a:effectLst/>
                          <a:latin typeface="Verdana" pitchFamily="34" charset="0"/>
                        </a:rPr>
                        <a:t> (-)</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5.5</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5.0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7.0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Vergi öncesi kar (VÖK)</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11.7</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13.3</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17.0</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Vergi kar</a:t>
                      </a:r>
                      <a:r>
                        <a:rPr kumimoji="0" lang="tr-TR" sz="1400" b="0" i="0" u="none" strike="noStrike" cap="none" normalizeH="0" baseline="0">
                          <a:ln>
                            <a:noFill/>
                          </a:ln>
                          <a:solidFill>
                            <a:schemeClr val="tx1"/>
                          </a:solidFill>
                          <a:effectLst/>
                          <a:latin typeface="Verdana" pitchFamily="34" charset="0"/>
                        </a:rPr>
                        <a:t>şılığı</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4.7</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5.3</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6.8</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Net dönem kar</a:t>
                      </a:r>
                      <a:r>
                        <a:rPr kumimoji="0" lang="tr-TR" sz="1400" b="1" i="0" u="none" strike="noStrike" cap="none" normalizeH="0" baseline="0">
                          <a:ln>
                            <a:noFill/>
                          </a:ln>
                          <a:solidFill>
                            <a:schemeClr val="tx1"/>
                          </a:solidFill>
                          <a:effectLst/>
                          <a:latin typeface="Verdana" pitchFamily="34" charset="0"/>
                        </a:rPr>
                        <a:t>ı</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7.0</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8.0</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chemeClr val="tx1"/>
                          </a:solidFill>
                          <a:effectLst/>
                          <a:latin typeface="Verdana" pitchFamily="34" charset="0"/>
                          <a:cs typeface="Times New Roman" pitchFamily="18" charset="0"/>
                        </a:rPr>
                        <a:t>10.2</a:t>
                      </a:r>
                      <a:endParaRPr kumimoji="0" lang="tr-TR" sz="2000" b="1"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55600">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10000"/>
                        </a:spcAft>
                        <a:buClr>
                          <a:schemeClr val="bg2"/>
                        </a:buClr>
                        <a:buSzPct val="75000"/>
                        <a:buFont typeface="Wingdings" pitchFamily="2" charset="2"/>
                        <a:buNone/>
                        <a:tabLst/>
                      </a:pPr>
                      <a:endParaRPr kumimoji="0" lang="tr-TR" sz="18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Temettü</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2.0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2.0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3.2</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92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Amortisman</a:t>
                      </a:r>
                      <a:r>
                        <a:rPr kumimoji="0" lang="tr-TR" sz="1400" b="0" i="0" u="none" strike="noStrike" cap="none" normalizeH="0" baseline="0">
                          <a:ln>
                            <a:noFill/>
                          </a:ln>
                          <a:solidFill>
                            <a:schemeClr val="tx1"/>
                          </a:solidFill>
                          <a:effectLst/>
                          <a:latin typeface="Verdana" pitchFamily="34" charset="0"/>
                        </a:rPr>
                        <a:t> gideri</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5.0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5.0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chemeClr val="tx1"/>
                          </a:solidFill>
                          <a:effectLst/>
                          <a:latin typeface="Verdana" pitchFamily="34" charset="0"/>
                          <a:cs typeface="Times New Roman" pitchFamily="18" charset="0"/>
                        </a:rPr>
                        <a:t>8.0</a:t>
                      </a:r>
                      <a:endParaRPr kumimoji="0" lang="tr-TR" sz="2000" b="0" i="0" u="none" strike="noStrike" cap="none" normalizeH="0" baseline="0">
                        <a:ln>
                          <a:noFill/>
                        </a:ln>
                        <a:solidFill>
                          <a:schemeClr val="tx1"/>
                        </a:solidFill>
                        <a:effectLst/>
                        <a:latin typeface="Verdana" pitchFamily="34" charset="0"/>
                      </a:endParaRPr>
                    </a:p>
                  </a:txBody>
                  <a:tcPr marL="84406" marR="844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5733102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62880" y="197768"/>
            <a:ext cx="8229600" cy="1143000"/>
          </a:xfrm>
        </p:spPr>
        <p:txBody>
          <a:bodyPr/>
          <a:lstStyle/>
          <a:p>
            <a:r>
              <a:rPr lang="tr-TR" sz="4000"/>
              <a:t>Pide A.Ş. - Nakit Akım Tablosu (TL)</a:t>
            </a:r>
            <a:endParaRPr lang="en-GB"/>
          </a:p>
        </p:txBody>
      </p:sp>
      <p:graphicFrame>
        <p:nvGraphicFramePr>
          <p:cNvPr id="9" name="Table 8"/>
          <p:cNvGraphicFramePr>
            <a:graphicFrameLocks noGrp="1"/>
          </p:cNvGraphicFramePr>
          <p:nvPr/>
        </p:nvGraphicFramePr>
        <p:xfrm>
          <a:off x="2051720" y="1353264"/>
          <a:ext cx="5976666" cy="4235976"/>
        </p:xfrm>
        <a:graphic>
          <a:graphicData uri="http://schemas.openxmlformats.org/drawingml/2006/table">
            <a:tbl>
              <a:tblPr/>
              <a:tblGrid>
                <a:gridCol w="3644308">
                  <a:extLst>
                    <a:ext uri="{9D8B030D-6E8A-4147-A177-3AD203B41FA5}">
                      <a16:colId xmlns:a16="http://schemas.microsoft.com/office/drawing/2014/main" val="20000"/>
                    </a:ext>
                  </a:extLst>
                </a:gridCol>
                <a:gridCol w="1166179">
                  <a:extLst>
                    <a:ext uri="{9D8B030D-6E8A-4147-A177-3AD203B41FA5}">
                      <a16:colId xmlns:a16="http://schemas.microsoft.com/office/drawing/2014/main" val="20001"/>
                    </a:ext>
                  </a:extLst>
                </a:gridCol>
                <a:gridCol w="1166179">
                  <a:extLst>
                    <a:ext uri="{9D8B030D-6E8A-4147-A177-3AD203B41FA5}">
                      <a16:colId xmlns:a16="http://schemas.microsoft.com/office/drawing/2014/main" val="20002"/>
                    </a:ext>
                  </a:extLst>
                </a:gridCol>
              </a:tblGrid>
              <a:tr h="367479">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GB" sz="2000" b="1" i="0" u="none" strike="noStrike" err="1">
                          <a:solidFill>
                            <a:srgbClr val="000000"/>
                          </a:solidFill>
                          <a:latin typeface="+mn-lt"/>
                        </a:rPr>
                        <a:t>Faaliyetlerden</a:t>
                      </a:r>
                      <a:r>
                        <a:rPr lang="en-GB" sz="2000" b="1" i="0" u="none" strike="noStrike">
                          <a:solidFill>
                            <a:srgbClr val="000000"/>
                          </a:solidFill>
                          <a:latin typeface="+mn-lt"/>
                        </a:rPr>
                        <a:t> </a:t>
                      </a:r>
                      <a:r>
                        <a:rPr lang="en-GB" sz="2000" b="1" i="0" u="none" strike="noStrike" err="1">
                          <a:solidFill>
                            <a:srgbClr val="000000"/>
                          </a:solidFill>
                          <a:latin typeface="+mn-lt"/>
                        </a:rPr>
                        <a:t>nakit</a:t>
                      </a:r>
                      <a:r>
                        <a:rPr lang="en-GB" sz="2000" b="1" i="0" u="none" strike="noStrike">
                          <a:solidFill>
                            <a:srgbClr val="000000"/>
                          </a:solidFill>
                          <a:latin typeface="+mn-lt"/>
                        </a:rPr>
                        <a:t> </a:t>
                      </a:r>
                      <a:r>
                        <a:rPr lang="en-GB" sz="2000" b="1" i="0" u="none" strike="noStrike" err="1">
                          <a:solidFill>
                            <a:srgbClr val="000000"/>
                          </a:solidFill>
                          <a:latin typeface="+mn-lt"/>
                        </a:rPr>
                        <a:t>akımı</a:t>
                      </a:r>
                      <a:endParaRPr lang="en-GB" sz="2000" b="1" i="0" u="none" strike="noStrike">
                        <a:solidFill>
                          <a:srgbClr val="000000"/>
                        </a:solidFill>
                        <a:latin typeface="+mn-lt"/>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GB" sz="2000" b="1" i="0" u="none" strike="noStrike">
                          <a:solidFill>
                            <a:srgbClr val="000000"/>
                          </a:solidFill>
                          <a:latin typeface="Calibri"/>
                        </a:rPr>
                        <a:t>2011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GB" sz="2000" b="1" i="0" u="none" strike="noStrike">
                          <a:solidFill>
                            <a:srgbClr val="000000"/>
                          </a:solidFill>
                          <a:latin typeface="Calibri"/>
                        </a:rPr>
                        <a:t>2012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7479">
                <a:tc>
                  <a:txBody>
                    <a:bodyPr/>
                    <a:lstStyle/>
                    <a:p>
                      <a:pPr algn="l" fontAlgn="b"/>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7479">
                <a:tc>
                  <a:txBody>
                    <a:bodyPr/>
                    <a:lstStyle/>
                    <a:p>
                      <a:pPr algn="l" fontAlgn="b"/>
                      <a:r>
                        <a:rPr lang="en-GB" sz="2000" b="0" i="0" u="none" strike="noStrike">
                          <a:solidFill>
                            <a:srgbClr val="000000"/>
                          </a:solidFill>
                          <a:latin typeface="Calibri"/>
                        </a:rPr>
                        <a:t>      </a:t>
                      </a:r>
                      <a:r>
                        <a:rPr lang="en-GB" sz="2000" b="0" i="0" u="none" strike="noStrike" err="1">
                          <a:solidFill>
                            <a:srgbClr val="000000"/>
                          </a:solidFill>
                          <a:latin typeface="Calibri"/>
                        </a:rPr>
                        <a:t>Satışlar</a:t>
                      </a:r>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7479">
                <a:tc>
                  <a:txBody>
                    <a:bodyPr/>
                    <a:lstStyle/>
                    <a:p>
                      <a:pPr algn="l" fontAlgn="b"/>
                      <a:r>
                        <a:rPr lang="en-GB" sz="2000" b="0" i="0" u="none" strike="noStrike">
                          <a:solidFill>
                            <a:srgbClr val="000000"/>
                          </a:solidFill>
                          <a:latin typeface="Calibri"/>
                        </a:rPr>
                        <a:t>   - </a:t>
                      </a:r>
                      <a:r>
                        <a:rPr lang="en-GB" sz="2000" b="0" i="0" u="none" strike="noStrike" err="1">
                          <a:solidFill>
                            <a:srgbClr val="000000"/>
                          </a:solidFill>
                          <a:latin typeface="Calibri"/>
                        </a:rPr>
                        <a:t>Satılan</a:t>
                      </a:r>
                      <a:r>
                        <a:rPr lang="en-GB" sz="2000" b="0" i="0" u="none" strike="noStrike">
                          <a:solidFill>
                            <a:srgbClr val="000000"/>
                          </a:solidFill>
                          <a:latin typeface="Calibri"/>
                        </a:rPr>
                        <a:t> </a:t>
                      </a:r>
                      <a:r>
                        <a:rPr lang="en-GB" sz="2000" b="0" i="0" u="none" strike="noStrike" err="1">
                          <a:solidFill>
                            <a:srgbClr val="000000"/>
                          </a:solidFill>
                          <a:latin typeface="Calibri"/>
                        </a:rPr>
                        <a:t>malın</a:t>
                      </a:r>
                      <a:r>
                        <a:rPr lang="en-GB" sz="2000" b="0" i="0" u="none" strike="noStrike">
                          <a:solidFill>
                            <a:srgbClr val="000000"/>
                          </a:solidFill>
                          <a:latin typeface="Calibri"/>
                        </a:rPr>
                        <a:t> </a:t>
                      </a:r>
                      <a:r>
                        <a:rPr lang="en-GB" sz="2000" b="0" i="0" u="none" strike="noStrike" err="1">
                          <a:solidFill>
                            <a:srgbClr val="000000"/>
                          </a:solidFill>
                          <a:latin typeface="Calibri"/>
                        </a:rPr>
                        <a:t>maliyeti</a:t>
                      </a:r>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7479">
                <a:tc>
                  <a:txBody>
                    <a:bodyPr/>
                    <a:lstStyle/>
                    <a:p>
                      <a:pPr algn="l" fontAlgn="b"/>
                      <a:r>
                        <a:rPr lang="en-GB" sz="2000" b="0" i="0" u="none" strike="noStrike">
                          <a:solidFill>
                            <a:srgbClr val="000000"/>
                          </a:solidFill>
                          <a:latin typeface="Calibri"/>
                        </a:rPr>
                        <a:t>   - </a:t>
                      </a:r>
                      <a:r>
                        <a:rPr lang="en-GB" sz="2000" b="0" i="0" u="none" strike="noStrike" err="1">
                          <a:solidFill>
                            <a:srgbClr val="000000"/>
                          </a:solidFill>
                          <a:latin typeface="Calibri"/>
                        </a:rPr>
                        <a:t>Faaliyet</a:t>
                      </a:r>
                      <a:r>
                        <a:rPr lang="en-GB" sz="2000" b="0" i="0" u="none" strike="noStrike">
                          <a:solidFill>
                            <a:srgbClr val="000000"/>
                          </a:solidFill>
                          <a:latin typeface="Calibri"/>
                        </a:rPr>
                        <a:t> </a:t>
                      </a:r>
                      <a:r>
                        <a:rPr lang="en-GB" sz="2000" b="0" i="0" u="none" strike="noStrike" err="1">
                          <a:solidFill>
                            <a:srgbClr val="000000"/>
                          </a:solidFill>
                          <a:latin typeface="Calibri"/>
                        </a:rPr>
                        <a:t>giderleri</a:t>
                      </a:r>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67479">
                <a:tc>
                  <a:txBody>
                    <a:bodyPr/>
                    <a:lstStyle/>
                    <a:p>
                      <a:pPr algn="l" fontAlgn="b"/>
                      <a:r>
                        <a:rPr lang="en-GB" sz="2000" b="0" i="0" u="none" strike="noStrike">
                          <a:solidFill>
                            <a:srgbClr val="000000"/>
                          </a:solidFill>
                          <a:latin typeface="Calibri"/>
                        </a:rPr>
                        <a:t>  + </a:t>
                      </a:r>
                      <a:r>
                        <a:rPr lang="en-GB" sz="2000" b="0" i="0" u="none" strike="noStrike" err="1">
                          <a:solidFill>
                            <a:srgbClr val="000000"/>
                          </a:solidFill>
                          <a:latin typeface="Calibri"/>
                        </a:rPr>
                        <a:t>Amortisman</a:t>
                      </a:r>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7479">
                <a:tc>
                  <a:txBody>
                    <a:bodyPr/>
                    <a:lstStyle/>
                    <a:p>
                      <a:pPr algn="l" fontAlgn="b"/>
                      <a:r>
                        <a:rPr lang="en-GB" sz="2000" b="0" i="0" u="none" strike="noStrike">
                          <a:solidFill>
                            <a:srgbClr val="000000"/>
                          </a:solidFill>
                          <a:latin typeface="Calibri"/>
                        </a:rPr>
                        <a:t>   - </a:t>
                      </a:r>
                      <a:r>
                        <a:rPr lang="tr-TR" sz="2000" b="0" i="0" u="none" strike="noStrike">
                          <a:solidFill>
                            <a:srgbClr val="000000"/>
                          </a:solidFill>
                          <a:latin typeface="Calibri"/>
                        </a:rPr>
                        <a:t>Ödenen v</a:t>
                      </a:r>
                      <a:r>
                        <a:rPr lang="en-GB" sz="2000" b="0" i="0" u="none" strike="noStrike" err="1">
                          <a:solidFill>
                            <a:srgbClr val="000000"/>
                          </a:solidFill>
                          <a:latin typeface="Calibri"/>
                        </a:rPr>
                        <a:t>ergi</a:t>
                      </a:r>
                      <a:r>
                        <a:rPr lang="en-GB" sz="2000" b="0" i="0" u="none" strike="noStrike">
                          <a:solidFill>
                            <a:srgbClr val="000000"/>
                          </a:solidFill>
                          <a:latin typeface="Calibri"/>
                        </a:rPr>
                        <a:t> </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67479">
                <a:tc>
                  <a:txBody>
                    <a:bodyPr/>
                    <a:lstStyle/>
                    <a:p>
                      <a:pPr algn="l" fontAlgn="b"/>
                      <a:r>
                        <a:rPr lang="tr-TR" sz="2000" b="1" i="0" u="none" strike="noStrike">
                          <a:solidFill>
                            <a:srgbClr val="000000"/>
                          </a:solidFill>
                          <a:latin typeface="Calibri"/>
                        </a:rPr>
                        <a:t>Faaliyetlerden Karlılık Bileşeni</a:t>
                      </a:r>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734958">
                <a:tc>
                  <a:txBody>
                    <a:bodyPr/>
                    <a:lstStyle/>
                    <a:p>
                      <a:pPr algn="l" fontAlgn="b"/>
                      <a:r>
                        <a:rPr lang="en-GB" sz="2000" b="0" i="0" u="none" strike="noStrike">
                          <a:solidFill>
                            <a:srgbClr val="000000"/>
                          </a:solidFill>
                          <a:latin typeface="Calibri"/>
                        </a:rPr>
                        <a:t>   - </a:t>
                      </a:r>
                      <a:r>
                        <a:rPr lang="en-GB" sz="2000" b="0" i="0" u="none" strike="noStrike" err="1">
                          <a:solidFill>
                            <a:srgbClr val="000000"/>
                          </a:solidFill>
                          <a:latin typeface="Calibri"/>
                        </a:rPr>
                        <a:t>İşletme</a:t>
                      </a:r>
                      <a:r>
                        <a:rPr lang="en-GB" sz="2000" b="0" i="0" u="none" strike="noStrike">
                          <a:solidFill>
                            <a:srgbClr val="000000"/>
                          </a:solidFill>
                          <a:latin typeface="Calibri"/>
                        </a:rPr>
                        <a:t> </a:t>
                      </a:r>
                      <a:r>
                        <a:rPr lang="en-GB" sz="2000" b="0" i="0" u="none" strike="noStrike" err="1">
                          <a:solidFill>
                            <a:srgbClr val="000000"/>
                          </a:solidFill>
                          <a:latin typeface="Calibri"/>
                        </a:rPr>
                        <a:t>sermayesi</a:t>
                      </a:r>
                      <a:r>
                        <a:rPr lang="en-GB" sz="2000" b="0" i="0" u="none" strike="noStrike">
                          <a:solidFill>
                            <a:srgbClr val="000000"/>
                          </a:solidFill>
                          <a:latin typeface="Calibri"/>
                        </a:rPr>
                        <a:t> </a:t>
                      </a:r>
                      <a:r>
                        <a:rPr lang="en-GB" sz="2000" b="0" i="0" u="none" strike="noStrike" err="1">
                          <a:solidFill>
                            <a:srgbClr val="000000"/>
                          </a:solidFill>
                          <a:latin typeface="Calibri"/>
                        </a:rPr>
                        <a:t>değişimi</a:t>
                      </a:r>
                      <a:endParaRPr lang="en-GB" sz="2000" b="0" i="0" u="none" strike="noStrike">
                        <a:solidFill>
                          <a:srgbClr val="000000"/>
                        </a:solidFill>
                        <a:latin typeface="Calibri"/>
                      </a:endParaRPr>
                    </a:p>
                    <a:p>
                      <a:pPr algn="l" fontAlgn="b"/>
                      <a:r>
                        <a:rPr lang="tr-TR" sz="2000" b="1" i="0" u="none" strike="noStrike">
                          <a:solidFill>
                            <a:srgbClr val="000000"/>
                          </a:solidFill>
                          <a:latin typeface="Calibri"/>
                        </a:rPr>
                        <a:t>Faaliyetlere Yatırım</a:t>
                      </a:r>
                      <a:r>
                        <a:rPr lang="tr-TR" sz="2000" b="1" i="0" u="none" strike="noStrike" baseline="0">
                          <a:solidFill>
                            <a:srgbClr val="000000"/>
                          </a:solidFill>
                          <a:latin typeface="Calibri"/>
                        </a:rPr>
                        <a:t> Bileşeni</a:t>
                      </a:r>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561186">
                <a:tc>
                  <a:txBody>
                    <a:bodyPr/>
                    <a:lstStyle/>
                    <a:p>
                      <a:pPr algn="l" fontAlgn="b"/>
                      <a:r>
                        <a:rPr lang="tr-TR" sz="2000" b="1" i="0" u="none" strike="noStrike">
                          <a:solidFill>
                            <a:srgbClr val="000000"/>
                          </a:solidFill>
                          <a:latin typeface="Calibri"/>
                        </a:rPr>
                        <a:t>Faaliyetlerden Nakit</a:t>
                      </a:r>
                      <a:r>
                        <a:rPr lang="tr-TR" sz="2000" b="1" i="0" u="none" strike="noStrike" baseline="0">
                          <a:solidFill>
                            <a:srgbClr val="000000"/>
                          </a:solidFill>
                          <a:latin typeface="Calibri"/>
                        </a:rPr>
                        <a:t> Akımı</a:t>
                      </a:r>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20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6" name="Slide Number Placeholder 4">
            <a:extLst>
              <a:ext uri="{FF2B5EF4-FFF2-40B4-BE49-F238E27FC236}">
                <a16:creationId xmlns:a16="http://schemas.microsoft.com/office/drawing/2014/main" id="{8EA47670-4779-4DE0-8AAF-B3308149A65A}"/>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93</a:t>
            </a:fld>
            <a:endParaRPr lang="tr-TR" sz="1200">
              <a:solidFill>
                <a:schemeClr val="tx2"/>
              </a:solidFill>
              <a:latin typeface="Verdana" pitchFamily="34" charset="0"/>
            </a:endParaRPr>
          </a:p>
        </p:txBody>
      </p:sp>
    </p:spTree>
    <p:extLst>
      <p:ext uri="{BB962C8B-B14F-4D97-AF65-F5344CB8AC3E}">
        <p14:creationId xmlns:p14="http://schemas.microsoft.com/office/powerpoint/2010/main" val="36982890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tr-TR" sz="4000"/>
              <a:t>Yönetimsel Bakış</a:t>
            </a:r>
            <a:endParaRPr lang="en-GB" sz="4000"/>
          </a:p>
        </p:txBody>
      </p:sp>
      <p:sp>
        <p:nvSpPr>
          <p:cNvPr id="4" name="Rectangle 3"/>
          <p:cNvSpPr txBox="1">
            <a:spLocks noChangeArrowheads="1"/>
          </p:cNvSpPr>
          <p:nvPr/>
        </p:nvSpPr>
        <p:spPr>
          <a:xfrm>
            <a:off x="1115616" y="1326232"/>
            <a:ext cx="7613650" cy="41910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 typeface="Arial" charset="0"/>
              <a:buChar char="•"/>
              <a:tabLst/>
              <a:defRPr/>
            </a:pPr>
            <a:r>
              <a:rPr kumimoji="0" lang="tr-TR" sz="2800" b="0" i="0" u="none" strike="noStrike" kern="1200" cap="none" spc="0" normalizeH="0" baseline="0" noProof="0">
                <a:ln>
                  <a:noFill/>
                </a:ln>
                <a:solidFill>
                  <a:schemeClr val="tx1"/>
                </a:solidFill>
                <a:effectLst/>
                <a:uLnTx/>
                <a:uFillTx/>
                <a:latin typeface="+mn-lt"/>
                <a:ea typeface="+mn-ea"/>
                <a:cs typeface="Arial" charset="0"/>
              </a:rPr>
              <a:t>Faaliyetlerden nakit akımı, karlılık</a:t>
            </a:r>
            <a:r>
              <a:rPr kumimoji="0" lang="tr-TR" sz="2800" b="0" i="0" u="none" strike="noStrike" kern="1200" cap="none" spc="0" normalizeH="0" noProof="0">
                <a:ln>
                  <a:noFill/>
                </a:ln>
                <a:solidFill>
                  <a:schemeClr val="tx1"/>
                </a:solidFill>
                <a:effectLst/>
                <a:uLnTx/>
                <a:uFillTx/>
                <a:latin typeface="+mn-lt"/>
                <a:ea typeface="+mn-ea"/>
                <a:cs typeface="Arial" charset="0"/>
              </a:rPr>
              <a:t> bileşeni eksi yatırım bileşeni olarak görülebilir</a:t>
            </a:r>
            <a:endParaRPr kumimoji="0" lang="en-US" sz="2800" b="0" i="0" u="none" strike="noStrike" kern="1200" cap="none" spc="0" normalizeH="0" baseline="0" noProof="0">
              <a:ln>
                <a:noFill/>
              </a:ln>
              <a:solidFill>
                <a:schemeClr val="tx1"/>
              </a:solidFill>
              <a:effectLst/>
              <a:uLnTx/>
              <a:uFillTx/>
              <a:latin typeface="+mn-lt"/>
              <a:ea typeface="+mn-ea"/>
              <a:cs typeface="Arial" charset="0"/>
            </a:endParaRPr>
          </a:p>
          <a:p>
            <a:pPr marL="742950" marR="0" lvl="1" indent="-285750" algn="l" defTabSz="914400" rtl="0" eaLnBrk="1" fontAlgn="base" latinLnBrk="0" hangingPunct="1">
              <a:lnSpc>
                <a:spcPct val="90000"/>
              </a:lnSpc>
              <a:spcBef>
                <a:spcPct val="20000"/>
              </a:spcBef>
              <a:spcAft>
                <a:spcPct val="0"/>
              </a:spcAft>
              <a:buClrTx/>
              <a:buSzTx/>
              <a:buFont typeface="Arial" charset="0"/>
              <a:buChar char="–"/>
              <a:tabLst/>
              <a:defRPr/>
            </a:pPr>
            <a:r>
              <a:rPr kumimoji="0" lang="tr-TR" sz="2400" b="0" i="0" u="none" strike="noStrike" kern="1200" cap="none" spc="0" normalizeH="0" baseline="0" noProof="0">
                <a:ln>
                  <a:noFill/>
                </a:ln>
                <a:solidFill>
                  <a:schemeClr val="tx1"/>
                </a:solidFill>
                <a:effectLst/>
                <a:uLnTx/>
                <a:uFillTx/>
                <a:latin typeface="+mn-lt"/>
                <a:ea typeface="+mn-ea"/>
                <a:cs typeface="Arial" charset="0"/>
              </a:rPr>
              <a:t>Karlılık bileşeni: ciro eksi satılan malın maliyeti, faaliyet giderleri ve vergi giderleri</a:t>
            </a:r>
            <a:endParaRPr kumimoji="0" lang="en-US" sz="2400" b="0" i="0" u="none" strike="noStrike" kern="1200" cap="none" spc="0" normalizeH="0" baseline="0" noProof="0">
              <a:ln>
                <a:noFill/>
              </a:ln>
              <a:solidFill>
                <a:schemeClr val="tx1"/>
              </a:solidFill>
              <a:effectLst/>
              <a:uLnTx/>
              <a:uFillTx/>
              <a:latin typeface="+mn-lt"/>
              <a:ea typeface="+mn-ea"/>
              <a:cs typeface="Arial" charset="0"/>
            </a:endParaRPr>
          </a:p>
          <a:p>
            <a:pPr marL="742950" marR="0" lvl="1" indent="-285750" algn="l" defTabSz="914400" rtl="0" eaLnBrk="1" fontAlgn="base" latinLnBrk="0" hangingPunct="1">
              <a:lnSpc>
                <a:spcPct val="90000"/>
              </a:lnSpc>
              <a:spcBef>
                <a:spcPct val="20000"/>
              </a:spcBef>
              <a:spcAft>
                <a:spcPct val="0"/>
              </a:spcAft>
              <a:buClrTx/>
              <a:buSzTx/>
              <a:buFont typeface="Arial" charset="0"/>
              <a:buChar char="–"/>
              <a:tabLst/>
              <a:defRPr/>
            </a:pPr>
            <a:r>
              <a:rPr kumimoji="0" lang="tr-TR" sz="2400" b="0" i="0" u="none" strike="noStrike" kern="1200" cap="none" spc="0" normalizeH="0" baseline="0" noProof="0">
                <a:ln>
                  <a:noFill/>
                </a:ln>
                <a:solidFill>
                  <a:schemeClr val="tx1"/>
                </a:solidFill>
                <a:effectLst/>
                <a:uLnTx/>
                <a:uFillTx/>
                <a:latin typeface="+mn-lt"/>
                <a:ea typeface="+mn-ea"/>
                <a:cs typeface="Times New Roman" pitchFamily="18" charset="0"/>
              </a:rPr>
              <a:t>Yatırım bileşeni: işletme sermayesindeki değişim</a:t>
            </a:r>
            <a:endParaRPr kumimoji="0" lang="en-US" sz="2400" b="0" i="0" u="none" strike="noStrike" kern="1200" cap="none" spc="0" normalizeH="0" baseline="0" noProof="0">
              <a:ln>
                <a:noFill/>
              </a:ln>
              <a:solidFill>
                <a:schemeClr val="tx1"/>
              </a:solidFill>
              <a:effectLst/>
              <a:uLnTx/>
              <a:uFillTx/>
              <a:latin typeface="+mn-lt"/>
              <a:ea typeface="+mn-ea"/>
              <a:cs typeface="Times New Roman" pitchFamily="18" charset="0"/>
            </a:endParaRPr>
          </a:p>
          <a:p>
            <a:pPr marL="342900" marR="0" lvl="0" indent="-342900" algn="l" defTabSz="914400" rtl="0" eaLnBrk="1" fontAlgn="base" latinLnBrk="0" hangingPunct="1">
              <a:lnSpc>
                <a:spcPct val="90000"/>
              </a:lnSpc>
              <a:spcBef>
                <a:spcPct val="20000"/>
              </a:spcBef>
              <a:spcAft>
                <a:spcPct val="0"/>
              </a:spcAft>
              <a:buClrTx/>
              <a:buSzTx/>
              <a:buFont typeface="Arial" charset="0"/>
              <a:buChar char="•"/>
              <a:tabLst/>
              <a:defRPr/>
            </a:pPr>
            <a:r>
              <a:rPr kumimoji="0" lang="tr-TR" sz="2800" b="0" i="0" u="none" strike="noStrike" kern="1200" cap="none" spc="0" normalizeH="0" baseline="0" noProof="0">
                <a:ln>
                  <a:noFill/>
                </a:ln>
                <a:solidFill>
                  <a:schemeClr val="tx1"/>
                </a:solidFill>
                <a:effectLst/>
                <a:uLnTx/>
                <a:uFillTx/>
                <a:latin typeface="+mn-lt"/>
                <a:ea typeface="+mn-ea"/>
                <a:cs typeface="Times New Roman" pitchFamily="18" charset="0"/>
              </a:rPr>
              <a:t>Şirketler faaliyetlerini</a:t>
            </a:r>
            <a:r>
              <a:rPr kumimoji="0" lang="tr-TR" sz="2800" b="0" i="0" u="none" strike="noStrike" kern="1200" cap="none" spc="0" normalizeH="0" noProof="0">
                <a:ln>
                  <a:noFill/>
                </a:ln>
                <a:solidFill>
                  <a:schemeClr val="tx1"/>
                </a:solidFill>
                <a:effectLst/>
                <a:uLnTx/>
                <a:uFillTx/>
                <a:latin typeface="+mn-lt"/>
                <a:ea typeface="+mn-ea"/>
                <a:cs typeface="Times New Roman" pitchFamily="18" charset="0"/>
              </a:rPr>
              <a:t> karlılık bileşenine göre değil, faaliyetlerden yaratılan net nakit akımına bakarak yönetmelidirler.</a:t>
            </a:r>
            <a:endParaRPr kumimoji="0" lang="en-CA" sz="2800" b="0" i="0" u="none" strike="noStrike" kern="1200" cap="none" spc="0" normalizeH="0" baseline="0" noProof="0">
              <a:ln>
                <a:noFill/>
              </a:ln>
              <a:solidFill>
                <a:schemeClr val="tx1"/>
              </a:solidFill>
              <a:effectLst/>
              <a:uLnTx/>
              <a:uFillTx/>
              <a:latin typeface="+mn-lt"/>
              <a:ea typeface="+mn-ea"/>
              <a:cs typeface="Times New Roman" pitchFamily="18" charset="0"/>
            </a:endParaRPr>
          </a:p>
          <a:p>
            <a:pPr marL="742950" marR="0" lvl="1" indent="-285750" algn="l" defTabSz="914400" rtl="0" eaLnBrk="1" fontAlgn="base" latinLnBrk="0" hangingPunct="1">
              <a:lnSpc>
                <a:spcPct val="90000"/>
              </a:lnSpc>
              <a:spcBef>
                <a:spcPct val="20000"/>
              </a:spcBef>
              <a:spcAft>
                <a:spcPct val="0"/>
              </a:spcAft>
              <a:buClrTx/>
              <a:buSzTx/>
              <a:buFont typeface="Arial" charset="0"/>
              <a:buChar char="–"/>
              <a:tabLst/>
              <a:defRPr/>
            </a:pPr>
            <a:r>
              <a:rPr kumimoji="0" lang="tr-TR" sz="2400" b="0" i="0" u="none" strike="noStrike" kern="1200" cap="none" spc="0" normalizeH="0" baseline="0" noProof="0">
                <a:ln>
                  <a:noFill/>
                </a:ln>
                <a:solidFill>
                  <a:schemeClr val="tx1"/>
                </a:solidFill>
                <a:effectLst/>
                <a:uLnTx/>
                <a:uFillTx/>
                <a:latin typeface="+mn-lt"/>
                <a:ea typeface="+mn-ea"/>
                <a:cs typeface="Times New Roman" pitchFamily="18" charset="0"/>
              </a:rPr>
              <a:t>Böylece yöneticiler şirketin kar marjını, işletme sermayesine yatırımı çok</a:t>
            </a:r>
            <a:r>
              <a:rPr kumimoji="0" lang="tr-TR" sz="2400" b="0" i="0" u="none" strike="noStrike" kern="1200" cap="none" spc="0" normalizeH="0" noProof="0">
                <a:ln>
                  <a:noFill/>
                </a:ln>
                <a:solidFill>
                  <a:schemeClr val="tx1"/>
                </a:solidFill>
                <a:effectLst/>
                <a:uLnTx/>
                <a:uFillTx/>
                <a:latin typeface="+mn-lt"/>
                <a:ea typeface="+mn-ea"/>
                <a:cs typeface="Times New Roman" pitchFamily="18" charset="0"/>
              </a:rPr>
              <a:t> fazla artırmadan, iyileştirebilmeye yönlendirilirler</a:t>
            </a: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6"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94</a:t>
            </a:fld>
            <a:endParaRPr lang="tr-TR" sz="1200">
              <a:solidFill>
                <a:schemeClr val="tx2"/>
              </a:solidFill>
              <a:latin typeface="Verdana" pitchFamily="34" charset="0"/>
            </a:endParaRPr>
          </a:p>
        </p:txBody>
      </p:sp>
    </p:spTree>
    <p:extLst>
      <p:ext uri="{BB962C8B-B14F-4D97-AF65-F5344CB8AC3E}">
        <p14:creationId xmlns:p14="http://schemas.microsoft.com/office/powerpoint/2010/main" val="1732307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62880" y="197768"/>
            <a:ext cx="8229600" cy="1143000"/>
          </a:xfrm>
        </p:spPr>
        <p:txBody>
          <a:bodyPr/>
          <a:lstStyle/>
          <a:p>
            <a:r>
              <a:rPr lang="tr-TR" sz="4000"/>
              <a:t>Pide A.Ş. - Nakit Akım Tablosu (TL)</a:t>
            </a:r>
            <a:endParaRPr lang="en-GB"/>
          </a:p>
        </p:txBody>
      </p:sp>
      <p:graphicFrame>
        <p:nvGraphicFramePr>
          <p:cNvPr id="9" name="Table 8"/>
          <p:cNvGraphicFramePr>
            <a:graphicFrameLocks noGrp="1"/>
          </p:cNvGraphicFramePr>
          <p:nvPr/>
        </p:nvGraphicFramePr>
        <p:xfrm>
          <a:off x="2267744" y="1209240"/>
          <a:ext cx="5328594" cy="4812048"/>
        </p:xfrm>
        <a:graphic>
          <a:graphicData uri="http://schemas.openxmlformats.org/drawingml/2006/table">
            <a:tbl>
              <a:tblPr/>
              <a:tblGrid>
                <a:gridCol w="3249142">
                  <a:extLst>
                    <a:ext uri="{9D8B030D-6E8A-4147-A177-3AD203B41FA5}">
                      <a16:colId xmlns:a16="http://schemas.microsoft.com/office/drawing/2014/main" val="20000"/>
                    </a:ext>
                  </a:extLst>
                </a:gridCol>
                <a:gridCol w="1039726">
                  <a:extLst>
                    <a:ext uri="{9D8B030D-6E8A-4147-A177-3AD203B41FA5}">
                      <a16:colId xmlns:a16="http://schemas.microsoft.com/office/drawing/2014/main" val="20001"/>
                    </a:ext>
                  </a:extLst>
                </a:gridCol>
                <a:gridCol w="1039726">
                  <a:extLst>
                    <a:ext uri="{9D8B030D-6E8A-4147-A177-3AD203B41FA5}">
                      <a16:colId xmlns:a16="http://schemas.microsoft.com/office/drawing/2014/main" val="20002"/>
                    </a:ext>
                  </a:extLst>
                </a:gridCol>
              </a:tblGrid>
              <a:tr h="300753">
                <a:tc>
                  <a:txBody>
                    <a:bodyPr/>
                    <a:lstStyle/>
                    <a:p>
                      <a:pPr algn="l" fontAlgn="b"/>
                      <a:endParaRPr lang="en-GB" sz="18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GB" sz="1800" b="1" i="0" u="none" strike="noStrike">
                          <a:solidFill>
                            <a:srgbClr val="000000"/>
                          </a:solidFill>
                          <a:latin typeface="Calibri"/>
                        </a:rPr>
                        <a:t>2011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GB" sz="1800" b="1" i="0" u="none" strike="noStrike">
                          <a:solidFill>
                            <a:srgbClr val="000000"/>
                          </a:solidFill>
                          <a:latin typeface="Calibri"/>
                        </a:rPr>
                        <a:t>2012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0753">
                <a:tc>
                  <a:txBody>
                    <a:bodyPr/>
                    <a:lstStyle/>
                    <a:p>
                      <a:pPr algn="l" fontAlgn="b"/>
                      <a:r>
                        <a:rPr lang="en-GB" sz="1800" b="1" i="0" u="none" strike="noStrike" err="1">
                          <a:solidFill>
                            <a:srgbClr val="000000"/>
                          </a:solidFill>
                          <a:latin typeface="Calibri"/>
                        </a:rPr>
                        <a:t>Faaliyetlerden</a:t>
                      </a:r>
                      <a:r>
                        <a:rPr lang="en-GB" sz="1800" b="1" i="0" u="none" strike="noStrike">
                          <a:solidFill>
                            <a:srgbClr val="000000"/>
                          </a:solidFill>
                          <a:latin typeface="Calibri"/>
                        </a:rPr>
                        <a:t> </a:t>
                      </a:r>
                      <a:r>
                        <a:rPr lang="en-GB" sz="1800" b="1" i="0" u="none" strike="noStrike" err="1">
                          <a:solidFill>
                            <a:srgbClr val="000000"/>
                          </a:solidFill>
                          <a:latin typeface="Calibri"/>
                        </a:rPr>
                        <a:t>nakit</a:t>
                      </a:r>
                      <a:r>
                        <a:rPr lang="en-GB" sz="1800" b="1" i="0" u="none" strike="noStrike">
                          <a:solidFill>
                            <a:srgbClr val="000000"/>
                          </a:solidFill>
                          <a:latin typeface="Calibri"/>
                        </a:rPr>
                        <a:t> </a:t>
                      </a:r>
                      <a:r>
                        <a:rPr lang="en-GB" sz="1800" b="1" i="0" u="none" strike="noStrike" err="1">
                          <a:solidFill>
                            <a:srgbClr val="000000"/>
                          </a:solidFill>
                          <a:latin typeface="Calibri"/>
                        </a:rPr>
                        <a:t>akımı</a:t>
                      </a:r>
                      <a:endParaRPr lang="en-GB" sz="18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0753">
                <a:tc>
                  <a:txBody>
                    <a:bodyPr/>
                    <a:lstStyle/>
                    <a:p>
                      <a:pPr algn="l" fontAlgn="b"/>
                      <a:r>
                        <a:rPr lang="en-GB" sz="1800" b="1" i="0" u="none" strike="noStrike" err="1">
                          <a:solidFill>
                            <a:srgbClr val="000000"/>
                          </a:solidFill>
                          <a:latin typeface="Calibri"/>
                        </a:rPr>
                        <a:t>Yatırımlardan</a:t>
                      </a:r>
                      <a:r>
                        <a:rPr lang="en-GB" sz="1800" b="1" i="0" u="none" strike="noStrike">
                          <a:solidFill>
                            <a:srgbClr val="000000"/>
                          </a:solidFill>
                          <a:latin typeface="Calibri"/>
                        </a:rPr>
                        <a:t> </a:t>
                      </a:r>
                      <a:r>
                        <a:rPr lang="en-GB" sz="1800" b="1" i="0" u="none" strike="noStrike" err="1">
                          <a:solidFill>
                            <a:srgbClr val="000000"/>
                          </a:solidFill>
                          <a:latin typeface="Calibri"/>
                        </a:rPr>
                        <a:t>nakit</a:t>
                      </a:r>
                      <a:r>
                        <a:rPr lang="en-GB" sz="1800" b="1" i="0" u="none" strike="noStrike">
                          <a:solidFill>
                            <a:srgbClr val="000000"/>
                          </a:solidFill>
                          <a:latin typeface="Calibri"/>
                        </a:rPr>
                        <a:t> </a:t>
                      </a:r>
                      <a:r>
                        <a:rPr lang="en-GB" sz="1800" b="1" i="0" u="none" strike="noStrike" err="1">
                          <a:solidFill>
                            <a:srgbClr val="000000"/>
                          </a:solidFill>
                          <a:latin typeface="Calibri"/>
                        </a:rPr>
                        <a:t>akımı</a:t>
                      </a:r>
                      <a:endParaRPr lang="en-GB" sz="18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00753">
                <a:tc>
                  <a:txBody>
                    <a:bodyPr/>
                    <a:lstStyle/>
                    <a:p>
                      <a:pPr algn="l" fontAlgn="b"/>
                      <a:r>
                        <a:rPr lang="en-GB" sz="1800" b="0" i="0" u="none" strike="noStrike">
                          <a:solidFill>
                            <a:srgbClr val="000000"/>
                          </a:solidFill>
                          <a:latin typeface="Calibri"/>
                        </a:rPr>
                        <a:t>     </a:t>
                      </a:r>
                      <a:r>
                        <a:rPr lang="en-GB" sz="1800" b="0" i="0" u="none" strike="noStrike" err="1">
                          <a:solidFill>
                            <a:srgbClr val="000000"/>
                          </a:solidFill>
                          <a:latin typeface="Calibri"/>
                        </a:rPr>
                        <a:t>Varlık</a:t>
                      </a:r>
                      <a:r>
                        <a:rPr lang="en-GB" sz="1800" b="0" i="0" u="none" strike="noStrike">
                          <a:solidFill>
                            <a:srgbClr val="000000"/>
                          </a:solidFill>
                          <a:latin typeface="Calibri"/>
                        </a:rPr>
                        <a:t> </a:t>
                      </a:r>
                      <a:r>
                        <a:rPr lang="en-GB" sz="1800" b="0" i="0" u="none" strike="noStrike" err="1">
                          <a:solidFill>
                            <a:srgbClr val="000000"/>
                          </a:solidFill>
                          <a:latin typeface="Calibri"/>
                        </a:rPr>
                        <a:t>satışları</a:t>
                      </a:r>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00753">
                <a:tc>
                  <a:txBody>
                    <a:bodyPr/>
                    <a:lstStyle/>
                    <a:p>
                      <a:pPr algn="l" fontAlgn="b"/>
                      <a:r>
                        <a:rPr lang="en-GB" sz="1800" b="0" i="0" u="none" strike="noStrike">
                          <a:solidFill>
                            <a:srgbClr val="000000"/>
                          </a:solidFill>
                          <a:latin typeface="Calibri"/>
                        </a:rPr>
                        <a:t>   - </a:t>
                      </a:r>
                      <a:r>
                        <a:rPr lang="en-GB" sz="1800" b="0" i="0" u="none" strike="noStrike" err="1">
                          <a:solidFill>
                            <a:srgbClr val="000000"/>
                          </a:solidFill>
                          <a:latin typeface="Calibri"/>
                        </a:rPr>
                        <a:t>Varlık</a:t>
                      </a:r>
                      <a:r>
                        <a:rPr lang="en-GB" sz="1800" b="0" i="0" u="none" strike="noStrike">
                          <a:solidFill>
                            <a:srgbClr val="000000"/>
                          </a:solidFill>
                          <a:latin typeface="Calibri"/>
                        </a:rPr>
                        <a:t> </a:t>
                      </a:r>
                      <a:r>
                        <a:rPr lang="en-GB" sz="1800" b="0" i="0" u="none" strike="noStrike" err="1">
                          <a:solidFill>
                            <a:srgbClr val="000000"/>
                          </a:solidFill>
                          <a:latin typeface="Calibri"/>
                        </a:rPr>
                        <a:t>alımları</a:t>
                      </a:r>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0753">
                <a:tc>
                  <a:txBody>
                    <a:bodyPr/>
                    <a:lstStyle/>
                    <a:p>
                      <a:pPr algn="l" fontAlgn="b"/>
                      <a:r>
                        <a:rPr lang="en-GB" sz="1800" b="0" i="0" u="none" strike="noStrike">
                          <a:solidFill>
                            <a:srgbClr val="000000"/>
                          </a:solidFill>
                          <a:latin typeface="Calibri"/>
                        </a:rPr>
                        <a:t>   + </a:t>
                      </a:r>
                      <a:r>
                        <a:rPr lang="en-GB" sz="1800" b="0" i="0" u="none" strike="noStrike" err="1">
                          <a:solidFill>
                            <a:srgbClr val="000000"/>
                          </a:solidFill>
                          <a:latin typeface="Calibri"/>
                        </a:rPr>
                        <a:t>Yatırımlardan</a:t>
                      </a:r>
                      <a:r>
                        <a:rPr lang="en-GB" sz="1800" b="0" i="0" u="none" strike="noStrike">
                          <a:solidFill>
                            <a:srgbClr val="000000"/>
                          </a:solidFill>
                          <a:latin typeface="Calibri"/>
                        </a:rPr>
                        <a:t> </a:t>
                      </a:r>
                      <a:r>
                        <a:rPr lang="en-GB" sz="1800" b="0" i="0" u="none" strike="noStrike" err="1">
                          <a:solidFill>
                            <a:srgbClr val="000000"/>
                          </a:solidFill>
                          <a:latin typeface="Calibri"/>
                        </a:rPr>
                        <a:t>gelirler</a:t>
                      </a:r>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00753">
                <a:tc>
                  <a:txBody>
                    <a:bodyPr/>
                    <a:lstStyle/>
                    <a:p>
                      <a:pPr algn="l" fontAlgn="b"/>
                      <a:r>
                        <a:rPr lang="en-GB" sz="1800" b="1" i="0" u="none" strike="noStrike" err="1">
                          <a:solidFill>
                            <a:srgbClr val="000000"/>
                          </a:solidFill>
                          <a:latin typeface="Calibri"/>
                        </a:rPr>
                        <a:t>Finansman</a:t>
                      </a:r>
                      <a:r>
                        <a:rPr lang="en-GB" sz="1800" b="1" i="0" u="none" strike="noStrike">
                          <a:solidFill>
                            <a:srgbClr val="000000"/>
                          </a:solidFill>
                          <a:latin typeface="Calibri"/>
                        </a:rPr>
                        <a:t> </a:t>
                      </a:r>
                      <a:r>
                        <a:rPr lang="en-GB" sz="1800" b="1" i="0" u="none" strike="noStrike" err="1">
                          <a:solidFill>
                            <a:srgbClr val="000000"/>
                          </a:solidFill>
                          <a:latin typeface="Calibri"/>
                        </a:rPr>
                        <a:t>faaliyetlerinden</a:t>
                      </a:r>
                      <a:r>
                        <a:rPr lang="en-GB" sz="1800" b="1" i="0" u="none" strike="noStrike">
                          <a:solidFill>
                            <a:srgbClr val="000000"/>
                          </a:solidFill>
                          <a:latin typeface="Calibri"/>
                        </a:rPr>
                        <a:t> </a:t>
                      </a:r>
                      <a:r>
                        <a:rPr lang="en-GB" sz="1800" b="1" i="0" u="none" strike="noStrike" err="1">
                          <a:solidFill>
                            <a:srgbClr val="000000"/>
                          </a:solidFill>
                          <a:latin typeface="Calibri"/>
                        </a:rPr>
                        <a:t>n.a</a:t>
                      </a:r>
                      <a:r>
                        <a:rPr lang="en-GB" sz="1800" b="1" i="0" u="none" strike="noStrike">
                          <a:solidFill>
                            <a:srgbClr val="000000"/>
                          </a:solidFill>
                          <a:latin typeface="Calibri"/>
                        </a:rPr>
                        <a:t>.</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00753">
                <a:tc>
                  <a:txBody>
                    <a:bodyPr/>
                    <a:lstStyle/>
                    <a:p>
                      <a:pPr algn="l" fontAlgn="b"/>
                      <a:r>
                        <a:rPr lang="en-GB" sz="1800" b="0" i="0" u="none" strike="noStrike">
                          <a:solidFill>
                            <a:srgbClr val="000000"/>
                          </a:solidFill>
                          <a:latin typeface="Calibri"/>
                        </a:rPr>
                        <a:t>    + </a:t>
                      </a:r>
                      <a:r>
                        <a:rPr lang="en-GB" sz="1800" b="0" i="0" u="none" strike="noStrike" err="1">
                          <a:solidFill>
                            <a:srgbClr val="000000"/>
                          </a:solidFill>
                          <a:latin typeface="Calibri"/>
                        </a:rPr>
                        <a:t>Uzun</a:t>
                      </a:r>
                      <a:r>
                        <a:rPr lang="en-GB" sz="1800" b="0" i="0" u="none" strike="noStrike">
                          <a:solidFill>
                            <a:srgbClr val="000000"/>
                          </a:solidFill>
                          <a:latin typeface="Calibri"/>
                        </a:rPr>
                        <a:t> </a:t>
                      </a:r>
                      <a:r>
                        <a:rPr lang="en-GB" sz="1800" b="0" i="0" u="none" strike="noStrike" err="1">
                          <a:solidFill>
                            <a:srgbClr val="000000"/>
                          </a:solidFill>
                          <a:latin typeface="Calibri"/>
                        </a:rPr>
                        <a:t>vadeli</a:t>
                      </a:r>
                      <a:r>
                        <a:rPr lang="en-GB" sz="1800" b="0" i="0" u="none" strike="noStrike">
                          <a:solidFill>
                            <a:srgbClr val="000000"/>
                          </a:solidFill>
                          <a:latin typeface="Calibri"/>
                        </a:rPr>
                        <a:t> </a:t>
                      </a:r>
                      <a:r>
                        <a:rPr lang="en-GB" sz="1800" b="0" i="0" u="none" strike="noStrike" err="1">
                          <a:solidFill>
                            <a:srgbClr val="000000"/>
                          </a:solidFill>
                          <a:latin typeface="Calibri"/>
                        </a:rPr>
                        <a:t>borçlanma</a:t>
                      </a:r>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00753">
                <a:tc>
                  <a:txBody>
                    <a:bodyPr/>
                    <a:lstStyle/>
                    <a:p>
                      <a:pPr algn="l" fontAlgn="b"/>
                      <a:r>
                        <a:rPr lang="en-GB" sz="1800" b="0" i="0" u="none" strike="noStrike">
                          <a:solidFill>
                            <a:srgbClr val="000000"/>
                          </a:solidFill>
                          <a:latin typeface="Calibri"/>
                        </a:rPr>
                        <a:t>    + </a:t>
                      </a:r>
                      <a:r>
                        <a:rPr lang="en-GB" sz="1800" b="0" i="0" u="none" strike="noStrike" err="1">
                          <a:solidFill>
                            <a:srgbClr val="000000"/>
                          </a:solidFill>
                          <a:latin typeface="Calibri"/>
                        </a:rPr>
                        <a:t>Kısa</a:t>
                      </a:r>
                      <a:r>
                        <a:rPr lang="en-GB" sz="1800" b="0" i="0" u="none" strike="noStrike">
                          <a:solidFill>
                            <a:srgbClr val="000000"/>
                          </a:solidFill>
                          <a:latin typeface="Calibri"/>
                        </a:rPr>
                        <a:t> </a:t>
                      </a:r>
                      <a:r>
                        <a:rPr lang="en-GB" sz="1800" b="0" i="0" u="none" strike="noStrike" err="1">
                          <a:solidFill>
                            <a:srgbClr val="000000"/>
                          </a:solidFill>
                          <a:latin typeface="Calibri"/>
                        </a:rPr>
                        <a:t>vadeli</a:t>
                      </a:r>
                      <a:r>
                        <a:rPr lang="en-GB" sz="1800" b="0" i="0" u="none" strike="noStrike">
                          <a:solidFill>
                            <a:srgbClr val="000000"/>
                          </a:solidFill>
                          <a:latin typeface="Calibri"/>
                        </a:rPr>
                        <a:t> </a:t>
                      </a:r>
                      <a:r>
                        <a:rPr lang="en-GB" sz="1800" b="0" i="0" u="none" strike="noStrike" err="1">
                          <a:solidFill>
                            <a:srgbClr val="000000"/>
                          </a:solidFill>
                          <a:latin typeface="Calibri"/>
                        </a:rPr>
                        <a:t>borçlanma</a:t>
                      </a:r>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00753">
                <a:tc>
                  <a:txBody>
                    <a:bodyPr/>
                    <a:lstStyle/>
                    <a:p>
                      <a:pPr algn="l" fontAlgn="b"/>
                      <a:r>
                        <a:rPr lang="en-GB" sz="1800" b="0" i="0" u="none" strike="noStrike">
                          <a:solidFill>
                            <a:srgbClr val="000000"/>
                          </a:solidFill>
                          <a:latin typeface="Calibri"/>
                        </a:rPr>
                        <a:t>    + </a:t>
                      </a:r>
                      <a:r>
                        <a:rPr lang="en-GB" sz="1800" b="0" i="0" u="none" strike="noStrike" err="1">
                          <a:solidFill>
                            <a:srgbClr val="000000"/>
                          </a:solidFill>
                          <a:latin typeface="Calibri"/>
                        </a:rPr>
                        <a:t>Nakit</a:t>
                      </a:r>
                      <a:r>
                        <a:rPr lang="en-GB" sz="1800" b="0" i="0" u="none" strike="noStrike">
                          <a:solidFill>
                            <a:srgbClr val="000000"/>
                          </a:solidFill>
                          <a:latin typeface="Calibri"/>
                        </a:rPr>
                        <a:t> </a:t>
                      </a:r>
                      <a:r>
                        <a:rPr lang="en-GB" sz="1800" b="0" i="0" u="none" strike="noStrike" err="1">
                          <a:solidFill>
                            <a:srgbClr val="000000"/>
                          </a:solidFill>
                          <a:latin typeface="Calibri"/>
                        </a:rPr>
                        <a:t>sermaye</a:t>
                      </a:r>
                      <a:r>
                        <a:rPr lang="en-GB" sz="1800" b="0" i="0" u="none" strike="noStrike">
                          <a:solidFill>
                            <a:srgbClr val="000000"/>
                          </a:solidFill>
                          <a:latin typeface="Calibri"/>
                        </a:rPr>
                        <a:t> </a:t>
                      </a:r>
                      <a:r>
                        <a:rPr lang="en-GB" sz="1800" b="0" i="0" u="none" strike="noStrike" err="1">
                          <a:solidFill>
                            <a:srgbClr val="000000"/>
                          </a:solidFill>
                          <a:latin typeface="Calibri"/>
                        </a:rPr>
                        <a:t>artırımı</a:t>
                      </a:r>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00753">
                <a:tc>
                  <a:txBody>
                    <a:bodyPr/>
                    <a:lstStyle/>
                    <a:p>
                      <a:pPr algn="l" fontAlgn="b"/>
                      <a:r>
                        <a:rPr lang="en-GB" sz="1800" b="0" i="0" u="none" strike="noStrike">
                          <a:solidFill>
                            <a:srgbClr val="000000"/>
                          </a:solidFill>
                          <a:latin typeface="Calibri"/>
                        </a:rPr>
                        <a:t>    - </a:t>
                      </a:r>
                      <a:r>
                        <a:rPr lang="en-GB" sz="1800" b="0" i="0" u="none" strike="noStrike" err="1">
                          <a:solidFill>
                            <a:srgbClr val="000000"/>
                          </a:solidFill>
                          <a:latin typeface="Calibri"/>
                        </a:rPr>
                        <a:t>Faiz</a:t>
                      </a:r>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00753">
                <a:tc>
                  <a:txBody>
                    <a:bodyPr/>
                    <a:lstStyle/>
                    <a:p>
                      <a:pPr algn="l" fontAlgn="b"/>
                      <a:r>
                        <a:rPr lang="en-GB" sz="1800" b="0" i="0" u="none" strike="noStrike">
                          <a:solidFill>
                            <a:srgbClr val="000000"/>
                          </a:solidFill>
                          <a:latin typeface="Calibri"/>
                        </a:rPr>
                        <a:t>    - </a:t>
                      </a:r>
                      <a:r>
                        <a:rPr lang="en-GB" sz="1800" b="0" i="0" u="none" strike="noStrike" err="1">
                          <a:solidFill>
                            <a:srgbClr val="000000"/>
                          </a:solidFill>
                          <a:latin typeface="Calibri"/>
                        </a:rPr>
                        <a:t>Temettü</a:t>
                      </a:r>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00753">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300753">
                <a:tc>
                  <a:txBody>
                    <a:bodyPr/>
                    <a:lstStyle/>
                    <a:p>
                      <a:pPr algn="l" fontAlgn="b"/>
                      <a:r>
                        <a:rPr lang="en-GB" sz="1800" b="1" i="0" u="none" strike="noStrike" err="1">
                          <a:solidFill>
                            <a:srgbClr val="000000"/>
                          </a:solidFill>
                          <a:latin typeface="Calibri"/>
                        </a:rPr>
                        <a:t>Toplam</a:t>
                      </a:r>
                      <a:r>
                        <a:rPr lang="en-GB" sz="1800" b="1" i="0" u="none" strike="noStrike">
                          <a:solidFill>
                            <a:srgbClr val="000000"/>
                          </a:solidFill>
                          <a:latin typeface="Calibri"/>
                        </a:rPr>
                        <a:t> </a:t>
                      </a:r>
                      <a:r>
                        <a:rPr lang="en-GB" sz="1800" b="1" i="0" u="none" strike="noStrike" err="1">
                          <a:solidFill>
                            <a:srgbClr val="000000"/>
                          </a:solidFill>
                          <a:latin typeface="Calibri"/>
                        </a:rPr>
                        <a:t>Nakit</a:t>
                      </a:r>
                      <a:r>
                        <a:rPr lang="en-GB" sz="1800" b="1" i="0" u="none" strike="noStrike">
                          <a:solidFill>
                            <a:srgbClr val="000000"/>
                          </a:solidFill>
                          <a:latin typeface="Calibri"/>
                        </a:rPr>
                        <a:t> </a:t>
                      </a:r>
                      <a:r>
                        <a:rPr lang="en-GB" sz="1800" b="1" i="0" u="none" strike="noStrike" err="1">
                          <a:solidFill>
                            <a:srgbClr val="000000"/>
                          </a:solidFill>
                          <a:latin typeface="Calibri"/>
                        </a:rPr>
                        <a:t>Akımı</a:t>
                      </a:r>
                      <a:endParaRPr lang="en-GB" sz="1800" b="1"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300753">
                <a:tc>
                  <a:txBody>
                    <a:bodyPr/>
                    <a:lstStyle/>
                    <a:p>
                      <a:pPr algn="l" fontAlgn="b"/>
                      <a:r>
                        <a:rPr lang="en-GB" sz="1800" b="0" i="0" u="none" strike="noStrike" err="1">
                          <a:solidFill>
                            <a:srgbClr val="000000"/>
                          </a:solidFill>
                          <a:latin typeface="Calibri"/>
                        </a:rPr>
                        <a:t>Başlangıç</a:t>
                      </a:r>
                      <a:r>
                        <a:rPr lang="en-GB" sz="1800" b="0" i="0" u="none" strike="noStrike">
                          <a:solidFill>
                            <a:srgbClr val="000000"/>
                          </a:solidFill>
                          <a:latin typeface="Calibri"/>
                        </a:rPr>
                        <a:t> </a:t>
                      </a:r>
                      <a:r>
                        <a:rPr lang="en-GB" sz="1800" b="0" i="0" u="none" strike="noStrike" err="1">
                          <a:solidFill>
                            <a:srgbClr val="000000"/>
                          </a:solidFill>
                          <a:latin typeface="Calibri"/>
                        </a:rPr>
                        <a:t>nakit</a:t>
                      </a:r>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300753">
                <a:tc>
                  <a:txBody>
                    <a:bodyPr/>
                    <a:lstStyle/>
                    <a:p>
                      <a:pPr algn="l" fontAlgn="b"/>
                      <a:r>
                        <a:rPr lang="en-GB" sz="1800" b="0" i="0" u="none" strike="noStrike" err="1">
                          <a:solidFill>
                            <a:srgbClr val="000000"/>
                          </a:solidFill>
                          <a:latin typeface="Calibri"/>
                        </a:rPr>
                        <a:t>Kapanış</a:t>
                      </a:r>
                      <a:r>
                        <a:rPr lang="en-GB" sz="1800" b="0" i="0" u="none" strike="noStrike">
                          <a:solidFill>
                            <a:srgbClr val="000000"/>
                          </a:solidFill>
                          <a:latin typeface="Calibri"/>
                        </a:rPr>
                        <a:t> </a:t>
                      </a:r>
                      <a:r>
                        <a:rPr lang="en-GB" sz="1800" b="0" i="0" u="none" strike="noStrike" err="1">
                          <a:solidFill>
                            <a:srgbClr val="000000"/>
                          </a:solidFill>
                          <a:latin typeface="Calibri"/>
                        </a:rPr>
                        <a:t>nakit</a:t>
                      </a:r>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GB" sz="1800" b="0" i="0" u="none" strike="noStrike">
                        <a:solidFill>
                          <a:srgbClr val="000000"/>
                        </a:solidFill>
                        <a:latin typeface="Calibri"/>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6" name="Slide Number Placeholder 4">
            <a:extLst>
              <a:ext uri="{FF2B5EF4-FFF2-40B4-BE49-F238E27FC236}">
                <a16:creationId xmlns:a16="http://schemas.microsoft.com/office/drawing/2014/main" id="{832325D3-4B1A-4134-9631-F53F03525D83}"/>
              </a:ext>
            </a:extLst>
          </p:cNvPr>
          <p:cNvSpPr txBox="1">
            <a:spLocks/>
          </p:cNvSpPr>
          <p:nvPr/>
        </p:nvSpPr>
        <p:spPr>
          <a:xfrm>
            <a:off x="8604448" y="6496671"/>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95</a:t>
            </a:fld>
            <a:endParaRPr lang="tr-TR" sz="1200">
              <a:solidFill>
                <a:schemeClr val="tx2"/>
              </a:solidFill>
              <a:latin typeface="Verdana" pitchFamily="34" charset="0"/>
            </a:endParaRPr>
          </a:p>
        </p:txBody>
      </p:sp>
    </p:spTree>
    <p:extLst>
      <p:ext uri="{BB962C8B-B14F-4D97-AF65-F5344CB8AC3E}">
        <p14:creationId xmlns:p14="http://schemas.microsoft.com/office/powerpoint/2010/main" val="19283371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90872" y="44624"/>
            <a:ext cx="8229600" cy="1143000"/>
          </a:xfrm>
        </p:spPr>
        <p:txBody>
          <a:bodyPr/>
          <a:lstStyle/>
          <a:p>
            <a:r>
              <a:rPr lang="tr-TR"/>
              <a:t>Brisa – Yönetimsel Bakış </a:t>
            </a:r>
            <a:r>
              <a:rPr lang="tr-TR" sz="2400"/>
              <a:t>(Ön çalışma)</a:t>
            </a:r>
            <a:endParaRPr lang="en-GB"/>
          </a:p>
        </p:txBody>
      </p:sp>
      <p:graphicFrame>
        <p:nvGraphicFramePr>
          <p:cNvPr id="5" name="Table 4"/>
          <p:cNvGraphicFramePr>
            <a:graphicFrameLocks noGrp="1"/>
          </p:cNvGraphicFramePr>
          <p:nvPr/>
        </p:nvGraphicFramePr>
        <p:xfrm>
          <a:off x="251520" y="1556792"/>
          <a:ext cx="8640960" cy="3384372"/>
        </p:xfrm>
        <a:graphic>
          <a:graphicData uri="http://schemas.openxmlformats.org/drawingml/2006/table">
            <a:tbl>
              <a:tblPr/>
              <a:tblGrid>
                <a:gridCol w="3113288">
                  <a:extLst>
                    <a:ext uri="{9D8B030D-6E8A-4147-A177-3AD203B41FA5}">
                      <a16:colId xmlns:a16="http://schemas.microsoft.com/office/drawing/2014/main" val="20000"/>
                    </a:ext>
                  </a:extLst>
                </a:gridCol>
                <a:gridCol w="778321">
                  <a:extLst>
                    <a:ext uri="{9D8B030D-6E8A-4147-A177-3AD203B41FA5}">
                      <a16:colId xmlns:a16="http://schemas.microsoft.com/office/drawing/2014/main" val="20001"/>
                    </a:ext>
                  </a:extLst>
                </a:gridCol>
                <a:gridCol w="778321">
                  <a:extLst>
                    <a:ext uri="{9D8B030D-6E8A-4147-A177-3AD203B41FA5}">
                      <a16:colId xmlns:a16="http://schemas.microsoft.com/office/drawing/2014/main" val="20002"/>
                    </a:ext>
                  </a:extLst>
                </a:gridCol>
                <a:gridCol w="794206">
                  <a:extLst>
                    <a:ext uri="{9D8B030D-6E8A-4147-A177-3AD203B41FA5}">
                      <a16:colId xmlns:a16="http://schemas.microsoft.com/office/drawing/2014/main" val="20003"/>
                    </a:ext>
                  </a:extLst>
                </a:gridCol>
                <a:gridCol w="794206">
                  <a:extLst>
                    <a:ext uri="{9D8B030D-6E8A-4147-A177-3AD203B41FA5}">
                      <a16:colId xmlns:a16="http://schemas.microsoft.com/office/drawing/2014/main" val="20004"/>
                    </a:ext>
                  </a:extLst>
                </a:gridCol>
                <a:gridCol w="794206">
                  <a:extLst>
                    <a:ext uri="{9D8B030D-6E8A-4147-A177-3AD203B41FA5}">
                      <a16:colId xmlns:a16="http://schemas.microsoft.com/office/drawing/2014/main" val="20005"/>
                    </a:ext>
                  </a:extLst>
                </a:gridCol>
                <a:gridCol w="794206">
                  <a:extLst>
                    <a:ext uri="{9D8B030D-6E8A-4147-A177-3AD203B41FA5}">
                      <a16:colId xmlns:a16="http://schemas.microsoft.com/office/drawing/2014/main" val="20006"/>
                    </a:ext>
                  </a:extLst>
                </a:gridCol>
                <a:gridCol w="794206">
                  <a:extLst>
                    <a:ext uri="{9D8B030D-6E8A-4147-A177-3AD203B41FA5}">
                      <a16:colId xmlns:a16="http://schemas.microsoft.com/office/drawing/2014/main" val="20007"/>
                    </a:ext>
                  </a:extLst>
                </a:gridCol>
              </a:tblGrid>
              <a:tr h="282031">
                <a:tc>
                  <a:txBody>
                    <a:bodyPr/>
                    <a:lstStyle/>
                    <a:p>
                      <a:pPr algn="l" fontAlgn="b"/>
                      <a:r>
                        <a:rPr lang="en-GB" sz="1800" b="1" i="0" u="none" strike="noStrike">
                          <a:solidFill>
                            <a:srgbClr val="000000"/>
                          </a:solidFill>
                          <a:latin typeface="Calibri"/>
                        </a:rPr>
                        <a:t>(TL </a:t>
                      </a:r>
                      <a:r>
                        <a:rPr lang="en-GB" sz="1800" b="1" i="0" u="none" strike="noStrike" err="1">
                          <a:solidFill>
                            <a:srgbClr val="000000"/>
                          </a:solidFill>
                          <a:latin typeface="Calibri"/>
                        </a:rPr>
                        <a:t>milyon</a:t>
                      </a:r>
                      <a:r>
                        <a:rPr lang="en-GB" sz="1800" b="1" i="0" u="none" strike="noStrike">
                          <a:solidFill>
                            <a:srgbClr val="000000"/>
                          </a:solidFill>
                          <a:latin typeface="Calibri"/>
                        </a:rPr>
                        <a:t>)</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2010</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2011</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2012</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2013</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201</a:t>
                      </a:r>
                      <a:r>
                        <a:rPr lang="tr-TR" sz="1800" b="1" i="0" u="none" strike="noStrike">
                          <a:solidFill>
                            <a:srgbClr val="000000"/>
                          </a:solidFill>
                          <a:latin typeface="Calibri"/>
                        </a:rPr>
                        <a:t>4</a:t>
                      </a:r>
                      <a:endParaRPr lang="en-GB" sz="18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tr-TR" sz="1800" b="1" i="0" u="none" strike="noStrike">
                          <a:solidFill>
                            <a:srgbClr val="000000"/>
                          </a:solidFill>
                          <a:latin typeface="Calibri"/>
                        </a:rPr>
                        <a:t>2015</a:t>
                      </a:r>
                      <a:endParaRPr lang="en-GB" sz="18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tr-TR" sz="1800" b="1" i="0" u="none" strike="noStrike">
                          <a:solidFill>
                            <a:srgbClr val="000000"/>
                          </a:solidFill>
                          <a:latin typeface="Calibri"/>
                        </a:rPr>
                        <a:t>2016</a:t>
                      </a:r>
                      <a:endParaRPr lang="en-GB" sz="1800" b="1" i="0" u="none" strike="noStrike">
                        <a:solidFill>
                          <a:srgbClr val="000000"/>
                        </a:solidFill>
                        <a:latin typeface="Calibri"/>
                      </a:endParaRPr>
                    </a:p>
                  </a:txBody>
                  <a:tcPr marL="7620" marR="7620" marT="7620" marB="0" anchor="b">
                    <a:lnL>
                      <a:noFill/>
                    </a:lnL>
                    <a:lnR>
                      <a:noFill/>
                    </a:lnR>
                    <a:lnT>
                      <a:noFill/>
                    </a:lnT>
                    <a:lnB>
                      <a:noFill/>
                    </a:lnB>
                  </a:tcPr>
                </a:tc>
                <a:extLst>
                  <a:ext uri="{0D108BD9-81ED-4DB2-BD59-A6C34878D82A}">
                    <a16:rowId xmlns:a16="http://schemas.microsoft.com/office/drawing/2014/main" val="10000"/>
                  </a:ext>
                </a:extLst>
              </a:tr>
              <a:tr h="282031">
                <a:tc>
                  <a:txBody>
                    <a:bodyPr/>
                    <a:lstStyle/>
                    <a:p>
                      <a:pPr algn="l" fontAlgn="b"/>
                      <a:r>
                        <a:rPr lang="en-GB" sz="1800" b="0" i="0" u="none" strike="noStrike">
                          <a:solidFill>
                            <a:srgbClr val="000000"/>
                          </a:solidFill>
                          <a:latin typeface="Calibri"/>
                        </a:rPr>
                        <a:t>Satış Gelirleri</a:t>
                      </a:r>
                    </a:p>
                  </a:txBody>
                  <a:tcPr marL="7620" marR="7620" marT="7620" marB="0" anchor="b">
                    <a:lnL>
                      <a:noFill/>
                    </a:lnL>
                    <a:lnR>
                      <a:noFill/>
                    </a:lnR>
                    <a:lnT>
                      <a:noFill/>
                    </a:lnT>
                    <a:lnB>
                      <a:noFill/>
                    </a:lnB>
                  </a:tcPr>
                </a:tc>
                <a:tc>
                  <a:txBody>
                    <a:bodyPr/>
                    <a:lstStyle/>
                    <a:p>
                      <a:pPr algn="r" fontAlgn="b"/>
                      <a:r>
                        <a:rPr lang="en-GB" sz="1800" b="0" i="0" u="none" strike="noStrike">
                          <a:solidFill>
                            <a:srgbClr val="000000"/>
                          </a:solidFill>
                          <a:latin typeface="Calibri"/>
                        </a:rPr>
                        <a:t>980 </a:t>
                      </a:r>
                    </a:p>
                  </a:txBody>
                  <a:tcPr marL="7620" marR="7620" marT="7620" marB="0" anchor="b">
                    <a:lnL>
                      <a:noFill/>
                    </a:lnL>
                    <a:lnR>
                      <a:noFill/>
                    </a:lnR>
                    <a:lnT>
                      <a:noFill/>
                    </a:lnT>
                    <a:lnB>
                      <a:noFill/>
                    </a:lnB>
                  </a:tcPr>
                </a:tc>
                <a:tc>
                  <a:txBody>
                    <a:bodyPr/>
                    <a:lstStyle/>
                    <a:p>
                      <a:pPr algn="r" fontAlgn="b"/>
                      <a:r>
                        <a:rPr lang="en-GB" sz="1800" b="0" i="0" u="none" strike="noStrike">
                          <a:solidFill>
                            <a:srgbClr val="000000"/>
                          </a:solidFill>
                          <a:latin typeface="Calibri"/>
                        </a:rPr>
                        <a:t>1,348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1.424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1.489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1.693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1.802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1.766  </a:t>
                      </a:r>
                    </a:p>
                  </a:txBody>
                  <a:tcPr marL="7620" marR="7620" marT="7620" marB="0" anchor="b">
                    <a:lnL>
                      <a:noFill/>
                    </a:lnL>
                    <a:lnR>
                      <a:noFill/>
                    </a:lnR>
                    <a:lnT>
                      <a:noFill/>
                    </a:lnT>
                    <a:lnB>
                      <a:noFill/>
                    </a:lnB>
                  </a:tcPr>
                </a:tc>
                <a:extLst>
                  <a:ext uri="{0D108BD9-81ED-4DB2-BD59-A6C34878D82A}">
                    <a16:rowId xmlns:a16="http://schemas.microsoft.com/office/drawing/2014/main" val="10001"/>
                  </a:ext>
                </a:extLst>
              </a:tr>
              <a:tr h="282031">
                <a:tc>
                  <a:txBody>
                    <a:bodyPr/>
                    <a:lstStyle/>
                    <a:p>
                      <a:pPr algn="l" fontAlgn="b"/>
                      <a:r>
                        <a:rPr lang="en-GB" sz="1800" b="0" i="0" u="none" strike="noStrike">
                          <a:solidFill>
                            <a:srgbClr val="000000"/>
                          </a:solidFill>
                          <a:latin typeface="Calibri"/>
                        </a:rPr>
                        <a:t>Satışların Maliyeti (-)</a:t>
                      </a:r>
                    </a:p>
                  </a:txBody>
                  <a:tcPr marL="7620" marR="7620" marT="7620" marB="0" anchor="b">
                    <a:lnL>
                      <a:noFill/>
                    </a:lnL>
                    <a:lnR>
                      <a:noFill/>
                    </a:lnR>
                    <a:lnT>
                      <a:noFill/>
                    </a:lnT>
                    <a:lnB>
                      <a:noFill/>
                    </a:lnB>
                  </a:tcPr>
                </a:tc>
                <a:tc>
                  <a:txBody>
                    <a:bodyPr/>
                    <a:lstStyle/>
                    <a:p>
                      <a:pPr algn="r" fontAlgn="b"/>
                      <a:r>
                        <a:rPr lang="en-GB" sz="1800" b="0" i="0" u="none" strike="noStrike">
                          <a:solidFill>
                            <a:srgbClr val="000000"/>
                          </a:solidFill>
                          <a:latin typeface="Calibri"/>
                        </a:rPr>
                        <a:t>-777 </a:t>
                      </a:r>
                    </a:p>
                  </a:txBody>
                  <a:tcPr marL="7620" marR="7620" marT="7620" marB="0" anchor="b">
                    <a:lnL>
                      <a:noFill/>
                    </a:lnL>
                    <a:lnR>
                      <a:noFill/>
                    </a:lnR>
                    <a:lnT>
                      <a:noFill/>
                    </a:lnT>
                    <a:lnB>
                      <a:noFill/>
                    </a:lnB>
                  </a:tcPr>
                </a:tc>
                <a:tc>
                  <a:txBody>
                    <a:bodyPr/>
                    <a:lstStyle/>
                    <a:p>
                      <a:pPr algn="r" fontAlgn="b"/>
                      <a:r>
                        <a:rPr lang="en-GB" sz="1800" b="0" i="0" u="none" strike="noStrike">
                          <a:solidFill>
                            <a:srgbClr val="000000"/>
                          </a:solidFill>
                          <a:latin typeface="Calibri"/>
                        </a:rPr>
                        <a:t>-1,092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-1.099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-1.098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-1.206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-1.240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-1.248  </a:t>
                      </a:r>
                    </a:p>
                  </a:txBody>
                  <a:tcPr marL="7620" marR="7620" marT="7620" marB="0" anchor="b">
                    <a:lnL>
                      <a:noFill/>
                    </a:lnL>
                    <a:lnR>
                      <a:noFill/>
                    </a:lnR>
                    <a:lnT>
                      <a:noFill/>
                    </a:lnT>
                    <a:lnB>
                      <a:noFill/>
                    </a:lnB>
                  </a:tcPr>
                </a:tc>
                <a:extLst>
                  <a:ext uri="{0D108BD9-81ED-4DB2-BD59-A6C34878D82A}">
                    <a16:rowId xmlns:a16="http://schemas.microsoft.com/office/drawing/2014/main" val="10002"/>
                  </a:ext>
                </a:extLst>
              </a:tr>
              <a:tr h="282031">
                <a:tc>
                  <a:txBody>
                    <a:bodyPr/>
                    <a:lstStyle/>
                    <a:p>
                      <a:pPr algn="l" fontAlgn="b"/>
                      <a:r>
                        <a:rPr lang="en-GB" sz="1800" b="0" i="0" u="none" strike="noStrike">
                          <a:solidFill>
                            <a:srgbClr val="000000"/>
                          </a:solidFill>
                          <a:latin typeface="Calibri"/>
                        </a:rPr>
                        <a:t>Faaliyet Giderleri (-)</a:t>
                      </a:r>
                    </a:p>
                  </a:txBody>
                  <a:tcPr marL="7620" marR="7620" marT="7620" marB="0" anchor="b">
                    <a:lnL>
                      <a:noFill/>
                    </a:lnL>
                    <a:lnR>
                      <a:noFill/>
                    </a:lnR>
                    <a:lnT>
                      <a:noFill/>
                    </a:lnT>
                    <a:lnB>
                      <a:noFill/>
                    </a:lnB>
                  </a:tcPr>
                </a:tc>
                <a:tc>
                  <a:txBody>
                    <a:bodyPr/>
                    <a:lstStyle/>
                    <a:p>
                      <a:pPr algn="r" fontAlgn="b"/>
                      <a:r>
                        <a:rPr lang="en-GB" sz="1800" b="0" i="0" u="none" strike="noStrike">
                          <a:solidFill>
                            <a:srgbClr val="000000"/>
                          </a:solidFill>
                          <a:latin typeface="Calibri"/>
                        </a:rPr>
                        <a:t>-137 </a:t>
                      </a:r>
                    </a:p>
                  </a:txBody>
                  <a:tcPr marL="7620" marR="7620" marT="7620" marB="0" anchor="b">
                    <a:lnL>
                      <a:noFill/>
                    </a:lnL>
                    <a:lnR>
                      <a:noFill/>
                    </a:lnR>
                    <a:lnT>
                      <a:noFill/>
                    </a:lnT>
                    <a:lnB>
                      <a:noFill/>
                    </a:lnB>
                  </a:tcPr>
                </a:tc>
                <a:tc>
                  <a:txBody>
                    <a:bodyPr/>
                    <a:lstStyle/>
                    <a:p>
                      <a:pPr algn="r" fontAlgn="b"/>
                      <a:r>
                        <a:rPr lang="en-GB" sz="1800" b="0" i="0" u="none" strike="noStrike">
                          <a:solidFill>
                            <a:srgbClr val="000000"/>
                          </a:solidFill>
                          <a:latin typeface="Calibri"/>
                        </a:rPr>
                        <a:t>-155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-161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-186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-224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-265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-300  </a:t>
                      </a:r>
                    </a:p>
                  </a:txBody>
                  <a:tcPr marL="7620" marR="7620" marT="7620" marB="0" anchor="b">
                    <a:lnL>
                      <a:noFill/>
                    </a:lnL>
                    <a:lnR>
                      <a:noFill/>
                    </a:lnR>
                    <a:lnT>
                      <a:noFill/>
                    </a:lnT>
                    <a:lnB>
                      <a:noFill/>
                    </a:lnB>
                  </a:tcPr>
                </a:tc>
                <a:extLst>
                  <a:ext uri="{0D108BD9-81ED-4DB2-BD59-A6C34878D82A}">
                    <a16:rowId xmlns:a16="http://schemas.microsoft.com/office/drawing/2014/main" val="10003"/>
                  </a:ext>
                </a:extLst>
              </a:tr>
              <a:tr h="282031">
                <a:tc>
                  <a:txBody>
                    <a:bodyPr/>
                    <a:lstStyle/>
                    <a:p>
                      <a:pPr algn="l" fontAlgn="b"/>
                      <a:r>
                        <a:rPr lang="en-GB" sz="1800" b="0" i="0" u="none" strike="noStrike" err="1">
                          <a:solidFill>
                            <a:srgbClr val="000000"/>
                          </a:solidFill>
                          <a:latin typeface="Calibri"/>
                        </a:rPr>
                        <a:t>Amortis</a:t>
                      </a:r>
                      <a:r>
                        <a:rPr lang="tr-TR" sz="1800" b="0" i="0" u="none" strike="noStrike">
                          <a:solidFill>
                            <a:srgbClr val="000000"/>
                          </a:solidFill>
                          <a:latin typeface="Calibri"/>
                        </a:rPr>
                        <a:t>.</a:t>
                      </a:r>
                      <a:r>
                        <a:rPr lang="en-GB" sz="1800" b="0" i="0" u="none" strike="noStrike">
                          <a:solidFill>
                            <a:srgbClr val="000000"/>
                          </a:solidFill>
                          <a:latin typeface="Calibri"/>
                        </a:rPr>
                        <a:t> </a:t>
                      </a:r>
                      <a:r>
                        <a:rPr lang="en-GB" sz="1800" b="0" i="0" u="none" strike="noStrike" err="1">
                          <a:solidFill>
                            <a:srgbClr val="000000"/>
                          </a:solidFill>
                          <a:latin typeface="Calibri"/>
                        </a:rPr>
                        <a:t>ve</a:t>
                      </a:r>
                      <a:r>
                        <a:rPr lang="en-GB" sz="1800" b="0" i="0" u="none" strike="noStrike">
                          <a:solidFill>
                            <a:srgbClr val="000000"/>
                          </a:solidFill>
                          <a:latin typeface="Calibri"/>
                        </a:rPr>
                        <a:t> Kıd</a:t>
                      </a:r>
                      <a:r>
                        <a:rPr lang="tr-TR" sz="1800" b="0" i="0" u="none" strike="noStrike">
                          <a:solidFill>
                            <a:srgbClr val="000000"/>
                          </a:solidFill>
                          <a:latin typeface="Calibri"/>
                        </a:rPr>
                        <a:t>.</a:t>
                      </a:r>
                      <a:r>
                        <a:rPr lang="en-GB" sz="1800" b="0" i="0" u="none" strike="noStrike" err="1">
                          <a:solidFill>
                            <a:srgbClr val="000000"/>
                          </a:solidFill>
                          <a:latin typeface="Calibri"/>
                        </a:rPr>
                        <a:t>Taz</a:t>
                      </a:r>
                      <a:r>
                        <a:rPr lang="tr-TR" sz="1800" b="0" i="0" u="none" strike="noStrike">
                          <a:solidFill>
                            <a:srgbClr val="000000"/>
                          </a:solidFill>
                          <a:latin typeface="Calibri"/>
                        </a:rPr>
                        <a:t>.</a:t>
                      </a:r>
                      <a:r>
                        <a:rPr lang="en-GB" sz="1800" b="0" i="0" u="none" strike="noStrike">
                          <a:solidFill>
                            <a:srgbClr val="000000"/>
                          </a:solidFill>
                          <a:latin typeface="Calibri"/>
                        </a:rPr>
                        <a:t> </a:t>
                      </a:r>
                      <a:r>
                        <a:rPr lang="en-GB" sz="1800" b="0" i="0" u="none" strike="noStrike" err="1">
                          <a:solidFill>
                            <a:srgbClr val="000000"/>
                          </a:solidFill>
                          <a:latin typeface="Calibri"/>
                        </a:rPr>
                        <a:t>Karşılığı</a:t>
                      </a:r>
                      <a:r>
                        <a:rPr lang="en-GB" sz="1800" b="0" i="0" u="none" strike="noStrike">
                          <a:solidFill>
                            <a:srgbClr val="000000"/>
                          </a:solidFill>
                          <a:latin typeface="Calibri"/>
                        </a:rPr>
                        <a:t>(+)</a:t>
                      </a:r>
                    </a:p>
                  </a:txBody>
                  <a:tcPr marL="7620" marR="7620" marT="7620" marB="0" anchor="b">
                    <a:lnL>
                      <a:noFill/>
                    </a:lnL>
                    <a:lnR>
                      <a:noFill/>
                    </a:lnR>
                    <a:lnT>
                      <a:noFill/>
                    </a:lnT>
                    <a:lnB>
                      <a:noFill/>
                    </a:lnB>
                  </a:tcPr>
                </a:tc>
                <a:tc>
                  <a:txBody>
                    <a:bodyPr/>
                    <a:lstStyle/>
                    <a:p>
                      <a:pPr algn="r" fontAlgn="b"/>
                      <a:r>
                        <a:rPr lang="en-GB" sz="1800" b="0" i="0" u="none" strike="noStrike">
                          <a:solidFill>
                            <a:srgbClr val="000000"/>
                          </a:solidFill>
                          <a:latin typeface="Calibri"/>
                        </a:rPr>
                        <a:t>62 </a:t>
                      </a:r>
                    </a:p>
                  </a:txBody>
                  <a:tcPr marL="7620" marR="7620" marT="7620" marB="0" anchor="b">
                    <a:lnL>
                      <a:noFill/>
                    </a:lnL>
                    <a:lnR>
                      <a:noFill/>
                    </a:lnR>
                    <a:lnT>
                      <a:noFill/>
                    </a:lnT>
                    <a:lnB>
                      <a:noFill/>
                    </a:lnB>
                  </a:tcPr>
                </a:tc>
                <a:tc>
                  <a:txBody>
                    <a:bodyPr/>
                    <a:lstStyle/>
                    <a:p>
                      <a:pPr algn="r" fontAlgn="b"/>
                      <a:r>
                        <a:rPr lang="en-GB" sz="1800" b="0" i="0" u="none" strike="noStrike">
                          <a:solidFill>
                            <a:srgbClr val="000000"/>
                          </a:solidFill>
                          <a:latin typeface="Calibri"/>
                        </a:rPr>
                        <a:t>62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77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85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100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123  </a:t>
                      </a:r>
                    </a:p>
                  </a:txBody>
                  <a:tcPr marL="7620" marR="7620" marT="762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106</a:t>
                      </a:r>
                      <a:r>
                        <a:rPr lang="en-US" sz="18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4"/>
                  </a:ext>
                </a:extLst>
              </a:tr>
              <a:tr h="282031">
                <a:tc>
                  <a:txBody>
                    <a:bodyPr/>
                    <a:lstStyle/>
                    <a:p>
                      <a:pPr algn="l" fontAlgn="b"/>
                      <a:r>
                        <a:rPr lang="en-GB" sz="1800" b="0" i="0" u="none" strike="noStrike">
                          <a:solidFill>
                            <a:srgbClr val="000000"/>
                          </a:solidFill>
                          <a:latin typeface="Calibri"/>
                        </a:rPr>
                        <a:t>Vergi gideri (-)</a:t>
                      </a:r>
                    </a:p>
                  </a:txBody>
                  <a:tcPr marL="7620" marR="7620" marT="7620" marB="0" anchor="b">
                    <a:lnL>
                      <a:noFill/>
                    </a:lnL>
                    <a:lnR>
                      <a:noFill/>
                    </a:lnR>
                    <a:lnT>
                      <a:noFill/>
                    </a:lnT>
                    <a:lnB>
                      <a:noFill/>
                    </a:lnB>
                  </a:tcPr>
                </a:tc>
                <a:tc>
                  <a:txBody>
                    <a:bodyPr/>
                    <a:lstStyle/>
                    <a:p>
                      <a:pPr algn="r" fontAlgn="b"/>
                      <a:r>
                        <a:rPr lang="en-GB" sz="1800" b="0" i="0" u="none" strike="noStrike">
                          <a:solidFill>
                            <a:srgbClr val="000000"/>
                          </a:solidFill>
                          <a:latin typeface="Calibri"/>
                        </a:rPr>
                        <a:t>-9 </a:t>
                      </a:r>
                    </a:p>
                  </a:txBody>
                  <a:tcPr marL="7620" marR="7620" marT="7620" marB="0" anchor="b">
                    <a:lnL>
                      <a:noFill/>
                    </a:lnL>
                    <a:lnR>
                      <a:noFill/>
                    </a:lnR>
                    <a:lnT>
                      <a:noFill/>
                    </a:lnT>
                    <a:lnB>
                      <a:noFill/>
                    </a:lnB>
                  </a:tcPr>
                </a:tc>
                <a:tc>
                  <a:txBody>
                    <a:bodyPr/>
                    <a:lstStyle/>
                    <a:p>
                      <a:pPr algn="r" fontAlgn="b"/>
                      <a:r>
                        <a:rPr lang="en-GB" sz="1800" b="0" i="0" u="none" strike="noStrike">
                          <a:solidFill>
                            <a:srgbClr val="000000"/>
                          </a:solidFill>
                          <a:latin typeface="Calibri"/>
                        </a:rPr>
                        <a:t>-14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-18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-22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-10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-25  </a:t>
                      </a:r>
                    </a:p>
                  </a:txBody>
                  <a:tcPr marL="7620" marR="7620" marT="7620" marB="0" anchor="b">
                    <a:lnL>
                      <a:noFill/>
                    </a:lnL>
                    <a:lnR>
                      <a:noFill/>
                    </a:lnR>
                    <a:lnT>
                      <a:noFill/>
                    </a:lnT>
                    <a:lnB>
                      <a:noFill/>
                    </a:lnB>
                  </a:tcPr>
                </a:tc>
                <a:tc>
                  <a:txBody>
                    <a:bodyPr/>
                    <a:lstStyle/>
                    <a:p>
                      <a:pPr algn="r" fontAlgn="b"/>
                      <a:r>
                        <a:rPr lang="en-US" sz="1800" b="0" i="0" u="none" strike="noStrike">
                          <a:solidFill>
                            <a:srgbClr val="000000"/>
                          </a:solidFill>
                          <a:effectLst/>
                          <a:latin typeface="Calibri" panose="020F0502020204030204" pitchFamily="34" charset="0"/>
                        </a:rPr>
                        <a:t>-</a:t>
                      </a:r>
                      <a:r>
                        <a:rPr lang="tr-TR" sz="1800" b="0" i="0" u="none" strike="noStrike">
                          <a:solidFill>
                            <a:srgbClr val="000000"/>
                          </a:solidFill>
                          <a:effectLst/>
                          <a:latin typeface="Calibri" panose="020F0502020204030204" pitchFamily="34" charset="0"/>
                        </a:rPr>
                        <a:t>4</a:t>
                      </a:r>
                      <a:r>
                        <a:rPr lang="en-US" sz="18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5"/>
                  </a:ext>
                </a:extLst>
              </a:tr>
              <a:tr h="282031">
                <a:tc>
                  <a:txBody>
                    <a:bodyPr/>
                    <a:lstStyle/>
                    <a:p>
                      <a:pPr algn="l" fontAlgn="b"/>
                      <a:r>
                        <a:rPr lang="en-GB" sz="1800" b="1" i="0" u="none" strike="noStrike" err="1">
                          <a:solidFill>
                            <a:srgbClr val="000000"/>
                          </a:solidFill>
                          <a:latin typeface="Calibri"/>
                        </a:rPr>
                        <a:t>Karlılık</a:t>
                      </a:r>
                      <a:r>
                        <a:rPr lang="en-GB" sz="1800" b="1" i="0" u="none" strike="noStrike">
                          <a:solidFill>
                            <a:srgbClr val="000000"/>
                          </a:solidFill>
                          <a:latin typeface="Calibri"/>
                        </a:rPr>
                        <a:t> </a:t>
                      </a:r>
                      <a:r>
                        <a:rPr lang="en-GB" sz="1800" b="1" i="0" u="none" strike="noStrike" err="1">
                          <a:solidFill>
                            <a:srgbClr val="000000"/>
                          </a:solidFill>
                          <a:latin typeface="Calibri"/>
                        </a:rPr>
                        <a:t>Bileşeni</a:t>
                      </a:r>
                      <a:endParaRPr lang="en-GB" sz="18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118 </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149 </a:t>
                      </a:r>
                    </a:p>
                  </a:txBody>
                  <a:tcPr marL="7620" marR="7620" marT="7620"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223  </a:t>
                      </a:r>
                    </a:p>
                  </a:txBody>
                  <a:tcPr marL="7620" marR="7620" marT="7620"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268  </a:t>
                      </a:r>
                    </a:p>
                  </a:txBody>
                  <a:tcPr marL="7620" marR="7620" marT="7620"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353  </a:t>
                      </a:r>
                    </a:p>
                  </a:txBody>
                  <a:tcPr marL="7620" marR="7620" marT="7620"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395  </a:t>
                      </a:r>
                    </a:p>
                  </a:txBody>
                  <a:tcPr marL="7620" marR="7620" marT="7620"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3</a:t>
                      </a:r>
                      <a:r>
                        <a:rPr lang="tr-TR" sz="1800" b="1" i="0" u="none" strike="noStrike">
                          <a:solidFill>
                            <a:srgbClr val="000000"/>
                          </a:solidFill>
                          <a:effectLst/>
                          <a:latin typeface="Calibri" panose="020F0502020204030204" pitchFamily="34" charset="0"/>
                        </a:rPr>
                        <a:t>20</a:t>
                      </a:r>
                      <a:r>
                        <a:rPr lang="en-US" sz="1800" b="1"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6"/>
                  </a:ext>
                </a:extLst>
              </a:tr>
              <a:tr h="282031">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extLst>
                  <a:ext uri="{0D108BD9-81ED-4DB2-BD59-A6C34878D82A}">
                    <a16:rowId xmlns:a16="http://schemas.microsoft.com/office/drawing/2014/main" val="10007"/>
                  </a:ext>
                </a:extLst>
              </a:tr>
              <a:tr h="282031">
                <a:tc>
                  <a:txBody>
                    <a:bodyPr/>
                    <a:lstStyle/>
                    <a:p>
                      <a:pPr algn="l" fontAlgn="b"/>
                      <a:r>
                        <a:rPr lang="en-GB" sz="1800" b="0" i="0" u="none" strike="noStrike" err="1">
                          <a:solidFill>
                            <a:srgbClr val="000000"/>
                          </a:solidFill>
                          <a:latin typeface="Calibri"/>
                        </a:rPr>
                        <a:t>İşletme</a:t>
                      </a:r>
                      <a:r>
                        <a:rPr lang="en-GB" sz="1800" b="0" i="0" u="none" strike="noStrike">
                          <a:solidFill>
                            <a:srgbClr val="000000"/>
                          </a:solidFill>
                          <a:latin typeface="Calibri"/>
                        </a:rPr>
                        <a:t> </a:t>
                      </a:r>
                      <a:r>
                        <a:rPr lang="en-GB" sz="1800" b="0" i="0" u="none" strike="noStrike" err="1">
                          <a:solidFill>
                            <a:srgbClr val="000000"/>
                          </a:solidFill>
                          <a:latin typeface="Calibri"/>
                        </a:rPr>
                        <a:t>Sermayesi</a:t>
                      </a:r>
                      <a:r>
                        <a:rPr lang="en-GB" sz="1800" b="0" i="0" u="none" strike="noStrike">
                          <a:solidFill>
                            <a:srgbClr val="000000"/>
                          </a:solidFill>
                          <a:latin typeface="Calibri"/>
                        </a:rPr>
                        <a:t> </a:t>
                      </a:r>
                      <a:r>
                        <a:rPr lang="en-GB" sz="1800" b="0" i="0" u="none" strike="noStrike" err="1">
                          <a:solidFill>
                            <a:srgbClr val="000000"/>
                          </a:solidFill>
                          <a:latin typeface="Calibri"/>
                        </a:rPr>
                        <a:t>Değişimi</a:t>
                      </a:r>
                      <a:r>
                        <a:rPr lang="en-GB" sz="1800" b="0" i="0" u="none" strike="noStrike">
                          <a:solidFill>
                            <a:srgbClr val="000000"/>
                          </a:solidFill>
                          <a:latin typeface="Calibri"/>
                        </a:rPr>
                        <a:t> (-)</a:t>
                      </a:r>
                    </a:p>
                  </a:txBody>
                  <a:tcPr marL="7620" marR="7620" marT="7620" marB="0" anchor="b">
                    <a:lnL>
                      <a:noFill/>
                    </a:lnL>
                    <a:lnR>
                      <a:noFill/>
                    </a:lnR>
                    <a:lnT>
                      <a:noFill/>
                    </a:lnT>
                    <a:lnB>
                      <a:noFill/>
                    </a:lnB>
                  </a:tcPr>
                </a:tc>
                <a:tc>
                  <a:txBody>
                    <a:bodyPr/>
                    <a:lstStyle/>
                    <a:p>
                      <a:pPr algn="r"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0008"/>
                  </a:ext>
                </a:extLst>
              </a:tr>
              <a:tr h="282031">
                <a:tc>
                  <a:txBody>
                    <a:bodyPr/>
                    <a:lstStyle/>
                    <a:p>
                      <a:pPr algn="l" fontAlgn="b"/>
                      <a:r>
                        <a:rPr lang="en-GB" sz="1800" b="1" i="0" u="none" strike="noStrike" err="1">
                          <a:solidFill>
                            <a:srgbClr val="000000"/>
                          </a:solidFill>
                          <a:latin typeface="Calibri"/>
                        </a:rPr>
                        <a:t>Yatırım</a:t>
                      </a:r>
                      <a:r>
                        <a:rPr lang="en-GB" sz="1800" b="1" i="0" u="none" strike="noStrike">
                          <a:solidFill>
                            <a:srgbClr val="000000"/>
                          </a:solidFill>
                          <a:latin typeface="Calibri"/>
                        </a:rPr>
                        <a:t> </a:t>
                      </a:r>
                      <a:r>
                        <a:rPr lang="en-GB" sz="1800" b="1" i="0" u="none" strike="noStrike" err="1">
                          <a:solidFill>
                            <a:srgbClr val="000000"/>
                          </a:solidFill>
                          <a:latin typeface="Calibri"/>
                        </a:rPr>
                        <a:t>Bileşeni</a:t>
                      </a:r>
                      <a:endParaRPr lang="en-GB" sz="18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-104 </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-194 </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-81 </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a:t>
                      </a:r>
                      <a:r>
                        <a:rPr lang="tr-TR" sz="1800" b="1" i="0" u="none" strike="noStrike">
                          <a:solidFill>
                            <a:srgbClr val="000000"/>
                          </a:solidFill>
                          <a:latin typeface="Calibri"/>
                        </a:rPr>
                        <a:t>2</a:t>
                      </a:r>
                      <a:r>
                        <a:rPr lang="en-GB" sz="1800" b="1" i="0" u="none" strike="noStrike">
                          <a:solidFill>
                            <a:srgbClr val="000000"/>
                          </a:solidFill>
                          <a:latin typeface="Calibri"/>
                        </a:rPr>
                        <a:t>6 </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a:t>
                      </a:r>
                      <a:r>
                        <a:rPr lang="tr-TR" sz="1800" b="1" i="0" u="none" strike="noStrike">
                          <a:solidFill>
                            <a:srgbClr val="000000"/>
                          </a:solidFill>
                          <a:latin typeface="Calibri"/>
                        </a:rPr>
                        <a:t>90</a:t>
                      </a:r>
                      <a:r>
                        <a:rPr lang="en-GB" sz="1800" b="1" i="0" u="none" strike="noStrike">
                          <a:solidFill>
                            <a:srgbClr val="000000"/>
                          </a:solidFill>
                          <a:latin typeface="Calibri"/>
                        </a:rPr>
                        <a:t> </a:t>
                      </a:r>
                    </a:p>
                  </a:txBody>
                  <a:tcPr marL="7620" marR="7620" marT="7620" marB="0" anchor="b">
                    <a:lnL>
                      <a:noFill/>
                    </a:lnL>
                    <a:lnR>
                      <a:noFill/>
                    </a:lnR>
                    <a:lnT>
                      <a:noFill/>
                    </a:lnT>
                    <a:lnB>
                      <a:noFill/>
                    </a:lnB>
                  </a:tcPr>
                </a:tc>
                <a:tc>
                  <a:txBody>
                    <a:bodyPr/>
                    <a:lstStyle/>
                    <a:p>
                      <a:pPr algn="r" fontAlgn="b"/>
                      <a:r>
                        <a:rPr lang="tr-TR" sz="1800" b="1" i="0" u="none" strike="noStrike">
                          <a:solidFill>
                            <a:srgbClr val="000000"/>
                          </a:solidFill>
                          <a:latin typeface="Calibri"/>
                        </a:rPr>
                        <a:t>-179</a:t>
                      </a:r>
                      <a:endParaRPr lang="en-GB" sz="18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tr-TR" sz="1800" b="1" i="0" u="none" strike="noStrike">
                          <a:solidFill>
                            <a:srgbClr val="000000"/>
                          </a:solidFill>
                          <a:latin typeface="Calibri"/>
                        </a:rPr>
                        <a:t>-17</a:t>
                      </a:r>
                      <a:endParaRPr lang="en-GB" sz="1800" b="1" i="0" u="none" strike="noStrike">
                        <a:solidFill>
                          <a:srgbClr val="000000"/>
                        </a:solidFill>
                        <a:latin typeface="Calibri"/>
                      </a:endParaRPr>
                    </a:p>
                  </a:txBody>
                  <a:tcPr marL="7620" marR="7620" marT="7620" marB="0" anchor="b">
                    <a:lnL>
                      <a:noFill/>
                    </a:lnL>
                    <a:lnR>
                      <a:noFill/>
                    </a:lnR>
                    <a:lnT>
                      <a:noFill/>
                    </a:lnT>
                    <a:lnB>
                      <a:noFill/>
                    </a:lnB>
                  </a:tcPr>
                </a:tc>
                <a:extLst>
                  <a:ext uri="{0D108BD9-81ED-4DB2-BD59-A6C34878D82A}">
                    <a16:rowId xmlns:a16="http://schemas.microsoft.com/office/drawing/2014/main" val="10009"/>
                  </a:ext>
                </a:extLst>
              </a:tr>
              <a:tr h="282031">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l" fontAlgn="b"/>
                      <a:endParaRPr lang="en-GB" sz="1800" b="0" i="0" u="none" strike="noStrike">
                        <a:solidFill>
                          <a:srgbClr val="000000"/>
                        </a:solidFill>
                        <a:latin typeface="Calibri"/>
                      </a:endParaRPr>
                    </a:p>
                  </a:txBody>
                  <a:tcPr marL="7620" marR="7620" marT="7620" marB="0" anchor="b">
                    <a:lnL>
                      <a:noFill/>
                    </a:lnL>
                    <a:lnR>
                      <a:noFill/>
                    </a:lnR>
                    <a:lnT>
                      <a:noFill/>
                    </a:lnT>
                    <a:lnB>
                      <a:noFill/>
                    </a:lnB>
                  </a:tcPr>
                </a:tc>
                <a:extLst>
                  <a:ext uri="{0D108BD9-81ED-4DB2-BD59-A6C34878D82A}">
                    <a16:rowId xmlns:a16="http://schemas.microsoft.com/office/drawing/2014/main" val="10010"/>
                  </a:ext>
                </a:extLst>
              </a:tr>
              <a:tr h="282031">
                <a:tc>
                  <a:txBody>
                    <a:bodyPr/>
                    <a:lstStyle/>
                    <a:p>
                      <a:pPr algn="l" fontAlgn="b"/>
                      <a:r>
                        <a:rPr lang="en-GB" sz="1800" b="1" i="0" u="none" strike="noStrike" err="1">
                          <a:solidFill>
                            <a:srgbClr val="000000"/>
                          </a:solidFill>
                          <a:latin typeface="Calibri"/>
                        </a:rPr>
                        <a:t>Faaliyetlerden</a:t>
                      </a:r>
                      <a:r>
                        <a:rPr lang="en-GB" sz="1800" b="1" i="0" u="none" strike="noStrike">
                          <a:solidFill>
                            <a:srgbClr val="000000"/>
                          </a:solidFill>
                          <a:latin typeface="Calibri"/>
                        </a:rPr>
                        <a:t> Net Nakit </a:t>
                      </a:r>
                      <a:r>
                        <a:rPr lang="en-GB" sz="1800" b="1" i="0" u="none" strike="noStrike" err="1">
                          <a:solidFill>
                            <a:srgbClr val="000000"/>
                          </a:solidFill>
                          <a:latin typeface="Calibri"/>
                        </a:rPr>
                        <a:t>Akımı</a:t>
                      </a:r>
                      <a:endParaRPr lang="en-GB" sz="18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14 </a:t>
                      </a:r>
                    </a:p>
                  </a:txBody>
                  <a:tcPr marL="7620" marR="7620" marT="7620" marB="0" anchor="b">
                    <a:lnL>
                      <a:noFill/>
                    </a:lnL>
                    <a:lnR>
                      <a:noFill/>
                    </a:lnR>
                    <a:lnT>
                      <a:noFill/>
                    </a:lnT>
                    <a:lnB>
                      <a:noFill/>
                    </a:lnB>
                  </a:tcPr>
                </a:tc>
                <a:tc>
                  <a:txBody>
                    <a:bodyPr/>
                    <a:lstStyle/>
                    <a:p>
                      <a:pPr algn="r" fontAlgn="b"/>
                      <a:r>
                        <a:rPr lang="en-GB" sz="1800" b="1" i="0" u="none" strike="noStrike">
                          <a:solidFill>
                            <a:srgbClr val="000000"/>
                          </a:solidFill>
                          <a:latin typeface="Calibri"/>
                        </a:rPr>
                        <a:t>-45 </a:t>
                      </a:r>
                    </a:p>
                  </a:txBody>
                  <a:tcPr marL="7620" marR="7620" marT="7620"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142  </a:t>
                      </a:r>
                    </a:p>
                  </a:txBody>
                  <a:tcPr marL="7620" marR="7620" marT="7620"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243  </a:t>
                      </a:r>
                    </a:p>
                  </a:txBody>
                  <a:tcPr marL="7620" marR="7620" marT="7620"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263  </a:t>
                      </a:r>
                    </a:p>
                  </a:txBody>
                  <a:tcPr marL="7620" marR="7620" marT="7620" marB="0" anchor="b">
                    <a:lnL>
                      <a:noFill/>
                    </a:lnL>
                    <a:lnR>
                      <a:noFill/>
                    </a:lnR>
                    <a:lnT>
                      <a:noFill/>
                    </a:lnT>
                    <a:lnB>
                      <a:noFill/>
                    </a:lnB>
                  </a:tcPr>
                </a:tc>
                <a:tc>
                  <a:txBody>
                    <a:bodyPr/>
                    <a:lstStyle/>
                    <a:p>
                      <a:pPr algn="r" fontAlgn="b"/>
                      <a:r>
                        <a:rPr lang="en-US" sz="1800" b="1" i="0" u="none" strike="noStrike">
                          <a:solidFill>
                            <a:srgbClr val="000000"/>
                          </a:solidFill>
                          <a:effectLst/>
                          <a:latin typeface="Calibri" panose="020F0502020204030204" pitchFamily="34" charset="0"/>
                        </a:rPr>
                        <a:t>215  </a:t>
                      </a:r>
                    </a:p>
                  </a:txBody>
                  <a:tcPr marL="7620" marR="7620" marT="7620" marB="0" anchor="b">
                    <a:lnL>
                      <a:noFill/>
                    </a:lnL>
                    <a:lnR>
                      <a:noFill/>
                    </a:lnR>
                    <a:lnT>
                      <a:noFill/>
                    </a:lnT>
                    <a:lnB>
                      <a:noFill/>
                    </a:lnB>
                  </a:tcPr>
                </a:tc>
                <a:tc>
                  <a:txBody>
                    <a:bodyPr/>
                    <a:lstStyle/>
                    <a:p>
                      <a:pPr algn="r" fontAlgn="b"/>
                      <a:r>
                        <a:rPr lang="tr-TR" sz="1800" b="1" i="0" u="none" strike="noStrike">
                          <a:solidFill>
                            <a:srgbClr val="000000"/>
                          </a:solidFill>
                          <a:effectLst/>
                          <a:latin typeface="Calibri" panose="020F0502020204030204" pitchFamily="34" charset="0"/>
                        </a:rPr>
                        <a:t>303</a:t>
                      </a:r>
                      <a:r>
                        <a:rPr lang="en-US" sz="1800" b="1"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11"/>
                  </a:ext>
                </a:extLst>
              </a:tr>
            </a:tbl>
          </a:graphicData>
        </a:graphic>
      </p:graphicFrame>
      <p:sp>
        <p:nvSpPr>
          <p:cNvPr id="4" name="Slide Number Placeholder 4">
            <a:extLst>
              <a:ext uri="{FF2B5EF4-FFF2-40B4-BE49-F238E27FC236}">
                <a16:creationId xmlns:a16="http://schemas.microsoft.com/office/drawing/2014/main" id="{B1A3F564-AD69-4984-8EDE-7D69F1EE59DB}"/>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96</a:t>
            </a:fld>
            <a:endParaRPr lang="tr-TR" sz="1200">
              <a:solidFill>
                <a:schemeClr val="tx2"/>
              </a:solidFill>
              <a:latin typeface="Verdana" pitchFamily="34" charset="0"/>
            </a:endParaRPr>
          </a:p>
        </p:txBody>
      </p:sp>
    </p:spTree>
    <p:extLst>
      <p:ext uri="{BB962C8B-B14F-4D97-AF65-F5344CB8AC3E}">
        <p14:creationId xmlns:p14="http://schemas.microsoft.com/office/powerpoint/2010/main" val="28256297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78904" y="44624"/>
            <a:ext cx="8229600" cy="1143000"/>
          </a:xfrm>
        </p:spPr>
        <p:txBody>
          <a:bodyPr/>
          <a:lstStyle/>
          <a:p>
            <a:r>
              <a:rPr lang="tr-TR"/>
              <a:t>Brisa – Nakit Akım Tablosu </a:t>
            </a:r>
            <a:r>
              <a:rPr lang="tr-TR" sz="1400" b="1"/>
              <a:t>(önçalışma)</a:t>
            </a:r>
            <a:endParaRPr lang="en-GB" sz="1400" b="1"/>
          </a:p>
        </p:txBody>
      </p:sp>
      <p:graphicFrame>
        <p:nvGraphicFramePr>
          <p:cNvPr id="4" name="Table 3"/>
          <p:cNvGraphicFramePr>
            <a:graphicFrameLocks noGrp="1"/>
          </p:cNvGraphicFramePr>
          <p:nvPr/>
        </p:nvGraphicFramePr>
        <p:xfrm>
          <a:off x="179510" y="1340768"/>
          <a:ext cx="8784977" cy="3522042"/>
        </p:xfrm>
        <a:graphic>
          <a:graphicData uri="http://schemas.openxmlformats.org/drawingml/2006/table">
            <a:tbl>
              <a:tblPr/>
              <a:tblGrid>
                <a:gridCol w="3096346">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859271">
                  <a:extLst>
                    <a:ext uri="{9D8B030D-6E8A-4147-A177-3AD203B41FA5}">
                      <a16:colId xmlns:a16="http://schemas.microsoft.com/office/drawing/2014/main" val="20002"/>
                    </a:ext>
                  </a:extLst>
                </a:gridCol>
                <a:gridCol w="749848">
                  <a:extLst>
                    <a:ext uri="{9D8B030D-6E8A-4147-A177-3AD203B41FA5}">
                      <a16:colId xmlns:a16="http://schemas.microsoft.com/office/drawing/2014/main" val="20003"/>
                    </a:ext>
                  </a:extLst>
                </a:gridCol>
                <a:gridCol w="749848">
                  <a:extLst>
                    <a:ext uri="{9D8B030D-6E8A-4147-A177-3AD203B41FA5}">
                      <a16:colId xmlns:a16="http://schemas.microsoft.com/office/drawing/2014/main" val="20004"/>
                    </a:ext>
                  </a:extLst>
                </a:gridCol>
                <a:gridCol w="749848">
                  <a:extLst>
                    <a:ext uri="{9D8B030D-6E8A-4147-A177-3AD203B41FA5}">
                      <a16:colId xmlns:a16="http://schemas.microsoft.com/office/drawing/2014/main" val="20005"/>
                    </a:ext>
                  </a:extLst>
                </a:gridCol>
                <a:gridCol w="749848">
                  <a:extLst>
                    <a:ext uri="{9D8B030D-6E8A-4147-A177-3AD203B41FA5}">
                      <a16:colId xmlns:a16="http://schemas.microsoft.com/office/drawing/2014/main" val="20006"/>
                    </a:ext>
                  </a:extLst>
                </a:gridCol>
                <a:gridCol w="749848">
                  <a:extLst>
                    <a:ext uri="{9D8B030D-6E8A-4147-A177-3AD203B41FA5}">
                      <a16:colId xmlns:a16="http://schemas.microsoft.com/office/drawing/2014/main" val="20007"/>
                    </a:ext>
                  </a:extLst>
                </a:gridCol>
              </a:tblGrid>
              <a:tr h="248680">
                <a:tc>
                  <a:txBody>
                    <a:bodyPr/>
                    <a:lstStyle/>
                    <a:p>
                      <a:pPr algn="l" fontAlgn="b"/>
                      <a:r>
                        <a:rPr lang="en-GB" sz="1600" b="1" i="0" u="none" strike="noStrike">
                          <a:solidFill>
                            <a:srgbClr val="FF0000"/>
                          </a:solidFill>
                          <a:latin typeface="Calibri"/>
                        </a:rPr>
                        <a:t>(TL </a:t>
                      </a:r>
                      <a:r>
                        <a:rPr lang="en-GB" sz="1600" b="1" i="0" u="none" strike="noStrike" err="1">
                          <a:solidFill>
                            <a:srgbClr val="FF0000"/>
                          </a:solidFill>
                          <a:latin typeface="Calibri"/>
                        </a:rPr>
                        <a:t>milyon</a:t>
                      </a:r>
                      <a:r>
                        <a:rPr lang="en-GB" sz="1600" b="1" i="0" u="none" strike="noStrike">
                          <a:solidFill>
                            <a:srgbClr val="FF0000"/>
                          </a:solidFill>
                          <a:latin typeface="Calibri"/>
                        </a:rPr>
                        <a:t>)</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2010</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2011</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2012</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2013</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201</a:t>
                      </a:r>
                      <a:r>
                        <a:rPr lang="tr-TR" sz="1600" b="1" i="0" u="none" strike="noStrike">
                          <a:solidFill>
                            <a:srgbClr val="000000"/>
                          </a:solidFill>
                          <a:latin typeface="Calibri"/>
                        </a:rPr>
                        <a:t>4</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201</a:t>
                      </a:r>
                      <a:r>
                        <a:rPr lang="tr-TR" sz="1600" b="1" i="0" u="none" strike="noStrike">
                          <a:solidFill>
                            <a:srgbClr val="000000"/>
                          </a:solidFill>
                          <a:latin typeface="Calibri"/>
                        </a:rPr>
                        <a:t>5</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201</a:t>
                      </a:r>
                      <a:r>
                        <a:rPr lang="tr-TR" sz="1600" b="1" i="0" u="none" strike="noStrike">
                          <a:solidFill>
                            <a:srgbClr val="000000"/>
                          </a:solidFill>
                          <a:latin typeface="Calibri"/>
                        </a:rPr>
                        <a:t>6</a:t>
                      </a:r>
                      <a:endParaRPr lang="en-GB" sz="1600" b="1"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00"/>
                  </a:ext>
                </a:extLst>
              </a:tr>
              <a:tr h="248680">
                <a:tc>
                  <a:txBody>
                    <a:bodyPr/>
                    <a:lstStyle/>
                    <a:p>
                      <a:pPr algn="l" fontAlgn="b"/>
                      <a:r>
                        <a:rPr lang="nl-NL" sz="1600" b="1" i="0" u="none" strike="noStrike">
                          <a:solidFill>
                            <a:srgbClr val="000000"/>
                          </a:solidFill>
                          <a:latin typeface="Calibri"/>
                        </a:rPr>
                        <a:t>A. Faaliyetlerden Net Nakit Akımı</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14</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-45</a:t>
                      </a:r>
                    </a:p>
                  </a:txBody>
                  <a:tcPr marL="7362" marR="7362" marT="7362" marB="0" anchor="b">
                    <a:lnL>
                      <a:noFill/>
                    </a:lnL>
                    <a:lnR>
                      <a:noFill/>
                    </a:lnR>
                    <a:lnT>
                      <a:noFill/>
                    </a:lnT>
                    <a:lnB>
                      <a:noFill/>
                    </a:lnB>
                  </a:tcPr>
                </a:tc>
                <a:tc>
                  <a:txBody>
                    <a:bodyPr/>
                    <a:lstStyle/>
                    <a:p>
                      <a:pPr algn="r" fontAlgn="b"/>
                      <a:r>
                        <a:rPr lang="en-US" sz="1600" b="1" i="0" u="none" strike="noStrike">
                          <a:solidFill>
                            <a:srgbClr val="000000"/>
                          </a:solidFill>
                          <a:effectLst/>
                          <a:latin typeface="Calibri" panose="020F0502020204030204" pitchFamily="34" charset="0"/>
                        </a:rPr>
                        <a:t>142  </a:t>
                      </a:r>
                    </a:p>
                  </a:txBody>
                  <a:tcPr marL="7620" marR="7620" marT="7620" marB="0" anchor="b">
                    <a:lnL>
                      <a:noFill/>
                    </a:lnL>
                    <a:lnR>
                      <a:noFill/>
                    </a:lnR>
                    <a:lnT>
                      <a:noFill/>
                    </a:lnT>
                    <a:lnB>
                      <a:noFill/>
                    </a:lnB>
                  </a:tcPr>
                </a:tc>
                <a:tc>
                  <a:txBody>
                    <a:bodyPr/>
                    <a:lstStyle/>
                    <a:p>
                      <a:pPr algn="r" fontAlgn="b"/>
                      <a:r>
                        <a:rPr lang="en-US" sz="1600" b="1" i="0" u="none" strike="noStrike">
                          <a:solidFill>
                            <a:srgbClr val="000000"/>
                          </a:solidFill>
                          <a:effectLst/>
                          <a:latin typeface="Calibri" panose="020F0502020204030204" pitchFamily="34" charset="0"/>
                        </a:rPr>
                        <a:t>243  </a:t>
                      </a:r>
                    </a:p>
                  </a:txBody>
                  <a:tcPr marL="7620" marR="7620" marT="7620" marB="0" anchor="b">
                    <a:lnL>
                      <a:noFill/>
                    </a:lnL>
                    <a:lnR>
                      <a:noFill/>
                    </a:lnR>
                    <a:lnT>
                      <a:noFill/>
                    </a:lnT>
                    <a:lnB>
                      <a:noFill/>
                    </a:lnB>
                  </a:tcPr>
                </a:tc>
                <a:tc>
                  <a:txBody>
                    <a:bodyPr/>
                    <a:lstStyle/>
                    <a:p>
                      <a:pPr algn="r" fontAlgn="b"/>
                      <a:r>
                        <a:rPr lang="en-US" sz="1600" b="1" i="0" u="none" strike="noStrike">
                          <a:solidFill>
                            <a:srgbClr val="000000"/>
                          </a:solidFill>
                          <a:effectLst/>
                          <a:latin typeface="Calibri" panose="020F0502020204030204" pitchFamily="34" charset="0"/>
                        </a:rPr>
                        <a:t>263  </a:t>
                      </a:r>
                    </a:p>
                  </a:txBody>
                  <a:tcPr marL="7620" marR="7620" marT="7620" marB="0" anchor="b">
                    <a:lnL>
                      <a:noFill/>
                    </a:lnL>
                    <a:lnR>
                      <a:noFill/>
                    </a:lnR>
                    <a:lnT>
                      <a:noFill/>
                    </a:lnT>
                    <a:lnB>
                      <a:noFill/>
                    </a:lnB>
                  </a:tcPr>
                </a:tc>
                <a:tc>
                  <a:txBody>
                    <a:bodyPr/>
                    <a:lstStyle/>
                    <a:p>
                      <a:pPr algn="r" fontAlgn="b"/>
                      <a:r>
                        <a:rPr lang="en-US" sz="1600" b="1" i="0" u="none" strike="noStrike">
                          <a:solidFill>
                            <a:srgbClr val="000000"/>
                          </a:solidFill>
                          <a:effectLst/>
                          <a:latin typeface="Calibri" panose="020F0502020204030204" pitchFamily="34" charset="0"/>
                        </a:rPr>
                        <a:t>215  </a:t>
                      </a:r>
                    </a:p>
                  </a:txBody>
                  <a:tcPr marL="7620" marR="7620" marT="7620" marB="0" anchor="b">
                    <a:lnL>
                      <a:noFill/>
                    </a:lnL>
                    <a:lnR>
                      <a:noFill/>
                    </a:lnR>
                    <a:lnT>
                      <a:noFill/>
                    </a:lnT>
                    <a:lnB>
                      <a:noFill/>
                    </a:lnB>
                  </a:tcPr>
                </a:tc>
                <a:tc>
                  <a:txBody>
                    <a:bodyPr/>
                    <a:lstStyle/>
                    <a:p>
                      <a:pPr algn="r" fontAlgn="b"/>
                      <a:r>
                        <a:rPr lang="tr-TR" sz="1600" b="1" i="0" u="none" strike="noStrike">
                          <a:solidFill>
                            <a:srgbClr val="000000"/>
                          </a:solidFill>
                          <a:effectLst/>
                          <a:latin typeface="Calibri" panose="020F0502020204030204" pitchFamily="34" charset="0"/>
                        </a:rPr>
                        <a:t>303</a:t>
                      </a:r>
                      <a:r>
                        <a:rPr lang="en-US" sz="1600" b="1"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1"/>
                  </a:ext>
                </a:extLst>
              </a:tr>
              <a:tr h="248680">
                <a:tc>
                  <a:txBody>
                    <a:bodyPr/>
                    <a:lstStyle/>
                    <a:p>
                      <a:pPr algn="l" fontAlgn="b"/>
                      <a:endParaRPr lang="nl-NL"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US" sz="1600" b="1"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endParaRPr lang="en-US" sz="1600" b="1"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endParaRPr lang="en-US" sz="1600" b="1"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endParaRPr lang="en-US" sz="1600" b="1"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r" fontAlgn="b"/>
                      <a:endParaRPr lang="en-US" sz="1600" b="1"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10002"/>
                  </a:ext>
                </a:extLst>
              </a:tr>
              <a:tr h="248680">
                <a:tc>
                  <a:txBody>
                    <a:bodyPr/>
                    <a:lstStyle/>
                    <a:p>
                      <a:pPr algn="l" fontAlgn="b"/>
                      <a:r>
                        <a:rPr lang="en-GB" sz="1600" b="1" i="0" u="none" strike="noStrike">
                          <a:solidFill>
                            <a:srgbClr val="000000"/>
                          </a:solidFill>
                          <a:latin typeface="Calibri"/>
                        </a:rPr>
                        <a:t>B. </a:t>
                      </a:r>
                      <a:r>
                        <a:rPr lang="en-GB" sz="1600" b="1" i="0" u="none" strike="noStrike" err="1">
                          <a:solidFill>
                            <a:srgbClr val="000000"/>
                          </a:solidFill>
                          <a:latin typeface="Calibri"/>
                        </a:rPr>
                        <a:t>Yatırımlardan</a:t>
                      </a:r>
                      <a:r>
                        <a:rPr lang="en-GB" sz="1600" b="1" i="0" u="none" strike="noStrike">
                          <a:solidFill>
                            <a:srgbClr val="000000"/>
                          </a:solidFill>
                          <a:latin typeface="Calibri"/>
                        </a:rPr>
                        <a:t> Net Nakit </a:t>
                      </a:r>
                      <a:r>
                        <a:rPr lang="en-GB" sz="1600" b="1" i="0" u="none" strike="noStrike" err="1">
                          <a:solidFill>
                            <a:srgbClr val="000000"/>
                          </a:solidFill>
                          <a:latin typeface="Calibri"/>
                        </a:rPr>
                        <a:t>Akımı</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-58</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-111</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-194</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-130</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a:t>
                      </a:r>
                      <a:r>
                        <a:rPr lang="tr-TR" sz="1600" b="1" i="0" u="none" strike="noStrike">
                          <a:solidFill>
                            <a:srgbClr val="000000"/>
                          </a:solidFill>
                          <a:latin typeface="Calibri"/>
                        </a:rPr>
                        <a:t>191</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a:t>
                      </a:r>
                      <a:r>
                        <a:rPr lang="tr-TR" sz="1600" b="1" i="0" u="none" strike="noStrike">
                          <a:solidFill>
                            <a:srgbClr val="000000"/>
                          </a:solidFill>
                          <a:latin typeface="Calibri"/>
                        </a:rPr>
                        <a:t>372</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a:t>
                      </a:r>
                      <a:r>
                        <a:rPr lang="tr-TR" sz="1600" b="1" i="0" u="none" strike="noStrike">
                          <a:solidFill>
                            <a:srgbClr val="000000"/>
                          </a:solidFill>
                          <a:latin typeface="Calibri"/>
                        </a:rPr>
                        <a:t>492</a:t>
                      </a:r>
                      <a:endParaRPr lang="en-GB" sz="1600" b="1"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08"/>
                  </a:ext>
                </a:extLst>
              </a:tr>
              <a:tr h="506844">
                <a:tc>
                  <a:txBody>
                    <a:bodyPr/>
                    <a:lstStyle/>
                    <a:p>
                      <a:pPr algn="l" fontAlgn="b"/>
                      <a:r>
                        <a:rPr lang="en-GB" sz="1600" b="1" i="0" u="none" strike="noStrike">
                          <a:solidFill>
                            <a:srgbClr val="000000"/>
                          </a:solidFill>
                          <a:latin typeface="Calibri"/>
                        </a:rPr>
                        <a:t>C. </a:t>
                      </a:r>
                      <a:r>
                        <a:rPr lang="en-GB" sz="1600" b="1" i="0" u="none" strike="noStrike" err="1">
                          <a:solidFill>
                            <a:srgbClr val="000000"/>
                          </a:solidFill>
                          <a:latin typeface="Calibri"/>
                        </a:rPr>
                        <a:t>Finansman</a:t>
                      </a:r>
                      <a:r>
                        <a:rPr lang="en-GB" sz="1600" b="1" i="0" u="none" strike="noStrike">
                          <a:solidFill>
                            <a:srgbClr val="000000"/>
                          </a:solidFill>
                          <a:latin typeface="Calibri"/>
                        </a:rPr>
                        <a:t> </a:t>
                      </a:r>
                      <a:r>
                        <a:rPr lang="en-GB" sz="1600" b="1" i="0" u="none" strike="noStrike" err="1">
                          <a:solidFill>
                            <a:srgbClr val="000000"/>
                          </a:solidFill>
                          <a:latin typeface="Calibri"/>
                        </a:rPr>
                        <a:t>Faaliyetlerinden</a:t>
                      </a:r>
                      <a:r>
                        <a:rPr lang="en-GB" sz="1600" b="1" i="0" u="none" strike="noStrike">
                          <a:solidFill>
                            <a:srgbClr val="000000"/>
                          </a:solidFill>
                          <a:latin typeface="Calibri"/>
                        </a:rPr>
                        <a:t> N</a:t>
                      </a:r>
                      <a:r>
                        <a:rPr lang="tr-TR" sz="1600" b="1" i="0" u="none" strike="noStrike">
                          <a:solidFill>
                            <a:srgbClr val="000000"/>
                          </a:solidFill>
                          <a:latin typeface="Calibri"/>
                        </a:rPr>
                        <a:t>.</a:t>
                      </a:r>
                      <a:r>
                        <a:rPr lang="en-GB" sz="1600" b="1" i="0" u="none" strike="noStrike">
                          <a:solidFill>
                            <a:srgbClr val="000000"/>
                          </a:solidFill>
                          <a:latin typeface="Calibri"/>
                        </a:rPr>
                        <a:t> A</a:t>
                      </a:r>
                      <a:r>
                        <a:rPr lang="tr-TR" sz="1600" b="1" i="0" u="none" strike="noStrike">
                          <a:solidFill>
                            <a:srgbClr val="000000"/>
                          </a:solidFill>
                          <a:latin typeface="Calibri"/>
                        </a:rPr>
                        <a:t>.</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62</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1</a:t>
                      </a:r>
                      <a:r>
                        <a:rPr lang="tr-TR" sz="1600" b="1" i="0" u="none" strike="noStrike">
                          <a:solidFill>
                            <a:srgbClr val="000000"/>
                          </a:solidFill>
                          <a:latin typeface="Calibri"/>
                        </a:rPr>
                        <a:t>29</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62</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a:t>
                      </a:r>
                      <a:r>
                        <a:rPr lang="tr-TR" sz="1600" b="1" i="0" u="none" strike="noStrike">
                          <a:solidFill>
                            <a:srgbClr val="000000"/>
                          </a:solidFill>
                          <a:latin typeface="Calibri"/>
                        </a:rPr>
                        <a:t>105</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a:t>
                      </a:r>
                      <a:r>
                        <a:rPr lang="tr-TR" sz="1600" b="1" i="0" u="none" strike="noStrike">
                          <a:solidFill>
                            <a:srgbClr val="000000"/>
                          </a:solidFill>
                          <a:latin typeface="Calibri"/>
                        </a:rPr>
                        <a:t>92</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178</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247</a:t>
                      </a:r>
                      <a:endParaRPr lang="en-GB" sz="1600" b="1"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09"/>
                  </a:ext>
                </a:extLst>
              </a:tr>
              <a:tr h="248680">
                <a:tc>
                  <a:txBody>
                    <a:bodyPr/>
                    <a:lstStyle/>
                    <a:p>
                      <a:pPr algn="l" fontAlgn="b"/>
                      <a:r>
                        <a:rPr lang="en-GB" sz="1600" b="0" i="0" u="none" strike="noStrike">
                          <a:solidFill>
                            <a:srgbClr val="000000"/>
                          </a:solidFill>
                          <a:latin typeface="Calibri"/>
                        </a:rPr>
                        <a:t>    + Net uzun vadeli borçlanma</a:t>
                      </a: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-15</a:t>
                      </a: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51</a:t>
                      </a: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-97</a:t>
                      </a: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329</a:t>
                      </a: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latin typeface="Calibri"/>
                        </a:rPr>
                        <a:t>87</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latin typeface="Calibri"/>
                        </a:rPr>
                        <a:t>66</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latin typeface="Calibri"/>
                        </a:rPr>
                        <a:t>470</a:t>
                      </a:r>
                      <a:endParaRPr lang="en-GB" sz="1600" b="0"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0"/>
                  </a:ext>
                </a:extLst>
              </a:tr>
              <a:tr h="248680">
                <a:tc>
                  <a:txBody>
                    <a:bodyPr/>
                    <a:lstStyle/>
                    <a:p>
                      <a:pPr algn="l" fontAlgn="b"/>
                      <a:r>
                        <a:rPr lang="en-GB" sz="1600" b="0" i="0" u="none" strike="noStrike">
                          <a:solidFill>
                            <a:srgbClr val="000000"/>
                          </a:solidFill>
                          <a:latin typeface="Calibri"/>
                        </a:rPr>
                        <a:t>    + </a:t>
                      </a:r>
                      <a:r>
                        <a:rPr lang="en-GB" sz="1600" b="0" i="0" u="none" strike="noStrike" err="1">
                          <a:solidFill>
                            <a:srgbClr val="000000"/>
                          </a:solidFill>
                          <a:latin typeface="Calibri"/>
                        </a:rPr>
                        <a:t>Kısa</a:t>
                      </a:r>
                      <a:r>
                        <a:rPr lang="en-GB" sz="1600" b="0" i="0" u="none" strike="noStrike">
                          <a:solidFill>
                            <a:srgbClr val="000000"/>
                          </a:solidFill>
                          <a:latin typeface="Calibri"/>
                        </a:rPr>
                        <a:t> </a:t>
                      </a:r>
                      <a:r>
                        <a:rPr lang="en-GB" sz="1600" b="0" i="0" u="none" strike="noStrike" err="1">
                          <a:solidFill>
                            <a:srgbClr val="000000"/>
                          </a:solidFill>
                          <a:latin typeface="Calibri"/>
                        </a:rPr>
                        <a:t>vadeli</a:t>
                      </a:r>
                      <a:r>
                        <a:rPr lang="en-GB" sz="1600" b="0" i="0" u="none" strike="noStrike">
                          <a:solidFill>
                            <a:srgbClr val="000000"/>
                          </a:solidFill>
                          <a:latin typeface="Calibri"/>
                        </a:rPr>
                        <a:t> </a:t>
                      </a:r>
                      <a:r>
                        <a:rPr lang="en-GB" sz="1600" b="0" i="0" u="none" strike="noStrike" err="1">
                          <a:solidFill>
                            <a:srgbClr val="000000"/>
                          </a:solidFill>
                          <a:latin typeface="Calibri"/>
                        </a:rPr>
                        <a:t>borçlanma</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105</a:t>
                      </a: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141</a:t>
                      </a: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276</a:t>
                      </a: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-305</a:t>
                      </a: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latin typeface="Calibri"/>
                        </a:rPr>
                        <a:t>1</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latin typeface="Calibri"/>
                        </a:rPr>
                        <a:t>366</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latin typeface="Calibri"/>
                        </a:rPr>
                        <a:t>122</a:t>
                      </a:r>
                      <a:endParaRPr lang="en-GB" sz="1600" b="0"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1"/>
                  </a:ext>
                </a:extLst>
              </a:tr>
              <a:tr h="248680">
                <a:tc>
                  <a:txBody>
                    <a:bodyPr/>
                    <a:lstStyle/>
                    <a:p>
                      <a:pPr algn="l" fontAlgn="b"/>
                      <a:r>
                        <a:rPr lang="en-GB" sz="1600" b="0" i="0" u="none" strike="noStrike">
                          <a:solidFill>
                            <a:srgbClr val="000000"/>
                          </a:solidFill>
                          <a:latin typeface="Calibri"/>
                        </a:rPr>
                        <a:t>    + Nakit </a:t>
                      </a:r>
                      <a:r>
                        <a:rPr lang="en-GB" sz="1600" b="0" i="0" u="none" strike="noStrike" err="1">
                          <a:solidFill>
                            <a:srgbClr val="000000"/>
                          </a:solidFill>
                          <a:latin typeface="Calibri"/>
                        </a:rPr>
                        <a:t>sermaye</a:t>
                      </a:r>
                      <a:r>
                        <a:rPr lang="en-GB" sz="1600" b="0" i="0" u="none" strike="noStrike">
                          <a:solidFill>
                            <a:srgbClr val="000000"/>
                          </a:solidFill>
                          <a:latin typeface="Calibri"/>
                        </a:rPr>
                        <a:t> </a:t>
                      </a:r>
                      <a:r>
                        <a:rPr lang="en-GB" sz="1600" b="0" i="0" u="none" strike="noStrike" err="1">
                          <a:solidFill>
                            <a:srgbClr val="000000"/>
                          </a:solidFill>
                          <a:latin typeface="Calibri"/>
                        </a:rPr>
                        <a:t>artırımı</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0</a:t>
                      </a: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0</a:t>
                      </a: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0</a:t>
                      </a: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0</a:t>
                      </a: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0</a:t>
                      </a: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0</a:t>
                      </a: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0</a:t>
                      </a:r>
                    </a:p>
                  </a:txBody>
                  <a:tcPr marL="7362" marR="7362" marT="7362" marB="0" anchor="b">
                    <a:lnL>
                      <a:noFill/>
                    </a:lnL>
                    <a:lnR>
                      <a:noFill/>
                    </a:lnR>
                    <a:lnT>
                      <a:noFill/>
                    </a:lnT>
                    <a:lnB>
                      <a:noFill/>
                    </a:lnB>
                  </a:tcPr>
                </a:tc>
                <a:extLst>
                  <a:ext uri="{0D108BD9-81ED-4DB2-BD59-A6C34878D82A}">
                    <a16:rowId xmlns:a16="http://schemas.microsoft.com/office/drawing/2014/main" val="10012"/>
                  </a:ext>
                </a:extLst>
              </a:tr>
              <a:tr h="248680">
                <a:tc>
                  <a:txBody>
                    <a:bodyPr/>
                    <a:lstStyle/>
                    <a:p>
                      <a:pPr algn="l" fontAlgn="b"/>
                      <a:r>
                        <a:rPr lang="en-GB" sz="1600" b="0" i="0" u="none" strike="noStrike">
                          <a:solidFill>
                            <a:srgbClr val="000000"/>
                          </a:solidFill>
                          <a:latin typeface="Calibri"/>
                        </a:rPr>
                        <a:t>   - </a:t>
                      </a:r>
                      <a:r>
                        <a:rPr lang="en-GB" sz="1600" b="0" i="0" u="none" strike="noStrike" err="1">
                          <a:solidFill>
                            <a:srgbClr val="000000"/>
                          </a:solidFill>
                          <a:latin typeface="Calibri"/>
                        </a:rPr>
                        <a:t>Faiz</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5</a:t>
                      </a: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-11</a:t>
                      </a: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a:t>
                      </a:r>
                      <a:r>
                        <a:rPr lang="tr-TR" sz="1600" b="0" i="0" u="none" strike="noStrike">
                          <a:solidFill>
                            <a:srgbClr val="000000"/>
                          </a:solidFill>
                          <a:latin typeface="Calibri"/>
                        </a:rPr>
                        <a:t>46</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a:t>
                      </a:r>
                      <a:r>
                        <a:rPr lang="tr-TR" sz="1600" b="0" i="0" u="none" strike="noStrike">
                          <a:solidFill>
                            <a:srgbClr val="000000"/>
                          </a:solidFill>
                          <a:latin typeface="Calibri"/>
                        </a:rPr>
                        <a:t>51</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a:t>
                      </a:r>
                      <a:r>
                        <a:rPr lang="tr-TR" sz="1600" b="0" i="0" u="none" strike="noStrike">
                          <a:solidFill>
                            <a:srgbClr val="000000"/>
                          </a:solidFill>
                          <a:latin typeface="Calibri"/>
                        </a:rPr>
                        <a:t>52</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a:t>
                      </a:r>
                      <a:r>
                        <a:rPr lang="tr-TR" sz="1600" b="0" i="0" u="none" strike="noStrike">
                          <a:solidFill>
                            <a:srgbClr val="000000"/>
                          </a:solidFill>
                          <a:latin typeface="Calibri"/>
                        </a:rPr>
                        <a:t>92</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a:t>
                      </a:r>
                      <a:r>
                        <a:rPr lang="tr-TR" sz="1600" b="0" i="0" u="none" strike="noStrike">
                          <a:solidFill>
                            <a:srgbClr val="000000"/>
                          </a:solidFill>
                          <a:latin typeface="Calibri"/>
                        </a:rPr>
                        <a:t>178</a:t>
                      </a:r>
                      <a:endParaRPr lang="en-GB" sz="1600" b="0"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3"/>
                  </a:ext>
                </a:extLst>
              </a:tr>
              <a:tr h="248680">
                <a:tc>
                  <a:txBody>
                    <a:bodyPr/>
                    <a:lstStyle/>
                    <a:p>
                      <a:pPr algn="l" fontAlgn="b"/>
                      <a:r>
                        <a:rPr lang="en-GB" sz="1600" b="0" i="0" u="none" strike="noStrike">
                          <a:solidFill>
                            <a:srgbClr val="000000"/>
                          </a:solidFill>
                          <a:latin typeface="Calibri"/>
                        </a:rPr>
                        <a:t>   - </a:t>
                      </a:r>
                      <a:r>
                        <a:rPr lang="en-GB" sz="1600" b="0" i="0" u="none" strike="noStrike" err="1">
                          <a:solidFill>
                            <a:srgbClr val="000000"/>
                          </a:solidFill>
                          <a:latin typeface="Calibri"/>
                        </a:rPr>
                        <a:t>Temettü</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-32.7</a:t>
                      </a: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a:t>
                      </a:r>
                      <a:r>
                        <a:rPr lang="tr-TR" sz="1600" b="0" i="0" u="none" strike="noStrike">
                          <a:solidFill>
                            <a:srgbClr val="FF0000"/>
                          </a:solidFill>
                          <a:latin typeface="Calibri"/>
                        </a:rPr>
                        <a:t>51,4</a:t>
                      </a: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a:t>
                      </a:r>
                      <a:r>
                        <a:rPr lang="tr-TR" sz="1600" b="0" i="0" u="none" strike="noStrike">
                          <a:solidFill>
                            <a:srgbClr val="FF0000"/>
                          </a:solidFill>
                          <a:latin typeface="Calibri"/>
                        </a:rPr>
                        <a:t>71</a:t>
                      </a:r>
                      <a:endParaRPr lang="en-GB" sz="1600" b="0" i="0" u="none" strike="noStrike">
                        <a:solidFill>
                          <a:srgbClr val="FF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-7</a:t>
                      </a:r>
                      <a:r>
                        <a:rPr lang="tr-TR" sz="1600" b="0" i="0" u="none" strike="noStrike">
                          <a:solidFill>
                            <a:srgbClr val="FF0000"/>
                          </a:solidFill>
                          <a:latin typeface="Calibri"/>
                        </a:rPr>
                        <a:t>8</a:t>
                      </a:r>
                      <a:endParaRPr lang="en-GB" sz="1600" b="0" i="0" u="none" strike="noStrike">
                        <a:solidFill>
                          <a:srgbClr val="FF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a:t>
                      </a:r>
                      <a:r>
                        <a:rPr lang="tr-TR" sz="1600" b="0" i="0" u="none" strike="noStrike">
                          <a:solidFill>
                            <a:srgbClr val="FF0000"/>
                          </a:solidFill>
                          <a:latin typeface="Calibri"/>
                        </a:rPr>
                        <a:t>127</a:t>
                      </a:r>
                      <a:endParaRPr lang="en-GB" sz="1600" b="0" i="0" u="none" strike="noStrike">
                        <a:solidFill>
                          <a:srgbClr val="FF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a:t>
                      </a:r>
                      <a:r>
                        <a:rPr lang="tr-TR" sz="1600" b="0" i="0" u="none" strike="noStrike">
                          <a:solidFill>
                            <a:srgbClr val="FF0000"/>
                          </a:solidFill>
                          <a:latin typeface="Calibri"/>
                        </a:rPr>
                        <a:t>162</a:t>
                      </a:r>
                      <a:endParaRPr lang="en-GB" sz="1600" b="0" i="0" u="none" strike="noStrike">
                        <a:solidFill>
                          <a:srgbClr val="FF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a:t>
                      </a:r>
                      <a:r>
                        <a:rPr lang="tr-TR" sz="1600" b="0" i="0" u="none" strike="noStrike">
                          <a:solidFill>
                            <a:srgbClr val="FF0000"/>
                          </a:solidFill>
                          <a:latin typeface="Calibri"/>
                        </a:rPr>
                        <a:t>167</a:t>
                      </a:r>
                      <a:endParaRPr lang="en-GB" sz="1600" b="0" i="0" u="none" strike="noStrike">
                        <a:solidFill>
                          <a:srgbClr val="FF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4"/>
                  </a:ext>
                </a:extLst>
              </a:tr>
              <a:tr h="248680">
                <a:tc>
                  <a:txBody>
                    <a:bodyPr/>
                    <a:lstStyle/>
                    <a:p>
                      <a:pPr algn="l" fontAlgn="b"/>
                      <a:r>
                        <a:rPr lang="en-GB" sz="1600" b="1" i="0" u="none" strike="noStrike" err="1">
                          <a:solidFill>
                            <a:srgbClr val="000000"/>
                          </a:solidFill>
                          <a:latin typeface="Calibri"/>
                        </a:rPr>
                        <a:t>Toplam</a:t>
                      </a:r>
                      <a:r>
                        <a:rPr lang="en-GB" sz="1600" b="1" i="0" u="none" strike="noStrike">
                          <a:solidFill>
                            <a:srgbClr val="000000"/>
                          </a:solidFill>
                          <a:latin typeface="Calibri"/>
                        </a:rPr>
                        <a:t> Nakit </a:t>
                      </a:r>
                      <a:r>
                        <a:rPr lang="en-GB" sz="1600" b="1" i="0" u="none" strike="noStrike" err="1">
                          <a:solidFill>
                            <a:srgbClr val="000000"/>
                          </a:solidFill>
                          <a:latin typeface="Calibri"/>
                        </a:rPr>
                        <a:t>Akımı</a:t>
                      </a:r>
                      <a:r>
                        <a:rPr lang="en-GB" sz="1600" b="1" i="0" u="none" strike="noStrike">
                          <a:solidFill>
                            <a:srgbClr val="000000"/>
                          </a:solidFill>
                          <a:latin typeface="Calibri"/>
                        </a:rPr>
                        <a:t> (A+B+C)</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18</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-23</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1</a:t>
                      </a:r>
                      <a:r>
                        <a:rPr lang="tr-TR" sz="1600" b="1" i="0" u="none" strike="noStrike">
                          <a:solidFill>
                            <a:srgbClr val="000000"/>
                          </a:solidFill>
                          <a:latin typeface="Calibri"/>
                        </a:rPr>
                        <a:t>0</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8</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-20</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22</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91</a:t>
                      </a:r>
                      <a:endParaRPr lang="en-GB" sz="1600" b="1"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5"/>
                  </a:ext>
                </a:extLst>
              </a:tr>
              <a:tr h="248680">
                <a:tc>
                  <a:txBody>
                    <a:bodyPr/>
                    <a:lstStyle/>
                    <a:p>
                      <a:pPr algn="l"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6"/>
                  </a:ext>
                </a:extLst>
              </a:tr>
              <a:tr h="248680">
                <a:tc>
                  <a:txBody>
                    <a:bodyPr/>
                    <a:lstStyle/>
                    <a:p>
                      <a:pPr algn="l" fontAlgn="b"/>
                      <a:r>
                        <a:rPr lang="tr-TR" sz="1600" b="1" i="0" u="none" strike="noStrike">
                          <a:solidFill>
                            <a:srgbClr val="000000"/>
                          </a:solidFill>
                          <a:latin typeface="Calibri"/>
                        </a:rPr>
                        <a:t>SERBEST NAKİT AKIMI (A+B)</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-44</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-156</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US" sz="1600" b="1" i="0" u="none" strike="noStrike">
                          <a:solidFill>
                            <a:srgbClr val="000000"/>
                          </a:solidFill>
                          <a:effectLst/>
                          <a:latin typeface="Calibri" panose="020F0502020204030204" pitchFamily="34" charset="0"/>
                        </a:rPr>
                        <a:t>-52  </a:t>
                      </a:r>
                    </a:p>
                  </a:txBody>
                  <a:tcPr marL="7620" marR="7620" marT="7620" marB="0" anchor="b">
                    <a:lnL>
                      <a:noFill/>
                    </a:lnL>
                    <a:lnR>
                      <a:noFill/>
                    </a:lnR>
                    <a:lnT>
                      <a:noFill/>
                    </a:lnT>
                    <a:lnB>
                      <a:noFill/>
                    </a:lnB>
                  </a:tcPr>
                </a:tc>
                <a:tc>
                  <a:txBody>
                    <a:bodyPr/>
                    <a:lstStyle/>
                    <a:p>
                      <a:pPr algn="r" fontAlgn="b"/>
                      <a:r>
                        <a:rPr lang="en-US" sz="1600" b="1" i="0" u="none" strike="noStrike">
                          <a:solidFill>
                            <a:srgbClr val="000000"/>
                          </a:solidFill>
                          <a:effectLst/>
                          <a:latin typeface="Calibri" panose="020F0502020204030204" pitchFamily="34" charset="0"/>
                        </a:rPr>
                        <a:t>113  </a:t>
                      </a:r>
                    </a:p>
                  </a:txBody>
                  <a:tcPr marL="7620" marR="7620" marT="7620" marB="0" anchor="b">
                    <a:lnL>
                      <a:noFill/>
                    </a:lnL>
                    <a:lnR>
                      <a:noFill/>
                    </a:lnR>
                    <a:lnT>
                      <a:noFill/>
                    </a:lnT>
                    <a:lnB>
                      <a:noFill/>
                    </a:lnB>
                  </a:tcPr>
                </a:tc>
                <a:tc>
                  <a:txBody>
                    <a:bodyPr/>
                    <a:lstStyle/>
                    <a:p>
                      <a:pPr algn="r" fontAlgn="b"/>
                      <a:r>
                        <a:rPr lang="en-US" sz="1600" b="1" i="0" u="none" strike="noStrike">
                          <a:solidFill>
                            <a:srgbClr val="000000"/>
                          </a:solidFill>
                          <a:effectLst/>
                          <a:latin typeface="Calibri" panose="020F0502020204030204" pitchFamily="34" charset="0"/>
                        </a:rPr>
                        <a:t>73  </a:t>
                      </a:r>
                    </a:p>
                  </a:txBody>
                  <a:tcPr marL="7620" marR="7620" marT="7620" marB="0" anchor="b">
                    <a:lnL>
                      <a:noFill/>
                    </a:lnL>
                    <a:lnR>
                      <a:noFill/>
                    </a:lnR>
                    <a:lnT>
                      <a:noFill/>
                    </a:lnT>
                    <a:lnB>
                      <a:noFill/>
                    </a:lnB>
                  </a:tcPr>
                </a:tc>
                <a:tc>
                  <a:txBody>
                    <a:bodyPr/>
                    <a:lstStyle/>
                    <a:p>
                      <a:pPr algn="r" fontAlgn="b"/>
                      <a:r>
                        <a:rPr lang="en-US" sz="1600" b="1" i="0" u="none" strike="noStrike">
                          <a:solidFill>
                            <a:srgbClr val="000000"/>
                          </a:solidFill>
                          <a:effectLst/>
                          <a:latin typeface="Calibri" panose="020F0502020204030204" pitchFamily="34" charset="0"/>
                        </a:rPr>
                        <a:t>-156  </a:t>
                      </a:r>
                    </a:p>
                  </a:txBody>
                  <a:tcPr marL="7620" marR="7620" marT="7620" marB="0" anchor="b">
                    <a:lnL>
                      <a:noFill/>
                    </a:lnL>
                    <a:lnR>
                      <a:noFill/>
                    </a:lnR>
                    <a:lnT>
                      <a:noFill/>
                    </a:lnT>
                    <a:lnB>
                      <a:noFill/>
                    </a:lnB>
                  </a:tcPr>
                </a:tc>
                <a:tc>
                  <a:txBody>
                    <a:bodyPr/>
                    <a:lstStyle/>
                    <a:p>
                      <a:pPr algn="r" fontAlgn="b"/>
                      <a:r>
                        <a:rPr lang="en-US" sz="1600" b="1" i="0" u="none" strike="noStrike">
                          <a:solidFill>
                            <a:srgbClr val="000000"/>
                          </a:solidFill>
                          <a:effectLst/>
                          <a:latin typeface="Calibri" panose="020F0502020204030204" pitchFamily="34" charset="0"/>
                        </a:rPr>
                        <a:t>-</a:t>
                      </a:r>
                      <a:r>
                        <a:rPr lang="tr-TR" sz="1600" b="1" i="0" u="none" strike="noStrike">
                          <a:solidFill>
                            <a:srgbClr val="000000"/>
                          </a:solidFill>
                          <a:effectLst/>
                          <a:latin typeface="Calibri" panose="020F0502020204030204" pitchFamily="34" charset="0"/>
                        </a:rPr>
                        <a:t>189</a:t>
                      </a:r>
                      <a:r>
                        <a:rPr lang="en-US" sz="1600" b="1"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17"/>
                  </a:ext>
                </a:extLst>
              </a:tr>
            </a:tbl>
          </a:graphicData>
        </a:graphic>
      </p:graphicFrame>
      <p:sp>
        <p:nvSpPr>
          <p:cNvPr id="5" name="Slide Number Placeholder 4">
            <a:extLst>
              <a:ext uri="{FF2B5EF4-FFF2-40B4-BE49-F238E27FC236}">
                <a16:creationId xmlns:a16="http://schemas.microsoft.com/office/drawing/2014/main" id="{D26756B4-2FA8-46E9-8E46-A69900B2EDCF}"/>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97</a:t>
            </a:fld>
            <a:endParaRPr lang="tr-TR" sz="1200">
              <a:solidFill>
                <a:schemeClr val="tx2"/>
              </a:solidFill>
              <a:latin typeface="Verdana" pitchFamily="34" charset="0"/>
            </a:endParaRPr>
          </a:p>
        </p:txBody>
      </p:sp>
    </p:spTree>
    <p:extLst>
      <p:ext uri="{BB962C8B-B14F-4D97-AF65-F5344CB8AC3E}">
        <p14:creationId xmlns:p14="http://schemas.microsoft.com/office/powerpoint/2010/main" val="69493712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78904" y="44624"/>
            <a:ext cx="8229600" cy="1143000"/>
          </a:xfrm>
        </p:spPr>
        <p:txBody>
          <a:bodyPr/>
          <a:lstStyle/>
          <a:p>
            <a:r>
              <a:rPr lang="tr-TR"/>
              <a:t>Brisa – Nakit Akım Tablosu</a:t>
            </a:r>
            <a:endParaRPr lang="en-GB" sz="1400" b="1"/>
          </a:p>
        </p:txBody>
      </p:sp>
      <p:graphicFrame>
        <p:nvGraphicFramePr>
          <p:cNvPr id="4" name="Table 3"/>
          <p:cNvGraphicFramePr>
            <a:graphicFrameLocks noGrp="1"/>
          </p:cNvGraphicFramePr>
          <p:nvPr/>
        </p:nvGraphicFramePr>
        <p:xfrm>
          <a:off x="539552" y="1412776"/>
          <a:ext cx="4596042" cy="5165827"/>
        </p:xfrm>
        <a:graphic>
          <a:graphicData uri="http://schemas.openxmlformats.org/drawingml/2006/table">
            <a:tbl>
              <a:tblPr/>
              <a:tblGrid>
                <a:gridCol w="3096346">
                  <a:extLst>
                    <a:ext uri="{9D8B030D-6E8A-4147-A177-3AD203B41FA5}">
                      <a16:colId xmlns:a16="http://schemas.microsoft.com/office/drawing/2014/main" val="20000"/>
                    </a:ext>
                  </a:extLst>
                </a:gridCol>
                <a:gridCol w="749848">
                  <a:extLst>
                    <a:ext uri="{9D8B030D-6E8A-4147-A177-3AD203B41FA5}">
                      <a16:colId xmlns:a16="http://schemas.microsoft.com/office/drawing/2014/main" val="20001"/>
                    </a:ext>
                  </a:extLst>
                </a:gridCol>
                <a:gridCol w="749848">
                  <a:extLst>
                    <a:ext uri="{9D8B030D-6E8A-4147-A177-3AD203B41FA5}">
                      <a16:colId xmlns:a16="http://schemas.microsoft.com/office/drawing/2014/main" val="20002"/>
                    </a:ext>
                  </a:extLst>
                </a:gridCol>
              </a:tblGrid>
              <a:tr h="179194">
                <a:tc>
                  <a:txBody>
                    <a:bodyPr/>
                    <a:lstStyle/>
                    <a:p>
                      <a:pPr algn="l" fontAlgn="b"/>
                      <a:r>
                        <a:rPr lang="en-GB" sz="1600" b="1" i="0" u="none" strike="noStrike">
                          <a:solidFill>
                            <a:srgbClr val="FF0000"/>
                          </a:solidFill>
                          <a:latin typeface="Calibri"/>
                        </a:rPr>
                        <a:t>(TL </a:t>
                      </a:r>
                      <a:r>
                        <a:rPr lang="en-GB" sz="1600" b="1" i="0" u="none" strike="noStrike" err="1">
                          <a:solidFill>
                            <a:srgbClr val="FF0000"/>
                          </a:solidFill>
                          <a:latin typeface="Calibri"/>
                        </a:rPr>
                        <a:t>milyon</a:t>
                      </a:r>
                      <a:r>
                        <a:rPr lang="en-GB" sz="1600" b="1" i="0" u="none" strike="noStrike">
                          <a:solidFill>
                            <a:srgbClr val="FF0000"/>
                          </a:solidFill>
                          <a:latin typeface="Calibri"/>
                        </a:rPr>
                        <a:t>)</a:t>
                      </a: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201</a:t>
                      </a:r>
                      <a:r>
                        <a:rPr lang="tr-TR" sz="1600" b="1" i="0" u="none" strike="noStrike">
                          <a:solidFill>
                            <a:srgbClr val="000000"/>
                          </a:solidFill>
                          <a:latin typeface="Calibri"/>
                        </a:rPr>
                        <a:t>6</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201</a:t>
                      </a:r>
                      <a:r>
                        <a:rPr lang="tr-TR" sz="1600" b="1" i="0" u="none" strike="noStrike">
                          <a:solidFill>
                            <a:srgbClr val="000000"/>
                          </a:solidFill>
                          <a:latin typeface="Calibri"/>
                        </a:rPr>
                        <a:t>7</a:t>
                      </a:r>
                      <a:endParaRPr lang="en-GB" sz="1600" b="1"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00"/>
                  </a:ext>
                </a:extLst>
              </a:tr>
              <a:tr h="248680">
                <a:tc>
                  <a:txBody>
                    <a:bodyPr/>
                    <a:lstStyle/>
                    <a:p>
                      <a:pPr algn="l" fontAlgn="b"/>
                      <a:r>
                        <a:rPr lang="nl-NL" sz="1600" b="1" i="0" u="none" strike="noStrike">
                          <a:solidFill>
                            <a:srgbClr val="000000"/>
                          </a:solidFill>
                          <a:latin typeface="Calibri"/>
                        </a:rPr>
                        <a:t>A. Faaliyetlerden Net Nakit Akımı</a:t>
                      </a: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effectLst/>
                          <a:latin typeface="Calibri" panose="020F0502020204030204" pitchFamily="34" charset="0"/>
                        </a:rPr>
                        <a:t>303</a:t>
                      </a:r>
                      <a:r>
                        <a:rPr lang="en-US" sz="1600" b="1"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tc>
                  <a:txBody>
                    <a:bodyPr/>
                    <a:lstStyle/>
                    <a:p>
                      <a:pPr algn="r" fontAlgn="b"/>
                      <a:r>
                        <a:rPr lang="tr-TR" sz="1600" b="1" i="0" u="none" strike="noStrike">
                          <a:solidFill>
                            <a:srgbClr val="000000"/>
                          </a:solidFill>
                          <a:effectLst/>
                          <a:latin typeface="Calibri" panose="020F0502020204030204" pitchFamily="34" charset="0"/>
                        </a:rPr>
                        <a:t>647</a:t>
                      </a:r>
                      <a:r>
                        <a:rPr lang="en-US" sz="1600" b="1"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1"/>
                  </a:ext>
                </a:extLst>
              </a:tr>
              <a:tr h="248680">
                <a:tc>
                  <a:txBody>
                    <a:bodyPr/>
                    <a:lstStyle/>
                    <a:p>
                      <a:pPr algn="l" fontAlgn="b"/>
                      <a:r>
                        <a:rPr lang="en-GB" sz="1600" b="0" i="0" u="none" strike="noStrike">
                          <a:solidFill>
                            <a:srgbClr val="000000"/>
                          </a:solidFill>
                          <a:latin typeface="Calibri"/>
                        </a:rPr>
                        <a:t>Satış Gelirleri</a:t>
                      </a:r>
                    </a:p>
                  </a:txBody>
                  <a:tcPr marL="7362" marR="7362" marT="7362"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1.766  </a:t>
                      </a:r>
                    </a:p>
                  </a:txBody>
                  <a:tcPr marL="7620" marR="7620" marT="7620" marB="0" anchor="b">
                    <a:lnL>
                      <a:noFill/>
                    </a:lnL>
                    <a:lnR>
                      <a:noFill/>
                    </a:lnR>
                    <a:lnT>
                      <a:noFill/>
                    </a:lnT>
                    <a:lnB>
                      <a:noFill/>
                    </a:lnB>
                  </a:tcPr>
                </a:tc>
                <a:tc>
                  <a:txBody>
                    <a:bodyPr/>
                    <a:lstStyle/>
                    <a:p>
                      <a:pPr algn="r" fontAlgn="b"/>
                      <a:r>
                        <a:rPr lang="tr-TR" sz="1600" b="0" i="0" u="none" strike="noStrike">
                          <a:solidFill>
                            <a:srgbClr val="000000"/>
                          </a:solidFill>
                          <a:effectLst/>
                          <a:latin typeface="Calibri" panose="020F0502020204030204" pitchFamily="34" charset="0"/>
                        </a:rPr>
                        <a:t>2.294</a:t>
                      </a:r>
                      <a:r>
                        <a:rPr lang="en-US" sz="16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2"/>
                  </a:ext>
                </a:extLst>
              </a:tr>
              <a:tr h="248680">
                <a:tc>
                  <a:txBody>
                    <a:bodyPr/>
                    <a:lstStyle/>
                    <a:p>
                      <a:pPr algn="l" fontAlgn="b"/>
                      <a:r>
                        <a:rPr lang="en-GB" sz="1600" b="0" i="0" u="none" strike="noStrike" err="1">
                          <a:solidFill>
                            <a:srgbClr val="000000"/>
                          </a:solidFill>
                          <a:latin typeface="Calibri"/>
                        </a:rPr>
                        <a:t>Satışların</a:t>
                      </a:r>
                      <a:r>
                        <a:rPr lang="en-GB" sz="1600" b="0" i="0" u="none" strike="noStrike">
                          <a:solidFill>
                            <a:srgbClr val="000000"/>
                          </a:solidFill>
                          <a:latin typeface="Calibri"/>
                        </a:rPr>
                        <a:t> </a:t>
                      </a:r>
                      <a:r>
                        <a:rPr lang="en-GB" sz="1600" b="0" i="0" u="none" strike="noStrike" err="1">
                          <a:solidFill>
                            <a:srgbClr val="000000"/>
                          </a:solidFill>
                          <a:latin typeface="Calibri"/>
                        </a:rPr>
                        <a:t>Maliyeti</a:t>
                      </a:r>
                      <a:r>
                        <a:rPr lang="en-GB" sz="1600" b="0" i="0" u="none" strike="noStrike">
                          <a:solidFill>
                            <a:srgbClr val="000000"/>
                          </a:solidFill>
                          <a:latin typeface="Calibri"/>
                        </a:rPr>
                        <a:t> </a:t>
                      </a:r>
                    </a:p>
                  </a:txBody>
                  <a:tcPr marL="7362" marR="7362" marT="7362"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-1.248  </a:t>
                      </a:r>
                    </a:p>
                  </a:txBody>
                  <a:tcPr marL="7620" marR="7620" marT="7620"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-1.</a:t>
                      </a:r>
                      <a:r>
                        <a:rPr lang="tr-TR" sz="1600" b="0" i="0" u="none" strike="noStrike">
                          <a:solidFill>
                            <a:srgbClr val="000000"/>
                          </a:solidFill>
                          <a:effectLst/>
                          <a:latin typeface="Calibri" panose="020F0502020204030204" pitchFamily="34" charset="0"/>
                        </a:rPr>
                        <a:t>683</a:t>
                      </a:r>
                      <a:r>
                        <a:rPr lang="en-US" sz="16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3"/>
                  </a:ext>
                </a:extLst>
              </a:tr>
              <a:tr h="248680">
                <a:tc>
                  <a:txBody>
                    <a:bodyPr/>
                    <a:lstStyle/>
                    <a:p>
                      <a:pPr algn="l" fontAlgn="b"/>
                      <a:r>
                        <a:rPr lang="en-GB" sz="1600" b="0" i="0" u="none" strike="noStrike" err="1">
                          <a:solidFill>
                            <a:srgbClr val="000000"/>
                          </a:solidFill>
                          <a:latin typeface="Calibri"/>
                        </a:rPr>
                        <a:t>Faaliyet</a:t>
                      </a:r>
                      <a:r>
                        <a:rPr lang="en-GB" sz="1600" b="0" i="0" u="none" strike="noStrike">
                          <a:solidFill>
                            <a:srgbClr val="000000"/>
                          </a:solidFill>
                          <a:latin typeface="Calibri"/>
                        </a:rPr>
                        <a:t> </a:t>
                      </a:r>
                      <a:r>
                        <a:rPr lang="en-GB" sz="1600" b="0" i="0" u="none" strike="noStrike" err="1">
                          <a:solidFill>
                            <a:srgbClr val="000000"/>
                          </a:solidFill>
                          <a:latin typeface="Calibri"/>
                        </a:rPr>
                        <a:t>Giderleri</a:t>
                      </a:r>
                      <a:r>
                        <a:rPr lang="en-GB" sz="1600" b="0" i="0" u="none" strike="noStrike">
                          <a:solidFill>
                            <a:srgbClr val="000000"/>
                          </a:solidFill>
                          <a:latin typeface="Calibri"/>
                        </a:rPr>
                        <a:t> </a:t>
                      </a:r>
                    </a:p>
                  </a:txBody>
                  <a:tcPr marL="7362" marR="7362" marT="7362"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-300  </a:t>
                      </a:r>
                    </a:p>
                  </a:txBody>
                  <a:tcPr marL="7620" marR="7620" marT="7620" marB="0" anchor="b">
                    <a:lnL>
                      <a:noFill/>
                    </a:lnL>
                    <a:lnR>
                      <a:noFill/>
                    </a:lnR>
                    <a:lnT>
                      <a:noFill/>
                    </a:lnT>
                    <a:lnB>
                      <a:noFill/>
                    </a:lnB>
                  </a:tcPr>
                </a:tc>
                <a:tc>
                  <a:txBody>
                    <a:bodyPr/>
                    <a:lstStyle/>
                    <a:p>
                      <a:pPr algn="r" fontAlgn="b"/>
                      <a:r>
                        <a:rPr lang="tr-TR" sz="1600" b="0" i="0" u="none" strike="noStrike">
                          <a:solidFill>
                            <a:srgbClr val="000000"/>
                          </a:solidFill>
                          <a:effectLst/>
                          <a:latin typeface="Calibri" panose="020F0502020204030204" pitchFamily="34" charset="0"/>
                        </a:rPr>
                        <a:t>-</a:t>
                      </a:r>
                      <a:r>
                        <a:rPr lang="en-US" sz="1600" b="0" i="0" u="none" strike="noStrike">
                          <a:solidFill>
                            <a:srgbClr val="000000"/>
                          </a:solidFill>
                          <a:effectLst/>
                          <a:latin typeface="Calibri" panose="020F0502020204030204" pitchFamily="34" charset="0"/>
                        </a:rPr>
                        <a:t>3</a:t>
                      </a:r>
                      <a:r>
                        <a:rPr lang="tr-TR" sz="1600" b="0" i="0" u="none" strike="noStrike">
                          <a:solidFill>
                            <a:srgbClr val="000000"/>
                          </a:solidFill>
                          <a:effectLst/>
                          <a:latin typeface="Calibri" panose="020F0502020204030204" pitchFamily="34" charset="0"/>
                        </a:rPr>
                        <a:t>54</a:t>
                      </a:r>
                      <a:r>
                        <a:rPr lang="en-US" sz="16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4"/>
                  </a:ext>
                </a:extLst>
              </a:tr>
              <a:tr h="248680">
                <a:tc>
                  <a:txBody>
                    <a:bodyPr/>
                    <a:lstStyle/>
                    <a:p>
                      <a:pPr algn="l" fontAlgn="b"/>
                      <a:r>
                        <a:rPr lang="en-GB" sz="1600" b="0" i="0" u="none" strike="noStrike" err="1">
                          <a:solidFill>
                            <a:srgbClr val="000000"/>
                          </a:solidFill>
                          <a:latin typeface="Calibri"/>
                        </a:rPr>
                        <a:t>Amortisman</a:t>
                      </a:r>
                      <a:r>
                        <a:rPr lang="en-GB" sz="1600" b="0" i="0" u="none" strike="noStrike">
                          <a:solidFill>
                            <a:srgbClr val="000000"/>
                          </a:solidFill>
                          <a:latin typeface="Calibri"/>
                        </a:rPr>
                        <a:t> </a:t>
                      </a:r>
                      <a:r>
                        <a:rPr lang="en-GB" sz="1600" b="0" i="0" u="none" strike="noStrike" err="1">
                          <a:solidFill>
                            <a:srgbClr val="000000"/>
                          </a:solidFill>
                          <a:latin typeface="Calibri"/>
                        </a:rPr>
                        <a:t>ve</a:t>
                      </a:r>
                      <a:r>
                        <a:rPr lang="en-GB" sz="1600" b="0" i="0" u="none" strike="noStrike">
                          <a:solidFill>
                            <a:srgbClr val="000000"/>
                          </a:solidFill>
                          <a:latin typeface="Calibri"/>
                        </a:rPr>
                        <a:t> </a:t>
                      </a:r>
                      <a:r>
                        <a:rPr lang="en-GB" sz="1600" b="0" i="0" u="none" strike="noStrike" err="1">
                          <a:solidFill>
                            <a:srgbClr val="000000"/>
                          </a:solidFill>
                          <a:latin typeface="Calibri"/>
                        </a:rPr>
                        <a:t>Kıdem</a:t>
                      </a:r>
                      <a:r>
                        <a:rPr lang="en-GB" sz="1600" b="0" i="0" u="none" strike="noStrike">
                          <a:solidFill>
                            <a:srgbClr val="000000"/>
                          </a:solidFill>
                          <a:latin typeface="Calibri"/>
                        </a:rPr>
                        <a:t> T</a:t>
                      </a:r>
                      <a:r>
                        <a:rPr lang="tr-TR" sz="1600" b="0" i="0" u="none" strike="noStrike">
                          <a:solidFill>
                            <a:srgbClr val="000000"/>
                          </a:solidFill>
                          <a:latin typeface="Calibri"/>
                        </a:rPr>
                        <a:t>.</a:t>
                      </a:r>
                      <a:r>
                        <a:rPr lang="en-GB" sz="1600" b="0" i="0" u="none" strike="noStrike" err="1">
                          <a:solidFill>
                            <a:srgbClr val="000000"/>
                          </a:solidFill>
                          <a:latin typeface="Calibri"/>
                        </a:rPr>
                        <a:t>Karşılığı</a:t>
                      </a:r>
                      <a:r>
                        <a:rPr lang="en-GB" sz="1600" b="0" i="0" u="none" strike="noStrike">
                          <a:solidFill>
                            <a:srgbClr val="000000"/>
                          </a:solidFill>
                          <a:latin typeface="Calibri"/>
                        </a:rPr>
                        <a:t>(+)</a:t>
                      </a: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effectLst/>
                          <a:latin typeface="Calibri" panose="020F0502020204030204" pitchFamily="34" charset="0"/>
                        </a:rPr>
                        <a:t>106</a:t>
                      </a:r>
                      <a:r>
                        <a:rPr lang="en-US" sz="16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tc>
                  <a:txBody>
                    <a:bodyPr/>
                    <a:lstStyle/>
                    <a:p>
                      <a:pPr algn="r" fontAlgn="b"/>
                      <a:r>
                        <a:rPr lang="tr-TR" sz="1600" b="0" i="0" u="none" strike="noStrike">
                          <a:solidFill>
                            <a:srgbClr val="000000"/>
                          </a:solidFill>
                          <a:effectLst/>
                          <a:latin typeface="Calibri" panose="020F0502020204030204" pitchFamily="34" charset="0"/>
                        </a:rPr>
                        <a:t>171</a:t>
                      </a:r>
                      <a:r>
                        <a:rPr lang="en-US" sz="16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5"/>
                  </a:ext>
                </a:extLst>
              </a:tr>
              <a:tr h="248680">
                <a:tc>
                  <a:txBody>
                    <a:bodyPr/>
                    <a:lstStyle/>
                    <a:p>
                      <a:pPr algn="l" fontAlgn="b"/>
                      <a:r>
                        <a:rPr lang="en-GB" sz="1600" b="0" i="0" u="none" strike="noStrike" err="1">
                          <a:solidFill>
                            <a:srgbClr val="000000"/>
                          </a:solidFill>
                          <a:latin typeface="Calibri"/>
                        </a:rPr>
                        <a:t>Vergi</a:t>
                      </a:r>
                      <a:r>
                        <a:rPr lang="en-GB" sz="1600" b="0" i="0" u="none" strike="noStrike">
                          <a:solidFill>
                            <a:srgbClr val="000000"/>
                          </a:solidFill>
                          <a:latin typeface="Calibri"/>
                        </a:rPr>
                        <a:t> </a:t>
                      </a:r>
                      <a:r>
                        <a:rPr lang="en-GB" sz="1600" b="0" i="0" u="none" strike="noStrike" err="1">
                          <a:solidFill>
                            <a:srgbClr val="000000"/>
                          </a:solidFill>
                          <a:latin typeface="Calibri"/>
                        </a:rPr>
                        <a:t>gideri</a:t>
                      </a:r>
                      <a:r>
                        <a:rPr lang="en-GB" sz="1600" b="0" i="0" u="none" strike="noStrike">
                          <a:solidFill>
                            <a:srgbClr val="000000"/>
                          </a:solidFill>
                          <a:latin typeface="Calibri"/>
                        </a:rPr>
                        <a:t> </a:t>
                      </a:r>
                    </a:p>
                  </a:txBody>
                  <a:tcPr marL="7362" marR="7362" marT="7362" marB="0" anchor="b">
                    <a:lnL>
                      <a:noFill/>
                    </a:lnL>
                    <a:lnR>
                      <a:noFill/>
                    </a:lnR>
                    <a:lnT>
                      <a:noFill/>
                    </a:lnT>
                    <a:lnB>
                      <a:noFill/>
                    </a:lnB>
                  </a:tcPr>
                </a:tc>
                <a:tc>
                  <a:txBody>
                    <a:bodyPr/>
                    <a:lstStyle/>
                    <a:p>
                      <a:pPr algn="r" fontAlgn="b"/>
                      <a:r>
                        <a:rPr lang="en-US" sz="1600" b="0" i="0" u="none" strike="noStrike">
                          <a:solidFill>
                            <a:srgbClr val="000000"/>
                          </a:solidFill>
                          <a:effectLst/>
                          <a:latin typeface="Calibri" panose="020F0502020204030204" pitchFamily="34" charset="0"/>
                        </a:rPr>
                        <a:t>-</a:t>
                      </a:r>
                      <a:r>
                        <a:rPr lang="tr-TR" sz="1600" b="0" i="0" u="none" strike="noStrike">
                          <a:solidFill>
                            <a:srgbClr val="000000"/>
                          </a:solidFill>
                          <a:effectLst/>
                          <a:latin typeface="Calibri" panose="020F0502020204030204" pitchFamily="34" charset="0"/>
                        </a:rPr>
                        <a:t>4</a:t>
                      </a:r>
                      <a:r>
                        <a:rPr lang="en-US" sz="16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tc>
                  <a:txBody>
                    <a:bodyPr/>
                    <a:lstStyle/>
                    <a:p>
                      <a:pPr algn="r" fontAlgn="b"/>
                      <a:r>
                        <a:rPr lang="tr-TR" sz="1600" b="0" i="0" u="none" strike="noStrike">
                          <a:solidFill>
                            <a:srgbClr val="000000"/>
                          </a:solidFill>
                          <a:effectLst/>
                          <a:latin typeface="Calibri" panose="020F0502020204030204" pitchFamily="34" charset="0"/>
                        </a:rPr>
                        <a:t>-3</a:t>
                      </a:r>
                      <a:r>
                        <a:rPr lang="en-US" sz="16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06"/>
                  </a:ext>
                </a:extLst>
              </a:tr>
              <a:tr h="248680">
                <a:tc>
                  <a:txBody>
                    <a:bodyPr/>
                    <a:lstStyle/>
                    <a:p>
                      <a:pPr algn="l" fontAlgn="b"/>
                      <a:r>
                        <a:rPr lang="tr-TR" sz="1600" b="0" i="0" u="none" strike="noStrike">
                          <a:solidFill>
                            <a:srgbClr val="000000"/>
                          </a:solidFill>
                          <a:latin typeface="Calibri"/>
                        </a:rPr>
                        <a:t>   </a:t>
                      </a:r>
                      <a:r>
                        <a:rPr lang="tr-TR" sz="1600" b="1" i="0" u="none" strike="noStrike">
                          <a:solidFill>
                            <a:srgbClr val="000000"/>
                          </a:solidFill>
                          <a:latin typeface="Calibri"/>
                        </a:rPr>
                        <a:t>Karlılık Bileşeni</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320</a:t>
                      </a:r>
                      <a:endParaRPr lang="en-GB"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tr-TR" sz="1600" b="1" i="0" u="none" strike="noStrike">
                          <a:solidFill>
                            <a:srgbClr val="000000"/>
                          </a:solidFill>
                          <a:latin typeface="Calibri"/>
                        </a:rPr>
                        <a:t>425</a:t>
                      </a:r>
                      <a:endParaRPr lang="en-GB" sz="1600" b="1" i="0" u="none" strike="noStrike">
                        <a:solidFill>
                          <a:srgbClr val="000000"/>
                        </a:solidFill>
                        <a:latin typeface="Calibri"/>
                      </a:endParaRPr>
                    </a:p>
                  </a:txBody>
                  <a:tcPr marL="7620" marR="7620" marT="7620" marB="0" anchor="b">
                    <a:lnL>
                      <a:noFill/>
                    </a:lnL>
                    <a:lnR>
                      <a:noFill/>
                    </a:lnR>
                    <a:lnT>
                      <a:noFill/>
                    </a:lnT>
                    <a:lnB>
                      <a:noFill/>
                    </a:lnB>
                  </a:tcPr>
                </a:tc>
                <a:extLst>
                  <a:ext uri="{0D108BD9-81ED-4DB2-BD59-A6C34878D82A}">
                    <a16:rowId xmlns:a16="http://schemas.microsoft.com/office/drawing/2014/main" val="10018"/>
                  </a:ext>
                </a:extLst>
              </a:tr>
              <a:tr h="248680">
                <a:tc>
                  <a:txBody>
                    <a:bodyPr/>
                    <a:lstStyle/>
                    <a:p>
                      <a:pPr algn="l" fontAlgn="b"/>
                      <a:r>
                        <a:rPr lang="tr-TR" sz="1600" b="0" i="0" u="none" strike="noStrike">
                          <a:solidFill>
                            <a:srgbClr val="000000"/>
                          </a:solidFill>
                          <a:latin typeface="Calibri"/>
                        </a:rPr>
                        <a:t>-</a:t>
                      </a:r>
                      <a:r>
                        <a:rPr lang="en-GB" sz="1600" b="0" i="0" u="none" strike="noStrike" err="1">
                          <a:solidFill>
                            <a:srgbClr val="000000"/>
                          </a:solidFill>
                          <a:latin typeface="Calibri"/>
                        </a:rPr>
                        <a:t>İşletme</a:t>
                      </a:r>
                      <a:r>
                        <a:rPr lang="en-GB" sz="1600" b="0" i="0" u="none" strike="noStrike">
                          <a:solidFill>
                            <a:srgbClr val="000000"/>
                          </a:solidFill>
                          <a:latin typeface="Calibri"/>
                        </a:rPr>
                        <a:t> </a:t>
                      </a:r>
                      <a:r>
                        <a:rPr lang="en-GB" sz="1600" b="0" i="0" u="none" strike="noStrike" err="1">
                          <a:solidFill>
                            <a:srgbClr val="000000"/>
                          </a:solidFill>
                          <a:latin typeface="Calibri"/>
                        </a:rPr>
                        <a:t>Sermayesi</a:t>
                      </a:r>
                      <a:r>
                        <a:rPr lang="en-GB" sz="1600" b="0" i="0" u="none" strike="noStrike">
                          <a:solidFill>
                            <a:srgbClr val="000000"/>
                          </a:solidFill>
                          <a:latin typeface="Calibri"/>
                        </a:rPr>
                        <a:t> </a:t>
                      </a:r>
                      <a:r>
                        <a:rPr lang="en-GB" sz="1600" b="0" i="0" u="none" strike="noStrike" err="1">
                          <a:solidFill>
                            <a:srgbClr val="000000"/>
                          </a:solidFill>
                          <a:latin typeface="Calibri"/>
                        </a:rPr>
                        <a:t>Değişimi</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-17</a:t>
                      </a:r>
                      <a:endParaRPr lang="en-GB" sz="1600" b="1"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tr-TR" sz="1600" b="1" i="0" u="none" strike="noStrike">
                          <a:solidFill>
                            <a:srgbClr val="000000"/>
                          </a:solidFill>
                          <a:latin typeface="Calibri"/>
                        </a:rPr>
                        <a:t>222</a:t>
                      </a:r>
                      <a:endParaRPr lang="en-GB" sz="1600" b="1" i="0" u="none" strike="noStrike">
                        <a:solidFill>
                          <a:srgbClr val="000000"/>
                        </a:solidFill>
                        <a:latin typeface="Calibri"/>
                      </a:endParaRPr>
                    </a:p>
                  </a:txBody>
                  <a:tcPr marL="7620" marR="7620" marT="7620" marB="0" anchor="b">
                    <a:lnL>
                      <a:noFill/>
                    </a:lnL>
                    <a:lnR>
                      <a:noFill/>
                    </a:lnR>
                    <a:lnT>
                      <a:noFill/>
                    </a:lnT>
                    <a:lnB>
                      <a:noFill/>
                    </a:lnB>
                  </a:tcPr>
                </a:tc>
                <a:extLst>
                  <a:ext uri="{0D108BD9-81ED-4DB2-BD59-A6C34878D82A}">
                    <a16:rowId xmlns:a16="http://schemas.microsoft.com/office/drawing/2014/main" val="10007"/>
                  </a:ext>
                </a:extLst>
              </a:tr>
              <a:tr h="185390">
                <a:tc>
                  <a:txBody>
                    <a:bodyPr/>
                    <a:lstStyle/>
                    <a:p>
                      <a:pPr algn="l" fontAlgn="b"/>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tc>
                  <a:txBody>
                    <a:bodyPr/>
                    <a:lstStyle/>
                    <a:p>
                      <a:pPr algn="r" fontAlgn="b"/>
                      <a:endParaRPr lang="en-GB" sz="1600" b="0" i="0" u="none" strike="noStrike">
                        <a:solidFill>
                          <a:srgbClr val="000000"/>
                        </a:solidFill>
                        <a:latin typeface="Calibri"/>
                      </a:endParaRPr>
                    </a:p>
                  </a:txBody>
                  <a:tcPr marL="7620" marR="7620" marT="7620" marB="0" anchor="b">
                    <a:lnL>
                      <a:noFill/>
                    </a:lnL>
                    <a:lnR>
                      <a:noFill/>
                    </a:lnR>
                    <a:lnT>
                      <a:noFill/>
                    </a:lnT>
                    <a:lnB>
                      <a:noFill/>
                    </a:lnB>
                  </a:tcPr>
                </a:tc>
                <a:extLst>
                  <a:ext uri="{0D108BD9-81ED-4DB2-BD59-A6C34878D82A}">
                    <a16:rowId xmlns:a16="http://schemas.microsoft.com/office/drawing/2014/main" val="10019"/>
                  </a:ext>
                </a:extLst>
              </a:tr>
              <a:tr h="248680">
                <a:tc>
                  <a:txBody>
                    <a:bodyPr/>
                    <a:lstStyle/>
                    <a:p>
                      <a:pPr algn="l" fontAlgn="b"/>
                      <a:r>
                        <a:rPr lang="en-GB" sz="1600" b="1" i="0" u="none" strike="noStrike">
                          <a:solidFill>
                            <a:srgbClr val="000000"/>
                          </a:solidFill>
                          <a:latin typeface="Calibri"/>
                        </a:rPr>
                        <a:t>B. </a:t>
                      </a:r>
                      <a:r>
                        <a:rPr lang="en-GB" sz="1600" b="1" i="0" u="none" strike="noStrike" err="1">
                          <a:solidFill>
                            <a:srgbClr val="000000"/>
                          </a:solidFill>
                          <a:latin typeface="Calibri"/>
                        </a:rPr>
                        <a:t>Yatırımlardan</a:t>
                      </a:r>
                      <a:r>
                        <a:rPr lang="en-GB" sz="1600" b="1" i="0" u="none" strike="noStrike">
                          <a:solidFill>
                            <a:srgbClr val="000000"/>
                          </a:solidFill>
                          <a:latin typeface="Calibri"/>
                        </a:rPr>
                        <a:t> Net Nakit </a:t>
                      </a:r>
                      <a:r>
                        <a:rPr lang="en-GB" sz="1600" b="1" i="0" u="none" strike="noStrike" err="1">
                          <a:solidFill>
                            <a:srgbClr val="000000"/>
                          </a:solidFill>
                          <a:latin typeface="Calibri"/>
                        </a:rPr>
                        <a:t>Akımı</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a:t>
                      </a:r>
                      <a:r>
                        <a:rPr lang="tr-TR" sz="1600" b="1" i="0" u="none" strike="noStrike">
                          <a:solidFill>
                            <a:srgbClr val="000000"/>
                          </a:solidFill>
                          <a:latin typeface="Calibri"/>
                        </a:rPr>
                        <a:t>492</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1" i="0" u="none" strike="noStrike">
                          <a:solidFill>
                            <a:srgbClr val="000000"/>
                          </a:solidFill>
                          <a:latin typeface="Calibri"/>
                        </a:rPr>
                        <a:t>-</a:t>
                      </a:r>
                      <a:r>
                        <a:rPr lang="tr-TR" sz="1600" b="1" i="0" u="none" strike="noStrike">
                          <a:solidFill>
                            <a:srgbClr val="000000"/>
                          </a:solidFill>
                          <a:latin typeface="Calibri"/>
                        </a:rPr>
                        <a:t>636</a:t>
                      </a:r>
                      <a:endParaRPr lang="en-GB" sz="1600" b="1"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08"/>
                  </a:ext>
                </a:extLst>
              </a:tr>
              <a:tr h="390409">
                <a:tc>
                  <a:txBody>
                    <a:bodyPr/>
                    <a:lstStyle/>
                    <a:p>
                      <a:pPr algn="l" fontAlgn="b"/>
                      <a:r>
                        <a:rPr lang="en-GB" sz="1600" b="1" i="0" u="none" strike="noStrike">
                          <a:solidFill>
                            <a:srgbClr val="000000"/>
                          </a:solidFill>
                          <a:latin typeface="Calibri"/>
                        </a:rPr>
                        <a:t>C. </a:t>
                      </a:r>
                      <a:r>
                        <a:rPr lang="en-GB" sz="1600" b="1" i="0" u="none" strike="noStrike" err="1">
                          <a:solidFill>
                            <a:srgbClr val="000000"/>
                          </a:solidFill>
                          <a:latin typeface="Calibri"/>
                        </a:rPr>
                        <a:t>Finansman</a:t>
                      </a:r>
                      <a:r>
                        <a:rPr lang="en-GB" sz="1600" b="1" i="0" u="none" strike="noStrike">
                          <a:solidFill>
                            <a:srgbClr val="000000"/>
                          </a:solidFill>
                          <a:latin typeface="Calibri"/>
                        </a:rPr>
                        <a:t> </a:t>
                      </a:r>
                      <a:r>
                        <a:rPr lang="en-GB" sz="1600" b="1" i="0" u="none" strike="noStrike" err="1">
                          <a:solidFill>
                            <a:srgbClr val="000000"/>
                          </a:solidFill>
                          <a:latin typeface="Calibri"/>
                        </a:rPr>
                        <a:t>Faaliyetlerinden</a:t>
                      </a:r>
                      <a:r>
                        <a:rPr lang="en-GB" sz="1600" b="1" i="0" u="none" strike="noStrike">
                          <a:solidFill>
                            <a:srgbClr val="000000"/>
                          </a:solidFill>
                          <a:latin typeface="Calibri"/>
                        </a:rPr>
                        <a:t> N</a:t>
                      </a:r>
                      <a:r>
                        <a:rPr lang="tr-TR" sz="1600" b="1" i="0" u="none" strike="noStrike">
                          <a:solidFill>
                            <a:srgbClr val="000000"/>
                          </a:solidFill>
                          <a:latin typeface="Calibri"/>
                        </a:rPr>
                        <a:t>.</a:t>
                      </a:r>
                      <a:r>
                        <a:rPr lang="en-GB" sz="1600" b="1" i="0" u="none" strike="noStrike">
                          <a:solidFill>
                            <a:srgbClr val="000000"/>
                          </a:solidFill>
                          <a:latin typeface="Calibri"/>
                        </a:rPr>
                        <a:t> A</a:t>
                      </a:r>
                      <a:r>
                        <a:rPr lang="tr-TR" sz="1600" b="1" i="0" u="none" strike="noStrike">
                          <a:solidFill>
                            <a:srgbClr val="000000"/>
                          </a:solidFill>
                          <a:latin typeface="Calibri"/>
                        </a:rPr>
                        <a:t>.</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247</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9</a:t>
                      </a:r>
                      <a:endParaRPr lang="en-GB" sz="1600" b="1"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09"/>
                  </a:ext>
                </a:extLst>
              </a:tr>
              <a:tr h="248680">
                <a:tc>
                  <a:txBody>
                    <a:bodyPr/>
                    <a:lstStyle/>
                    <a:p>
                      <a:pPr algn="l" fontAlgn="b"/>
                      <a:r>
                        <a:rPr lang="en-GB" sz="1600" b="0" i="0" u="none" strike="noStrike">
                          <a:solidFill>
                            <a:srgbClr val="000000"/>
                          </a:solidFill>
                          <a:latin typeface="Calibri"/>
                        </a:rPr>
                        <a:t>    + Net uzun vadeli borçlanma</a:t>
                      </a: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latin typeface="Calibri"/>
                        </a:rPr>
                        <a:t>470</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latin typeface="Calibri"/>
                        </a:rPr>
                        <a:t>516</a:t>
                      </a:r>
                      <a:endParaRPr lang="en-GB" sz="1600" b="0"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0"/>
                  </a:ext>
                </a:extLst>
              </a:tr>
              <a:tr h="248680">
                <a:tc>
                  <a:txBody>
                    <a:bodyPr/>
                    <a:lstStyle/>
                    <a:p>
                      <a:pPr algn="l" fontAlgn="b"/>
                      <a:r>
                        <a:rPr lang="en-GB" sz="1600" b="0" i="0" u="none" strike="noStrike">
                          <a:solidFill>
                            <a:srgbClr val="000000"/>
                          </a:solidFill>
                          <a:latin typeface="Calibri"/>
                        </a:rPr>
                        <a:t>    + </a:t>
                      </a:r>
                      <a:r>
                        <a:rPr lang="en-GB" sz="1600" b="0" i="0" u="none" strike="noStrike" err="1">
                          <a:solidFill>
                            <a:srgbClr val="000000"/>
                          </a:solidFill>
                          <a:latin typeface="Calibri"/>
                        </a:rPr>
                        <a:t>Kısa</a:t>
                      </a:r>
                      <a:r>
                        <a:rPr lang="en-GB" sz="1600" b="0" i="0" u="none" strike="noStrike">
                          <a:solidFill>
                            <a:srgbClr val="000000"/>
                          </a:solidFill>
                          <a:latin typeface="Calibri"/>
                        </a:rPr>
                        <a:t> </a:t>
                      </a:r>
                      <a:r>
                        <a:rPr lang="en-GB" sz="1600" b="0" i="0" u="none" strike="noStrike" err="1">
                          <a:solidFill>
                            <a:srgbClr val="000000"/>
                          </a:solidFill>
                          <a:latin typeface="Calibri"/>
                        </a:rPr>
                        <a:t>vadeli</a:t>
                      </a:r>
                      <a:r>
                        <a:rPr lang="en-GB" sz="1600" b="0" i="0" u="none" strike="noStrike">
                          <a:solidFill>
                            <a:srgbClr val="000000"/>
                          </a:solidFill>
                          <a:latin typeface="Calibri"/>
                        </a:rPr>
                        <a:t> </a:t>
                      </a:r>
                      <a:r>
                        <a:rPr lang="en-GB" sz="1600" b="0" i="0" u="none" strike="noStrike" err="1">
                          <a:solidFill>
                            <a:srgbClr val="000000"/>
                          </a:solidFill>
                          <a:latin typeface="Calibri"/>
                        </a:rPr>
                        <a:t>borçlanma</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latin typeface="Calibri"/>
                        </a:rPr>
                        <a:t>122</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0" i="0" u="none" strike="noStrike">
                          <a:solidFill>
                            <a:srgbClr val="000000"/>
                          </a:solidFill>
                          <a:latin typeface="Calibri"/>
                        </a:rPr>
                        <a:t>-329</a:t>
                      </a:r>
                      <a:endParaRPr lang="en-GB" sz="1600" b="0"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1"/>
                  </a:ext>
                </a:extLst>
              </a:tr>
              <a:tr h="248680">
                <a:tc>
                  <a:txBody>
                    <a:bodyPr/>
                    <a:lstStyle/>
                    <a:p>
                      <a:pPr algn="l" fontAlgn="b"/>
                      <a:r>
                        <a:rPr lang="en-GB" sz="1600" b="0" i="0" u="none" strike="noStrike">
                          <a:solidFill>
                            <a:srgbClr val="000000"/>
                          </a:solidFill>
                          <a:latin typeface="Calibri"/>
                        </a:rPr>
                        <a:t>    + Nakit </a:t>
                      </a:r>
                      <a:r>
                        <a:rPr lang="en-GB" sz="1600" b="0" i="0" u="none" strike="noStrike" err="1">
                          <a:solidFill>
                            <a:srgbClr val="000000"/>
                          </a:solidFill>
                          <a:latin typeface="Calibri"/>
                        </a:rPr>
                        <a:t>sermaye</a:t>
                      </a:r>
                      <a:r>
                        <a:rPr lang="en-GB" sz="1600" b="0" i="0" u="none" strike="noStrike">
                          <a:solidFill>
                            <a:srgbClr val="000000"/>
                          </a:solidFill>
                          <a:latin typeface="Calibri"/>
                        </a:rPr>
                        <a:t> </a:t>
                      </a:r>
                      <a:r>
                        <a:rPr lang="en-GB" sz="1600" b="0" i="0" u="none" strike="noStrike" err="1">
                          <a:solidFill>
                            <a:srgbClr val="000000"/>
                          </a:solidFill>
                          <a:latin typeface="Calibri"/>
                        </a:rPr>
                        <a:t>artırımı</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0</a:t>
                      </a: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0</a:t>
                      </a:r>
                    </a:p>
                  </a:txBody>
                  <a:tcPr marL="7362" marR="7362" marT="7362" marB="0" anchor="b">
                    <a:lnL>
                      <a:noFill/>
                    </a:lnL>
                    <a:lnR>
                      <a:noFill/>
                    </a:lnR>
                    <a:lnT>
                      <a:noFill/>
                    </a:lnT>
                    <a:lnB>
                      <a:noFill/>
                    </a:lnB>
                  </a:tcPr>
                </a:tc>
                <a:extLst>
                  <a:ext uri="{0D108BD9-81ED-4DB2-BD59-A6C34878D82A}">
                    <a16:rowId xmlns:a16="http://schemas.microsoft.com/office/drawing/2014/main" val="10012"/>
                  </a:ext>
                </a:extLst>
              </a:tr>
              <a:tr h="248680">
                <a:tc>
                  <a:txBody>
                    <a:bodyPr/>
                    <a:lstStyle/>
                    <a:p>
                      <a:pPr algn="l" fontAlgn="b"/>
                      <a:r>
                        <a:rPr lang="en-GB" sz="1600" b="0" i="0" u="none" strike="noStrike">
                          <a:solidFill>
                            <a:srgbClr val="000000"/>
                          </a:solidFill>
                          <a:latin typeface="Calibri"/>
                        </a:rPr>
                        <a:t>   - </a:t>
                      </a:r>
                      <a:r>
                        <a:rPr lang="en-GB" sz="1600" b="0" i="0" u="none" strike="noStrike" err="1">
                          <a:solidFill>
                            <a:srgbClr val="000000"/>
                          </a:solidFill>
                          <a:latin typeface="Calibri"/>
                        </a:rPr>
                        <a:t>Faiz</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a:t>
                      </a:r>
                      <a:r>
                        <a:rPr lang="tr-TR" sz="1600" b="0" i="0" u="none" strike="noStrike">
                          <a:solidFill>
                            <a:srgbClr val="000000"/>
                          </a:solidFill>
                          <a:latin typeface="Calibri"/>
                        </a:rPr>
                        <a:t>178</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000000"/>
                          </a:solidFill>
                          <a:latin typeface="Calibri"/>
                        </a:rPr>
                        <a:t>-</a:t>
                      </a:r>
                      <a:r>
                        <a:rPr lang="tr-TR" sz="1600" b="0" i="0" u="none" strike="noStrike">
                          <a:solidFill>
                            <a:srgbClr val="000000"/>
                          </a:solidFill>
                          <a:latin typeface="Calibri"/>
                        </a:rPr>
                        <a:t>210</a:t>
                      </a:r>
                      <a:endParaRPr lang="en-GB" sz="1600" b="0"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3"/>
                  </a:ext>
                </a:extLst>
              </a:tr>
              <a:tr h="248680">
                <a:tc>
                  <a:txBody>
                    <a:bodyPr/>
                    <a:lstStyle/>
                    <a:p>
                      <a:pPr algn="l" fontAlgn="b"/>
                      <a:r>
                        <a:rPr lang="en-GB" sz="1600" b="0" i="0" u="none" strike="noStrike">
                          <a:solidFill>
                            <a:srgbClr val="000000"/>
                          </a:solidFill>
                          <a:latin typeface="Calibri"/>
                        </a:rPr>
                        <a:t>   - </a:t>
                      </a:r>
                      <a:r>
                        <a:rPr lang="en-GB" sz="1600" b="0" i="0" u="none" strike="noStrike" err="1">
                          <a:solidFill>
                            <a:srgbClr val="000000"/>
                          </a:solidFill>
                          <a:latin typeface="Calibri"/>
                        </a:rPr>
                        <a:t>Temettü</a:t>
                      </a:r>
                      <a:endParaRPr lang="en-GB" sz="1600" b="0"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GB" sz="1600" b="0" i="0" u="none" strike="noStrike">
                          <a:solidFill>
                            <a:srgbClr val="FF0000"/>
                          </a:solidFill>
                          <a:latin typeface="Calibri"/>
                        </a:rPr>
                        <a:t>-</a:t>
                      </a:r>
                      <a:r>
                        <a:rPr lang="tr-TR" sz="1600" b="0" i="0" u="none" strike="noStrike">
                          <a:solidFill>
                            <a:srgbClr val="FF0000"/>
                          </a:solidFill>
                          <a:latin typeface="Calibri"/>
                        </a:rPr>
                        <a:t>167</a:t>
                      </a:r>
                      <a:endParaRPr lang="en-GB" sz="1600" b="0" i="0" u="none" strike="noStrike">
                        <a:solidFill>
                          <a:srgbClr val="FF0000"/>
                        </a:solidFill>
                        <a:latin typeface="Calibri"/>
                      </a:endParaRPr>
                    </a:p>
                  </a:txBody>
                  <a:tcPr marL="7362" marR="7362" marT="7362" marB="0" anchor="b">
                    <a:lnL>
                      <a:noFill/>
                    </a:lnL>
                    <a:lnR>
                      <a:noFill/>
                    </a:lnR>
                    <a:lnT>
                      <a:noFill/>
                    </a:lnT>
                    <a:lnB>
                      <a:noFill/>
                    </a:lnB>
                  </a:tcPr>
                </a:tc>
                <a:tc>
                  <a:txBody>
                    <a:bodyPr/>
                    <a:lstStyle/>
                    <a:p>
                      <a:pPr algn="r" fontAlgn="b"/>
                      <a:r>
                        <a:rPr lang="tr-TR" sz="1600" b="0" i="0" u="none" strike="noStrike">
                          <a:solidFill>
                            <a:srgbClr val="FF0000"/>
                          </a:solidFill>
                          <a:latin typeface="Calibri"/>
                        </a:rPr>
                        <a:t>0</a:t>
                      </a:r>
                      <a:endParaRPr lang="en-GB" sz="1600" b="0" i="0" u="none" strike="noStrike">
                        <a:solidFill>
                          <a:srgbClr val="FF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4"/>
                  </a:ext>
                </a:extLst>
              </a:tr>
              <a:tr h="248680">
                <a:tc>
                  <a:txBody>
                    <a:bodyPr/>
                    <a:lstStyle/>
                    <a:p>
                      <a:pPr algn="l" fontAlgn="b"/>
                      <a:r>
                        <a:rPr lang="en-GB" sz="1600" b="1" i="0" u="none" strike="noStrike" err="1">
                          <a:solidFill>
                            <a:srgbClr val="000000"/>
                          </a:solidFill>
                          <a:latin typeface="Calibri"/>
                        </a:rPr>
                        <a:t>Toplam</a:t>
                      </a:r>
                      <a:r>
                        <a:rPr lang="en-GB" sz="1600" b="1" i="0" u="none" strike="noStrike">
                          <a:solidFill>
                            <a:srgbClr val="000000"/>
                          </a:solidFill>
                          <a:latin typeface="Calibri"/>
                        </a:rPr>
                        <a:t> Nakit </a:t>
                      </a:r>
                      <a:r>
                        <a:rPr lang="en-GB" sz="1600" b="1" i="0" u="none" strike="noStrike" err="1">
                          <a:solidFill>
                            <a:srgbClr val="000000"/>
                          </a:solidFill>
                          <a:latin typeface="Calibri"/>
                        </a:rPr>
                        <a:t>Akımı</a:t>
                      </a:r>
                      <a:r>
                        <a:rPr lang="en-GB" sz="1600" b="1" i="0" u="none" strike="noStrike">
                          <a:solidFill>
                            <a:srgbClr val="000000"/>
                          </a:solidFill>
                          <a:latin typeface="Calibri"/>
                        </a:rPr>
                        <a:t> (A+B+C)</a:t>
                      </a: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91</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tr-TR" sz="1600" b="1" i="0" u="none" strike="noStrike">
                          <a:solidFill>
                            <a:srgbClr val="000000"/>
                          </a:solidFill>
                          <a:latin typeface="Calibri"/>
                        </a:rPr>
                        <a:t>-2</a:t>
                      </a:r>
                      <a:endParaRPr lang="en-GB" sz="1600" b="1"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5"/>
                  </a:ext>
                </a:extLst>
              </a:tr>
              <a:tr h="248680">
                <a:tc>
                  <a:txBody>
                    <a:bodyPr/>
                    <a:lstStyle/>
                    <a:p>
                      <a:pPr algn="l"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endParaRPr lang="en-GB" sz="1600" b="1" i="0" u="none" strike="noStrike">
                        <a:solidFill>
                          <a:srgbClr val="000000"/>
                        </a:solidFill>
                        <a:latin typeface="Calibri"/>
                      </a:endParaRPr>
                    </a:p>
                  </a:txBody>
                  <a:tcPr marL="7362" marR="7362" marT="7362" marB="0" anchor="b">
                    <a:lnL>
                      <a:noFill/>
                    </a:lnL>
                    <a:lnR>
                      <a:noFill/>
                    </a:lnR>
                    <a:lnT>
                      <a:noFill/>
                    </a:lnT>
                    <a:lnB>
                      <a:noFill/>
                    </a:lnB>
                  </a:tcPr>
                </a:tc>
                <a:extLst>
                  <a:ext uri="{0D108BD9-81ED-4DB2-BD59-A6C34878D82A}">
                    <a16:rowId xmlns:a16="http://schemas.microsoft.com/office/drawing/2014/main" val="10016"/>
                  </a:ext>
                </a:extLst>
              </a:tr>
              <a:tr h="248680">
                <a:tc>
                  <a:txBody>
                    <a:bodyPr/>
                    <a:lstStyle/>
                    <a:p>
                      <a:pPr algn="l" fontAlgn="b"/>
                      <a:r>
                        <a:rPr lang="tr-TR" sz="1600" b="1" i="0" u="none" strike="noStrike">
                          <a:solidFill>
                            <a:srgbClr val="000000"/>
                          </a:solidFill>
                          <a:latin typeface="Calibri"/>
                        </a:rPr>
                        <a:t>SERBEST NAKİT AKIMI (A+B)</a:t>
                      </a:r>
                      <a:endParaRPr lang="en-GB" sz="1600" b="1" i="0" u="none" strike="noStrike">
                        <a:solidFill>
                          <a:srgbClr val="000000"/>
                        </a:solidFill>
                        <a:latin typeface="Calibri"/>
                      </a:endParaRPr>
                    </a:p>
                  </a:txBody>
                  <a:tcPr marL="7362" marR="7362" marT="7362" marB="0" anchor="b">
                    <a:lnL>
                      <a:noFill/>
                    </a:lnL>
                    <a:lnR>
                      <a:noFill/>
                    </a:lnR>
                    <a:lnT>
                      <a:noFill/>
                    </a:lnT>
                    <a:lnB>
                      <a:noFill/>
                    </a:lnB>
                  </a:tcPr>
                </a:tc>
                <a:tc>
                  <a:txBody>
                    <a:bodyPr/>
                    <a:lstStyle/>
                    <a:p>
                      <a:pPr algn="r" fontAlgn="b"/>
                      <a:r>
                        <a:rPr lang="en-US" sz="1600" b="1" i="0" u="none" strike="noStrike">
                          <a:solidFill>
                            <a:srgbClr val="000000"/>
                          </a:solidFill>
                          <a:effectLst/>
                          <a:latin typeface="Calibri" panose="020F0502020204030204" pitchFamily="34" charset="0"/>
                        </a:rPr>
                        <a:t>-</a:t>
                      </a:r>
                      <a:r>
                        <a:rPr lang="tr-TR" sz="1600" b="1" i="0" u="none" strike="noStrike">
                          <a:solidFill>
                            <a:srgbClr val="000000"/>
                          </a:solidFill>
                          <a:effectLst/>
                          <a:latin typeface="Calibri" panose="020F0502020204030204" pitchFamily="34" charset="0"/>
                        </a:rPr>
                        <a:t>189</a:t>
                      </a:r>
                      <a:r>
                        <a:rPr lang="en-US" sz="1600" b="1"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tc>
                  <a:txBody>
                    <a:bodyPr/>
                    <a:lstStyle/>
                    <a:p>
                      <a:pPr algn="r" fontAlgn="b"/>
                      <a:r>
                        <a:rPr lang="tr-TR" sz="1600" b="1" i="0" u="none" strike="noStrike">
                          <a:solidFill>
                            <a:srgbClr val="000000"/>
                          </a:solidFill>
                          <a:effectLst/>
                          <a:latin typeface="Calibri" panose="020F0502020204030204" pitchFamily="34" charset="0"/>
                        </a:rPr>
                        <a:t>11</a:t>
                      </a:r>
                      <a:r>
                        <a:rPr lang="en-US" sz="1600" b="1"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017"/>
                  </a:ext>
                </a:extLst>
              </a:tr>
            </a:tbl>
          </a:graphicData>
        </a:graphic>
      </p:graphicFrame>
      <p:sp>
        <p:nvSpPr>
          <p:cNvPr id="5" name="Rectangle 3"/>
          <p:cNvSpPr txBox="1">
            <a:spLocks noChangeArrowheads="1"/>
          </p:cNvSpPr>
          <p:nvPr/>
        </p:nvSpPr>
        <p:spPr>
          <a:xfrm>
            <a:off x="5508104" y="1412776"/>
            <a:ext cx="3045025" cy="613693"/>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tr-TR" sz="1600">
                <a:latin typeface="Verdana" pitchFamily="34" charset="0"/>
                <a:ea typeface="Verdana" pitchFamily="34" charset="0"/>
                <a:cs typeface="Verdana" pitchFamily="34" charset="0"/>
              </a:rPr>
              <a:t>Brisa 2017 sonuçlarını açıklamıştır. </a:t>
            </a:r>
          </a:p>
          <a:p>
            <a:pPr algn="just">
              <a:buFont typeface="Wingdings" panose="05000000000000000000" pitchFamily="2" charset="2"/>
              <a:buChar char="v"/>
            </a:pPr>
            <a:endParaRPr lang="tr-TR" sz="1600">
              <a:latin typeface="Verdana" pitchFamily="34" charset="0"/>
              <a:ea typeface="Verdana" pitchFamily="34" charset="0"/>
              <a:cs typeface="Verdana" pitchFamily="34" charset="0"/>
            </a:endParaRPr>
          </a:p>
          <a:p>
            <a:pPr algn="just">
              <a:buFont typeface="Wingdings" panose="05000000000000000000" pitchFamily="2" charset="2"/>
              <a:buChar char="v"/>
            </a:pPr>
            <a:r>
              <a:rPr lang="tr-TR" sz="1600">
                <a:latin typeface="Verdana" pitchFamily="34" charset="0"/>
                <a:ea typeface="Verdana" pitchFamily="34" charset="0"/>
                <a:cs typeface="Verdana" pitchFamily="34" charset="0"/>
              </a:rPr>
              <a:t>Analiz eder misiniz? </a:t>
            </a:r>
          </a:p>
        </p:txBody>
      </p:sp>
      <p:sp>
        <p:nvSpPr>
          <p:cNvPr id="6" name="Slide Number Placeholder 4">
            <a:extLst>
              <a:ext uri="{FF2B5EF4-FFF2-40B4-BE49-F238E27FC236}">
                <a16:creationId xmlns:a16="http://schemas.microsoft.com/office/drawing/2014/main" id="{25E67841-01C9-4E46-8084-74FD4A14F053}"/>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98</a:t>
            </a:fld>
            <a:endParaRPr lang="tr-TR" sz="1200">
              <a:solidFill>
                <a:schemeClr val="tx2"/>
              </a:solidFill>
              <a:latin typeface="Verdana" pitchFamily="34" charset="0"/>
            </a:endParaRPr>
          </a:p>
        </p:txBody>
      </p:sp>
    </p:spTree>
    <p:extLst>
      <p:ext uri="{BB962C8B-B14F-4D97-AF65-F5344CB8AC3E}">
        <p14:creationId xmlns:p14="http://schemas.microsoft.com/office/powerpoint/2010/main" val="199239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78904" y="102815"/>
            <a:ext cx="8229600" cy="1143000"/>
          </a:xfrm>
        </p:spPr>
        <p:txBody>
          <a:bodyPr/>
          <a:lstStyle/>
          <a:p>
            <a:r>
              <a:rPr lang="tr-TR" dirty="0"/>
              <a:t>Brisa – Nakit Akım Tablosu</a:t>
            </a:r>
            <a:endParaRPr lang="en-GB" sz="1400" b="1" dirty="0"/>
          </a:p>
        </p:txBody>
      </p:sp>
      <p:sp>
        <p:nvSpPr>
          <p:cNvPr id="5" name="Rectangle 3"/>
          <p:cNvSpPr txBox="1">
            <a:spLocks noChangeArrowheads="1"/>
          </p:cNvSpPr>
          <p:nvPr/>
        </p:nvSpPr>
        <p:spPr>
          <a:xfrm>
            <a:off x="5076056" y="4471491"/>
            <a:ext cx="3477073" cy="613693"/>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tr-TR" sz="1600" dirty="0">
                <a:latin typeface="Verdana" pitchFamily="34" charset="0"/>
                <a:ea typeface="Verdana" pitchFamily="34" charset="0"/>
                <a:cs typeface="Verdana" pitchFamily="34" charset="0"/>
              </a:rPr>
              <a:t>Brisa nakit akımlarını inceler misiniz? </a:t>
            </a:r>
          </a:p>
        </p:txBody>
      </p:sp>
      <p:sp>
        <p:nvSpPr>
          <p:cNvPr id="6" name="Slide Number Placeholder 4">
            <a:extLst>
              <a:ext uri="{FF2B5EF4-FFF2-40B4-BE49-F238E27FC236}">
                <a16:creationId xmlns:a16="http://schemas.microsoft.com/office/drawing/2014/main" id="{4E8306DC-CF3F-47A4-9D84-FEB970F6010B}"/>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99</a:t>
            </a:fld>
            <a:endParaRPr lang="tr-TR" sz="1200">
              <a:solidFill>
                <a:schemeClr val="tx2"/>
              </a:solidFill>
              <a:latin typeface="Verdana" pitchFamily="34" charset="0"/>
            </a:endParaRPr>
          </a:p>
        </p:txBody>
      </p:sp>
      <p:pic>
        <p:nvPicPr>
          <p:cNvPr id="7" name="Picture 6">
            <a:extLst>
              <a:ext uri="{FF2B5EF4-FFF2-40B4-BE49-F238E27FC236}">
                <a16:creationId xmlns:a16="http://schemas.microsoft.com/office/drawing/2014/main" id="{D3190589-FC16-C24A-A902-E84CA510C963}"/>
              </a:ext>
            </a:extLst>
          </p:cNvPr>
          <p:cNvPicPr>
            <a:picLocks noChangeAspect="1"/>
          </p:cNvPicPr>
          <p:nvPr/>
        </p:nvPicPr>
        <p:blipFill>
          <a:blip r:embed="rId2"/>
          <a:stretch>
            <a:fillRect/>
          </a:stretch>
        </p:blipFill>
        <p:spPr>
          <a:xfrm>
            <a:off x="179512" y="2175520"/>
            <a:ext cx="8785535" cy="1469504"/>
          </a:xfrm>
          <a:prstGeom prst="rect">
            <a:avLst/>
          </a:prstGeom>
        </p:spPr>
      </p:pic>
    </p:spTree>
    <p:extLst>
      <p:ext uri="{BB962C8B-B14F-4D97-AF65-F5344CB8AC3E}">
        <p14:creationId xmlns:p14="http://schemas.microsoft.com/office/powerpoint/2010/main" val="350507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92076A41-6191-42AF-BF24-1EC7189F6A55}" type="slidenum">
              <a:rPr lang="tr-TR" sz="1200">
                <a:solidFill>
                  <a:schemeClr val="tx2"/>
                </a:solidFill>
                <a:latin typeface="Verdana" pitchFamily="34" charset="0"/>
              </a:rPr>
              <a:pPr marL="0" indent="0" eaLnBrk="1" hangingPunct="1">
                <a:buNone/>
              </a:pPr>
              <a:t>100</a:t>
            </a:fld>
            <a:endParaRPr lang="tr-TR" sz="1200">
              <a:solidFill>
                <a:schemeClr val="tx2"/>
              </a:solidFill>
              <a:latin typeface="Verdana" pitchFamily="34" charset="0"/>
            </a:endParaRPr>
          </a:p>
        </p:txBody>
      </p:sp>
      <p:sp>
        <p:nvSpPr>
          <p:cNvPr id="82947" name="Rectangle 2"/>
          <p:cNvSpPr>
            <a:spLocks noGrp="1" noChangeArrowheads="1"/>
          </p:cNvSpPr>
          <p:nvPr>
            <p:ph type="title"/>
          </p:nvPr>
        </p:nvSpPr>
        <p:spPr>
          <a:xfrm>
            <a:off x="806896" y="260648"/>
            <a:ext cx="8229600" cy="712788"/>
          </a:xfrm>
        </p:spPr>
        <p:txBody>
          <a:bodyPr/>
          <a:lstStyle/>
          <a:p>
            <a:pPr eaLnBrk="1" hangingPunct="1"/>
            <a:r>
              <a:rPr lang="tr-TR" sz="3600">
                <a:cs typeface="Times New Roman" pitchFamily="18" charset="0"/>
              </a:rPr>
              <a:t>En önemli finans formüllerinden biri!!!</a:t>
            </a:r>
            <a:endParaRPr lang="en-US" sz="3600">
              <a:cs typeface="Times New Roman" pitchFamily="18" charset="0"/>
            </a:endParaRPr>
          </a:p>
        </p:txBody>
      </p:sp>
      <p:sp>
        <p:nvSpPr>
          <p:cNvPr id="82948" name="Rectangle 3"/>
          <p:cNvSpPr>
            <a:spLocks noGrp="1" noChangeArrowheads="1"/>
          </p:cNvSpPr>
          <p:nvPr>
            <p:ph type="body" idx="4294967295"/>
          </p:nvPr>
        </p:nvSpPr>
        <p:spPr>
          <a:xfrm>
            <a:off x="457200" y="1268413"/>
            <a:ext cx="8229600" cy="4862512"/>
          </a:xfrm>
          <a:prstGeom prst="rect">
            <a:avLst/>
          </a:prstGeom>
        </p:spPr>
        <p:txBody>
          <a:bodyPr/>
          <a:lstStyle/>
          <a:p>
            <a:pPr algn="ctr">
              <a:buFont typeface="Wingdings" pitchFamily="2" charset="2"/>
              <a:buNone/>
            </a:pPr>
            <a:endParaRPr lang="tr-TR" b="1">
              <a:solidFill>
                <a:srgbClr val="3333CC"/>
              </a:solidFill>
            </a:endParaRPr>
          </a:p>
          <a:p>
            <a:pPr algn="ctr">
              <a:buFont typeface="Wingdings" pitchFamily="2" charset="2"/>
              <a:buNone/>
            </a:pPr>
            <a:r>
              <a:rPr lang="tr-TR" b="1">
                <a:solidFill>
                  <a:srgbClr val="3333CC"/>
                </a:solidFill>
              </a:rPr>
              <a:t>SNA: SERBEST NAKİT AKIMI</a:t>
            </a:r>
            <a:endParaRPr lang="tr-TR" sz="2800"/>
          </a:p>
          <a:p>
            <a:pPr>
              <a:buFont typeface="Wingdings" pitchFamily="2" charset="2"/>
              <a:buNone/>
            </a:pPr>
            <a:r>
              <a:rPr lang="tr-TR" sz="2800">
                <a:latin typeface="Arial" charset="0"/>
                <a:cs typeface="Arial" charset="0"/>
              </a:rPr>
              <a:t>	</a:t>
            </a:r>
            <a:endParaRPr lang="tr-TR" sz="2400">
              <a:latin typeface="Arial" charset="0"/>
              <a:cs typeface="Arial" charset="0"/>
            </a:endParaRPr>
          </a:p>
          <a:p>
            <a:pPr>
              <a:buNone/>
            </a:pPr>
            <a:r>
              <a:rPr lang="tr-TR" sz="2400">
                <a:solidFill>
                  <a:srgbClr val="3333CC"/>
                </a:solidFill>
                <a:latin typeface="Arial" charset="0"/>
                <a:cs typeface="Arial" charset="0"/>
              </a:rPr>
              <a:t>    = FAVÖK – Ödenen vergi – </a:t>
            </a:r>
            <a:r>
              <a:rPr lang="el-GR" sz="2400">
                <a:solidFill>
                  <a:srgbClr val="3333CC"/>
                </a:solidFill>
                <a:latin typeface="Arial" charset="0"/>
                <a:cs typeface="Arial" charset="0"/>
              </a:rPr>
              <a:t>Δ</a:t>
            </a:r>
            <a:r>
              <a:rPr lang="tr-TR" sz="2400">
                <a:solidFill>
                  <a:srgbClr val="3333CC"/>
                </a:solidFill>
                <a:latin typeface="Arial" charset="0"/>
                <a:cs typeface="Arial" charset="0"/>
              </a:rPr>
              <a:t>İşletme Sermayesi – Capex</a:t>
            </a:r>
          </a:p>
          <a:p>
            <a:pPr>
              <a:buNone/>
            </a:pPr>
            <a:r>
              <a:rPr lang="tr-TR" sz="2400">
                <a:solidFill>
                  <a:srgbClr val="3333CC"/>
                </a:solidFill>
                <a:latin typeface="Arial" charset="0"/>
                <a:cs typeface="Arial" charset="0"/>
              </a:rPr>
              <a:t>    </a:t>
            </a:r>
            <a:endParaRPr lang="tr-TR" sz="2400">
              <a:sym typeface="Symbol" pitchFamily="18" charset="2"/>
            </a:endParaRPr>
          </a:p>
          <a:p>
            <a:pPr eaLnBrk="1" hangingPunct="1">
              <a:lnSpc>
                <a:spcPct val="80000"/>
              </a:lnSpc>
            </a:pPr>
            <a:r>
              <a:rPr lang="tr-TR" sz="2400"/>
              <a:t>Bu miktar şirketi finanse eden borç ve sermaye sahiplerine yaratılan nakittir.</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4279641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94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94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9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p:tmplLst>
          <p:tmpl lvl="1">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Lst>
      </p:bldP>
      <p:bldP spid="82948"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502024"/>
            <a:ext cx="8229600" cy="1143000"/>
          </a:xfrm>
        </p:spPr>
        <p:txBody>
          <a:bodyPr/>
          <a:lstStyle/>
          <a:p>
            <a:r>
              <a:rPr lang="tr-TR"/>
              <a:t>KARLILIK ANALİZİ</a:t>
            </a:r>
            <a:endParaRPr lang="en-GB"/>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5"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101</a:t>
            </a:fld>
            <a:endParaRPr lang="tr-TR" sz="1200">
              <a:solidFill>
                <a:schemeClr val="tx2"/>
              </a:solidFill>
              <a:latin typeface="Verdana" pitchFamily="34" charset="0"/>
            </a:endParaRPr>
          </a:p>
        </p:txBody>
      </p:sp>
      <p:sp>
        <p:nvSpPr>
          <p:cNvPr id="6" name="Rectangle 5"/>
          <p:cNvSpPr/>
          <p:nvPr/>
        </p:nvSpPr>
        <p:spPr>
          <a:xfrm>
            <a:off x="2586621" y="188640"/>
            <a:ext cx="4361643" cy="769441"/>
          </a:xfrm>
          <a:prstGeom prst="rect">
            <a:avLst/>
          </a:prstGeom>
        </p:spPr>
        <p:txBody>
          <a:bodyPr wrap="none">
            <a:spAutoFit/>
          </a:bodyPr>
          <a:lstStyle/>
          <a:p>
            <a:r>
              <a:rPr lang="tr-TR" sz="4400" b="1">
                <a:latin typeface="+mj-lt"/>
              </a:rPr>
              <a:t>FİNANSAL ANALİZ</a:t>
            </a:r>
            <a:endParaRPr lang="en-GB" sz="4400" b="1">
              <a:latin typeface="+mj-lt"/>
            </a:endParaRPr>
          </a:p>
        </p:txBody>
      </p:sp>
    </p:spTree>
    <p:extLst>
      <p:ext uri="{BB962C8B-B14F-4D97-AF65-F5344CB8AC3E}">
        <p14:creationId xmlns:p14="http://schemas.microsoft.com/office/powerpoint/2010/main" val="36267217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7" y="6469287"/>
            <a:ext cx="533007" cy="41000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52FF4048-3107-49CF-B01B-51D55DAD8480}" type="slidenum">
              <a:rPr lang="tr-TR" sz="1200">
                <a:solidFill>
                  <a:schemeClr val="tx2"/>
                </a:solidFill>
                <a:latin typeface="Verdana" pitchFamily="34" charset="0"/>
              </a:rPr>
              <a:pPr marL="0" indent="0" eaLnBrk="1" hangingPunct="1">
                <a:buNone/>
              </a:pPr>
              <a:t>102</a:t>
            </a:fld>
            <a:endParaRPr lang="tr-TR" sz="1200">
              <a:solidFill>
                <a:schemeClr val="tx2"/>
              </a:solidFill>
              <a:latin typeface="Verdana" pitchFamily="34" charset="0"/>
            </a:endParaRPr>
          </a:p>
        </p:txBody>
      </p:sp>
      <p:sp>
        <p:nvSpPr>
          <p:cNvPr id="83971" name="Rectangle 2"/>
          <p:cNvSpPr>
            <a:spLocks noGrp="1" noChangeArrowheads="1"/>
          </p:cNvSpPr>
          <p:nvPr>
            <p:ph type="title"/>
          </p:nvPr>
        </p:nvSpPr>
        <p:spPr/>
        <p:txBody>
          <a:bodyPr/>
          <a:lstStyle/>
          <a:p>
            <a:pPr eaLnBrk="1" hangingPunct="1"/>
            <a:r>
              <a:rPr lang="tr-TR" sz="4000">
                <a:solidFill>
                  <a:srgbClr val="0C0000"/>
                </a:solidFill>
              </a:rPr>
              <a:t>Karlılık Analizi</a:t>
            </a:r>
          </a:p>
        </p:txBody>
      </p:sp>
      <p:sp>
        <p:nvSpPr>
          <p:cNvPr id="83972" name="Rectangle 3"/>
          <p:cNvSpPr>
            <a:spLocks noGrp="1" noChangeArrowheads="1"/>
          </p:cNvSpPr>
          <p:nvPr>
            <p:ph type="body" idx="4294967295"/>
          </p:nvPr>
        </p:nvSpPr>
        <p:spPr>
          <a:xfrm>
            <a:off x="457200" y="1341438"/>
            <a:ext cx="8229600" cy="4789487"/>
          </a:xfrm>
          <a:prstGeom prst="rect">
            <a:avLst/>
          </a:prstGeom>
        </p:spPr>
        <p:txBody>
          <a:bodyPr/>
          <a:lstStyle/>
          <a:p>
            <a:pPr algn="just" eaLnBrk="1" hangingPunct="1">
              <a:buFont typeface="Wingdings" pitchFamily="2" charset="2"/>
              <a:buNone/>
            </a:pPr>
            <a:r>
              <a:rPr lang="tr-TR" sz="1800">
                <a:latin typeface="Verdana" pitchFamily="34" charset="0"/>
                <a:ea typeface="Verdana" pitchFamily="34" charset="0"/>
                <a:cs typeface="Verdana" pitchFamily="34" charset="0"/>
              </a:rPr>
              <a:t>	</a:t>
            </a:r>
            <a:r>
              <a:rPr lang="tr-TR" sz="1800" b="1">
                <a:latin typeface="Verdana" pitchFamily="34" charset="0"/>
                <a:ea typeface="Verdana" pitchFamily="34" charset="0"/>
                <a:cs typeface="Verdana" pitchFamily="34" charset="0"/>
              </a:rPr>
              <a:t>Net Kar/Net Satışlar:</a:t>
            </a:r>
          </a:p>
          <a:p>
            <a:pPr lvl="1" algn="just">
              <a:buNone/>
            </a:pPr>
            <a:r>
              <a:rPr lang="tr-TR" sz="1600">
                <a:latin typeface="Verdana" pitchFamily="34" charset="0"/>
                <a:ea typeface="Verdana" pitchFamily="34" charset="0"/>
                <a:cs typeface="Verdana" pitchFamily="34" charset="0"/>
              </a:rPr>
              <a:t>Bu oran yatırım dönemlerinde artan amortisman ve faiz yükü yüzünden</a:t>
            </a:r>
          </a:p>
          <a:p>
            <a:pPr lvl="1" algn="just">
              <a:buNone/>
            </a:pPr>
            <a:r>
              <a:rPr lang="tr-TR" sz="1600">
                <a:latin typeface="Verdana" pitchFamily="34" charset="0"/>
                <a:ea typeface="Verdana" pitchFamily="34" charset="0"/>
                <a:cs typeface="Verdana" pitchFamily="34" charset="0"/>
              </a:rPr>
              <a:t>çok dalgalandığından bilhassa sektör kıyaslamalarında kullanılmaz. </a:t>
            </a:r>
          </a:p>
          <a:p>
            <a:pPr algn="just" eaLnBrk="1" hangingPunct="1">
              <a:buFont typeface="Wingdings" pitchFamily="2" charset="2"/>
              <a:buNone/>
            </a:pPr>
            <a:r>
              <a:rPr lang="tr-TR" sz="1800" b="1">
                <a:latin typeface="Verdana" pitchFamily="34" charset="0"/>
                <a:ea typeface="Verdana" pitchFamily="34" charset="0"/>
                <a:cs typeface="Verdana" pitchFamily="34" charset="0"/>
              </a:rPr>
              <a:t>	</a:t>
            </a:r>
          </a:p>
          <a:p>
            <a:pPr algn="just" eaLnBrk="1" hangingPunct="1">
              <a:buFont typeface="Wingdings" pitchFamily="2" charset="2"/>
              <a:buNone/>
            </a:pPr>
            <a:r>
              <a:rPr lang="tr-TR" sz="1800" b="1">
                <a:latin typeface="Verdana" pitchFamily="34" charset="0"/>
                <a:ea typeface="Verdana" pitchFamily="34" charset="0"/>
                <a:cs typeface="Verdana" pitchFamily="34" charset="0"/>
              </a:rPr>
              <a:t>	Faaliyet Karı/Net Satışlar:</a:t>
            </a:r>
          </a:p>
          <a:p>
            <a:pPr lvl="1" algn="just">
              <a:buNone/>
            </a:pPr>
            <a:r>
              <a:rPr lang="tr-TR" sz="1600">
                <a:latin typeface="Verdana" pitchFamily="34" charset="0"/>
                <a:ea typeface="Verdana" pitchFamily="34" charset="0"/>
                <a:cs typeface="Verdana" pitchFamily="34" charset="0"/>
              </a:rPr>
              <a:t>Şirketin net karı finansal giderler yüzünden dalgalı olabilir. Bu etkiyi</a:t>
            </a:r>
          </a:p>
          <a:p>
            <a:pPr lvl="1" algn="just">
              <a:buNone/>
            </a:pPr>
            <a:r>
              <a:rPr lang="tr-TR" sz="1600">
                <a:latin typeface="Verdana" pitchFamily="34" charset="0"/>
                <a:ea typeface="Verdana" pitchFamily="34" charset="0"/>
                <a:cs typeface="Verdana" pitchFamily="34" charset="0"/>
              </a:rPr>
              <a:t>arındırıp sadece faaliyet karlılığına bakmak için bu oran kullanılır. Ancak</a:t>
            </a:r>
          </a:p>
          <a:p>
            <a:pPr lvl="1" algn="just">
              <a:buNone/>
            </a:pPr>
            <a:r>
              <a:rPr lang="tr-TR" sz="1600">
                <a:latin typeface="Verdana" pitchFamily="34" charset="0"/>
                <a:ea typeface="Verdana" pitchFamily="34" charset="0"/>
                <a:cs typeface="Verdana" pitchFamily="34" charset="0"/>
              </a:rPr>
              <a:t>yatırımlardan kaynaklanan amortisman etkisi yüzünden değişik yatırım</a:t>
            </a:r>
          </a:p>
          <a:p>
            <a:pPr lvl="1" algn="just">
              <a:buNone/>
            </a:pPr>
            <a:r>
              <a:rPr lang="tr-TR" sz="1600">
                <a:latin typeface="Verdana" pitchFamily="34" charset="0"/>
                <a:ea typeface="Verdana" pitchFamily="34" charset="0"/>
                <a:cs typeface="Verdana" pitchFamily="34" charset="0"/>
              </a:rPr>
              <a:t>fazlarında olan şirketleri kıyaslamada kullanılmaması gerekir.</a:t>
            </a:r>
          </a:p>
          <a:p>
            <a:pPr algn="just">
              <a:buNone/>
            </a:pPr>
            <a:endParaRPr lang="tr-TR" sz="1800" b="1">
              <a:latin typeface="Verdana" pitchFamily="34" charset="0"/>
              <a:ea typeface="Verdana" pitchFamily="34" charset="0"/>
              <a:cs typeface="Verdana" pitchFamily="34" charset="0"/>
            </a:endParaRPr>
          </a:p>
          <a:p>
            <a:pPr algn="just">
              <a:buNone/>
            </a:pPr>
            <a:r>
              <a:rPr lang="tr-TR" sz="1800" b="1">
                <a:latin typeface="Verdana" pitchFamily="34" charset="0"/>
                <a:ea typeface="Verdana" pitchFamily="34" charset="0"/>
                <a:cs typeface="Verdana" pitchFamily="34" charset="0"/>
              </a:rPr>
              <a:t>	FAVÖK/Net Satışlar:</a:t>
            </a:r>
          </a:p>
          <a:p>
            <a:pPr algn="just">
              <a:buNone/>
            </a:pPr>
            <a:r>
              <a:rPr lang="tr-TR" sz="1800" b="1">
                <a:latin typeface="Verdana" pitchFamily="34" charset="0"/>
                <a:ea typeface="Verdana" pitchFamily="34" charset="0"/>
                <a:cs typeface="Verdana" pitchFamily="34" charset="0"/>
              </a:rPr>
              <a:t>	</a:t>
            </a:r>
            <a:r>
              <a:rPr lang="tr-TR" sz="1600">
                <a:latin typeface="Verdana" pitchFamily="34" charset="0"/>
                <a:ea typeface="Verdana" pitchFamily="34" charset="0"/>
                <a:cs typeface="Verdana" pitchFamily="34" charset="0"/>
              </a:rPr>
              <a:t>Yatırım dönemlerinde şirketin hem amortisman hem de finansman yükü</a:t>
            </a:r>
          </a:p>
          <a:p>
            <a:pPr algn="just">
              <a:buNone/>
            </a:pPr>
            <a:r>
              <a:rPr lang="tr-TR" sz="1600">
                <a:latin typeface="Verdana" pitchFamily="34" charset="0"/>
                <a:ea typeface="Verdana" pitchFamily="34" charset="0"/>
                <a:cs typeface="Verdana" pitchFamily="34" charset="0"/>
              </a:rPr>
              <a:t>	artacağından, şirketin karlılığından bu etkileri arındırıp kıyaslamalar</a:t>
            </a:r>
          </a:p>
          <a:p>
            <a:pPr algn="just">
              <a:buNone/>
            </a:pPr>
            <a:r>
              <a:rPr lang="tr-TR" sz="1600">
                <a:latin typeface="Verdana" pitchFamily="34" charset="0"/>
                <a:ea typeface="Verdana" pitchFamily="34" charset="0"/>
                <a:cs typeface="Verdana" pitchFamily="34" charset="0"/>
              </a:rPr>
              <a:t>	yapmak en doğrusudur</a:t>
            </a:r>
            <a:r>
              <a:rPr lang="tr-TR" sz="1800">
                <a:latin typeface="Verdana" pitchFamily="34" charset="0"/>
                <a:ea typeface="Verdana" pitchFamily="34" charset="0"/>
                <a:cs typeface="Verdana" pitchFamily="34" charset="0"/>
              </a:rPr>
              <a:t>.</a:t>
            </a:r>
          </a:p>
          <a:p>
            <a:pPr algn="just">
              <a:buNone/>
            </a:pPr>
            <a:r>
              <a:rPr lang="tr-TR" sz="2000" b="1">
                <a:latin typeface="Verdana" pitchFamily="34" charset="0"/>
                <a:ea typeface="Verdana" pitchFamily="34" charset="0"/>
                <a:cs typeface="Verdana" pitchFamily="34" charset="0"/>
              </a:rPr>
              <a:t>	</a:t>
            </a:r>
          </a:p>
          <a:p>
            <a:pPr algn="just">
              <a:buNone/>
            </a:pPr>
            <a:endParaRPr lang="tr-TR" sz="1800" b="1">
              <a:solidFill>
                <a:srgbClr val="3333CC"/>
              </a:solidFill>
              <a:latin typeface="Verdana" pitchFamily="34" charset="0"/>
              <a:ea typeface="Verdana" pitchFamily="34" charset="0"/>
              <a:cs typeface="Verdana" pitchFamily="34" charset="0"/>
            </a:endParaRPr>
          </a:p>
          <a:p>
            <a:pPr lvl="1" algn="just"/>
            <a:endParaRPr lang="tr-TR" sz="14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26823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97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39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97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97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397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397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3972">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97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3972">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3972">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3972">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3972">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397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p:tmplLst>
          <p:tmpl lvl="1">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Lst>
      </p:bldP>
      <p:bldP spid="83972"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0"/>
          </p:nvPr>
        </p:nvSpPr>
        <p:spPr>
          <a:xfrm>
            <a:off x="8604447" y="6469287"/>
            <a:ext cx="512757" cy="45459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87382DC4-E3C4-4F30-9DC7-8296CBCEE392}" type="slidenum">
              <a:rPr lang="tr-TR" sz="1200">
                <a:solidFill>
                  <a:schemeClr val="tx2"/>
                </a:solidFill>
                <a:latin typeface="Verdana" pitchFamily="34" charset="0"/>
              </a:rPr>
              <a:pPr marL="0" indent="0" eaLnBrk="1" hangingPunct="1">
                <a:buNone/>
              </a:pPr>
              <a:t>103</a:t>
            </a:fld>
            <a:endParaRPr lang="tr-TR" sz="1200">
              <a:solidFill>
                <a:schemeClr val="tx2"/>
              </a:solidFill>
              <a:latin typeface="Verdana" pitchFamily="34" charset="0"/>
            </a:endParaRPr>
          </a:p>
        </p:txBody>
      </p:sp>
      <p:sp>
        <p:nvSpPr>
          <p:cNvPr id="88067" name="Rectangle 3"/>
          <p:cNvSpPr>
            <a:spLocks noGrp="1" noChangeArrowheads="1"/>
          </p:cNvSpPr>
          <p:nvPr>
            <p:ph type="body" idx="4294967295"/>
          </p:nvPr>
        </p:nvSpPr>
        <p:spPr>
          <a:xfrm>
            <a:off x="457200" y="1268413"/>
            <a:ext cx="8229600" cy="4862512"/>
          </a:xfrm>
          <a:prstGeom prst="rect">
            <a:avLst/>
          </a:prstGeom>
        </p:spPr>
        <p:txBody>
          <a:bodyPr/>
          <a:lstStyle/>
          <a:p>
            <a:pPr marL="0" indent="0" eaLnBrk="1" hangingPunct="1">
              <a:buNone/>
            </a:pPr>
            <a:endParaRPr lang="tr-TR" sz="1800">
              <a:latin typeface="Verdana" pitchFamily="34" charset="0"/>
              <a:ea typeface="Verdana" pitchFamily="34" charset="0"/>
              <a:cs typeface="Verdana" pitchFamily="34" charset="0"/>
            </a:endParaRPr>
          </a:p>
          <a:p>
            <a:pPr marL="0" indent="0" eaLnBrk="1" hangingPunct="1">
              <a:buNone/>
            </a:pPr>
            <a:r>
              <a:rPr lang="tr-TR" sz="2400">
                <a:latin typeface="Verdana" pitchFamily="34" charset="0"/>
                <a:ea typeface="Verdana" pitchFamily="34" charset="0"/>
                <a:cs typeface="Verdana" pitchFamily="34" charset="0"/>
              </a:rPr>
              <a:t>                                  </a:t>
            </a:r>
            <a:r>
              <a:rPr lang="tr-TR" sz="2800">
                <a:latin typeface="Verdana" pitchFamily="34" charset="0"/>
                <a:ea typeface="Verdana" pitchFamily="34" charset="0"/>
                <a:cs typeface="Verdana" pitchFamily="34" charset="0"/>
              </a:rPr>
              <a:t> </a:t>
            </a:r>
            <a:r>
              <a:rPr lang="tr-TR" sz="1800">
                <a:latin typeface="Verdana" pitchFamily="34" charset="0"/>
                <a:ea typeface="Verdana" pitchFamily="34" charset="0"/>
                <a:cs typeface="Verdana" pitchFamily="34" charset="0"/>
              </a:rPr>
              <a:t>Faal. Karı              Net Satışlar    </a:t>
            </a:r>
          </a:p>
          <a:p>
            <a:pPr marL="0" indent="0" eaLnBrk="1" hangingPunct="1">
              <a:buNone/>
            </a:pPr>
            <a:r>
              <a:rPr lang="tr-TR" sz="1800">
                <a:latin typeface="Verdana" pitchFamily="34" charset="0"/>
                <a:ea typeface="Verdana" pitchFamily="34" charset="0"/>
                <a:cs typeface="Verdana" pitchFamily="34" charset="0"/>
              </a:rPr>
              <a:t>    Yatırılan Kaynak Karlılığı = ---------------  x  -------------------</a:t>
            </a:r>
          </a:p>
          <a:p>
            <a:pPr marL="0" indent="0" eaLnBrk="1" hangingPunct="1">
              <a:buNone/>
            </a:pPr>
            <a:r>
              <a:rPr lang="tr-TR" sz="1800">
                <a:latin typeface="Verdana" pitchFamily="34" charset="0"/>
                <a:ea typeface="Verdana" pitchFamily="34" charset="0"/>
                <a:cs typeface="Verdana" pitchFamily="34" charset="0"/>
              </a:rPr>
              <a:t>                                             Net Satışlar         Yatırılan Kaynak</a:t>
            </a:r>
          </a:p>
          <a:p>
            <a:pPr marL="0" indent="0" eaLnBrk="1" hangingPunct="1">
              <a:buNone/>
            </a:pPr>
            <a:endParaRPr lang="tr-TR" sz="1800">
              <a:latin typeface="Verdana" pitchFamily="34" charset="0"/>
              <a:ea typeface="Verdana" pitchFamily="34" charset="0"/>
              <a:cs typeface="Verdana" pitchFamily="34" charset="0"/>
            </a:endParaRPr>
          </a:p>
          <a:p>
            <a:pPr marL="0" indent="0" eaLnBrk="1" hangingPunct="1">
              <a:buNone/>
            </a:pPr>
            <a:endParaRPr lang="tr-TR" sz="1800">
              <a:latin typeface="Verdana" pitchFamily="34" charset="0"/>
              <a:ea typeface="Verdana" pitchFamily="34" charset="0"/>
              <a:cs typeface="Verdana" pitchFamily="34" charset="0"/>
            </a:endParaRPr>
          </a:p>
          <a:p>
            <a:pPr marL="0" indent="0" eaLnBrk="1" hangingPunct="1">
              <a:buNone/>
            </a:pPr>
            <a:endParaRPr lang="tr-TR" sz="1800">
              <a:latin typeface="Verdana" pitchFamily="34" charset="0"/>
              <a:ea typeface="Verdana" pitchFamily="34" charset="0"/>
              <a:cs typeface="Verdana" pitchFamily="34" charset="0"/>
            </a:endParaRPr>
          </a:p>
          <a:p>
            <a:pPr marL="0" indent="0" eaLnBrk="1" hangingPunct="1">
              <a:buNone/>
            </a:pPr>
            <a:endParaRPr lang="tr-TR" sz="1800">
              <a:latin typeface="Verdana" pitchFamily="34" charset="0"/>
              <a:ea typeface="Verdana" pitchFamily="34" charset="0"/>
              <a:cs typeface="Verdana" pitchFamily="34" charset="0"/>
            </a:endParaRPr>
          </a:p>
          <a:p>
            <a:r>
              <a:rPr lang="tr-TR" sz="1800">
                <a:latin typeface="Verdana" pitchFamily="34" charset="0"/>
                <a:ea typeface="Verdana" pitchFamily="34" charset="0"/>
                <a:cs typeface="Verdana" pitchFamily="34" charset="0"/>
              </a:rPr>
              <a:t>Şirketin varlıklarının verimli kullanılması (+)</a:t>
            </a:r>
          </a:p>
          <a:p>
            <a:r>
              <a:rPr lang="tr-TR" sz="1800">
                <a:latin typeface="Verdana" pitchFamily="34" charset="0"/>
                <a:ea typeface="Verdana" pitchFamily="34" charset="0"/>
                <a:cs typeface="Verdana" pitchFamily="34" charset="0"/>
              </a:rPr>
              <a:t>Yüksek pazar payı ve ürün kalite farkı  (+)</a:t>
            </a:r>
          </a:p>
          <a:p>
            <a:r>
              <a:rPr lang="tr-TR" sz="1800">
                <a:latin typeface="Verdana" pitchFamily="34" charset="0"/>
                <a:ea typeface="Verdana" pitchFamily="34" charset="0"/>
                <a:cs typeface="Verdana" pitchFamily="34" charset="0"/>
              </a:rPr>
              <a:t>Yüksek yatırımlar ve sabit giderler  (-)</a:t>
            </a:r>
            <a:endParaRPr lang="en-US" sz="1800">
              <a:latin typeface="Verdana" pitchFamily="34" charset="0"/>
              <a:ea typeface="Verdana" pitchFamily="34" charset="0"/>
              <a:cs typeface="Verdana" pitchFamily="34" charset="0"/>
            </a:endParaRPr>
          </a:p>
        </p:txBody>
      </p:sp>
      <p:grpSp>
        <p:nvGrpSpPr>
          <p:cNvPr id="2" name="Group 4"/>
          <p:cNvGrpSpPr>
            <a:grpSpLocks/>
          </p:cNvGrpSpPr>
          <p:nvPr/>
        </p:nvGrpSpPr>
        <p:grpSpPr bwMode="auto">
          <a:xfrm>
            <a:off x="3563888" y="3036441"/>
            <a:ext cx="2160414" cy="536575"/>
            <a:chOff x="1584" y="3024"/>
            <a:chExt cx="1632" cy="338"/>
          </a:xfrm>
        </p:grpSpPr>
        <p:sp>
          <p:nvSpPr>
            <p:cNvPr id="88076" name="AutoShape 5"/>
            <p:cNvSpPr>
              <a:spLocks/>
            </p:cNvSpPr>
            <p:nvPr/>
          </p:nvSpPr>
          <p:spPr bwMode="auto">
            <a:xfrm rot="-5400000">
              <a:off x="2352" y="2256"/>
              <a:ext cx="96" cy="1632"/>
            </a:xfrm>
            <a:prstGeom prst="leftBrace">
              <a:avLst>
                <a:gd name="adj1" fmla="val 141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8077" name="Text Box 6"/>
            <p:cNvSpPr txBox="1">
              <a:spLocks noChangeArrowheads="1"/>
            </p:cNvSpPr>
            <p:nvPr/>
          </p:nvSpPr>
          <p:spPr bwMode="auto">
            <a:xfrm>
              <a:off x="1680" y="3168"/>
              <a:ext cx="1488" cy="194"/>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spcBef>
                  <a:spcPct val="50000"/>
                </a:spcBef>
              </a:pPr>
              <a:r>
                <a:rPr lang="tr-TR" sz="1400">
                  <a:solidFill>
                    <a:schemeClr val="bg1"/>
                  </a:solidFill>
                  <a:latin typeface="Arial" charset="0"/>
                  <a:cs typeface="Arial" charset="0"/>
                </a:rPr>
                <a:t>Faaliyet kar marjı</a:t>
              </a:r>
              <a:endParaRPr lang="en-US" sz="1400">
                <a:solidFill>
                  <a:schemeClr val="bg1"/>
                </a:solidFill>
                <a:latin typeface="Arial" charset="0"/>
                <a:cs typeface="Arial" charset="0"/>
              </a:endParaRPr>
            </a:p>
          </p:txBody>
        </p:sp>
      </p:grpSp>
      <p:sp>
        <p:nvSpPr>
          <p:cNvPr id="88070" name="Rectangle 12"/>
          <p:cNvSpPr>
            <a:spLocks noGrp="1" noChangeArrowheads="1"/>
          </p:cNvSpPr>
          <p:nvPr>
            <p:ph type="title"/>
          </p:nvPr>
        </p:nvSpPr>
        <p:spPr/>
        <p:txBody>
          <a:bodyPr/>
          <a:lstStyle/>
          <a:p>
            <a:pPr eaLnBrk="1" hangingPunct="1"/>
            <a:r>
              <a:rPr lang="tr-TR" sz="4000"/>
              <a:t>Yatırılan Kaynak Karlılığı</a:t>
            </a:r>
          </a:p>
        </p:txBody>
      </p:sp>
      <p:grpSp>
        <p:nvGrpSpPr>
          <p:cNvPr id="4" name="Group 13"/>
          <p:cNvGrpSpPr>
            <a:grpSpLocks/>
          </p:cNvGrpSpPr>
          <p:nvPr/>
        </p:nvGrpSpPr>
        <p:grpSpPr bwMode="auto">
          <a:xfrm>
            <a:off x="6157168" y="2996954"/>
            <a:ext cx="2087240" cy="565607"/>
            <a:chOff x="3408" y="3024"/>
            <a:chExt cx="1632" cy="298"/>
          </a:xfrm>
        </p:grpSpPr>
        <p:sp>
          <p:nvSpPr>
            <p:cNvPr id="88072" name="Text Box 14"/>
            <p:cNvSpPr txBox="1">
              <a:spLocks noChangeArrowheads="1"/>
            </p:cNvSpPr>
            <p:nvPr/>
          </p:nvSpPr>
          <p:spPr bwMode="auto">
            <a:xfrm>
              <a:off x="3504" y="3160"/>
              <a:ext cx="1488" cy="162"/>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spcBef>
                  <a:spcPct val="50000"/>
                </a:spcBef>
              </a:pPr>
              <a:r>
                <a:rPr lang="tr-TR" sz="1400">
                  <a:solidFill>
                    <a:schemeClr val="bg1"/>
                  </a:solidFill>
                  <a:latin typeface="Arial" charset="0"/>
                  <a:cs typeface="Arial" charset="0"/>
                </a:rPr>
                <a:t>Sermaye Devir Hızı</a:t>
              </a:r>
              <a:endParaRPr lang="en-US" sz="1400">
                <a:solidFill>
                  <a:schemeClr val="bg1"/>
                </a:solidFill>
                <a:latin typeface="Arial" charset="0"/>
                <a:cs typeface="Arial" charset="0"/>
              </a:endParaRPr>
            </a:p>
          </p:txBody>
        </p:sp>
        <p:sp>
          <p:nvSpPr>
            <p:cNvPr id="88073" name="AutoShape 15"/>
            <p:cNvSpPr>
              <a:spLocks/>
            </p:cNvSpPr>
            <p:nvPr/>
          </p:nvSpPr>
          <p:spPr bwMode="auto">
            <a:xfrm rot="-5400000">
              <a:off x="4176" y="2256"/>
              <a:ext cx="96" cy="1632"/>
            </a:xfrm>
            <a:prstGeom prst="leftBrace">
              <a:avLst>
                <a:gd name="adj1" fmla="val 141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pic>
        <p:nvPicPr>
          <p:cNvPr id="15" name="Picture 1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341481681"/>
      </p:ext>
    </p:extLst>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493236" cy="387841"/>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33438D7D-7AE5-4C1F-B54A-AED02FC31C00}" type="slidenum">
              <a:rPr lang="tr-TR" sz="1200">
                <a:solidFill>
                  <a:schemeClr val="tx2"/>
                </a:solidFill>
                <a:latin typeface="Verdana" pitchFamily="34" charset="0"/>
              </a:rPr>
              <a:pPr marL="0" indent="0" eaLnBrk="1" hangingPunct="1">
                <a:buNone/>
              </a:pPr>
              <a:t>104</a:t>
            </a:fld>
            <a:endParaRPr lang="tr-TR" sz="1200">
              <a:solidFill>
                <a:schemeClr val="tx2"/>
              </a:solidFill>
              <a:latin typeface="Verdana" pitchFamily="34" charset="0"/>
            </a:endParaRPr>
          </a:p>
        </p:txBody>
      </p:sp>
      <p:sp>
        <p:nvSpPr>
          <p:cNvPr id="84995" name="Rectangle 2"/>
          <p:cNvSpPr>
            <a:spLocks noGrp="1" noChangeArrowheads="1"/>
          </p:cNvSpPr>
          <p:nvPr>
            <p:ph type="title"/>
          </p:nvPr>
        </p:nvSpPr>
        <p:spPr/>
        <p:txBody>
          <a:bodyPr/>
          <a:lstStyle/>
          <a:p>
            <a:pPr eaLnBrk="1" hangingPunct="1"/>
            <a:r>
              <a:rPr lang="tr-TR" sz="3600"/>
              <a:t>Özsermaye Karlılığı</a:t>
            </a:r>
          </a:p>
        </p:txBody>
      </p:sp>
      <p:sp>
        <p:nvSpPr>
          <p:cNvPr id="84996" name="Rectangle 3"/>
          <p:cNvSpPr>
            <a:spLocks noGrp="1" noChangeArrowheads="1"/>
          </p:cNvSpPr>
          <p:nvPr>
            <p:ph type="body" idx="4294967295"/>
          </p:nvPr>
        </p:nvSpPr>
        <p:spPr>
          <a:xfrm>
            <a:off x="457200" y="1341438"/>
            <a:ext cx="8229600" cy="4789487"/>
          </a:xfrm>
          <a:prstGeom prst="rect">
            <a:avLst/>
          </a:prstGeom>
        </p:spPr>
        <p:txBody>
          <a:bodyPr/>
          <a:lstStyle/>
          <a:p>
            <a:pPr algn="just">
              <a:buNone/>
            </a:pPr>
            <a:r>
              <a:rPr lang="tr-TR" sz="1800">
                <a:latin typeface="Verdana" pitchFamily="34" charset="0"/>
                <a:ea typeface="Verdana" pitchFamily="34" charset="0"/>
                <a:cs typeface="Verdana" pitchFamily="34" charset="0"/>
              </a:rPr>
              <a:t>	</a:t>
            </a:r>
            <a:r>
              <a:rPr lang="tr-TR" sz="1800" b="1">
                <a:solidFill>
                  <a:srgbClr val="3333CC"/>
                </a:solidFill>
                <a:latin typeface="Verdana" pitchFamily="34" charset="0"/>
                <a:ea typeface="Verdana" pitchFamily="34" charset="0"/>
                <a:cs typeface="Verdana" pitchFamily="34" charset="0"/>
              </a:rPr>
              <a:t>Özsermaye karlılığı = Net Kar/ Özsermaye</a:t>
            </a:r>
          </a:p>
          <a:p>
            <a:pPr algn="just" eaLnBrk="1" hangingPunct="1"/>
            <a:endParaRPr lang="tr-TR" sz="1600">
              <a:latin typeface="Verdana" pitchFamily="34" charset="0"/>
              <a:ea typeface="Verdana" pitchFamily="34" charset="0"/>
              <a:cs typeface="Verdana" pitchFamily="34" charset="0"/>
            </a:endParaRPr>
          </a:p>
          <a:p>
            <a:pPr algn="just" eaLnBrk="1" hangingPunct="1"/>
            <a:r>
              <a:rPr lang="tr-TR" sz="1600">
                <a:latin typeface="Verdana" pitchFamily="34" charset="0"/>
                <a:ea typeface="Verdana" pitchFamily="34" charset="0"/>
                <a:cs typeface="Verdana" pitchFamily="34" charset="0"/>
              </a:rPr>
              <a:t>Sermayedar için en önemli orandır, zira yaptığı yatırıma şirketin ne getiri sağladığının ölçüsüdür. </a:t>
            </a:r>
          </a:p>
          <a:p>
            <a:pPr algn="just" eaLnBrk="1" hangingPunct="1"/>
            <a:r>
              <a:rPr lang="tr-TR" sz="1600">
                <a:latin typeface="Verdana" pitchFamily="34" charset="0"/>
                <a:ea typeface="Verdana" pitchFamily="34" charset="0"/>
                <a:cs typeface="Verdana" pitchFamily="34" charset="0"/>
              </a:rPr>
              <a:t>Bu oran net karın içerisindeki olağanüstü, bir seferlik, bir kardan ötürü yükselmiş olabilir. Önemli olan sürdürülebilir özsermaye karlılığıdır. </a:t>
            </a:r>
          </a:p>
          <a:p>
            <a:pPr algn="just" eaLnBrk="1" hangingPunct="1"/>
            <a:r>
              <a:rPr lang="tr-TR" sz="1600">
                <a:latin typeface="Verdana" pitchFamily="34" charset="0"/>
                <a:ea typeface="Verdana" pitchFamily="34" charset="0"/>
                <a:cs typeface="Verdana" pitchFamily="34" charset="0"/>
              </a:rPr>
              <a:t>Sermayedarın bu oranı sermayenin maliyeti ile kıyaslaması gerekir. Burada paranın risksiz alternatif maliyeti (hazine bonosu getirisi), hisse senedi risk primi (%5 alınabilir), ve şirketin genel ekonomiye göre riskliliği (beta katsayısı) gibi faktörler kaale alınmalıdır.</a:t>
            </a:r>
          </a:p>
          <a:p>
            <a:pPr algn="just" eaLnBrk="1" hangingPunct="1"/>
            <a:endParaRPr lang="tr-TR" sz="1600">
              <a:latin typeface="Verdana" pitchFamily="34" charset="0"/>
              <a:ea typeface="Verdana" pitchFamily="34" charset="0"/>
              <a:cs typeface="Verdana" pitchFamily="34" charset="0"/>
            </a:endParaRPr>
          </a:p>
          <a:p>
            <a:pPr algn="just" eaLnBrk="1" hangingPunct="1"/>
            <a:endParaRPr lang="tr-TR" sz="16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28800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99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99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49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0"/>
          </p:nvPr>
        </p:nvSpPr>
        <p:spPr>
          <a:xfrm>
            <a:off x="8604447" y="6469287"/>
            <a:ext cx="512757" cy="45459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87382DC4-E3C4-4F30-9DC7-8296CBCEE392}" type="slidenum">
              <a:rPr lang="tr-TR" sz="1200">
                <a:solidFill>
                  <a:schemeClr val="tx2"/>
                </a:solidFill>
                <a:latin typeface="Verdana" pitchFamily="34" charset="0"/>
              </a:rPr>
              <a:pPr marL="0" indent="0" eaLnBrk="1" hangingPunct="1">
                <a:buNone/>
              </a:pPr>
              <a:t>105</a:t>
            </a:fld>
            <a:endParaRPr lang="tr-TR" sz="1200">
              <a:solidFill>
                <a:schemeClr val="tx2"/>
              </a:solidFill>
              <a:latin typeface="Verdana" pitchFamily="34" charset="0"/>
            </a:endParaRPr>
          </a:p>
        </p:txBody>
      </p:sp>
      <p:sp>
        <p:nvSpPr>
          <p:cNvPr id="88067" name="Rectangle 3"/>
          <p:cNvSpPr>
            <a:spLocks noGrp="1" noChangeArrowheads="1"/>
          </p:cNvSpPr>
          <p:nvPr>
            <p:ph type="body" idx="4294967295"/>
          </p:nvPr>
        </p:nvSpPr>
        <p:spPr>
          <a:xfrm>
            <a:off x="457200" y="1268413"/>
            <a:ext cx="8229600" cy="4862512"/>
          </a:xfrm>
          <a:prstGeom prst="rect">
            <a:avLst/>
          </a:prstGeom>
        </p:spPr>
        <p:txBody>
          <a:bodyPr/>
          <a:lstStyle/>
          <a:p>
            <a:pPr eaLnBrk="1" hangingPunct="1"/>
            <a:r>
              <a:rPr lang="tr-TR" sz="1800" err="1">
                <a:latin typeface="Verdana" pitchFamily="34" charset="0"/>
                <a:ea typeface="Verdana" pitchFamily="34" charset="0"/>
                <a:cs typeface="Verdana" pitchFamily="34" charset="0"/>
              </a:rPr>
              <a:t>Özsermaye</a:t>
            </a:r>
            <a:r>
              <a:rPr lang="tr-TR" sz="1800">
                <a:latin typeface="Verdana" pitchFamily="34" charset="0"/>
                <a:ea typeface="Verdana" pitchFamily="34" charset="0"/>
                <a:cs typeface="Verdana" pitchFamily="34" charset="0"/>
              </a:rPr>
              <a:t> karlılığı (ÖK) 5 </a:t>
            </a:r>
            <a:r>
              <a:rPr lang="tr-TR" sz="1800" err="1">
                <a:latin typeface="Verdana" pitchFamily="34" charset="0"/>
                <a:ea typeface="Verdana" pitchFamily="34" charset="0"/>
                <a:cs typeface="Verdana" pitchFamily="34" charset="0"/>
              </a:rPr>
              <a:t>rasyonun</a:t>
            </a:r>
            <a:r>
              <a:rPr lang="tr-TR" sz="1800">
                <a:latin typeface="Verdana" pitchFamily="34" charset="0"/>
                <a:ea typeface="Verdana" pitchFamily="34" charset="0"/>
                <a:cs typeface="Verdana" pitchFamily="34" charset="0"/>
              </a:rPr>
              <a:t> çarpımıdır</a:t>
            </a:r>
            <a:r>
              <a:rPr lang="en-US" sz="2000">
                <a:latin typeface="Verdana" pitchFamily="34" charset="0"/>
                <a:ea typeface="Verdana" pitchFamily="34" charset="0"/>
                <a:cs typeface="Verdana" pitchFamily="34" charset="0"/>
              </a:rPr>
              <a:t> </a:t>
            </a:r>
          </a:p>
          <a:p>
            <a:pPr lvl="1" eaLnBrk="1" hangingPunct="1"/>
            <a:r>
              <a:rPr lang="tr-TR" sz="1600">
                <a:latin typeface="Verdana" pitchFamily="34" charset="0"/>
                <a:ea typeface="Verdana" pitchFamily="34" charset="0"/>
                <a:cs typeface="Verdana" pitchFamily="34" charset="0"/>
              </a:rPr>
              <a:t>Faaliyet kar marjı</a:t>
            </a:r>
            <a:endParaRPr lang="en-US" sz="1600">
              <a:latin typeface="Verdana" pitchFamily="34" charset="0"/>
              <a:ea typeface="Verdana" pitchFamily="34" charset="0"/>
              <a:cs typeface="Verdana" pitchFamily="34" charset="0"/>
            </a:endParaRPr>
          </a:p>
          <a:p>
            <a:pPr lvl="1" eaLnBrk="1" hangingPunct="1"/>
            <a:r>
              <a:rPr lang="tr-TR" sz="1600">
                <a:latin typeface="Verdana" pitchFamily="34" charset="0"/>
                <a:ea typeface="Verdana" pitchFamily="34" charset="0"/>
                <a:cs typeface="Verdana" pitchFamily="34" charset="0"/>
              </a:rPr>
              <a:t>Sermaye devir hızı</a:t>
            </a:r>
            <a:endParaRPr lang="en-US" sz="1600">
              <a:latin typeface="Verdana" pitchFamily="34" charset="0"/>
              <a:ea typeface="Verdana" pitchFamily="34" charset="0"/>
              <a:cs typeface="Verdana" pitchFamily="34" charset="0"/>
            </a:endParaRPr>
          </a:p>
          <a:p>
            <a:pPr lvl="1" eaLnBrk="1" hangingPunct="1"/>
            <a:r>
              <a:rPr lang="tr-TR" sz="1600">
                <a:latin typeface="Verdana" pitchFamily="34" charset="0"/>
                <a:ea typeface="Verdana" pitchFamily="34" charset="0"/>
                <a:cs typeface="Verdana" pitchFamily="34" charset="0"/>
              </a:rPr>
              <a:t>Faiz yükü</a:t>
            </a:r>
            <a:endParaRPr lang="en-US" sz="1600">
              <a:latin typeface="Verdana" pitchFamily="34" charset="0"/>
              <a:ea typeface="Verdana" pitchFamily="34" charset="0"/>
              <a:cs typeface="Verdana" pitchFamily="34" charset="0"/>
            </a:endParaRPr>
          </a:p>
          <a:p>
            <a:pPr lvl="1" eaLnBrk="1" hangingPunct="1"/>
            <a:r>
              <a:rPr lang="tr-TR" sz="1600">
                <a:latin typeface="Verdana" pitchFamily="34" charset="0"/>
                <a:ea typeface="Verdana" pitchFamily="34" charset="0"/>
                <a:cs typeface="Verdana" pitchFamily="34" charset="0"/>
              </a:rPr>
              <a:t>Finansal yapı </a:t>
            </a:r>
            <a:r>
              <a:rPr lang="tr-TR" sz="1600" err="1">
                <a:latin typeface="Verdana" pitchFamily="34" charset="0"/>
                <a:ea typeface="Verdana" pitchFamily="34" charset="0"/>
                <a:cs typeface="Verdana" pitchFamily="34" charset="0"/>
              </a:rPr>
              <a:t>rasyosu</a:t>
            </a:r>
            <a:endParaRPr lang="en-US" sz="1600">
              <a:latin typeface="Verdana" pitchFamily="34" charset="0"/>
              <a:ea typeface="Verdana" pitchFamily="34" charset="0"/>
              <a:cs typeface="Verdana" pitchFamily="34" charset="0"/>
            </a:endParaRPr>
          </a:p>
          <a:p>
            <a:pPr lvl="1" eaLnBrk="1" hangingPunct="1"/>
            <a:r>
              <a:rPr lang="tr-TR" sz="1600">
                <a:latin typeface="Verdana" pitchFamily="34" charset="0"/>
                <a:ea typeface="Verdana" pitchFamily="34" charset="0"/>
                <a:cs typeface="Verdana" pitchFamily="34" charset="0"/>
              </a:rPr>
              <a:t>Vergi etkisi</a:t>
            </a:r>
            <a:r>
              <a:rPr lang="en-US" sz="1800">
                <a:latin typeface="Verdana" pitchFamily="34" charset="0"/>
                <a:ea typeface="Verdana" pitchFamily="34" charset="0"/>
                <a:cs typeface="Verdana" pitchFamily="34" charset="0"/>
              </a:rPr>
              <a:t> </a:t>
            </a:r>
            <a:endParaRPr lang="tr-TR" sz="1800">
              <a:latin typeface="Verdana" pitchFamily="34" charset="0"/>
              <a:ea typeface="Verdana" pitchFamily="34" charset="0"/>
              <a:cs typeface="Verdana" pitchFamily="34" charset="0"/>
            </a:endParaRPr>
          </a:p>
          <a:p>
            <a:pPr lvl="1" eaLnBrk="1" hangingPunct="1"/>
            <a:endParaRPr lang="tr-TR" sz="1800">
              <a:latin typeface="Verdana" pitchFamily="34" charset="0"/>
              <a:ea typeface="Verdana" pitchFamily="34" charset="0"/>
              <a:cs typeface="Verdana" pitchFamily="34" charset="0"/>
            </a:endParaRPr>
          </a:p>
          <a:p>
            <a:pPr eaLnBrk="1" hangingPunct="1"/>
            <a:r>
              <a:rPr lang="tr-TR" sz="2000">
                <a:latin typeface="Verdana" pitchFamily="34" charset="0"/>
                <a:ea typeface="Verdana" pitchFamily="34" charset="0"/>
                <a:cs typeface="Verdana" pitchFamily="34" charset="0"/>
              </a:rPr>
              <a:t>       </a:t>
            </a:r>
            <a:r>
              <a:rPr lang="tr-TR" sz="1400">
                <a:latin typeface="Verdana" pitchFamily="34" charset="0"/>
                <a:ea typeface="Verdana" pitchFamily="34" charset="0"/>
                <a:cs typeface="Verdana" pitchFamily="34" charset="0"/>
              </a:rPr>
              <a:t>Faal. Karı       Net Satışlar    Vergi Ö. Kar     Kul. Kaynak         Net kar</a:t>
            </a:r>
          </a:p>
          <a:p>
            <a:pPr eaLnBrk="1" hangingPunct="1"/>
            <a:r>
              <a:rPr lang="tr-TR" sz="1400">
                <a:latin typeface="Verdana" pitchFamily="34" charset="0"/>
                <a:ea typeface="Verdana" pitchFamily="34" charset="0"/>
                <a:cs typeface="Verdana" pitchFamily="34" charset="0"/>
              </a:rPr>
              <a:t>ÖK = ---------------x--------------x----------------x---------------x----------------</a:t>
            </a:r>
          </a:p>
          <a:p>
            <a:pPr eaLnBrk="1" hangingPunct="1"/>
            <a:r>
              <a:rPr lang="tr-TR" sz="1400">
                <a:latin typeface="Verdana" pitchFamily="34" charset="0"/>
                <a:ea typeface="Verdana" pitchFamily="34" charset="0"/>
                <a:cs typeface="Verdana" pitchFamily="34" charset="0"/>
              </a:rPr>
              <a:t>         Net Satışlar     Kul. Kaynak      Faal. Karı      </a:t>
            </a:r>
            <a:r>
              <a:rPr lang="tr-TR" sz="1400" err="1">
                <a:latin typeface="Verdana" pitchFamily="34" charset="0"/>
                <a:ea typeface="Verdana" pitchFamily="34" charset="0"/>
                <a:cs typeface="Verdana" pitchFamily="34" charset="0"/>
              </a:rPr>
              <a:t>Özsermaye</a:t>
            </a:r>
            <a:r>
              <a:rPr lang="tr-TR" sz="1400">
                <a:latin typeface="Verdana" pitchFamily="34" charset="0"/>
                <a:ea typeface="Verdana" pitchFamily="34" charset="0"/>
                <a:cs typeface="Verdana" pitchFamily="34" charset="0"/>
              </a:rPr>
              <a:t>       Vergi Ö. Kar</a:t>
            </a:r>
            <a:endParaRPr lang="en-US" sz="1400">
              <a:latin typeface="Verdana" pitchFamily="34" charset="0"/>
              <a:ea typeface="Verdana" pitchFamily="34" charset="0"/>
              <a:cs typeface="Verdana" pitchFamily="34" charset="0"/>
            </a:endParaRPr>
          </a:p>
        </p:txBody>
      </p:sp>
      <p:grpSp>
        <p:nvGrpSpPr>
          <p:cNvPr id="2" name="Group 4"/>
          <p:cNvGrpSpPr>
            <a:grpSpLocks/>
          </p:cNvGrpSpPr>
          <p:nvPr/>
        </p:nvGrpSpPr>
        <p:grpSpPr bwMode="auto">
          <a:xfrm>
            <a:off x="1187450" y="4508500"/>
            <a:ext cx="2743200" cy="752475"/>
            <a:chOff x="1584" y="3024"/>
            <a:chExt cx="1632" cy="474"/>
          </a:xfrm>
        </p:grpSpPr>
        <p:sp>
          <p:nvSpPr>
            <p:cNvPr id="88076" name="AutoShape 5"/>
            <p:cNvSpPr>
              <a:spLocks/>
            </p:cNvSpPr>
            <p:nvPr/>
          </p:nvSpPr>
          <p:spPr bwMode="auto">
            <a:xfrm rot="-5400000">
              <a:off x="2352" y="2256"/>
              <a:ext cx="96" cy="1632"/>
            </a:xfrm>
            <a:prstGeom prst="leftBrace">
              <a:avLst>
                <a:gd name="adj1" fmla="val 141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8077" name="Text Box 6"/>
            <p:cNvSpPr txBox="1">
              <a:spLocks noChangeArrowheads="1"/>
            </p:cNvSpPr>
            <p:nvPr/>
          </p:nvSpPr>
          <p:spPr bwMode="auto">
            <a:xfrm>
              <a:off x="1680" y="3168"/>
              <a:ext cx="1488" cy="330"/>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spcBef>
                  <a:spcPct val="50000"/>
                </a:spcBef>
              </a:pPr>
              <a:r>
                <a:rPr lang="tr-TR" sz="1400">
                  <a:solidFill>
                    <a:schemeClr val="bg1"/>
                  </a:solidFill>
                  <a:latin typeface="Arial" charset="0"/>
                  <a:cs typeface="Arial" charset="0"/>
                </a:rPr>
                <a:t>Şirketin yatırım ve faaliyet kararlarının etkisi</a:t>
              </a:r>
              <a:endParaRPr lang="en-US" sz="1400">
                <a:solidFill>
                  <a:schemeClr val="bg1"/>
                </a:solidFill>
                <a:latin typeface="Arial" charset="0"/>
                <a:cs typeface="Arial" charset="0"/>
              </a:endParaRPr>
            </a:p>
          </p:txBody>
        </p:sp>
      </p:grpSp>
      <p:grpSp>
        <p:nvGrpSpPr>
          <p:cNvPr id="3" name="Group 7"/>
          <p:cNvGrpSpPr>
            <a:grpSpLocks/>
          </p:cNvGrpSpPr>
          <p:nvPr/>
        </p:nvGrpSpPr>
        <p:grpSpPr bwMode="auto">
          <a:xfrm>
            <a:off x="3995738" y="4508500"/>
            <a:ext cx="2590800" cy="733425"/>
            <a:chOff x="3408" y="3024"/>
            <a:chExt cx="1632" cy="462"/>
          </a:xfrm>
        </p:grpSpPr>
        <p:sp>
          <p:nvSpPr>
            <p:cNvPr id="88074" name="Text Box 8"/>
            <p:cNvSpPr txBox="1">
              <a:spLocks noChangeArrowheads="1"/>
            </p:cNvSpPr>
            <p:nvPr/>
          </p:nvSpPr>
          <p:spPr bwMode="auto">
            <a:xfrm>
              <a:off x="3504" y="3160"/>
              <a:ext cx="1488" cy="326"/>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spcBef>
                  <a:spcPct val="50000"/>
                </a:spcBef>
              </a:pPr>
              <a:r>
                <a:rPr lang="tr-TR" sz="1400">
                  <a:solidFill>
                    <a:schemeClr val="bg1"/>
                  </a:solidFill>
                  <a:latin typeface="Arial" charset="0"/>
                  <a:cs typeface="Arial" charset="0"/>
                </a:rPr>
                <a:t>Şirketin finansman kararlarının etkisi</a:t>
              </a:r>
              <a:endParaRPr lang="en-US" sz="1400">
                <a:solidFill>
                  <a:schemeClr val="bg1"/>
                </a:solidFill>
                <a:latin typeface="Arial" charset="0"/>
                <a:cs typeface="Arial" charset="0"/>
              </a:endParaRPr>
            </a:p>
          </p:txBody>
        </p:sp>
        <p:sp>
          <p:nvSpPr>
            <p:cNvPr id="88075" name="AutoShape 9"/>
            <p:cNvSpPr>
              <a:spLocks/>
            </p:cNvSpPr>
            <p:nvPr/>
          </p:nvSpPr>
          <p:spPr bwMode="auto">
            <a:xfrm rot="-5400000">
              <a:off x="4176" y="2256"/>
              <a:ext cx="96" cy="1632"/>
            </a:xfrm>
            <a:prstGeom prst="leftBrace">
              <a:avLst>
                <a:gd name="adj1" fmla="val 141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88070" name="Rectangle 12"/>
          <p:cNvSpPr>
            <a:spLocks noGrp="1" noChangeArrowheads="1"/>
          </p:cNvSpPr>
          <p:nvPr>
            <p:ph type="title"/>
          </p:nvPr>
        </p:nvSpPr>
        <p:spPr/>
        <p:txBody>
          <a:bodyPr/>
          <a:lstStyle/>
          <a:p>
            <a:pPr eaLnBrk="1" hangingPunct="1"/>
            <a:r>
              <a:rPr lang="tr-TR" sz="4000"/>
              <a:t>Karlılığın 5 belirleyicisi</a:t>
            </a:r>
          </a:p>
        </p:txBody>
      </p:sp>
      <p:grpSp>
        <p:nvGrpSpPr>
          <p:cNvPr id="4" name="Group 13"/>
          <p:cNvGrpSpPr>
            <a:grpSpLocks/>
          </p:cNvGrpSpPr>
          <p:nvPr/>
        </p:nvGrpSpPr>
        <p:grpSpPr bwMode="auto">
          <a:xfrm>
            <a:off x="6659563" y="4508500"/>
            <a:ext cx="1727200" cy="520700"/>
            <a:chOff x="3408" y="3024"/>
            <a:chExt cx="1632" cy="328"/>
          </a:xfrm>
        </p:grpSpPr>
        <p:sp>
          <p:nvSpPr>
            <p:cNvPr id="88072" name="Text Box 14"/>
            <p:cNvSpPr txBox="1">
              <a:spLocks noChangeArrowheads="1"/>
            </p:cNvSpPr>
            <p:nvPr/>
          </p:nvSpPr>
          <p:spPr bwMode="auto">
            <a:xfrm>
              <a:off x="3504" y="3160"/>
              <a:ext cx="1488" cy="192"/>
            </a:xfrm>
            <a:prstGeom prst="rect">
              <a:avLst/>
            </a:prstGeom>
            <a:solidFill>
              <a:srgbClr val="000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algn="ctr" eaLnBrk="1" hangingPunct="1">
                <a:spcBef>
                  <a:spcPct val="50000"/>
                </a:spcBef>
              </a:pPr>
              <a:r>
                <a:rPr lang="tr-TR" sz="1400">
                  <a:solidFill>
                    <a:schemeClr val="bg1"/>
                  </a:solidFill>
                  <a:latin typeface="Arial" charset="0"/>
                  <a:cs typeface="Arial" charset="0"/>
                </a:rPr>
                <a:t>Vergi etkisi</a:t>
              </a:r>
              <a:endParaRPr lang="en-US" sz="1400">
                <a:solidFill>
                  <a:schemeClr val="bg1"/>
                </a:solidFill>
                <a:latin typeface="Arial" charset="0"/>
                <a:cs typeface="Arial" charset="0"/>
              </a:endParaRPr>
            </a:p>
          </p:txBody>
        </p:sp>
        <p:sp>
          <p:nvSpPr>
            <p:cNvPr id="88073" name="AutoShape 15"/>
            <p:cNvSpPr>
              <a:spLocks/>
            </p:cNvSpPr>
            <p:nvPr/>
          </p:nvSpPr>
          <p:spPr bwMode="auto">
            <a:xfrm rot="-5400000">
              <a:off x="4176" y="2256"/>
              <a:ext cx="96" cy="1632"/>
            </a:xfrm>
            <a:prstGeom prst="leftBrace">
              <a:avLst>
                <a:gd name="adj1" fmla="val 141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pic>
        <p:nvPicPr>
          <p:cNvPr id="15" name="Picture 1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924956863"/>
      </p:ext>
    </p:extLst>
  </p:cSld>
  <p:clrMapOvr>
    <a:masterClrMapping/>
  </p:clrMapOvr>
  <p:transition advClick="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568475" y="3933056"/>
          <a:ext cx="5483051" cy="2016221"/>
        </p:xfrm>
        <a:graphic>
          <a:graphicData uri="http://schemas.openxmlformats.org/drawingml/2006/table">
            <a:tbl>
              <a:tblPr>
                <a:tableStyleId>{5C22544A-7EE6-4342-B048-85BDC9FD1C3A}</a:tableStyleId>
              </a:tblPr>
              <a:tblGrid>
                <a:gridCol w="2020071">
                  <a:extLst>
                    <a:ext uri="{9D8B030D-6E8A-4147-A177-3AD203B41FA5}">
                      <a16:colId xmlns:a16="http://schemas.microsoft.com/office/drawing/2014/main" val="20000"/>
                    </a:ext>
                  </a:extLst>
                </a:gridCol>
                <a:gridCol w="692596">
                  <a:extLst>
                    <a:ext uri="{9D8B030D-6E8A-4147-A177-3AD203B41FA5}">
                      <a16:colId xmlns:a16="http://schemas.microsoft.com/office/drawing/2014/main" val="20001"/>
                    </a:ext>
                  </a:extLst>
                </a:gridCol>
                <a:gridCol w="692596">
                  <a:extLst>
                    <a:ext uri="{9D8B030D-6E8A-4147-A177-3AD203B41FA5}">
                      <a16:colId xmlns:a16="http://schemas.microsoft.com/office/drawing/2014/main" val="20002"/>
                    </a:ext>
                  </a:extLst>
                </a:gridCol>
                <a:gridCol w="692596">
                  <a:extLst>
                    <a:ext uri="{9D8B030D-6E8A-4147-A177-3AD203B41FA5}">
                      <a16:colId xmlns:a16="http://schemas.microsoft.com/office/drawing/2014/main" val="20003"/>
                    </a:ext>
                  </a:extLst>
                </a:gridCol>
                <a:gridCol w="692596">
                  <a:extLst>
                    <a:ext uri="{9D8B030D-6E8A-4147-A177-3AD203B41FA5}">
                      <a16:colId xmlns:a16="http://schemas.microsoft.com/office/drawing/2014/main" val="20004"/>
                    </a:ext>
                  </a:extLst>
                </a:gridCol>
                <a:gridCol w="692596">
                  <a:extLst>
                    <a:ext uri="{9D8B030D-6E8A-4147-A177-3AD203B41FA5}">
                      <a16:colId xmlns:a16="http://schemas.microsoft.com/office/drawing/2014/main" val="20005"/>
                    </a:ext>
                  </a:extLst>
                </a:gridCol>
              </a:tblGrid>
              <a:tr h="283652">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tr-TR" sz="1800" b="1" u="none" strike="noStrike">
                          <a:effectLst/>
                        </a:rPr>
                        <a:t>Goodyear</a:t>
                      </a:r>
                    </a:p>
                  </a:txBody>
                  <a:tcPr marL="7620" marR="7620" marT="7620" marB="0" anchor="b"/>
                </a:tc>
                <a:tc>
                  <a:txBody>
                    <a:bodyPr/>
                    <a:lstStyle/>
                    <a:p>
                      <a:pPr algn="r" fontAlgn="b"/>
                      <a:r>
                        <a:rPr lang="tr-TR" sz="1800" b="1" i="0" u="none" strike="noStrike">
                          <a:solidFill>
                            <a:srgbClr val="000000"/>
                          </a:solidFill>
                          <a:effectLst/>
                          <a:latin typeface="Calibri" panose="020F0502020204030204" pitchFamily="34" charset="0"/>
                        </a:rPr>
                        <a:t>2011</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1" i="0" u="none" strike="noStrike">
                          <a:solidFill>
                            <a:srgbClr val="000000"/>
                          </a:solidFill>
                          <a:effectLst/>
                          <a:latin typeface="Calibri" panose="020F0502020204030204" pitchFamily="34" charset="0"/>
                        </a:rPr>
                        <a:t>2012</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1" i="0" u="none" strike="noStrike">
                          <a:solidFill>
                            <a:srgbClr val="000000"/>
                          </a:solidFill>
                          <a:effectLst/>
                          <a:latin typeface="Calibri" panose="020F0502020204030204" pitchFamily="34" charset="0"/>
                        </a:rPr>
                        <a:t>2013</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1" i="0" u="none" strike="noStrike">
                          <a:solidFill>
                            <a:srgbClr val="000000"/>
                          </a:solidFill>
                          <a:effectLst/>
                          <a:latin typeface="Calibri" panose="020F0502020204030204" pitchFamily="34" charset="0"/>
                        </a:rPr>
                        <a:t>2014</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1" i="0" u="none" strike="noStrike">
                          <a:solidFill>
                            <a:srgbClr val="000000"/>
                          </a:solidFill>
                          <a:effectLst/>
                          <a:latin typeface="Calibri" panose="020F0502020204030204" pitchFamily="34" charset="0"/>
                        </a:rPr>
                        <a:t>2015</a:t>
                      </a:r>
                      <a:endParaRPr lang="en-US" sz="18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0"/>
                  </a:ext>
                </a:extLst>
              </a:tr>
              <a:tr h="283652">
                <a:tc>
                  <a:txBody>
                    <a:bodyPr/>
                    <a:lstStyle/>
                    <a:p>
                      <a:pPr algn="l" fontAlgn="b"/>
                      <a:r>
                        <a:rPr lang="en-US" sz="1800" b="1" u="none" strike="noStrike" err="1">
                          <a:effectLst/>
                        </a:rPr>
                        <a:t>Özsermaye</a:t>
                      </a:r>
                      <a:r>
                        <a:rPr lang="en-US" sz="1800" b="1" u="none" strike="noStrike">
                          <a:effectLst/>
                        </a:rPr>
                        <a:t> </a:t>
                      </a:r>
                      <a:r>
                        <a:rPr lang="en-US" sz="1800" b="1" u="none" strike="noStrike" err="1">
                          <a:effectLst/>
                        </a:rPr>
                        <a:t>karlılığı</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b="1" u="none" strike="noStrike">
                          <a:effectLst/>
                        </a:rPr>
                        <a:t>18,5%</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b="1" u="none" strike="noStrike">
                          <a:effectLst/>
                        </a:rPr>
                        <a:t>14,1%</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1" i="0" u="none" strike="noStrike">
                          <a:solidFill>
                            <a:srgbClr val="000000"/>
                          </a:solidFill>
                          <a:effectLst/>
                          <a:latin typeface="Calibri" panose="020F0502020204030204" pitchFamily="34" charset="0"/>
                        </a:rPr>
                        <a:t>16,0%</a:t>
                      </a:r>
                    </a:p>
                  </a:txBody>
                  <a:tcPr marL="6350" marR="6350" marT="6350" marB="0" anchor="b"/>
                </a:tc>
                <a:tc>
                  <a:txBody>
                    <a:bodyPr/>
                    <a:lstStyle/>
                    <a:p>
                      <a:pPr algn="r" fontAlgn="b"/>
                      <a:r>
                        <a:rPr lang="tr-TR" sz="1800" b="1" i="0" u="none" strike="noStrike">
                          <a:solidFill>
                            <a:srgbClr val="000000"/>
                          </a:solidFill>
                          <a:effectLst/>
                          <a:latin typeface="Calibri" panose="020F0502020204030204" pitchFamily="34" charset="0"/>
                        </a:rPr>
                        <a:t>11,5%</a:t>
                      </a:r>
                    </a:p>
                  </a:txBody>
                  <a:tcPr marL="6350" marR="6350" marT="6350" marB="0" anchor="b"/>
                </a:tc>
                <a:tc>
                  <a:txBody>
                    <a:bodyPr/>
                    <a:lstStyle/>
                    <a:p>
                      <a:pPr algn="r" fontAlgn="b"/>
                      <a:r>
                        <a:rPr lang="tr-TR" sz="1800" b="1" i="0" u="none" strike="noStrike">
                          <a:solidFill>
                            <a:srgbClr val="000000"/>
                          </a:solidFill>
                          <a:effectLst/>
                          <a:latin typeface="Calibri" panose="020F0502020204030204" pitchFamily="34" charset="0"/>
                        </a:rPr>
                        <a:t>15,2%</a:t>
                      </a:r>
                    </a:p>
                  </a:txBody>
                  <a:tcPr marL="6350" marR="6350" marT="6350" marB="0" anchor="b"/>
                </a:tc>
                <a:extLst>
                  <a:ext uri="{0D108BD9-81ED-4DB2-BD59-A6C34878D82A}">
                    <a16:rowId xmlns:a16="http://schemas.microsoft.com/office/drawing/2014/main" val="10001"/>
                  </a:ext>
                </a:extLst>
              </a:tr>
              <a:tr h="283652">
                <a:tc>
                  <a:txBody>
                    <a:bodyPr/>
                    <a:lstStyle/>
                    <a:p>
                      <a:pPr algn="l" fontAlgn="b"/>
                      <a:r>
                        <a:rPr lang="en-US" sz="1800" u="none" strike="noStrike">
                          <a:effectLst/>
                        </a:rPr>
                        <a:t>Faaliyet kar marjı</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u="none" strike="noStrike">
                          <a:effectLst/>
                        </a:rPr>
                        <a:t>5,9%</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u="none" strike="noStrike">
                          <a:effectLst/>
                        </a:rPr>
                        <a:t>6,</a:t>
                      </a:r>
                      <a:r>
                        <a:rPr lang="tr-TR" sz="1800" u="none" strike="noStrike">
                          <a:effectLst/>
                        </a:rPr>
                        <a:t>6</a:t>
                      </a: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0" i="0" u="none" strike="noStrike">
                          <a:solidFill>
                            <a:srgbClr val="000000"/>
                          </a:solidFill>
                          <a:effectLst/>
                          <a:latin typeface="Calibri" panose="020F0502020204030204" pitchFamily="34" charset="0"/>
                        </a:rPr>
                        <a:t>5,9%</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4,9%</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4,3%</a:t>
                      </a:r>
                    </a:p>
                  </a:txBody>
                  <a:tcPr marL="6350" marR="6350" marT="6350" marB="0" anchor="b"/>
                </a:tc>
                <a:extLst>
                  <a:ext uri="{0D108BD9-81ED-4DB2-BD59-A6C34878D82A}">
                    <a16:rowId xmlns:a16="http://schemas.microsoft.com/office/drawing/2014/main" val="10002"/>
                  </a:ext>
                </a:extLst>
              </a:tr>
              <a:tr h="283652">
                <a:tc>
                  <a:txBody>
                    <a:bodyPr/>
                    <a:lstStyle/>
                    <a:p>
                      <a:pPr algn="l" fontAlgn="b"/>
                      <a:r>
                        <a:rPr lang="en-US" sz="1800" u="none" strike="noStrike" err="1">
                          <a:effectLst/>
                        </a:rPr>
                        <a:t>Sermaye</a:t>
                      </a:r>
                      <a:r>
                        <a:rPr lang="en-US" sz="1800" u="none" strike="noStrike">
                          <a:effectLst/>
                        </a:rPr>
                        <a:t> </a:t>
                      </a:r>
                      <a:r>
                        <a:rPr lang="en-US" sz="1800" u="none" strike="noStrike" err="1">
                          <a:effectLst/>
                        </a:rPr>
                        <a:t>devir</a:t>
                      </a:r>
                      <a:r>
                        <a:rPr lang="en-US" sz="1800" u="none" strike="noStrike">
                          <a:effectLst/>
                        </a:rPr>
                        <a:t> </a:t>
                      </a:r>
                      <a:r>
                        <a:rPr lang="en-US" sz="1800" u="none" strike="noStrike" err="1">
                          <a:effectLst/>
                        </a:rPr>
                        <a:t>hızı</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u="none" strike="noStrike">
                          <a:effectLst/>
                        </a:rPr>
                        <a:t>2,55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u="none" strike="noStrike">
                          <a:effectLst/>
                        </a:rPr>
                        <a:t>2,66</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0" i="0" u="none" strike="noStrike">
                          <a:solidFill>
                            <a:srgbClr val="000000"/>
                          </a:solidFill>
                          <a:effectLst/>
                          <a:latin typeface="Calibri" panose="020F0502020204030204" pitchFamily="34" charset="0"/>
                        </a:rPr>
                        <a:t>2,42</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2,60</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2,56</a:t>
                      </a:r>
                    </a:p>
                  </a:txBody>
                  <a:tcPr marL="6350" marR="6350" marT="6350" marB="0" anchor="b"/>
                </a:tc>
                <a:extLst>
                  <a:ext uri="{0D108BD9-81ED-4DB2-BD59-A6C34878D82A}">
                    <a16:rowId xmlns:a16="http://schemas.microsoft.com/office/drawing/2014/main" val="10003"/>
                  </a:ext>
                </a:extLst>
              </a:tr>
              <a:tr h="314309">
                <a:tc>
                  <a:txBody>
                    <a:bodyPr/>
                    <a:lstStyle/>
                    <a:p>
                      <a:pPr algn="l" fontAlgn="b"/>
                      <a:r>
                        <a:rPr lang="en-US" sz="1800" u="none" strike="noStrike" err="1">
                          <a:effectLst/>
                        </a:rPr>
                        <a:t>Faiz</a:t>
                      </a:r>
                      <a:r>
                        <a:rPr lang="en-US" sz="1800" u="none" strike="noStrike">
                          <a:effectLst/>
                        </a:rPr>
                        <a:t> </a:t>
                      </a:r>
                      <a:r>
                        <a:rPr lang="en-US" sz="1800" u="none" strike="noStrike" err="1">
                          <a:effectLst/>
                        </a:rPr>
                        <a:t>etkisi</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u="none" strike="noStrike">
                          <a:effectLst/>
                        </a:rPr>
                        <a:t>1,0</a:t>
                      </a:r>
                      <a:r>
                        <a:rPr lang="tr-TR" sz="1800" u="none" strike="noStrike">
                          <a:effectLst/>
                        </a:rPr>
                        <a:t>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u="none" strike="noStrike">
                          <a:effectLst/>
                        </a:rPr>
                        <a:t>0,</a:t>
                      </a:r>
                      <a:r>
                        <a:rPr lang="tr-TR" sz="1800" u="none" strike="noStrike">
                          <a:effectLst/>
                        </a:rPr>
                        <a:t>87</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0" i="0" u="none" strike="noStrike">
                          <a:solidFill>
                            <a:srgbClr val="000000"/>
                          </a:solidFill>
                          <a:effectLst/>
                          <a:latin typeface="Calibri" panose="020F0502020204030204" pitchFamily="34" charset="0"/>
                        </a:rPr>
                        <a:t>1,35</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1,07</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1,65</a:t>
                      </a:r>
                    </a:p>
                  </a:txBody>
                  <a:tcPr marL="6350" marR="6350" marT="6350" marB="0" anchor="b"/>
                </a:tc>
                <a:extLst>
                  <a:ext uri="{0D108BD9-81ED-4DB2-BD59-A6C34878D82A}">
                    <a16:rowId xmlns:a16="http://schemas.microsoft.com/office/drawing/2014/main" val="10004"/>
                  </a:ext>
                </a:extLst>
              </a:tr>
              <a:tr h="283652">
                <a:tc>
                  <a:txBody>
                    <a:bodyPr/>
                    <a:lstStyle/>
                    <a:p>
                      <a:pPr algn="l" fontAlgn="b"/>
                      <a:r>
                        <a:rPr lang="en-US" sz="1800" u="none" strike="noStrike">
                          <a:effectLst/>
                        </a:rPr>
                        <a:t>Finansal kaldıraç</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u="none" strike="noStrike">
                          <a:effectLst/>
                        </a:rPr>
                        <a:t>1,46</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u="none" strike="noStrike">
                          <a:effectLst/>
                        </a:rPr>
                        <a:t>1,15</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0" i="0" u="none" strike="noStrike">
                          <a:solidFill>
                            <a:srgbClr val="000000"/>
                          </a:solidFill>
                          <a:effectLst/>
                          <a:latin typeface="Calibri" panose="020F0502020204030204" pitchFamily="34" charset="0"/>
                        </a:rPr>
                        <a:t>1,06</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1,06</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1,06</a:t>
                      </a:r>
                    </a:p>
                  </a:txBody>
                  <a:tcPr marL="6350" marR="6350" marT="6350" marB="0" anchor="b"/>
                </a:tc>
                <a:extLst>
                  <a:ext uri="{0D108BD9-81ED-4DB2-BD59-A6C34878D82A}">
                    <a16:rowId xmlns:a16="http://schemas.microsoft.com/office/drawing/2014/main" val="10005"/>
                  </a:ext>
                </a:extLst>
              </a:tr>
              <a:tr h="283652">
                <a:tc>
                  <a:txBody>
                    <a:bodyPr/>
                    <a:lstStyle/>
                    <a:p>
                      <a:pPr algn="l" fontAlgn="b"/>
                      <a:r>
                        <a:rPr lang="en-US" sz="1800" u="none" strike="noStrike">
                          <a:effectLst/>
                        </a:rPr>
                        <a:t>Vergi etkisi</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u="none" strike="noStrike">
                          <a:effectLst/>
                        </a:rPr>
                        <a:t>0,80</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u="none" strike="noStrike">
                          <a:effectLst/>
                        </a:rPr>
                        <a:t>0,80</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0" i="0" u="none" strike="noStrike">
                          <a:solidFill>
                            <a:srgbClr val="000000"/>
                          </a:solidFill>
                          <a:effectLst/>
                          <a:latin typeface="Calibri" panose="020F0502020204030204" pitchFamily="34" charset="0"/>
                        </a:rPr>
                        <a:t>0,78</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0,79</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0,80</a:t>
                      </a:r>
                    </a:p>
                  </a:txBody>
                  <a:tcPr marL="6350" marR="6350" marT="6350" marB="0" anchor="b"/>
                </a:tc>
                <a:extLst>
                  <a:ext uri="{0D108BD9-81ED-4DB2-BD59-A6C34878D82A}">
                    <a16:rowId xmlns:a16="http://schemas.microsoft.com/office/drawing/2014/main" val="10006"/>
                  </a:ext>
                </a:extLst>
              </a:tr>
            </a:tbl>
          </a:graphicData>
        </a:graphic>
      </p:graphicFrame>
      <p:graphicFrame>
        <p:nvGraphicFramePr>
          <p:cNvPr id="5" name="Table 4"/>
          <p:cNvGraphicFramePr>
            <a:graphicFrameLocks noGrp="1"/>
          </p:cNvGraphicFramePr>
          <p:nvPr/>
        </p:nvGraphicFramePr>
        <p:xfrm>
          <a:off x="1547664" y="1484784"/>
          <a:ext cx="5483052" cy="2016224"/>
        </p:xfrm>
        <a:graphic>
          <a:graphicData uri="http://schemas.openxmlformats.org/drawingml/2006/table">
            <a:tbl>
              <a:tblPr>
                <a:tableStyleId>{5C22544A-7EE6-4342-B048-85BDC9FD1C3A}</a:tableStyleId>
              </a:tblPr>
              <a:tblGrid>
                <a:gridCol w="2020072">
                  <a:extLst>
                    <a:ext uri="{9D8B030D-6E8A-4147-A177-3AD203B41FA5}">
                      <a16:colId xmlns:a16="http://schemas.microsoft.com/office/drawing/2014/main" val="20000"/>
                    </a:ext>
                  </a:extLst>
                </a:gridCol>
                <a:gridCol w="692596">
                  <a:extLst>
                    <a:ext uri="{9D8B030D-6E8A-4147-A177-3AD203B41FA5}">
                      <a16:colId xmlns:a16="http://schemas.microsoft.com/office/drawing/2014/main" val="20001"/>
                    </a:ext>
                  </a:extLst>
                </a:gridCol>
                <a:gridCol w="692596">
                  <a:extLst>
                    <a:ext uri="{9D8B030D-6E8A-4147-A177-3AD203B41FA5}">
                      <a16:colId xmlns:a16="http://schemas.microsoft.com/office/drawing/2014/main" val="20002"/>
                    </a:ext>
                  </a:extLst>
                </a:gridCol>
                <a:gridCol w="692596">
                  <a:extLst>
                    <a:ext uri="{9D8B030D-6E8A-4147-A177-3AD203B41FA5}">
                      <a16:colId xmlns:a16="http://schemas.microsoft.com/office/drawing/2014/main" val="20003"/>
                    </a:ext>
                  </a:extLst>
                </a:gridCol>
                <a:gridCol w="692596">
                  <a:extLst>
                    <a:ext uri="{9D8B030D-6E8A-4147-A177-3AD203B41FA5}">
                      <a16:colId xmlns:a16="http://schemas.microsoft.com/office/drawing/2014/main" val="20004"/>
                    </a:ext>
                  </a:extLst>
                </a:gridCol>
                <a:gridCol w="692596">
                  <a:extLst>
                    <a:ext uri="{9D8B030D-6E8A-4147-A177-3AD203B41FA5}">
                      <a16:colId xmlns:a16="http://schemas.microsoft.com/office/drawing/2014/main" val="20005"/>
                    </a:ext>
                  </a:extLst>
                </a:gridCol>
              </a:tblGrid>
              <a:tr h="288032">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tr-TR" sz="1800" b="1" u="none" strike="noStrike">
                          <a:effectLst/>
                        </a:rPr>
                        <a:t>Brisa</a:t>
                      </a:r>
                    </a:p>
                  </a:txBody>
                  <a:tcPr marL="7620" marR="7620" marT="7620" marB="0" anchor="b"/>
                </a:tc>
                <a:tc>
                  <a:txBody>
                    <a:bodyPr/>
                    <a:lstStyle/>
                    <a:p>
                      <a:pPr algn="r" fontAlgn="b"/>
                      <a:r>
                        <a:rPr lang="tr-TR" sz="1800" b="1" i="0" u="none" strike="noStrike">
                          <a:solidFill>
                            <a:srgbClr val="000000"/>
                          </a:solidFill>
                          <a:effectLst/>
                          <a:latin typeface="Calibri" panose="020F0502020204030204" pitchFamily="34" charset="0"/>
                        </a:rPr>
                        <a:t>2011</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1" i="0" u="none" strike="noStrike">
                          <a:solidFill>
                            <a:srgbClr val="000000"/>
                          </a:solidFill>
                          <a:effectLst/>
                          <a:latin typeface="Calibri" panose="020F0502020204030204" pitchFamily="34" charset="0"/>
                        </a:rPr>
                        <a:t>2012</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1" i="0" u="none" strike="noStrike">
                          <a:solidFill>
                            <a:srgbClr val="000000"/>
                          </a:solidFill>
                          <a:effectLst/>
                          <a:latin typeface="Calibri" panose="020F0502020204030204" pitchFamily="34" charset="0"/>
                        </a:rPr>
                        <a:t>2013</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tr-TR" sz="1800" b="1" i="0" u="none" strike="noStrike">
                          <a:solidFill>
                            <a:srgbClr val="000000"/>
                          </a:solidFill>
                          <a:effectLst/>
                          <a:latin typeface="Calibri" panose="020F0502020204030204" pitchFamily="34" charset="0"/>
                        </a:rPr>
                        <a:t>2014</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marL="0" marR="0" indent="0" algn="r" defTabSz="914400" rtl="0" eaLnBrk="1" fontAlgn="b" latinLnBrk="0" hangingPunct="1">
                        <a:lnSpc>
                          <a:spcPct val="100000"/>
                        </a:lnSpc>
                        <a:spcBef>
                          <a:spcPts val="0"/>
                        </a:spcBef>
                        <a:spcAft>
                          <a:spcPts val="0"/>
                        </a:spcAft>
                        <a:buClrTx/>
                        <a:buSzTx/>
                        <a:buFontTx/>
                        <a:buNone/>
                        <a:tabLst/>
                        <a:defRPr/>
                      </a:pPr>
                      <a:r>
                        <a:rPr lang="tr-TR" sz="1800" b="1" i="0" u="none" strike="noStrike">
                          <a:solidFill>
                            <a:srgbClr val="000000"/>
                          </a:solidFill>
                          <a:effectLst/>
                          <a:latin typeface="Calibri" panose="020F0502020204030204" pitchFamily="34" charset="0"/>
                        </a:rPr>
                        <a:t>2015</a:t>
                      </a:r>
                      <a:endParaRPr lang="en-US" sz="18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0"/>
                  </a:ext>
                </a:extLst>
              </a:tr>
              <a:tr h="288032">
                <a:tc>
                  <a:txBody>
                    <a:bodyPr/>
                    <a:lstStyle/>
                    <a:p>
                      <a:pPr algn="l" fontAlgn="b"/>
                      <a:r>
                        <a:rPr lang="en-US" sz="1800" b="1" u="none" strike="noStrike" err="1">
                          <a:effectLst/>
                        </a:rPr>
                        <a:t>Özsermaye</a:t>
                      </a:r>
                      <a:r>
                        <a:rPr lang="en-US" sz="1800" b="1" u="none" strike="noStrike">
                          <a:effectLst/>
                        </a:rPr>
                        <a:t> </a:t>
                      </a:r>
                      <a:r>
                        <a:rPr lang="en-US" sz="1800" b="1" u="none" strike="noStrike" err="1">
                          <a:effectLst/>
                        </a:rPr>
                        <a:t>karlılığı</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b="1" u="none" strike="noStrike">
                          <a:effectLst/>
                        </a:rPr>
                        <a:t>15,2%</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b="1" u="none" strike="noStrike">
                          <a:effectLst/>
                        </a:rPr>
                        <a:t>19,4%</a:t>
                      </a:r>
                      <a:endParaRPr lang="en-US" sz="1800" b="1"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tr-TR" sz="1800" b="1" i="0" u="none" strike="noStrike">
                          <a:solidFill>
                            <a:srgbClr val="000000"/>
                          </a:solidFill>
                          <a:effectLst/>
                          <a:latin typeface="Calibri" panose="020F0502020204030204" pitchFamily="34" charset="0"/>
                        </a:rPr>
                        <a:t>25,4%</a:t>
                      </a:r>
                    </a:p>
                  </a:txBody>
                  <a:tcPr marL="6350" marR="6350" marT="6350" marB="0" anchor="b"/>
                </a:tc>
                <a:tc>
                  <a:txBody>
                    <a:bodyPr/>
                    <a:lstStyle/>
                    <a:p>
                      <a:pPr algn="r" fontAlgn="b"/>
                      <a:r>
                        <a:rPr lang="tr-TR" sz="1800" b="1" i="0" u="none" strike="noStrike">
                          <a:solidFill>
                            <a:srgbClr val="000000"/>
                          </a:solidFill>
                          <a:effectLst/>
                          <a:latin typeface="Calibri" panose="020F0502020204030204" pitchFamily="34" charset="0"/>
                        </a:rPr>
                        <a:t>30,8%</a:t>
                      </a:r>
                    </a:p>
                  </a:txBody>
                  <a:tcPr marL="6350" marR="6350" marT="6350" marB="0" anchor="b"/>
                </a:tc>
                <a:tc>
                  <a:txBody>
                    <a:bodyPr/>
                    <a:lstStyle/>
                    <a:p>
                      <a:pPr algn="r" fontAlgn="b"/>
                      <a:r>
                        <a:rPr lang="tr-TR" sz="1800" b="1" i="0" u="none" strike="noStrike">
                          <a:solidFill>
                            <a:srgbClr val="000000"/>
                          </a:solidFill>
                          <a:effectLst/>
                          <a:latin typeface="Calibri" panose="020F0502020204030204" pitchFamily="34" charset="0"/>
                        </a:rPr>
                        <a:t>30,0%</a:t>
                      </a:r>
                    </a:p>
                  </a:txBody>
                  <a:tcPr marL="6350" marR="6350" marT="6350" marB="0" anchor="b"/>
                </a:tc>
                <a:extLst>
                  <a:ext uri="{0D108BD9-81ED-4DB2-BD59-A6C34878D82A}">
                    <a16:rowId xmlns:a16="http://schemas.microsoft.com/office/drawing/2014/main" val="10001"/>
                  </a:ext>
                </a:extLst>
              </a:tr>
              <a:tr h="288032">
                <a:tc>
                  <a:txBody>
                    <a:bodyPr/>
                    <a:lstStyle/>
                    <a:p>
                      <a:pPr algn="l" fontAlgn="b"/>
                      <a:r>
                        <a:rPr lang="en-US" sz="1800" u="none" strike="noStrike" err="1">
                          <a:effectLst/>
                        </a:rPr>
                        <a:t>Faaliyet</a:t>
                      </a:r>
                      <a:r>
                        <a:rPr lang="en-US" sz="1800" u="none" strike="noStrike">
                          <a:effectLst/>
                        </a:rPr>
                        <a:t> </a:t>
                      </a:r>
                      <a:r>
                        <a:rPr lang="en-US" sz="1800" u="none" strike="noStrike" err="1">
                          <a:effectLst/>
                        </a:rPr>
                        <a:t>kar</a:t>
                      </a:r>
                      <a:r>
                        <a:rPr lang="en-US" sz="1800" u="none" strike="noStrike">
                          <a:effectLst/>
                        </a:rPr>
                        <a:t> </a:t>
                      </a:r>
                      <a:r>
                        <a:rPr lang="en-US" sz="1800" u="none" strike="noStrike" err="1">
                          <a:effectLst/>
                        </a:rPr>
                        <a:t>marjı</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b="0" i="0" u="none" strike="noStrike">
                          <a:solidFill>
                            <a:srgbClr val="000000"/>
                          </a:solidFill>
                          <a:effectLst/>
                          <a:latin typeface="Calibri" panose="020F0502020204030204" pitchFamily="34" charset="0"/>
                        </a:rPr>
                        <a:t>7,5%</a:t>
                      </a:r>
                    </a:p>
                  </a:txBody>
                  <a:tcPr marL="7620" marR="7620" marT="7620" marB="0" anchor="b"/>
                </a:tc>
                <a:tc>
                  <a:txBody>
                    <a:bodyPr/>
                    <a:lstStyle/>
                    <a:p>
                      <a:pPr algn="r" fontAlgn="b"/>
                      <a:r>
                        <a:rPr lang="en-US" sz="1800" b="0" i="0" u="none" strike="noStrike">
                          <a:solidFill>
                            <a:srgbClr val="000000"/>
                          </a:solidFill>
                          <a:effectLst/>
                          <a:latin typeface="Calibri" panose="020F0502020204030204" pitchFamily="34" charset="0"/>
                        </a:rPr>
                        <a:t>11,5%</a:t>
                      </a:r>
                    </a:p>
                  </a:txBody>
                  <a:tcPr marL="7620" marR="7620" marT="7620" marB="0" anchor="b"/>
                </a:tc>
                <a:tc>
                  <a:txBody>
                    <a:bodyPr/>
                    <a:lstStyle/>
                    <a:p>
                      <a:pPr algn="r" fontAlgn="b"/>
                      <a:r>
                        <a:rPr lang="tr-TR" sz="1800" b="0" i="0" u="none" strike="noStrike">
                          <a:solidFill>
                            <a:srgbClr val="000000"/>
                          </a:solidFill>
                          <a:effectLst/>
                          <a:latin typeface="Calibri" panose="020F0502020204030204" pitchFamily="34" charset="0"/>
                        </a:rPr>
                        <a:t>11,6%</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13,8%</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13,8%</a:t>
                      </a:r>
                    </a:p>
                  </a:txBody>
                  <a:tcPr marL="6350" marR="6350" marT="6350" marB="0" anchor="b"/>
                </a:tc>
                <a:extLst>
                  <a:ext uri="{0D108BD9-81ED-4DB2-BD59-A6C34878D82A}">
                    <a16:rowId xmlns:a16="http://schemas.microsoft.com/office/drawing/2014/main" val="10002"/>
                  </a:ext>
                </a:extLst>
              </a:tr>
              <a:tr h="288032">
                <a:tc>
                  <a:txBody>
                    <a:bodyPr/>
                    <a:lstStyle/>
                    <a:p>
                      <a:pPr algn="l" fontAlgn="b"/>
                      <a:r>
                        <a:rPr lang="en-US" sz="1800" u="none" strike="noStrike" err="1">
                          <a:effectLst/>
                        </a:rPr>
                        <a:t>Sermaye</a:t>
                      </a:r>
                      <a:r>
                        <a:rPr lang="en-US" sz="1800" u="none" strike="noStrike">
                          <a:effectLst/>
                        </a:rPr>
                        <a:t> </a:t>
                      </a:r>
                      <a:r>
                        <a:rPr lang="en-US" sz="1800" u="none" strike="noStrike" err="1">
                          <a:effectLst/>
                        </a:rPr>
                        <a:t>devir</a:t>
                      </a:r>
                      <a:r>
                        <a:rPr lang="en-US" sz="1800" u="none" strike="noStrike">
                          <a:effectLst/>
                        </a:rPr>
                        <a:t> </a:t>
                      </a:r>
                      <a:r>
                        <a:rPr lang="en-US" sz="1800" u="none" strike="noStrike" err="1">
                          <a:effectLst/>
                        </a:rPr>
                        <a:t>hızı</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b="0" i="0" u="none" strike="noStrike">
                          <a:solidFill>
                            <a:srgbClr val="000000"/>
                          </a:solidFill>
                          <a:effectLst/>
                          <a:latin typeface="Calibri" panose="020F0502020204030204" pitchFamily="34" charset="0"/>
                        </a:rPr>
                        <a:t>1,54</a:t>
                      </a:r>
                    </a:p>
                  </a:txBody>
                  <a:tcPr marL="7620" marR="7620" marT="7620" marB="0" anchor="b"/>
                </a:tc>
                <a:tc>
                  <a:txBody>
                    <a:bodyPr/>
                    <a:lstStyle/>
                    <a:p>
                      <a:pPr algn="r" fontAlgn="b"/>
                      <a:r>
                        <a:rPr lang="en-US" sz="1800" b="0" i="0" u="none" strike="noStrike">
                          <a:solidFill>
                            <a:srgbClr val="000000"/>
                          </a:solidFill>
                          <a:effectLst/>
                          <a:latin typeface="Calibri" panose="020F0502020204030204" pitchFamily="34" charset="0"/>
                        </a:rPr>
                        <a:t>1,32</a:t>
                      </a:r>
                    </a:p>
                  </a:txBody>
                  <a:tcPr marL="7620" marR="7620" marT="7620" marB="0" anchor="b"/>
                </a:tc>
                <a:tc>
                  <a:txBody>
                    <a:bodyPr/>
                    <a:lstStyle/>
                    <a:p>
                      <a:pPr algn="r" fontAlgn="b"/>
                      <a:r>
                        <a:rPr lang="tr-TR" sz="1800" b="0" i="0" u="none" strike="noStrike">
                          <a:solidFill>
                            <a:srgbClr val="000000"/>
                          </a:solidFill>
                          <a:effectLst/>
                          <a:latin typeface="Calibri" panose="020F0502020204030204" pitchFamily="34" charset="0"/>
                        </a:rPr>
                        <a:t>1,26</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1,28</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1,00</a:t>
                      </a:r>
                    </a:p>
                  </a:txBody>
                  <a:tcPr marL="6350" marR="6350" marT="6350" marB="0" anchor="b"/>
                </a:tc>
                <a:extLst>
                  <a:ext uri="{0D108BD9-81ED-4DB2-BD59-A6C34878D82A}">
                    <a16:rowId xmlns:a16="http://schemas.microsoft.com/office/drawing/2014/main" val="10003"/>
                  </a:ext>
                </a:extLst>
              </a:tr>
              <a:tr h="288032">
                <a:tc>
                  <a:txBody>
                    <a:bodyPr/>
                    <a:lstStyle/>
                    <a:p>
                      <a:pPr algn="l" fontAlgn="b"/>
                      <a:r>
                        <a:rPr lang="en-US" sz="1800" u="none" strike="noStrike" err="1">
                          <a:effectLst/>
                        </a:rPr>
                        <a:t>Faiz</a:t>
                      </a:r>
                      <a:r>
                        <a:rPr lang="en-US" sz="1800" u="none" strike="noStrike">
                          <a:effectLst/>
                        </a:rPr>
                        <a:t> </a:t>
                      </a:r>
                      <a:r>
                        <a:rPr lang="en-US" sz="1800" u="none" strike="noStrike" err="1">
                          <a:effectLst/>
                        </a:rPr>
                        <a:t>etkisi</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b="0" i="0" u="none" strike="noStrike">
                          <a:solidFill>
                            <a:srgbClr val="000000"/>
                          </a:solidFill>
                          <a:effectLst/>
                          <a:latin typeface="Calibri" panose="020F0502020204030204" pitchFamily="34" charset="0"/>
                        </a:rPr>
                        <a:t>0,89</a:t>
                      </a:r>
                    </a:p>
                  </a:txBody>
                  <a:tcPr marL="7620" marR="7620" marT="7620" marB="0" anchor="b"/>
                </a:tc>
                <a:tc>
                  <a:txBody>
                    <a:bodyPr/>
                    <a:lstStyle/>
                    <a:p>
                      <a:pPr algn="r" fontAlgn="b"/>
                      <a:r>
                        <a:rPr lang="en-US" sz="1800" b="0" i="0" u="none" strike="noStrike">
                          <a:solidFill>
                            <a:srgbClr val="000000"/>
                          </a:solidFill>
                          <a:effectLst/>
                          <a:latin typeface="Calibri" panose="020F0502020204030204" pitchFamily="34" charset="0"/>
                        </a:rPr>
                        <a:t>0,72</a:t>
                      </a:r>
                    </a:p>
                  </a:txBody>
                  <a:tcPr marL="7620" marR="7620" marT="7620" marB="0" anchor="b"/>
                </a:tc>
                <a:tc>
                  <a:txBody>
                    <a:bodyPr/>
                    <a:lstStyle/>
                    <a:p>
                      <a:pPr algn="r" fontAlgn="b"/>
                      <a:r>
                        <a:rPr lang="tr-TR" sz="1800" b="0" i="0" u="none" strike="noStrike">
                          <a:solidFill>
                            <a:srgbClr val="000000"/>
                          </a:solidFill>
                          <a:effectLst/>
                          <a:latin typeface="Calibri" panose="020F0502020204030204" pitchFamily="34" charset="0"/>
                        </a:rPr>
                        <a:t>0,89</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0,90</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0,82</a:t>
                      </a:r>
                    </a:p>
                  </a:txBody>
                  <a:tcPr marL="6350" marR="6350" marT="6350" marB="0" anchor="b"/>
                </a:tc>
                <a:extLst>
                  <a:ext uri="{0D108BD9-81ED-4DB2-BD59-A6C34878D82A}">
                    <a16:rowId xmlns:a16="http://schemas.microsoft.com/office/drawing/2014/main" val="10004"/>
                  </a:ext>
                </a:extLst>
              </a:tr>
              <a:tr h="288032">
                <a:tc>
                  <a:txBody>
                    <a:bodyPr/>
                    <a:lstStyle/>
                    <a:p>
                      <a:pPr algn="l" fontAlgn="b"/>
                      <a:r>
                        <a:rPr lang="en-US" sz="1800" u="none" strike="noStrike" err="1">
                          <a:effectLst/>
                        </a:rPr>
                        <a:t>Finansal</a:t>
                      </a:r>
                      <a:r>
                        <a:rPr lang="en-US" sz="1800" u="none" strike="noStrike">
                          <a:effectLst/>
                        </a:rPr>
                        <a:t> </a:t>
                      </a:r>
                      <a:r>
                        <a:rPr lang="en-US" sz="1800" u="none" strike="noStrike" err="1">
                          <a:effectLst/>
                        </a:rPr>
                        <a:t>kaldıraç</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b="0" i="0" u="none" strike="noStrike">
                          <a:solidFill>
                            <a:srgbClr val="000000"/>
                          </a:solidFill>
                          <a:effectLst/>
                          <a:latin typeface="Calibri" panose="020F0502020204030204" pitchFamily="34" charset="0"/>
                        </a:rPr>
                        <a:t>1,85</a:t>
                      </a:r>
                    </a:p>
                  </a:txBody>
                  <a:tcPr marL="7620" marR="7620" marT="7620" marB="0" anchor="b"/>
                </a:tc>
                <a:tc>
                  <a:txBody>
                    <a:bodyPr/>
                    <a:lstStyle/>
                    <a:p>
                      <a:pPr algn="r" fontAlgn="b"/>
                      <a:r>
                        <a:rPr lang="en-US" sz="1800" b="0" i="0" u="none" strike="noStrike">
                          <a:solidFill>
                            <a:srgbClr val="000000"/>
                          </a:solidFill>
                          <a:effectLst/>
                          <a:latin typeface="Calibri" panose="020F0502020204030204" pitchFamily="34" charset="0"/>
                        </a:rPr>
                        <a:t>2,20</a:t>
                      </a:r>
                    </a:p>
                  </a:txBody>
                  <a:tcPr marL="7620" marR="7620" marT="7620" marB="0" anchor="b"/>
                </a:tc>
                <a:tc>
                  <a:txBody>
                    <a:bodyPr/>
                    <a:lstStyle/>
                    <a:p>
                      <a:pPr algn="r" fontAlgn="b"/>
                      <a:r>
                        <a:rPr lang="tr-TR" sz="1800" b="0" i="0" u="none" strike="noStrike">
                          <a:solidFill>
                            <a:srgbClr val="000000"/>
                          </a:solidFill>
                          <a:effectLst/>
                          <a:latin typeface="Calibri" panose="020F0502020204030204" pitchFamily="34" charset="0"/>
                        </a:rPr>
                        <a:t>2,09</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2,20</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2,75</a:t>
                      </a:r>
                    </a:p>
                  </a:txBody>
                  <a:tcPr marL="6350" marR="6350" marT="6350" marB="0" anchor="b"/>
                </a:tc>
                <a:extLst>
                  <a:ext uri="{0D108BD9-81ED-4DB2-BD59-A6C34878D82A}">
                    <a16:rowId xmlns:a16="http://schemas.microsoft.com/office/drawing/2014/main" val="10005"/>
                  </a:ext>
                </a:extLst>
              </a:tr>
              <a:tr h="288032">
                <a:tc>
                  <a:txBody>
                    <a:bodyPr/>
                    <a:lstStyle/>
                    <a:p>
                      <a:pPr algn="l" fontAlgn="b"/>
                      <a:r>
                        <a:rPr lang="en-US" sz="1800" u="none" strike="noStrike" err="1">
                          <a:effectLst/>
                        </a:rPr>
                        <a:t>Vergi</a:t>
                      </a:r>
                      <a:r>
                        <a:rPr lang="en-US" sz="1800" u="none" strike="noStrike">
                          <a:effectLst/>
                        </a:rPr>
                        <a:t> </a:t>
                      </a:r>
                      <a:r>
                        <a:rPr lang="en-US" sz="1800" u="none" strike="noStrike" err="1">
                          <a:effectLst/>
                        </a:rPr>
                        <a:t>etkisi</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en-US" sz="1800" b="0" i="0" u="none" strike="noStrike">
                          <a:solidFill>
                            <a:srgbClr val="000000"/>
                          </a:solidFill>
                          <a:effectLst/>
                          <a:latin typeface="Calibri" panose="020F0502020204030204" pitchFamily="34" charset="0"/>
                        </a:rPr>
                        <a:t>0,80</a:t>
                      </a:r>
                    </a:p>
                  </a:txBody>
                  <a:tcPr marL="7620" marR="7620" marT="7620" marB="0" anchor="b"/>
                </a:tc>
                <a:tc>
                  <a:txBody>
                    <a:bodyPr/>
                    <a:lstStyle/>
                    <a:p>
                      <a:pPr algn="r" fontAlgn="b"/>
                      <a:r>
                        <a:rPr lang="en-US" sz="1800" b="0" i="0" u="none" strike="noStrike">
                          <a:solidFill>
                            <a:srgbClr val="000000"/>
                          </a:solidFill>
                          <a:effectLst/>
                          <a:latin typeface="Calibri" panose="020F0502020204030204" pitchFamily="34" charset="0"/>
                        </a:rPr>
                        <a:t>0,81</a:t>
                      </a:r>
                    </a:p>
                  </a:txBody>
                  <a:tcPr marL="7620" marR="7620" marT="7620" marB="0" anchor="b"/>
                </a:tc>
                <a:tc>
                  <a:txBody>
                    <a:bodyPr/>
                    <a:lstStyle/>
                    <a:p>
                      <a:pPr algn="r" fontAlgn="b"/>
                      <a:r>
                        <a:rPr lang="tr-TR" sz="1800" b="0" i="0" u="none" strike="noStrike">
                          <a:solidFill>
                            <a:srgbClr val="000000"/>
                          </a:solidFill>
                          <a:effectLst/>
                          <a:latin typeface="Calibri" panose="020F0502020204030204" pitchFamily="34" charset="0"/>
                        </a:rPr>
                        <a:t>0,94</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0,88</a:t>
                      </a:r>
                    </a:p>
                  </a:txBody>
                  <a:tcPr marL="6350" marR="6350" marT="6350" marB="0" anchor="b"/>
                </a:tc>
                <a:tc>
                  <a:txBody>
                    <a:bodyPr/>
                    <a:lstStyle/>
                    <a:p>
                      <a:pPr algn="r" fontAlgn="b"/>
                      <a:r>
                        <a:rPr lang="tr-TR" sz="1800" b="0" i="0" u="none" strike="noStrike">
                          <a:solidFill>
                            <a:srgbClr val="000000"/>
                          </a:solidFill>
                          <a:effectLst/>
                          <a:latin typeface="Calibri" panose="020F0502020204030204" pitchFamily="34" charset="0"/>
                        </a:rPr>
                        <a:t>0,96</a:t>
                      </a:r>
                    </a:p>
                  </a:txBody>
                  <a:tcPr marL="6350" marR="6350" marT="6350" marB="0" anchor="b"/>
                </a:tc>
                <a:extLst>
                  <a:ext uri="{0D108BD9-81ED-4DB2-BD59-A6C34878D82A}">
                    <a16:rowId xmlns:a16="http://schemas.microsoft.com/office/drawing/2014/main" val="10006"/>
                  </a:ext>
                </a:extLst>
              </a:tr>
            </a:tbl>
          </a:graphicData>
        </a:graphic>
      </p:graphicFrame>
      <p:sp>
        <p:nvSpPr>
          <p:cNvPr id="6" name="Rectangle 2"/>
          <p:cNvSpPr>
            <a:spLocks noGrp="1" noChangeArrowheads="1"/>
          </p:cNvSpPr>
          <p:nvPr>
            <p:ph type="title"/>
          </p:nvPr>
        </p:nvSpPr>
        <p:spPr>
          <a:xfrm>
            <a:off x="684213" y="260648"/>
            <a:ext cx="8162925" cy="504825"/>
          </a:xfrm>
        </p:spPr>
        <p:txBody>
          <a:bodyPr/>
          <a:lstStyle/>
          <a:p>
            <a:pPr eaLnBrk="1" hangingPunct="1"/>
            <a:r>
              <a:rPr lang="tr-TR" sz="3600"/>
              <a:t>Karlılık Analizi</a:t>
            </a:r>
            <a:endParaRPr lang="en-US" sz="3600"/>
          </a:p>
        </p:txBody>
      </p:sp>
      <p:sp>
        <p:nvSpPr>
          <p:cNvPr id="7" name="Slide Number Placeholder 4">
            <a:extLst>
              <a:ext uri="{FF2B5EF4-FFF2-40B4-BE49-F238E27FC236}">
                <a16:creationId xmlns:a16="http://schemas.microsoft.com/office/drawing/2014/main" id="{4C5B274F-4EB9-4B54-A35D-E890E144BF3D}"/>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106</a:t>
            </a:fld>
            <a:endParaRPr lang="tr-TR" sz="1200">
              <a:solidFill>
                <a:schemeClr val="tx2"/>
              </a:solidFill>
              <a:latin typeface="Verdana" pitchFamily="34" charset="0"/>
            </a:endParaRPr>
          </a:p>
        </p:txBody>
      </p:sp>
    </p:spTree>
    <p:extLst>
      <p:ext uri="{BB962C8B-B14F-4D97-AF65-F5344CB8AC3E}">
        <p14:creationId xmlns:p14="http://schemas.microsoft.com/office/powerpoint/2010/main" val="40433867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0"/>
          </p:nvPr>
        </p:nvSpPr>
        <p:spPr>
          <a:xfrm>
            <a:off x="8604448" y="6469287"/>
            <a:ext cx="539552" cy="370588"/>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B5DCC0D5-E676-4C58-9BD2-55F6800298B1}" type="slidenum">
              <a:rPr lang="tr-TR" sz="1200">
                <a:solidFill>
                  <a:schemeClr val="tx2"/>
                </a:solidFill>
                <a:latin typeface="Verdana" pitchFamily="34" charset="0"/>
              </a:rPr>
              <a:pPr marL="0" indent="0" eaLnBrk="1" hangingPunct="1">
                <a:buNone/>
              </a:pPr>
              <a:t>107</a:t>
            </a:fld>
            <a:endParaRPr lang="tr-TR" sz="1200">
              <a:solidFill>
                <a:schemeClr val="tx2"/>
              </a:solidFill>
              <a:latin typeface="Verdana" pitchFamily="34" charset="0"/>
            </a:endParaRPr>
          </a:p>
        </p:txBody>
      </p:sp>
      <p:sp>
        <p:nvSpPr>
          <p:cNvPr id="89091" name="Rectangle 2"/>
          <p:cNvSpPr>
            <a:spLocks noGrp="1" noChangeArrowheads="1"/>
          </p:cNvSpPr>
          <p:nvPr>
            <p:ph type="title"/>
          </p:nvPr>
        </p:nvSpPr>
        <p:spPr>
          <a:xfrm>
            <a:off x="684213" y="260648"/>
            <a:ext cx="8162925" cy="504825"/>
          </a:xfrm>
        </p:spPr>
        <p:txBody>
          <a:bodyPr/>
          <a:lstStyle/>
          <a:p>
            <a:pPr eaLnBrk="1" hangingPunct="1"/>
            <a:r>
              <a:rPr lang="tr-TR" sz="3600"/>
              <a:t>Karlılık Analizi</a:t>
            </a:r>
            <a:endParaRPr lang="en-US" sz="3600"/>
          </a:p>
        </p:txBody>
      </p:sp>
      <p:sp>
        <p:nvSpPr>
          <p:cNvPr id="89095" name="Rectangle 7"/>
          <p:cNvSpPr>
            <a:spLocks noChangeArrowheads="1"/>
          </p:cNvSpPr>
          <p:nvPr/>
        </p:nvSpPr>
        <p:spPr bwMode="auto">
          <a:xfrm>
            <a:off x="611560" y="1250950"/>
            <a:ext cx="856895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tr-TR">
                <a:cs typeface="Arial" charset="0"/>
              </a:rPr>
              <a:t>Özsermaye Karlılığı =  Faaliyet karlılığı   x      Finansman Etkisi    x   Vergi etkisi </a:t>
            </a:r>
            <a:endParaRPr lang="tr-TR"/>
          </a:p>
        </p:txBody>
      </p:sp>
      <p:graphicFrame>
        <p:nvGraphicFramePr>
          <p:cNvPr id="9" name="Table 8"/>
          <p:cNvGraphicFramePr>
            <a:graphicFrameLocks noGrp="1"/>
          </p:cNvGraphicFramePr>
          <p:nvPr/>
        </p:nvGraphicFramePr>
        <p:xfrm>
          <a:off x="1186426" y="1700808"/>
          <a:ext cx="6337902" cy="2160240"/>
        </p:xfrm>
        <a:graphic>
          <a:graphicData uri="http://schemas.openxmlformats.org/drawingml/2006/table">
            <a:tbl>
              <a:tblPr/>
              <a:tblGrid>
                <a:gridCol w="2335017">
                  <a:extLst>
                    <a:ext uri="{9D8B030D-6E8A-4147-A177-3AD203B41FA5}">
                      <a16:colId xmlns:a16="http://schemas.microsoft.com/office/drawing/2014/main" val="20000"/>
                    </a:ext>
                  </a:extLst>
                </a:gridCol>
                <a:gridCol w="800577">
                  <a:extLst>
                    <a:ext uri="{9D8B030D-6E8A-4147-A177-3AD203B41FA5}">
                      <a16:colId xmlns:a16="http://schemas.microsoft.com/office/drawing/2014/main" val="20001"/>
                    </a:ext>
                  </a:extLst>
                </a:gridCol>
                <a:gridCol w="800577">
                  <a:extLst>
                    <a:ext uri="{9D8B030D-6E8A-4147-A177-3AD203B41FA5}">
                      <a16:colId xmlns:a16="http://schemas.microsoft.com/office/drawing/2014/main" val="20002"/>
                    </a:ext>
                  </a:extLst>
                </a:gridCol>
                <a:gridCol w="800577">
                  <a:extLst>
                    <a:ext uri="{9D8B030D-6E8A-4147-A177-3AD203B41FA5}">
                      <a16:colId xmlns:a16="http://schemas.microsoft.com/office/drawing/2014/main" val="20003"/>
                    </a:ext>
                  </a:extLst>
                </a:gridCol>
                <a:gridCol w="800577">
                  <a:extLst>
                    <a:ext uri="{9D8B030D-6E8A-4147-A177-3AD203B41FA5}">
                      <a16:colId xmlns:a16="http://schemas.microsoft.com/office/drawing/2014/main" val="20004"/>
                    </a:ext>
                  </a:extLst>
                </a:gridCol>
                <a:gridCol w="800577">
                  <a:extLst>
                    <a:ext uri="{9D8B030D-6E8A-4147-A177-3AD203B41FA5}">
                      <a16:colId xmlns:a16="http://schemas.microsoft.com/office/drawing/2014/main" val="20005"/>
                    </a:ext>
                  </a:extLst>
                </a:gridCol>
              </a:tblGrid>
              <a:tr h="432048">
                <a:tc>
                  <a:txBody>
                    <a:bodyPr/>
                    <a:lstStyle/>
                    <a:p>
                      <a:pPr algn="l" fontAlgn="b"/>
                      <a:r>
                        <a:rPr lang="tr-TR" sz="1800" b="1" i="0" u="none" strike="noStrike" baseline="0">
                          <a:solidFill>
                            <a:srgbClr val="000000"/>
                          </a:solidFill>
                          <a:latin typeface="Calibri"/>
                        </a:rPr>
                        <a:t>Brisa</a:t>
                      </a:r>
                      <a:endParaRPr lang="en-GB" sz="1800" b="1" i="0" u="none" strike="noStrike" baseline="0">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800" b="1" i="0" u="none" strike="noStrike" baseline="0">
                          <a:solidFill>
                            <a:srgbClr val="000000"/>
                          </a:solidFill>
                          <a:latin typeface="Calibri"/>
                        </a:rPr>
                        <a:t>2011</a:t>
                      </a:r>
                    </a:p>
                  </a:txBody>
                  <a:tcPr marL="7620" marR="7620" marT="7620" marB="0" anchor="b">
                    <a:lnL>
                      <a:noFill/>
                    </a:lnL>
                    <a:lnR>
                      <a:noFill/>
                    </a:lnR>
                    <a:lnT>
                      <a:noFill/>
                    </a:lnT>
                    <a:lnB>
                      <a:noFill/>
                    </a:lnB>
                  </a:tcPr>
                </a:tc>
                <a:tc>
                  <a:txBody>
                    <a:bodyPr/>
                    <a:lstStyle/>
                    <a:p>
                      <a:pPr algn="r" fontAlgn="b"/>
                      <a:r>
                        <a:rPr lang="en-GB" sz="1800" b="1" i="0" u="none" strike="noStrike" baseline="0">
                          <a:solidFill>
                            <a:srgbClr val="000000"/>
                          </a:solidFill>
                          <a:latin typeface="Calibri"/>
                        </a:rPr>
                        <a:t>2012</a:t>
                      </a:r>
                    </a:p>
                  </a:txBody>
                  <a:tcPr marL="7620" marR="7620" marT="7620" marB="0" anchor="b">
                    <a:lnL>
                      <a:noFill/>
                    </a:lnL>
                    <a:lnR>
                      <a:noFill/>
                    </a:lnR>
                    <a:lnT>
                      <a:noFill/>
                    </a:lnT>
                    <a:lnB>
                      <a:noFill/>
                    </a:lnB>
                  </a:tcPr>
                </a:tc>
                <a:tc>
                  <a:txBody>
                    <a:bodyPr/>
                    <a:lstStyle/>
                    <a:p>
                      <a:pPr algn="r" fontAlgn="b"/>
                      <a:r>
                        <a:rPr lang="en-GB" sz="1800" b="1" i="0" u="none" strike="noStrike" baseline="0">
                          <a:solidFill>
                            <a:srgbClr val="000000"/>
                          </a:solidFill>
                          <a:latin typeface="Calibri"/>
                        </a:rPr>
                        <a:t>201</a:t>
                      </a:r>
                      <a:r>
                        <a:rPr lang="tr-TR" sz="1800" b="1" i="0" u="none" strike="noStrike" baseline="0">
                          <a:solidFill>
                            <a:srgbClr val="000000"/>
                          </a:solidFill>
                          <a:latin typeface="Calibri"/>
                        </a:rPr>
                        <a:t>3</a:t>
                      </a:r>
                      <a:endParaRPr lang="en-GB" sz="1800" b="1" i="0" u="none" strike="noStrike" baseline="0">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800" b="1" i="0" u="none" strike="noStrike" baseline="0">
                          <a:solidFill>
                            <a:srgbClr val="000000"/>
                          </a:solidFill>
                          <a:latin typeface="Calibri"/>
                        </a:rPr>
                        <a:t>201</a:t>
                      </a:r>
                      <a:r>
                        <a:rPr lang="tr-TR" sz="1800" b="1" i="0" u="none" strike="noStrike" baseline="0">
                          <a:solidFill>
                            <a:srgbClr val="000000"/>
                          </a:solidFill>
                          <a:latin typeface="Calibri"/>
                        </a:rPr>
                        <a:t>4</a:t>
                      </a:r>
                      <a:endParaRPr lang="en-GB" sz="1800" b="1" i="0" u="none" strike="noStrike" baseline="0">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tr-TR" sz="1800" b="1" i="0" u="none" strike="noStrike" baseline="0">
                          <a:solidFill>
                            <a:srgbClr val="000000"/>
                          </a:solidFill>
                          <a:latin typeface="Calibri"/>
                        </a:rPr>
                        <a:t>2015</a:t>
                      </a:r>
                      <a:endParaRPr lang="en-GB" sz="1800" b="1" i="0" u="none" strike="noStrike" baseline="0">
                        <a:solidFill>
                          <a:srgbClr val="000000"/>
                        </a:solidFill>
                        <a:latin typeface="Calibri"/>
                      </a:endParaRPr>
                    </a:p>
                  </a:txBody>
                  <a:tcPr marL="7620" marR="7620" marT="7620" marB="0" anchor="b">
                    <a:lnL>
                      <a:noFill/>
                    </a:lnL>
                    <a:lnR>
                      <a:noFill/>
                    </a:lnR>
                    <a:lnT>
                      <a:noFill/>
                    </a:lnT>
                    <a:lnB>
                      <a:noFill/>
                    </a:lnB>
                  </a:tcPr>
                </a:tc>
                <a:extLst>
                  <a:ext uri="{0D108BD9-81ED-4DB2-BD59-A6C34878D82A}">
                    <a16:rowId xmlns:a16="http://schemas.microsoft.com/office/drawing/2014/main" val="10000"/>
                  </a:ext>
                </a:extLst>
              </a:tr>
              <a:tr h="432048">
                <a:tc>
                  <a:txBody>
                    <a:bodyPr/>
                    <a:lstStyle/>
                    <a:p>
                      <a:pPr algn="l" fontAlgn="b"/>
                      <a:r>
                        <a:rPr lang="en-GB" sz="1800" b="1" i="0" u="none" strike="noStrike" baseline="0" err="1">
                          <a:solidFill>
                            <a:srgbClr val="000000"/>
                          </a:solidFill>
                          <a:latin typeface="Calibri"/>
                        </a:rPr>
                        <a:t>Özsermaye</a:t>
                      </a:r>
                      <a:r>
                        <a:rPr lang="en-GB" sz="1800" b="1" i="0" u="none" strike="noStrike" baseline="0">
                          <a:solidFill>
                            <a:srgbClr val="000000"/>
                          </a:solidFill>
                          <a:latin typeface="Calibri"/>
                        </a:rPr>
                        <a:t> </a:t>
                      </a:r>
                      <a:r>
                        <a:rPr lang="en-GB" sz="1800" b="1" i="0" u="none" strike="noStrike" baseline="0" err="1">
                          <a:solidFill>
                            <a:srgbClr val="000000"/>
                          </a:solidFill>
                          <a:latin typeface="Calibri"/>
                        </a:rPr>
                        <a:t>karlılığı</a:t>
                      </a:r>
                      <a:endParaRPr lang="en-GB" sz="1800" b="1" i="0" u="none" strike="noStrike" baseline="0">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800" b="1" i="0" u="none" strike="noStrike" baseline="0">
                          <a:solidFill>
                            <a:srgbClr val="000000"/>
                          </a:solidFill>
                          <a:latin typeface="Calibri"/>
                        </a:rPr>
                        <a:t>15</a:t>
                      </a:r>
                      <a:r>
                        <a:rPr lang="tr-TR" sz="1800" b="1" i="0" u="none" strike="noStrike" baseline="0">
                          <a:solidFill>
                            <a:srgbClr val="000000"/>
                          </a:solidFill>
                          <a:latin typeface="Calibri"/>
                        </a:rPr>
                        <a:t>,</a:t>
                      </a:r>
                      <a:r>
                        <a:rPr lang="en-GB" sz="1800" b="1" i="0" u="none" strike="noStrike" baseline="0">
                          <a:solidFill>
                            <a:srgbClr val="000000"/>
                          </a:solidFill>
                          <a:latin typeface="Calibri"/>
                        </a:rPr>
                        <a:t>2%</a:t>
                      </a:r>
                    </a:p>
                  </a:txBody>
                  <a:tcPr marL="7620" marR="7620" marT="7620" marB="0" anchor="b">
                    <a:lnL>
                      <a:noFill/>
                    </a:lnL>
                    <a:lnR>
                      <a:noFill/>
                    </a:lnR>
                    <a:lnT>
                      <a:noFill/>
                    </a:lnT>
                    <a:lnB>
                      <a:noFill/>
                    </a:lnB>
                  </a:tcPr>
                </a:tc>
                <a:tc>
                  <a:txBody>
                    <a:bodyPr/>
                    <a:lstStyle/>
                    <a:p>
                      <a:pPr algn="r" fontAlgn="b"/>
                      <a:r>
                        <a:rPr lang="en-GB" sz="1800" b="1" i="0" u="none" strike="noStrike" baseline="0">
                          <a:solidFill>
                            <a:srgbClr val="000000"/>
                          </a:solidFill>
                          <a:latin typeface="Calibri"/>
                        </a:rPr>
                        <a:t>1</a:t>
                      </a:r>
                      <a:r>
                        <a:rPr lang="tr-TR" sz="1800" b="1" i="0" u="none" strike="noStrike" baseline="0">
                          <a:solidFill>
                            <a:srgbClr val="000000"/>
                          </a:solidFill>
                          <a:latin typeface="Calibri"/>
                        </a:rPr>
                        <a:t>9,4</a:t>
                      </a:r>
                      <a:r>
                        <a:rPr lang="en-GB" sz="1800" b="1" i="0" u="none" strike="noStrike" baseline="0">
                          <a:solidFill>
                            <a:srgbClr val="000000"/>
                          </a:solidFill>
                          <a:latin typeface="Calibri"/>
                        </a:rPr>
                        <a:t>%</a:t>
                      </a:r>
                    </a:p>
                  </a:txBody>
                  <a:tcPr marL="7620" marR="7620" marT="7620" marB="0" anchor="b">
                    <a:lnL>
                      <a:noFill/>
                    </a:lnL>
                    <a:lnR>
                      <a:noFill/>
                    </a:lnR>
                    <a:lnT>
                      <a:noFill/>
                    </a:lnT>
                    <a:lnB>
                      <a:noFill/>
                    </a:lnB>
                  </a:tcPr>
                </a:tc>
                <a:tc>
                  <a:txBody>
                    <a:bodyPr/>
                    <a:lstStyle/>
                    <a:p>
                      <a:pPr algn="r" fontAlgn="b"/>
                      <a:r>
                        <a:rPr lang="tr-TR" sz="1800" b="1" i="0" u="none" strike="noStrike">
                          <a:solidFill>
                            <a:srgbClr val="000000"/>
                          </a:solidFill>
                          <a:effectLst/>
                          <a:latin typeface="Calibri" panose="020F0502020204030204" pitchFamily="34" charset="0"/>
                        </a:rPr>
                        <a:t>25,4%</a:t>
                      </a:r>
                    </a:p>
                  </a:txBody>
                  <a:tcPr marL="6350" marR="6350" marT="6350" marB="0" anchor="b">
                    <a:lnL>
                      <a:noFill/>
                    </a:lnL>
                    <a:lnR>
                      <a:noFill/>
                    </a:lnR>
                    <a:lnT>
                      <a:noFill/>
                    </a:lnT>
                    <a:lnB>
                      <a:noFill/>
                    </a:lnB>
                  </a:tcPr>
                </a:tc>
                <a:tc>
                  <a:txBody>
                    <a:bodyPr/>
                    <a:lstStyle/>
                    <a:p>
                      <a:pPr algn="r" fontAlgn="b"/>
                      <a:r>
                        <a:rPr lang="tr-TR" sz="1800" b="1" i="0" u="none" strike="noStrike">
                          <a:solidFill>
                            <a:srgbClr val="000000"/>
                          </a:solidFill>
                          <a:effectLst/>
                          <a:latin typeface="Calibri" panose="020F0502020204030204" pitchFamily="34" charset="0"/>
                        </a:rPr>
                        <a:t>30,8%</a:t>
                      </a:r>
                    </a:p>
                  </a:txBody>
                  <a:tcPr marL="6350" marR="6350" marT="6350" marB="0" anchor="b">
                    <a:lnL>
                      <a:noFill/>
                    </a:lnL>
                    <a:lnR>
                      <a:noFill/>
                    </a:lnR>
                    <a:lnT>
                      <a:noFill/>
                    </a:lnT>
                    <a:lnB>
                      <a:noFill/>
                    </a:lnB>
                  </a:tcPr>
                </a:tc>
                <a:tc>
                  <a:txBody>
                    <a:bodyPr/>
                    <a:lstStyle/>
                    <a:p>
                      <a:pPr algn="r" fontAlgn="b"/>
                      <a:r>
                        <a:rPr lang="tr-TR" sz="1800" b="1" i="0" u="none" strike="noStrike">
                          <a:solidFill>
                            <a:srgbClr val="000000"/>
                          </a:solidFill>
                          <a:effectLst/>
                          <a:latin typeface="Calibri" panose="020F0502020204030204" pitchFamily="34" charset="0"/>
                        </a:rPr>
                        <a:t>30,0%</a:t>
                      </a:r>
                    </a:p>
                  </a:txBody>
                  <a:tcPr marL="6350" marR="6350" marT="6350" marB="0" anchor="b">
                    <a:lnL>
                      <a:noFill/>
                    </a:lnL>
                    <a:lnR>
                      <a:noFill/>
                    </a:lnR>
                    <a:lnT>
                      <a:noFill/>
                    </a:lnT>
                    <a:lnB>
                      <a:noFill/>
                    </a:lnB>
                  </a:tcPr>
                </a:tc>
                <a:extLst>
                  <a:ext uri="{0D108BD9-81ED-4DB2-BD59-A6C34878D82A}">
                    <a16:rowId xmlns:a16="http://schemas.microsoft.com/office/drawing/2014/main" val="10001"/>
                  </a:ext>
                </a:extLst>
              </a:tr>
              <a:tr h="432048">
                <a:tc>
                  <a:txBody>
                    <a:bodyPr/>
                    <a:lstStyle/>
                    <a:p>
                      <a:pPr algn="l" fontAlgn="b"/>
                      <a:r>
                        <a:rPr lang="en-GB" sz="1800" b="0" i="0" u="none" strike="noStrike" baseline="0" err="1">
                          <a:solidFill>
                            <a:srgbClr val="000000"/>
                          </a:solidFill>
                          <a:latin typeface="Calibri"/>
                        </a:rPr>
                        <a:t>Yatırılan</a:t>
                      </a:r>
                      <a:r>
                        <a:rPr lang="en-GB" sz="1800" b="0" i="0" u="none" strike="noStrike" baseline="0">
                          <a:solidFill>
                            <a:srgbClr val="000000"/>
                          </a:solidFill>
                          <a:latin typeface="Calibri"/>
                        </a:rPr>
                        <a:t> </a:t>
                      </a:r>
                      <a:r>
                        <a:rPr lang="en-GB" sz="1800" b="0" i="0" u="none" strike="noStrike" baseline="0" err="1">
                          <a:solidFill>
                            <a:srgbClr val="000000"/>
                          </a:solidFill>
                          <a:latin typeface="Calibri"/>
                        </a:rPr>
                        <a:t>kaynak</a:t>
                      </a:r>
                      <a:r>
                        <a:rPr lang="en-GB" sz="1800" b="0" i="0" u="none" strike="noStrike" baseline="0">
                          <a:solidFill>
                            <a:srgbClr val="000000"/>
                          </a:solidFill>
                          <a:latin typeface="Calibri"/>
                        </a:rPr>
                        <a:t> </a:t>
                      </a:r>
                      <a:r>
                        <a:rPr lang="en-GB" sz="1800" b="0" i="0" u="none" strike="noStrike" baseline="0" err="1">
                          <a:solidFill>
                            <a:srgbClr val="000000"/>
                          </a:solidFill>
                          <a:latin typeface="Calibri"/>
                        </a:rPr>
                        <a:t>karlılığı</a:t>
                      </a:r>
                      <a:endParaRPr lang="en-GB" sz="1800" b="0" i="0" u="none" strike="noStrike" baseline="0">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11</a:t>
                      </a:r>
                      <a:r>
                        <a:rPr lang="tr-TR" sz="1800" b="0" i="0" u="none" strike="noStrike" baseline="0">
                          <a:solidFill>
                            <a:srgbClr val="000000"/>
                          </a:solidFill>
                          <a:latin typeface="Calibri"/>
                        </a:rPr>
                        <a:t>,6</a:t>
                      </a:r>
                      <a:r>
                        <a:rPr lang="en-GB" sz="1800" b="0" i="0" u="none" strike="noStrike" baseline="0">
                          <a:solidFill>
                            <a:srgbClr val="000000"/>
                          </a:solidFill>
                          <a:latin typeface="Calibri"/>
                        </a:rPr>
                        <a:t>%</a:t>
                      </a:r>
                    </a:p>
                  </a:txBody>
                  <a:tcPr marL="7620" marR="7620" marT="7620"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1</a:t>
                      </a:r>
                      <a:r>
                        <a:rPr lang="tr-TR" sz="1800" b="0" i="0" u="none" strike="noStrike" baseline="0">
                          <a:solidFill>
                            <a:srgbClr val="000000"/>
                          </a:solidFill>
                          <a:latin typeface="Calibri"/>
                        </a:rPr>
                        <a:t>5,2</a:t>
                      </a:r>
                      <a:r>
                        <a:rPr lang="en-GB" sz="1800" b="0" i="0" u="none" strike="noStrike" baseline="0">
                          <a:solidFill>
                            <a:srgbClr val="000000"/>
                          </a:solidFill>
                          <a:latin typeface="Calibri"/>
                        </a:rPr>
                        <a:t>%</a:t>
                      </a:r>
                    </a:p>
                  </a:txBody>
                  <a:tcPr marL="7620" marR="7620" marT="762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14,6%</a:t>
                      </a:r>
                    </a:p>
                  </a:txBody>
                  <a:tcPr marL="6350" marR="6350" marT="635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17,6%</a:t>
                      </a:r>
                    </a:p>
                  </a:txBody>
                  <a:tcPr marL="6350" marR="6350" marT="635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13,8%</a:t>
                      </a:r>
                    </a:p>
                  </a:txBody>
                  <a:tcPr marL="6350" marR="6350" marT="6350" marB="0" anchor="b">
                    <a:lnL>
                      <a:noFill/>
                    </a:lnL>
                    <a:lnR>
                      <a:noFill/>
                    </a:lnR>
                    <a:lnT>
                      <a:noFill/>
                    </a:lnT>
                    <a:lnB>
                      <a:noFill/>
                    </a:lnB>
                  </a:tcPr>
                </a:tc>
                <a:extLst>
                  <a:ext uri="{0D108BD9-81ED-4DB2-BD59-A6C34878D82A}">
                    <a16:rowId xmlns:a16="http://schemas.microsoft.com/office/drawing/2014/main" val="10002"/>
                  </a:ext>
                </a:extLst>
              </a:tr>
              <a:tr h="432048">
                <a:tc>
                  <a:txBody>
                    <a:bodyPr/>
                    <a:lstStyle/>
                    <a:p>
                      <a:pPr algn="l" fontAlgn="b"/>
                      <a:r>
                        <a:rPr lang="en-GB" sz="1800" b="0" i="0" u="none" strike="noStrike" baseline="0" err="1">
                          <a:solidFill>
                            <a:srgbClr val="000000"/>
                          </a:solidFill>
                          <a:latin typeface="Calibri"/>
                        </a:rPr>
                        <a:t>Finansman</a:t>
                      </a:r>
                      <a:r>
                        <a:rPr lang="en-GB" sz="1800" b="0" i="0" u="none" strike="noStrike" baseline="0">
                          <a:solidFill>
                            <a:srgbClr val="000000"/>
                          </a:solidFill>
                          <a:latin typeface="Calibri"/>
                        </a:rPr>
                        <a:t> </a:t>
                      </a:r>
                      <a:r>
                        <a:rPr lang="en-GB" sz="1800" b="0" i="0" u="none" strike="noStrike" baseline="0" err="1">
                          <a:solidFill>
                            <a:srgbClr val="000000"/>
                          </a:solidFill>
                          <a:latin typeface="Calibri"/>
                        </a:rPr>
                        <a:t>Etkisi</a:t>
                      </a:r>
                      <a:endParaRPr lang="en-GB" sz="1800" b="0" i="0" u="none" strike="noStrike" baseline="0">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1</a:t>
                      </a:r>
                      <a:r>
                        <a:rPr lang="tr-TR" sz="1800" b="0" i="0" u="none" strike="noStrike" baseline="0">
                          <a:solidFill>
                            <a:srgbClr val="000000"/>
                          </a:solidFill>
                          <a:latin typeface="Calibri"/>
                        </a:rPr>
                        <a:t>,</a:t>
                      </a:r>
                      <a:r>
                        <a:rPr lang="en-GB" sz="1800" b="0" i="0" u="none" strike="noStrike" baseline="0">
                          <a:solidFill>
                            <a:srgbClr val="000000"/>
                          </a:solidFill>
                          <a:latin typeface="Calibri"/>
                        </a:rPr>
                        <a:t>6</a:t>
                      </a:r>
                      <a:r>
                        <a:rPr lang="tr-TR" sz="1800" b="0" i="0" u="none" strike="noStrike" baseline="0">
                          <a:solidFill>
                            <a:srgbClr val="000000"/>
                          </a:solidFill>
                          <a:latin typeface="Calibri"/>
                        </a:rPr>
                        <a:t>4</a:t>
                      </a:r>
                      <a:endParaRPr lang="en-GB" sz="1800" b="0" i="0" u="none" strike="noStrike" baseline="0">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1</a:t>
                      </a:r>
                      <a:r>
                        <a:rPr lang="tr-TR" sz="1800" b="0" i="0" u="none" strike="noStrike" baseline="0">
                          <a:solidFill>
                            <a:srgbClr val="000000"/>
                          </a:solidFill>
                          <a:latin typeface="Calibri"/>
                        </a:rPr>
                        <a:t>,58</a:t>
                      </a:r>
                      <a:endParaRPr lang="en-GB" sz="1800" b="0" i="0" u="none" strike="noStrike" baseline="0">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1,86</a:t>
                      </a:r>
                    </a:p>
                  </a:txBody>
                  <a:tcPr marL="6350" marR="6350" marT="635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1,98</a:t>
                      </a:r>
                    </a:p>
                  </a:txBody>
                  <a:tcPr marL="6350" marR="6350" marT="635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2,26</a:t>
                      </a:r>
                    </a:p>
                  </a:txBody>
                  <a:tcPr marL="6350" marR="6350" marT="6350" marB="0" anchor="b">
                    <a:lnL>
                      <a:noFill/>
                    </a:lnL>
                    <a:lnR>
                      <a:noFill/>
                    </a:lnR>
                    <a:lnT>
                      <a:noFill/>
                    </a:lnT>
                    <a:lnB>
                      <a:noFill/>
                    </a:lnB>
                  </a:tcPr>
                </a:tc>
                <a:extLst>
                  <a:ext uri="{0D108BD9-81ED-4DB2-BD59-A6C34878D82A}">
                    <a16:rowId xmlns:a16="http://schemas.microsoft.com/office/drawing/2014/main" val="10003"/>
                  </a:ext>
                </a:extLst>
              </a:tr>
              <a:tr h="432048">
                <a:tc>
                  <a:txBody>
                    <a:bodyPr/>
                    <a:lstStyle/>
                    <a:p>
                      <a:pPr algn="l" fontAlgn="b"/>
                      <a:r>
                        <a:rPr lang="en-GB" sz="1800" b="0" i="0" u="none" strike="noStrike" baseline="0" err="1">
                          <a:solidFill>
                            <a:srgbClr val="000000"/>
                          </a:solidFill>
                          <a:latin typeface="Calibri"/>
                        </a:rPr>
                        <a:t>Vergi</a:t>
                      </a:r>
                      <a:r>
                        <a:rPr lang="en-GB" sz="1800" b="0" i="0" u="none" strike="noStrike" baseline="0">
                          <a:solidFill>
                            <a:srgbClr val="000000"/>
                          </a:solidFill>
                          <a:latin typeface="Calibri"/>
                        </a:rPr>
                        <a:t> </a:t>
                      </a:r>
                      <a:r>
                        <a:rPr lang="en-GB" sz="1800" b="0" i="0" u="none" strike="noStrike" baseline="0" err="1">
                          <a:solidFill>
                            <a:srgbClr val="000000"/>
                          </a:solidFill>
                          <a:latin typeface="Calibri"/>
                        </a:rPr>
                        <a:t>Etkisi</a:t>
                      </a:r>
                      <a:endParaRPr lang="en-GB" sz="1800" b="0" i="0" u="none" strike="noStrike" baseline="0">
                        <a:solidFill>
                          <a:srgbClr val="000000"/>
                        </a:solidFill>
                        <a:latin typeface="Calibri"/>
                      </a:endParaRPr>
                    </a:p>
                  </a:txBody>
                  <a:tcPr marL="7620" marR="7620" marT="7620"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0</a:t>
                      </a:r>
                      <a:r>
                        <a:rPr lang="tr-TR" sz="1800" b="0" i="0" u="none" strike="noStrike" baseline="0">
                          <a:solidFill>
                            <a:srgbClr val="000000"/>
                          </a:solidFill>
                          <a:latin typeface="Calibri"/>
                        </a:rPr>
                        <a:t>,</a:t>
                      </a:r>
                      <a:r>
                        <a:rPr lang="en-GB" sz="1800" b="0" i="0" u="none" strike="noStrike" baseline="0">
                          <a:solidFill>
                            <a:srgbClr val="000000"/>
                          </a:solidFill>
                          <a:latin typeface="Calibri"/>
                        </a:rPr>
                        <a:t>80</a:t>
                      </a:r>
                    </a:p>
                  </a:txBody>
                  <a:tcPr marL="7620" marR="7620" marT="7620"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0</a:t>
                      </a:r>
                      <a:r>
                        <a:rPr lang="tr-TR" sz="1800" b="0" i="0" u="none" strike="noStrike" baseline="0">
                          <a:solidFill>
                            <a:srgbClr val="000000"/>
                          </a:solidFill>
                          <a:latin typeface="Calibri"/>
                        </a:rPr>
                        <a:t>,</a:t>
                      </a:r>
                      <a:r>
                        <a:rPr lang="en-GB" sz="1800" b="0" i="0" u="none" strike="noStrike" baseline="0">
                          <a:solidFill>
                            <a:srgbClr val="000000"/>
                          </a:solidFill>
                          <a:latin typeface="Calibri"/>
                        </a:rPr>
                        <a:t>81</a:t>
                      </a:r>
                    </a:p>
                  </a:txBody>
                  <a:tcPr marL="7620" marR="7620" marT="762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0,94</a:t>
                      </a:r>
                    </a:p>
                  </a:txBody>
                  <a:tcPr marL="6350" marR="6350" marT="635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0,88</a:t>
                      </a:r>
                    </a:p>
                  </a:txBody>
                  <a:tcPr marL="6350" marR="6350" marT="6350" marB="0" anchor="b">
                    <a:lnL>
                      <a:noFill/>
                    </a:lnL>
                    <a:lnR>
                      <a:noFill/>
                    </a:lnR>
                    <a:lnT>
                      <a:noFill/>
                    </a:lnT>
                    <a:lnB>
                      <a:noFill/>
                    </a:lnB>
                  </a:tcPr>
                </a:tc>
                <a:tc>
                  <a:txBody>
                    <a:bodyPr/>
                    <a:lstStyle/>
                    <a:p>
                      <a:pPr algn="r" fontAlgn="b"/>
                      <a:r>
                        <a:rPr lang="tr-TR" sz="1800" b="0" i="0" u="none" strike="noStrike">
                          <a:solidFill>
                            <a:srgbClr val="000000"/>
                          </a:solidFill>
                          <a:effectLst/>
                          <a:latin typeface="Calibri" panose="020F0502020204030204" pitchFamily="34" charset="0"/>
                        </a:rPr>
                        <a:t>0,96</a:t>
                      </a:r>
                    </a:p>
                  </a:txBody>
                  <a:tcPr marL="6350" marR="6350" marT="6350" marB="0" anchor="b">
                    <a:lnL>
                      <a:noFill/>
                    </a:lnL>
                    <a:lnR>
                      <a:noFill/>
                    </a:lnR>
                    <a:lnT>
                      <a:noFill/>
                    </a:lnT>
                    <a:lnB>
                      <a:noFill/>
                    </a:lnB>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1187624" y="4077072"/>
          <a:ext cx="6423007" cy="2088230"/>
        </p:xfrm>
        <a:graphic>
          <a:graphicData uri="http://schemas.openxmlformats.org/drawingml/2006/table">
            <a:tbl>
              <a:tblPr>
                <a:tableStyleId>{5C22544A-7EE6-4342-B048-85BDC9FD1C3A}</a:tableStyleId>
              </a:tblPr>
              <a:tblGrid>
                <a:gridCol w="2366372">
                  <a:extLst>
                    <a:ext uri="{9D8B030D-6E8A-4147-A177-3AD203B41FA5}">
                      <a16:colId xmlns:a16="http://schemas.microsoft.com/office/drawing/2014/main" val="20000"/>
                    </a:ext>
                  </a:extLst>
                </a:gridCol>
                <a:gridCol w="811327">
                  <a:extLst>
                    <a:ext uri="{9D8B030D-6E8A-4147-A177-3AD203B41FA5}">
                      <a16:colId xmlns:a16="http://schemas.microsoft.com/office/drawing/2014/main" val="20001"/>
                    </a:ext>
                  </a:extLst>
                </a:gridCol>
                <a:gridCol w="811327">
                  <a:extLst>
                    <a:ext uri="{9D8B030D-6E8A-4147-A177-3AD203B41FA5}">
                      <a16:colId xmlns:a16="http://schemas.microsoft.com/office/drawing/2014/main" val="20002"/>
                    </a:ext>
                  </a:extLst>
                </a:gridCol>
                <a:gridCol w="811327">
                  <a:extLst>
                    <a:ext uri="{9D8B030D-6E8A-4147-A177-3AD203B41FA5}">
                      <a16:colId xmlns:a16="http://schemas.microsoft.com/office/drawing/2014/main" val="20003"/>
                    </a:ext>
                  </a:extLst>
                </a:gridCol>
                <a:gridCol w="811327">
                  <a:extLst>
                    <a:ext uri="{9D8B030D-6E8A-4147-A177-3AD203B41FA5}">
                      <a16:colId xmlns:a16="http://schemas.microsoft.com/office/drawing/2014/main" val="20004"/>
                    </a:ext>
                  </a:extLst>
                </a:gridCol>
                <a:gridCol w="811327">
                  <a:extLst>
                    <a:ext uri="{9D8B030D-6E8A-4147-A177-3AD203B41FA5}">
                      <a16:colId xmlns:a16="http://schemas.microsoft.com/office/drawing/2014/main" val="20005"/>
                    </a:ext>
                  </a:extLst>
                </a:gridCol>
              </a:tblGrid>
              <a:tr h="417646">
                <a:tc>
                  <a:txBody>
                    <a:bodyPr/>
                    <a:lstStyle/>
                    <a:p>
                      <a:pPr algn="l" fontAlgn="b"/>
                      <a:r>
                        <a:rPr lang="en-US" sz="1800" b="1" u="none" strike="noStrike">
                          <a:effectLst/>
                        </a:rPr>
                        <a:t>Goodyear</a:t>
                      </a:r>
                      <a:endParaRPr lang="en-US" sz="1800" b="1"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b="1" u="none" strike="noStrike">
                          <a:effectLst/>
                        </a:rPr>
                        <a:t>2011</a:t>
                      </a:r>
                      <a:endParaRPr lang="en-US" sz="1800" b="1"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b="1" u="none" strike="noStrike">
                          <a:effectLst/>
                        </a:rPr>
                        <a:t>2012</a:t>
                      </a:r>
                      <a:endParaRPr lang="en-US" sz="1800" b="1"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b="1" u="none" strike="noStrike">
                          <a:effectLst/>
                        </a:rPr>
                        <a:t>2013</a:t>
                      </a:r>
                      <a:endParaRPr lang="en-US" sz="1800" b="1"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tr-TR" sz="1800" b="1" i="0" u="none" strike="noStrike">
                          <a:solidFill>
                            <a:srgbClr val="000000"/>
                          </a:solidFill>
                          <a:effectLst/>
                          <a:latin typeface="Calibri" panose="020F0502020204030204" pitchFamily="34" charset="0"/>
                        </a:rPr>
                        <a:t>2014</a:t>
                      </a:r>
                      <a:endParaRPr lang="en-US" sz="1800" b="1"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tr-TR" sz="1800" b="1" i="0" u="none" strike="noStrike">
                          <a:solidFill>
                            <a:srgbClr val="000000"/>
                          </a:solidFill>
                          <a:effectLst/>
                          <a:latin typeface="Calibri" panose="020F0502020204030204" pitchFamily="34" charset="0"/>
                        </a:rPr>
                        <a:t>2015</a:t>
                      </a:r>
                      <a:endParaRPr lang="en-US" sz="1800" b="1" i="0" u="none" strike="noStrike">
                        <a:solidFill>
                          <a:srgbClr val="000000"/>
                        </a:solidFill>
                        <a:effectLst/>
                        <a:latin typeface="Calibri" panose="020F0502020204030204" pitchFamily="34" charset="0"/>
                      </a:endParaRPr>
                    </a:p>
                  </a:txBody>
                  <a:tcPr marL="7620" marR="7620" marT="7620" marB="0" anchor="b">
                    <a:noFill/>
                  </a:tcPr>
                </a:tc>
                <a:extLst>
                  <a:ext uri="{0D108BD9-81ED-4DB2-BD59-A6C34878D82A}">
                    <a16:rowId xmlns:a16="http://schemas.microsoft.com/office/drawing/2014/main" val="10000"/>
                  </a:ext>
                </a:extLst>
              </a:tr>
              <a:tr h="417646">
                <a:tc>
                  <a:txBody>
                    <a:bodyPr/>
                    <a:lstStyle/>
                    <a:p>
                      <a:pPr algn="l" fontAlgn="b"/>
                      <a:r>
                        <a:rPr lang="en-US" sz="1800" b="1" u="none" strike="noStrike" err="1">
                          <a:effectLst/>
                        </a:rPr>
                        <a:t>Özsermaye</a:t>
                      </a:r>
                      <a:r>
                        <a:rPr lang="en-US" sz="1800" b="1" u="none" strike="noStrike">
                          <a:effectLst/>
                        </a:rPr>
                        <a:t> </a:t>
                      </a:r>
                      <a:r>
                        <a:rPr lang="en-US" sz="1800" b="1" u="none" strike="noStrike" err="1">
                          <a:effectLst/>
                        </a:rPr>
                        <a:t>karlılığı</a:t>
                      </a:r>
                      <a:endParaRPr lang="en-US" sz="1800" b="1"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b="1" u="none" strike="noStrike">
                          <a:effectLst/>
                        </a:rPr>
                        <a:t>18,5%</a:t>
                      </a:r>
                      <a:endParaRPr lang="en-US" sz="1800" b="1"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b="1" u="none" strike="noStrike">
                          <a:effectLst/>
                        </a:rPr>
                        <a:t>14,1%</a:t>
                      </a:r>
                      <a:endParaRPr lang="en-US" sz="1800" b="1"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tr-TR" sz="1800" b="1" i="0" u="none" strike="noStrike">
                          <a:solidFill>
                            <a:srgbClr val="000000"/>
                          </a:solidFill>
                          <a:effectLst/>
                          <a:latin typeface="Calibri" panose="020F0502020204030204" pitchFamily="34" charset="0"/>
                        </a:rPr>
                        <a:t>16,0%</a:t>
                      </a:r>
                    </a:p>
                  </a:txBody>
                  <a:tcPr marL="6350" marR="6350" marT="6350" marB="0" anchor="b">
                    <a:noFill/>
                  </a:tcPr>
                </a:tc>
                <a:tc>
                  <a:txBody>
                    <a:bodyPr/>
                    <a:lstStyle/>
                    <a:p>
                      <a:pPr algn="r" fontAlgn="b"/>
                      <a:r>
                        <a:rPr lang="tr-TR" sz="1800" b="1" i="0" u="none" strike="noStrike">
                          <a:solidFill>
                            <a:srgbClr val="000000"/>
                          </a:solidFill>
                          <a:effectLst/>
                          <a:latin typeface="Calibri" panose="020F0502020204030204" pitchFamily="34" charset="0"/>
                        </a:rPr>
                        <a:t>11,5%</a:t>
                      </a:r>
                    </a:p>
                  </a:txBody>
                  <a:tcPr marL="6350" marR="6350" marT="6350" marB="0" anchor="b">
                    <a:noFill/>
                  </a:tcPr>
                </a:tc>
                <a:tc>
                  <a:txBody>
                    <a:bodyPr/>
                    <a:lstStyle/>
                    <a:p>
                      <a:pPr algn="r" fontAlgn="b"/>
                      <a:r>
                        <a:rPr lang="tr-TR" sz="1800" b="1" i="0" u="none" strike="noStrike">
                          <a:solidFill>
                            <a:srgbClr val="000000"/>
                          </a:solidFill>
                          <a:effectLst/>
                          <a:latin typeface="Calibri" panose="020F0502020204030204" pitchFamily="34" charset="0"/>
                        </a:rPr>
                        <a:t>15,2%</a:t>
                      </a:r>
                    </a:p>
                  </a:txBody>
                  <a:tcPr marL="6350" marR="6350" marT="6350" marB="0" anchor="b">
                    <a:noFill/>
                  </a:tcPr>
                </a:tc>
                <a:extLst>
                  <a:ext uri="{0D108BD9-81ED-4DB2-BD59-A6C34878D82A}">
                    <a16:rowId xmlns:a16="http://schemas.microsoft.com/office/drawing/2014/main" val="10001"/>
                  </a:ext>
                </a:extLst>
              </a:tr>
              <a:tr h="417646">
                <a:tc>
                  <a:txBody>
                    <a:bodyPr/>
                    <a:lstStyle/>
                    <a:p>
                      <a:pPr algn="l" fontAlgn="b"/>
                      <a:r>
                        <a:rPr lang="en-US" sz="1800" u="none" strike="noStrike" err="1">
                          <a:effectLst/>
                        </a:rPr>
                        <a:t>Yatırılan</a:t>
                      </a:r>
                      <a:r>
                        <a:rPr lang="en-US" sz="1800" u="none" strike="noStrike">
                          <a:effectLst/>
                        </a:rPr>
                        <a:t> </a:t>
                      </a:r>
                      <a:r>
                        <a:rPr lang="en-US" sz="1800" u="none" strike="noStrike" err="1">
                          <a:effectLst/>
                        </a:rPr>
                        <a:t>kaynak</a:t>
                      </a:r>
                      <a:r>
                        <a:rPr lang="en-US" sz="1800" u="none" strike="noStrike">
                          <a:effectLst/>
                        </a:rPr>
                        <a:t> </a:t>
                      </a:r>
                      <a:r>
                        <a:rPr lang="en-US" sz="1800" u="none" strike="noStrike" err="1">
                          <a:effectLst/>
                        </a:rPr>
                        <a:t>karlılığı</a:t>
                      </a:r>
                      <a:endParaRPr lang="en-US" sz="1800" b="0"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u="none" strike="noStrike">
                          <a:effectLst/>
                        </a:rPr>
                        <a:t>15,</a:t>
                      </a:r>
                      <a:r>
                        <a:rPr lang="tr-TR" sz="1800" u="none" strike="noStrike">
                          <a:effectLst/>
                        </a:rPr>
                        <a:t>1</a:t>
                      </a: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u="none" strike="noStrike">
                          <a:effectLst/>
                        </a:rPr>
                        <a:t>1</a:t>
                      </a:r>
                      <a:r>
                        <a:rPr lang="tr-TR" sz="1800" u="none" strike="noStrike">
                          <a:effectLst/>
                        </a:rPr>
                        <a:t>7</a:t>
                      </a:r>
                      <a:r>
                        <a:rPr lang="en-US" sz="1800" u="none" strike="noStrike">
                          <a:effectLst/>
                        </a:rPr>
                        <a:t>,5%</a:t>
                      </a:r>
                      <a:endParaRPr lang="en-US" sz="1800" b="0"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tr-TR" sz="1800" b="0" i="0" u="none" strike="noStrike">
                          <a:solidFill>
                            <a:srgbClr val="000000"/>
                          </a:solidFill>
                          <a:effectLst/>
                          <a:latin typeface="Calibri" panose="020F0502020204030204" pitchFamily="34" charset="0"/>
                        </a:rPr>
                        <a:t>14,3%</a:t>
                      </a:r>
                    </a:p>
                  </a:txBody>
                  <a:tcPr marL="6350" marR="6350" marT="6350" marB="0" anchor="b">
                    <a:noFill/>
                  </a:tcPr>
                </a:tc>
                <a:tc>
                  <a:txBody>
                    <a:bodyPr/>
                    <a:lstStyle/>
                    <a:p>
                      <a:pPr algn="r" fontAlgn="b"/>
                      <a:r>
                        <a:rPr lang="tr-TR" sz="1800" b="0" i="0" u="none" strike="noStrike">
                          <a:solidFill>
                            <a:srgbClr val="000000"/>
                          </a:solidFill>
                          <a:effectLst/>
                          <a:latin typeface="Calibri" panose="020F0502020204030204" pitchFamily="34" charset="0"/>
                        </a:rPr>
                        <a:t>12,8%</a:t>
                      </a:r>
                    </a:p>
                  </a:txBody>
                  <a:tcPr marL="6350" marR="6350" marT="6350" marB="0" anchor="b">
                    <a:noFill/>
                  </a:tcPr>
                </a:tc>
                <a:tc>
                  <a:txBody>
                    <a:bodyPr/>
                    <a:lstStyle/>
                    <a:p>
                      <a:pPr algn="r" fontAlgn="b"/>
                      <a:r>
                        <a:rPr lang="tr-TR" sz="1800" b="0" i="0" u="none" strike="noStrike">
                          <a:solidFill>
                            <a:srgbClr val="000000"/>
                          </a:solidFill>
                          <a:effectLst/>
                          <a:latin typeface="Calibri" panose="020F0502020204030204" pitchFamily="34" charset="0"/>
                        </a:rPr>
                        <a:t>10,9%</a:t>
                      </a:r>
                    </a:p>
                  </a:txBody>
                  <a:tcPr marL="6350" marR="6350" marT="6350" marB="0" anchor="b">
                    <a:noFill/>
                  </a:tcPr>
                </a:tc>
                <a:extLst>
                  <a:ext uri="{0D108BD9-81ED-4DB2-BD59-A6C34878D82A}">
                    <a16:rowId xmlns:a16="http://schemas.microsoft.com/office/drawing/2014/main" val="10002"/>
                  </a:ext>
                </a:extLst>
              </a:tr>
              <a:tr h="417646">
                <a:tc>
                  <a:txBody>
                    <a:bodyPr/>
                    <a:lstStyle/>
                    <a:p>
                      <a:pPr algn="l" fontAlgn="b"/>
                      <a:r>
                        <a:rPr lang="en-US" sz="1800" u="none" strike="noStrike">
                          <a:effectLst/>
                        </a:rPr>
                        <a:t>Finansman Etkisi</a:t>
                      </a:r>
                      <a:endParaRPr lang="en-US" sz="1800" b="0"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u="none" strike="noStrike">
                          <a:effectLst/>
                        </a:rPr>
                        <a:t>1,54</a:t>
                      </a:r>
                      <a:endParaRPr lang="en-US" sz="1800" b="0"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u="none" strike="noStrike">
                          <a:effectLst/>
                        </a:rPr>
                        <a:t>1,0</a:t>
                      </a:r>
                      <a:r>
                        <a:rPr lang="tr-TR" sz="1800" u="none" strike="noStrike">
                          <a:effectLst/>
                        </a:rPr>
                        <a:t>0</a:t>
                      </a:r>
                      <a:endParaRPr lang="en-US" sz="1800" b="0"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tr-TR" sz="1800" b="0" i="0" u="none" strike="noStrike">
                          <a:solidFill>
                            <a:srgbClr val="000000"/>
                          </a:solidFill>
                          <a:effectLst/>
                          <a:latin typeface="Calibri" panose="020F0502020204030204" pitchFamily="34" charset="0"/>
                        </a:rPr>
                        <a:t>1,43</a:t>
                      </a:r>
                    </a:p>
                  </a:txBody>
                  <a:tcPr marL="6350" marR="6350" marT="6350" marB="0" anchor="b">
                    <a:noFill/>
                  </a:tcPr>
                </a:tc>
                <a:tc>
                  <a:txBody>
                    <a:bodyPr/>
                    <a:lstStyle/>
                    <a:p>
                      <a:pPr algn="r" fontAlgn="b"/>
                      <a:r>
                        <a:rPr lang="tr-TR" sz="1800" b="0" i="0" u="none" strike="noStrike">
                          <a:solidFill>
                            <a:srgbClr val="000000"/>
                          </a:solidFill>
                          <a:effectLst/>
                          <a:latin typeface="Calibri" panose="020F0502020204030204" pitchFamily="34" charset="0"/>
                        </a:rPr>
                        <a:t>1,14</a:t>
                      </a:r>
                    </a:p>
                  </a:txBody>
                  <a:tcPr marL="6350" marR="6350" marT="6350" marB="0" anchor="b">
                    <a:noFill/>
                  </a:tcPr>
                </a:tc>
                <a:tc>
                  <a:txBody>
                    <a:bodyPr/>
                    <a:lstStyle/>
                    <a:p>
                      <a:pPr algn="r" fontAlgn="b"/>
                      <a:r>
                        <a:rPr lang="tr-TR" sz="1800" b="0" i="0" u="none" strike="noStrike">
                          <a:solidFill>
                            <a:srgbClr val="000000"/>
                          </a:solidFill>
                          <a:effectLst/>
                          <a:latin typeface="Calibri" panose="020F0502020204030204" pitchFamily="34" charset="0"/>
                        </a:rPr>
                        <a:t>1,74</a:t>
                      </a:r>
                    </a:p>
                  </a:txBody>
                  <a:tcPr marL="6350" marR="6350" marT="6350" marB="0" anchor="b">
                    <a:noFill/>
                  </a:tcPr>
                </a:tc>
                <a:extLst>
                  <a:ext uri="{0D108BD9-81ED-4DB2-BD59-A6C34878D82A}">
                    <a16:rowId xmlns:a16="http://schemas.microsoft.com/office/drawing/2014/main" val="10003"/>
                  </a:ext>
                </a:extLst>
              </a:tr>
              <a:tr h="417646">
                <a:tc>
                  <a:txBody>
                    <a:bodyPr/>
                    <a:lstStyle/>
                    <a:p>
                      <a:pPr algn="l" fontAlgn="b"/>
                      <a:r>
                        <a:rPr lang="en-US" sz="1800" u="none" strike="noStrike" err="1">
                          <a:effectLst/>
                        </a:rPr>
                        <a:t>Vergi</a:t>
                      </a:r>
                      <a:r>
                        <a:rPr lang="en-US" sz="1800" u="none" strike="noStrike">
                          <a:effectLst/>
                        </a:rPr>
                        <a:t> </a:t>
                      </a:r>
                      <a:r>
                        <a:rPr lang="en-US" sz="1800" u="none" strike="noStrike" err="1">
                          <a:effectLst/>
                        </a:rPr>
                        <a:t>Etkisi</a:t>
                      </a:r>
                      <a:endParaRPr lang="en-US" sz="1800" b="0"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u="none" strike="noStrike">
                          <a:effectLst/>
                        </a:rPr>
                        <a:t>0,80</a:t>
                      </a:r>
                      <a:endParaRPr lang="en-US" sz="1800" b="0"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US" sz="1800" u="none" strike="noStrike">
                          <a:effectLst/>
                        </a:rPr>
                        <a:t>0,80</a:t>
                      </a:r>
                      <a:endParaRPr lang="en-US" sz="1800" b="0" i="0" u="none" strike="noStrike">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tr-TR" sz="1800" b="0" i="0" u="none" strike="noStrike">
                          <a:solidFill>
                            <a:srgbClr val="000000"/>
                          </a:solidFill>
                          <a:effectLst/>
                          <a:latin typeface="Calibri" panose="020F0502020204030204" pitchFamily="34" charset="0"/>
                        </a:rPr>
                        <a:t>0,78</a:t>
                      </a:r>
                    </a:p>
                  </a:txBody>
                  <a:tcPr marL="6350" marR="6350" marT="6350" marB="0" anchor="b">
                    <a:noFill/>
                  </a:tcPr>
                </a:tc>
                <a:tc>
                  <a:txBody>
                    <a:bodyPr/>
                    <a:lstStyle/>
                    <a:p>
                      <a:pPr algn="r" fontAlgn="b"/>
                      <a:r>
                        <a:rPr lang="tr-TR" sz="1800" b="0" i="0" u="none" strike="noStrike">
                          <a:solidFill>
                            <a:srgbClr val="000000"/>
                          </a:solidFill>
                          <a:effectLst/>
                          <a:latin typeface="Calibri" panose="020F0502020204030204" pitchFamily="34" charset="0"/>
                        </a:rPr>
                        <a:t>0,79</a:t>
                      </a:r>
                    </a:p>
                  </a:txBody>
                  <a:tcPr marL="6350" marR="6350" marT="6350" marB="0" anchor="b">
                    <a:noFill/>
                  </a:tcPr>
                </a:tc>
                <a:tc>
                  <a:txBody>
                    <a:bodyPr/>
                    <a:lstStyle/>
                    <a:p>
                      <a:pPr algn="r" fontAlgn="b"/>
                      <a:r>
                        <a:rPr lang="tr-TR" sz="1800" b="0" i="0" u="none" strike="noStrike">
                          <a:solidFill>
                            <a:srgbClr val="000000"/>
                          </a:solidFill>
                          <a:effectLst/>
                          <a:latin typeface="Calibri" panose="020F0502020204030204" pitchFamily="34" charset="0"/>
                        </a:rPr>
                        <a:t>0,80</a:t>
                      </a:r>
                    </a:p>
                  </a:txBody>
                  <a:tcPr marL="6350" marR="6350" marT="6350" marB="0" anchor="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0375277"/>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457200" y="188640"/>
            <a:ext cx="8229600" cy="774700"/>
          </a:xfrm>
        </p:spPr>
        <p:txBody>
          <a:bodyPr/>
          <a:lstStyle/>
          <a:p>
            <a:r>
              <a:rPr lang="tr-TR" sz="4000"/>
              <a:t>Finansal kaldıraç ve risk</a:t>
            </a:r>
          </a:p>
        </p:txBody>
      </p:sp>
      <p:sp>
        <p:nvSpPr>
          <p:cNvPr id="66564" name="Rectangle 3"/>
          <p:cNvSpPr>
            <a:spLocks noGrp="1" noChangeArrowheads="1"/>
          </p:cNvSpPr>
          <p:nvPr>
            <p:ph idx="4294967295"/>
          </p:nvPr>
        </p:nvSpPr>
        <p:spPr>
          <a:xfrm>
            <a:off x="323528" y="1268413"/>
            <a:ext cx="8229600" cy="4862512"/>
          </a:xfrm>
          <a:prstGeom prst="rect">
            <a:avLst/>
          </a:prstGeom>
        </p:spPr>
        <p:txBody>
          <a:bodyPr/>
          <a:lstStyle/>
          <a:p>
            <a:pPr eaLnBrk="1" hangingPunct="1"/>
            <a:r>
              <a:rPr lang="tr-TR" sz="2000">
                <a:latin typeface="Verdana" pitchFamily="34" charset="0"/>
                <a:ea typeface="Verdana" pitchFamily="34" charset="0"/>
                <a:cs typeface="Verdana" pitchFamily="34" charset="0"/>
              </a:rPr>
              <a:t>Varlıkları birbirinin aynı 2 şirket olsun.</a:t>
            </a:r>
            <a:endParaRPr lang="en-US" sz="2000">
              <a:latin typeface="Verdana" pitchFamily="34" charset="0"/>
              <a:ea typeface="Verdana" pitchFamily="34" charset="0"/>
              <a:cs typeface="Verdana" pitchFamily="34" charset="0"/>
            </a:endParaRPr>
          </a:p>
          <a:p>
            <a:pPr eaLnBrk="1" hangingPunct="1"/>
            <a:r>
              <a:rPr lang="tr-TR" sz="2000">
                <a:latin typeface="Verdana" pitchFamily="34" charset="0"/>
                <a:ea typeface="Verdana" pitchFamily="34" charset="0"/>
                <a:cs typeface="Verdana" pitchFamily="34" charset="0"/>
              </a:rPr>
              <a:t>Aralarındaki tek fark finansman stratejisi olsun:</a:t>
            </a:r>
            <a:endParaRPr lang="en-US" sz="2000">
              <a:latin typeface="Verdana" pitchFamily="34" charset="0"/>
              <a:ea typeface="Verdana" pitchFamily="34" charset="0"/>
              <a:cs typeface="Verdana" pitchFamily="34" charset="0"/>
            </a:endParaRPr>
          </a:p>
          <a:p>
            <a:pPr lvl="1" eaLnBrk="1" hangingPunct="1"/>
            <a:r>
              <a:rPr lang="tr-TR" sz="2000">
                <a:latin typeface="Verdana" pitchFamily="34" charset="0"/>
                <a:ea typeface="Verdana" pitchFamily="34" charset="0"/>
                <a:cs typeface="Verdana" pitchFamily="34" charset="0"/>
              </a:rPr>
              <a:t>Bir şirket tamamen sermaye ile finanse edilsin (TL100mn)</a:t>
            </a:r>
          </a:p>
          <a:p>
            <a:pPr lvl="1" eaLnBrk="1" hangingPunct="1"/>
            <a:r>
              <a:rPr lang="tr-TR" sz="2000">
                <a:latin typeface="Verdana" pitchFamily="34" charset="0"/>
                <a:ea typeface="Verdana" pitchFamily="34" charset="0"/>
                <a:cs typeface="Verdana" pitchFamily="34" charset="0"/>
              </a:rPr>
              <a:t>Diğeri varlıklarının (TL100mn)</a:t>
            </a:r>
            <a:r>
              <a:rPr lang="en-US" sz="2000">
                <a:latin typeface="Verdana" pitchFamily="34" charset="0"/>
                <a:ea typeface="Verdana" pitchFamily="34" charset="0"/>
                <a:cs typeface="Verdana" pitchFamily="34" charset="0"/>
              </a:rPr>
              <a:t> </a:t>
            </a:r>
            <a:r>
              <a:rPr lang="tr-TR" sz="2000">
                <a:latin typeface="Verdana" pitchFamily="34" charset="0"/>
                <a:ea typeface="Verdana" pitchFamily="34" charset="0"/>
                <a:cs typeface="Verdana" pitchFamily="34" charset="0"/>
              </a:rPr>
              <a:t>yarısını borçla finanse etsin (TL50mn) (%10 faiz ödesin)</a:t>
            </a:r>
          </a:p>
          <a:p>
            <a:pPr lvl="2" eaLnBrk="1" hangingPunct="1"/>
            <a:r>
              <a:rPr lang="tr-TR" sz="2000">
                <a:latin typeface="Verdana" pitchFamily="34" charset="0"/>
                <a:ea typeface="Verdana" pitchFamily="34" charset="0"/>
                <a:cs typeface="Verdana" pitchFamily="34" charset="0"/>
              </a:rPr>
              <a:t>TL50mn * 10% = TL5mn faiz öder</a:t>
            </a:r>
            <a:endParaRPr lang="en-CA" sz="2000">
              <a:latin typeface="Verdana" pitchFamily="34" charset="0"/>
              <a:ea typeface="Verdana" pitchFamily="34" charset="0"/>
              <a:cs typeface="Verdana" pitchFamily="34" charset="0"/>
            </a:endParaRPr>
          </a:p>
          <a:p>
            <a:pPr eaLnBrk="1" hangingPunct="1"/>
            <a:r>
              <a:rPr lang="tr-TR" sz="2000">
                <a:latin typeface="Verdana" pitchFamily="34" charset="0"/>
                <a:ea typeface="Verdana" pitchFamily="34" charset="0"/>
                <a:cs typeface="Verdana" pitchFamily="34" charset="0"/>
              </a:rPr>
              <a:t>İki şirket aynı iş riskine sahipler</a:t>
            </a:r>
          </a:p>
          <a:p>
            <a:pPr lvl="1"/>
            <a:r>
              <a:rPr lang="tr-TR" sz="1800">
                <a:latin typeface="Verdana" pitchFamily="34" charset="0"/>
                <a:ea typeface="Verdana" pitchFamily="34" charset="0"/>
                <a:cs typeface="Verdana" pitchFamily="34" charset="0"/>
              </a:rPr>
              <a:t>Ekonominin durumuna göre FVÖK TL14mn, TL10mn, ya da TL8mn olacak. </a:t>
            </a:r>
          </a:p>
          <a:p>
            <a:pPr eaLnBrk="1" hangingPunct="1"/>
            <a:r>
              <a:rPr lang="tr-TR" sz="2000">
                <a:latin typeface="Verdana" pitchFamily="34" charset="0"/>
                <a:ea typeface="Verdana" pitchFamily="34" charset="0"/>
                <a:cs typeface="Verdana" pitchFamily="34" charset="0"/>
              </a:rPr>
              <a:t>Vergi olmadığını varsayalım.</a:t>
            </a:r>
          </a:p>
          <a:p>
            <a:pPr eaLnBrk="1" hangingPunct="1"/>
            <a:r>
              <a:rPr lang="tr-TR" sz="2000">
                <a:latin typeface="Verdana" pitchFamily="34" charset="0"/>
                <a:ea typeface="Verdana" pitchFamily="34" charset="0"/>
                <a:cs typeface="Verdana" pitchFamily="34" charset="0"/>
              </a:rPr>
              <a:t>Faaliyet (kullanılan kaynak) ve özsermaye karlılıkları nedir?</a:t>
            </a:r>
            <a:endParaRPr lang="en-CA" sz="2000">
              <a:latin typeface="Verdana" pitchFamily="34" charset="0"/>
              <a:ea typeface="Verdana" pitchFamily="34" charset="0"/>
              <a:cs typeface="Verdana" pitchFamily="34" charset="0"/>
            </a:endParaRPr>
          </a:p>
        </p:txBody>
      </p:sp>
      <p:sp>
        <p:nvSpPr>
          <p:cNvPr id="4"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108</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84397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5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5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65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56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656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656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656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656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build="p" bldLvl="4"/>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bwMode="auto">
          <a:xfrm>
            <a:off x="2411760" y="188640"/>
            <a:ext cx="6067400" cy="774700"/>
          </a:xfrm>
          <a:prstGeom prst="rect">
            <a:avLst/>
          </a:prstGeom>
          <a:noFill/>
          <a:ln w="9525">
            <a:noFill/>
            <a:miter lim="800000"/>
            <a:headEnd/>
            <a:tailEnd/>
          </a:ln>
        </p:spPr>
        <p:txBody>
          <a:bodyPr anchor="b"/>
          <a:lstStyle/>
          <a:p>
            <a:pPr eaLnBrk="0" hangingPunct="0">
              <a:defRPr/>
            </a:pPr>
            <a:r>
              <a:rPr lang="tr-TR" sz="4000" b="0" kern="0">
                <a:latin typeface="+mj-lt"/>
                <a:ea typeface="+mj-ea"/>
                <a:cs typeface="+mj-cs"/>
              </a:rPr>
              <a:t>Finansal kaldıraç ve risk</a:t>
            </a:r>
          </a:p>
        </p:txBody>
      </p:sp>
      <p:graphicFrame>
        <p:nvGraphicFramePr>
          <p:cNvPr id="9" name="Content Placeholder 8"/>
          <p:cNvGraphicFramePr>
            <a:graphicFrameLocks noGrp="1"/>
          </p:cNvGraphicFramePr>
          <p:nvPr>
            <p:ph idx="4294967295"/>
          </p:nvPr>
        </p:nvGraphicFramePr>
        <p:xfrm>
          <a:off x="395536" y="1268760"/>
          <a:ext cx="8496946" cy="206248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0000"/>
                    </a:ext>
                  </a:extLst>
                </a:gridCol>
                <a:gridCol w="1728192">
                  <a:extLst>
                    <a:ext uri="{9D8B030D-6E8A-4147-A177-3AD203B41FA5}">
                      <a16:colId xmlns:a16="http://schemas.microsoft.com/office/drawing/2014/main" val="20001"/>
                    </a:ext>
                  </a:extLst>
                </a:gridCol>
                <a:gridCol w="1656184">
                  <a:extLst>
                    <a:ext uri="{9D8B030D-6E8A-4147-A177-3AD203B41FA5}">
                      <a16:colId xmlns:a16="http://schemas.microsoft.com/office/drawing/2014/main" val="20002"/>
                    </a:ext>
                  </a:extLst>
                </a:gridCol>
                <a:gridCol w="2088232">
                  <a:extLst>
                    <a:ext uri="{9D8B030D-6E8A-4147-A177-3AD203B41FA5}">
                      <a16:colId xmlns:a16="http://schemas.microsoft.com/office/drawing/2014/main" val="20003"/>
                    </a:ext>
                  </a:extLst>
                </a:gridCol>
                <a:gridCol w="1944218">
                  <a:extLst>
                    <a:ext uri="{9D8B030D-6E8A-4147-A177-3AD203B41FA5}">
                      <a16:colId xmlns:a16="http://schemas.microsoft.com/office/drawing/2014/main" val="20004"/>
                    </a:ext>
                  </a:extLst>
                </a:gridCol>
              </a:tblGrid>
              <a:tr h="370840">
                <a:tc>
                  <a:txBody>
                    <a:bodyPr/>
                    <a:lstStyle/>
                    <a:p>
                      <a:endParaRPr lang="tr-TR"/>
                    </a:p>
                  </a:txBody>
                  <a:tcPr/>
                </a:tc>
                <a:tc gridSpan="2">
                  <a:txBody>
                    <a:bodyPr/>
                    <a:lstStyle/>
                    <a:p>
                      <a:pPr algn="ctr"/>
                      <a:r>
                        <a:rPr lang="tr-TR" sz="1800">
                          <a:latin typeface="Verdana" pitchFamily="34" charset="0"/>
                          <a:ea typeface="Verdana" pitchFamily="34" charset="0"/>
                          <a:cs typeface="Verdana" pitchFamily="34" charset="0"/>
                        </a:rPr>
                        <a:t>%100 Özsermaye</a:t>
                      </a:r>
                    </a:p>
                  </a:txBody>
                  <a:tcPr/>
                </a:tc>
                <a:tc hMerge="1">
                  <a:txBody>
                    <a:bodyPr/>
                    <a:lstStyle/>
                    <a:p>
                      <a:endParaRPr lang="tr-TR" sz="1600"/>
                    </a:p>
                  </a:txBody>
                  <a:tcPr/>
                </a:tc>
                <a:tc gridSpan="2">
                  <a:txBody>
                    <a:bodyPr/>
                    <a:lstStyle/>
                    <a:p>
                      <a:pPr algn="ctr"/>
                      <a:r>
                        <a:rPr lang="tr-TR" sz="1800">
                          <a:latin typeface="Verdana" pitchFamily="34" charset="0"/>
                          <a:ea typeface="Verdana" pitchFamily="34" charset="0"/>
                          <a:cs typeface="Verdana" pitchFamily="34" charset="0"/>
                        </a:rPr>
                        <a:t>%50 Özsermaye &amp; %50 Borç</a:t>
                      </a:r>
                    </a:p>
                  </a:txBody>
                  <a:tcPr/>
                </a:tc>
                <a:tc hMerge="1">
                  <a:txBody>
                    <a:bodyPr/>
                    <a:lstStyle/>
                    <a:p>
                      <a:endParaRPr lang="tr-TR" sz="1600"/>
                    </a:p>
                  </a:txBody>
                  <a:tcPr/>
                </a:tc>
                <a:extLst>
                  <a:ext uri="{0D108BD9-81ED-4DB2-BD59-A6C34878D82A}">
                    <a16:rowId xmlns:a16="http://schemas.microsoft.com/office/drawing/2014/main" val="10000"/>
                  </a:ext>
                </a:extLst>
              </a:tr>
              <a:tr h="370840">
                <a:tc>
                  <a:txBody>
                    <a:bodyPr/>
                    <a:lstStyle/>
                    <a:p>
                      <a:r>
                        <a:rPr lang="tr-TR"/>
                        <a:t>FVÖK</a:t>
                      </a:r>
                    </a:p>
                  </a:txBody>
                  <a:tcPr/>
                </a:tc>
                <a:tc>
                  <a:txBody>
                    <a:bodyPr/>
                    <a:lstStyle/>
                    <a:p>
                      <a:r>
                        <a:rPr lang="tr-TR" sz="1600">
                          <a:latin typeface="Verdana" pitchFamily="34" charset="0"/>
                          <a:ea typeface="Verdana" pitchFamily="34" charset="0"/>
                          <a:cs typeface="Verdana" pitchFamily="34" charset="0"/>
                        </a:rPr>
                        <a:t>Faaliyet</a:t>
                      </a:r>
                      <a:r>
                        <a:rPr lang="tr-TR" sz="1600" baseline="0">
                          <a:latin typeface="Verdana" pitchFamily="34" charset="0"/>
                          <a:ea typeface="Verdana" pitchFamily="34" charset="0"/>
                          <a:cs typeface="Verdana" pitchFamily="34" charset="0"/>
                        </a:rPr>
                        <a:t> </a:t>
                      </a:r>
                      <a:r>
                        <a:rPr lang="tr-TR" sz="1600">
                          <a:latin typeface="Verdana" pitchFamily="34" charset="0"/>
                          <a:ea typeface="Verdana" pitchFamily="34" charset="0"/>
                          <a:cs typeface="Verdana" pitchFamily="34" charset="0"/>
                        </a:rPr>
                        <a:t>Karlılığı</a:t>
                      </a:r>
                    </a:p>
                  </a:txBody>
                  <a:tcPr/>
                </a:tc>
                <a:tc>
                  <a:txBody>
                    <a:bodyPr/>
                    <a:lstStyle/>
                    <a:p>
                      <a:r>
                        <a:rPr lang="tr-TR" sz="1600">
                          <a:latin typeface="Verdana" pitchFamily="34" charset="0"/>
                          <a:ea typeface="Verdana" pitchFamily="34" charset="0"/>
                          <a:cs typeface="Verdana" pitchFamily="34" charset="0"/>
                        </a:rPr>
                        <a:t>Özsermaye</a:t>
                      </a:r>
                    </a:p>
                    <a:p>
                      <a:r>
                        <a:rPr lang="tr-TR" sz="1600">
                          <a:latin typeface="Verdana" pitchFamily="34" charset="0"/>
                          <a:ea typeface="Verdana" pitchFamily="34" charset="0"/>
                          <a:cs typeface="Verdana" pitchFamily="34" charset="0"/>
                        </a:rPr>
                        <a:t>Karlılığı</a:t>
                      </a:r>
                    </a:p>
                  </a:txBody>
                  <a:tcPr/>
                </a:tc>
                <a:tc>
                  <a:txBody>
                    <a:bodyPr/>
                    <a:lstStyle/>
                    <a:p>
                      <a:r>
                        <a:rPr lang="tr-TR" sz="1600">
                          <a:latin typeface="Verdana" pitchFamily="34" charset="0"/>
                          <a:ea typeface="Verdana" pitchFamily="34" charset="0"/>
                          <a:cs typeface="Verdana" pitchFamily="34" charset="0"/>
                        </a:rPr>
                        <a:t>Faaliyet</a:t>
                      </a:r>
                    </a:p>
                    <a:p>
                      <a:r>
                        <a:rPr lang="tr-TR" sz="1600">
                          <a:latin typeface="Verdana" pitchFamily="34" charset="0"/>
                          <a:ea typeface="Verdana" pitchFamily="34" charset="0"/>
                          <a:cs typeface="Verdana" pitchFamily="34" charset="0"/>
                        </a:rPr>
                        <a:t>Karlılığı</a:t>
                      </a:r>
                    </a:p>
                  </a:txBody>
                  <a:tcPr/>
                </a:tc>
                <a:tc>
                  <a:txBody>
                    <a:bodyPr/>
                    <a:lstStyle/>
                    <a:p>
                      <a:r>
                        <a:rPr lang="tr-TR" sz="1600">
                          <a:latin typeface="Verdana" pitchFamily="34" charset="0"/>
                          <a:ea typeface="Verdana" pitchFamily="34" charset="0"/>
                          <a:cs typeface="Verdana" pitchFamily="34" charset="0"/>
                        </a:rPr>
                        <a:t>Özsermaye</a:t>
                      </a:r>
                    </a:p>
                    <a:p>
                      <a:r>
                        <a:rPr lang="tr-TR" sz="1600">
                          <a:latin typeface="Verdana" pitchFamily="34" charset="0"/>
                          <a:ea typeface="Verdana" pitchFamily="34" charset="0"/>
                          <a:cs typeface="Verdana" pitchFamily="34" charset="0"/>
                        </a:rPr>
                        <a:t>Karlılığı</a:t>
                      </a:r>
                    </a:p>
                  </a:txBody>
                  <a:tcPr/>
                </a:tc>
                <a:extLst>
                  <a:ext uri="{0D108BD9-81ED-4DB2-BD59-A6C34878D82A}">
                    <a16:rowId xmlns:a16="http://schemas.microsoft.com/office/drawing/2014/main" val="10001"/>
                  </a:ext>
                </a:extLst>
              </a:tr>
              <a:tr h="370840">
                <a:tc>
                  <a:txBody>
                    <a:bodyPr/>
                    <a:lstStyle/>
                    <a:p>
                      <a:r>
                        <a:rPr lang="tr-TR"/>
                        <a:t>TL14mn</a:t>
                      </a:r>
                    </a:p>
                  </a:txBody>
                  <a:tcPr/>
                </a:tc>
                <a:tc>
                  <a:txBody>
                    <a:bodyPr/>
                    <a:lstStyle/>
                    <a:p>
                      <a:endParaRPr lang="tr-TR"/>
                    </a:p>
                  </a:txBody>
                  <a:tcPr/>
                </a:tc>
                <a:tc>
                  <a:txBody>
                    <a:bodyPr/>
                    <a:lstStyle/>
                    <a:p>
                      <a:endParaRPr lang="tr-TR"/>
                    </a:p>
                  </a:txBody>
                  <a:tcPr/>
                </a:tc>
                <a:tc>
                  <a:txBody>
                    <a:bodyPr/>
                    <a:lstStyle/>
                    <a:p>
                      <a:endParaRPr lang="tr-TR"/>
                    </a:p>
                  </a:txBody>
                  <a:tcPr/>
                </a:tc>
                <a:tc>
                  <a:txBody>
                    <a:bodyPr/>
                    <a:lstStyle/>
                    <a:p>
                      <a:endParaRPr lang="tr-TR"/>
                    </a:p>
                  </a:txBody>
                  <a:tcPr/>
                </a:tc>
                <a:extLst>
                  <a:ext uri="{0D108BD9-81ED-4DB2-BD59-A6C34878D82A}">
                    <a16:rowId xmlns:a16="http://schemas.microsoft.com/office/drawing/2014/main" val="10002"/>
                  </a:ext>
                </a:extLst>
              </a:tr>
              <a:tr h="370840">
                <a:tc>
                  <a:txBody>
                    <a:bodyPr/>
                    <a:lstStyle/>
                    <a:p>
                      <a:r>
                        <a:rPr lang="tr-TR"/>
                        <a:t>TL10mn</a:t>
                      </a:r>
                    </a:p>
                  </a:txBody>
                  <a:tcPr/>
                </a:tc>
                <a:tc>
                  <a:txBody>
                    <a:bodyPr/>
                    <a:lstStyle/>
                    <a:p>
                      <a:endParaRPr lang="tr-TR"/>
                    </a:p>
                  </a:txBody>
                  <a:tcPr/>
                </a:tc>
                <a:tc>
                  <a:txBody>
                    <a:bodyPr/>
                    <a:lstStyle/>
                    <a:p>
                      <a:endParaRPr lang="tr-TR"/>
                    </a:p>
                  </a:txBody>
                  <a:tcPr/>
                </a:tc>
                <a:tc>
                  <a:txBody>
                    <a:bodyPr/>
                    <a:lstStyle/>
                    <a:p>
                      <a:endParaRPr lang="tr-TR"/>
                    </a:p>
                  </a:txBody>
                  <a:tcPr/>
                </a:tc>
                <a:tc>
                  <a:txBody>
                    <a:bodyPr/>
                    <a:lstStyle/>
                    <a:p>
                      <a:endParaRPr lang="tr-TR"/>
                    </a:p>
                  </a:txBody>
                  <a:tcPr/>
                </a:tc>
                <a:extLst>
                  <a:ext uri="{0D108BD9-81ED-4DB2-BD59-A6C34878D82A}">
                    <a16:rowId xmlns:a16="http://schemas.microsoft.com/office/drawing/2014/main" val="10003"/>
                  </a:ext>
                </a:extLst>
              </a:tr>
              <a:tr h="370840">
                <a:tc>
                  <a:txBody>
                    <a:bodyPr/>
                    <a:lstStyle/>
                    <a:p>
                      <a:r>
                        <a:rPr lang="tr-TR"/>
                        <a:t>TL8mn</a:t>
                      </a:r>
                    </a:p>
                  </a:txBody>
                  <a:tcPr/>
                </a:tc>
                <a:tc>
                  <a:txBody>
                    <a:bodyPr/>
                    <a:lstStyle/>
                    <a:p>
                      <a:endParaRPr lang="tr-TR"/>
                    </a:p>
                  </a:txBody>
                  <a:tcPr/>
                </a:tc>
                <a:tc>
                  <a:txBody>
                    <a:bodyPr/>
                    <a:lstStyle/>
                    <a:p>
                      <a:endParaRPr lang="tr-TR"/>
                    </a:p>
                  </a:txBody>
                  <a:tcPr/>
                </a:tc>
                <a:tc>
                  <a:txBody>
                    <a:bodyPr/>
                    <a:lstStyle/>
                    <a:p>
                      <a:endParaRPr lang="tr-TR"/>
                    </a:p>
                  </a:txBody>
                  <a:tcPr/>
                </a:tc>
                <a:tc>
                  <a:txBody>
                    <a:bodyPr/>
                    <a:lstStyle/>
                    <a:p>
                      <a:endParaRPr lang="tr-TR"/>
                    </a:p>
                  </a:txBody>
                  <a:tcPr/>
                </a:tc>
                <a:extLst>
                  <a:ext uri="{0D108BD9-81ED-4DB2-BD59-A6C34878D82A}">
                    <a16:rowId xmlns:a16="http://schemas.microsoft.com/office/drawing/2014/main" val="10004"/>
                  </a:ext>
                </a:extLst>
              </a:tr>
            </a:tbl>
          </a:graphicData>
        </a:graphic>
      </p:graphicFrame>
      <p:sp>
        <p:nvSpPr>
          <p:cNvPr id="10" name="Rectangle 3"/>
          <p:cNvSpPr>
            <a:spLocks noChangeArrowheads="1"/>
          </p:cNvSpPr>
          <p:nvPr/>
        </p:nvSpPr>
        <p:spPr bwMode="auto">
          <a:xfrm>
            <a:off x="395536" y="3501008"/>
            <a:ext cx="8496944" cy="2646878"/>
          </a:xfrm>
          <a:prstGeom prst="rect">
            <a:avLst/>
          </a:prstGeom>
          <a:solidFill>
            <a:schemeClr val="tx2"/>
          </a:solidFill>
          <a:ln w="9525">
            <a:noFill/>
            <a:miter lim="800000"/>
            <a:headEnd/>
            <a:tailEnd/>
          </a:ln>
        </p:spPr>
        <p:txBody>
          <a:bodyPr wrap="square">
            <a:spAutoFit/>
          </a:bodyPr>
          <a:lstStyle/>
          <a:p>
            <a:pPr marL="285750" indent="-285750">
              <a:lnSpc>
                <a:spcPct val="150000"/>
              </a:lnSpc>
              <a:spcBef>
                <a:spcPct val="20000"/>
              </a:spcBef>
              <a:buClr>
                <a:schemeClr val="accent2"/>
              </a:buClr>
              <a:buSzPct val="75000"/>
              <a:buFont typeface="Wingdings" pitchFamily="2" charset="2"/>
              <a:buChar char="n"/>
            </a:pPr>
            <a:r>
              <a:rPr lang="tr-TR" sz="2000">
                <a:solidFill>
                  <a:schemeClr val="bg1"/>
                </a:solidFill>
                <a:latin typeface="Arial" charset="0"/>
                <a:cs typeface="Arial" charset="0"/>
              </a:rPr>
              <a:t>Borçlu şirketin özsermaye karlılık değişkenliği daha yüksek</a:t>
            </a:r>
            <a:endParaRPr lang="tr-TR" sz="2000">
              <a:solidFill>
                <a:schemeClr val="bg1"/>
              </a:solidFill>
              <a:cs typeface="Arial" charset="0"/>
            </a:endParaRPr>
          </a:p>
          <a:p>
            <a:pPr marL="285750" indent="-285750">
              <a:lnSpc>
                <a:spcPct val="150000"/>
              </a:lnSpc>
              <a:spcBef>
                <a:spcPct val="20000"/>
              </a:spcBef>
              <a:buClr>
                <a:schemeClr val="accent2"/>
              </a:buClr>
              <a:buSzPct val="75000"/>
              <a:buFont typeface="Wingdings" pitchFamily="2" charset="2"/>
              <a:buChar char="n"/>
            </a:pPr>
            <a:r>
              <a:rPr lang="tr-TR" sz="2000">
                <a:solidFill>
                  <a:schemeClr val="bg1"/>
                </a:solidFill>
                <a:latin typeface="Arial" charset="0"/>
                <a:cs typeface="Arial" charset="0"/>
              </a:rPr>
              <a:t>Finansal kaldıraç şirketin riskini artırıyor</a:t>
            </a:r>
            <a:endParaRPr lang="en-US" sz="2000">
              <a:solidFill>
                <a:schemeClr val="bg1"/>
              </a:solidFill>
              <a:latin typeface="Arial" charset="0"/>
              <a:cs typeface="Arial" charset="0"/>
            </a:endParaRPr>
          </a:p>
          <a:p>
            <a:pPr marL="285750" indent="-285750">
              <a:lnSpc>
                <a:spcPct val="150000"/>
              </a:lnSpc>
              <a:spcBef>
                <a:spcPct val="20000"/>
              </a:spcBef>
              <a:buClr>
                <a:schemeClr val="accent2"/>
              </a:buClr>
              <a:buSzPct val="75000"/>
              <a:buFont typeface="Wingdings" pitchFamily="2" charset="2"/>
              <a:buChar char="n"/>
            </a:pPr>
            <a:r>
              <a:rPr lang="tr-TR" sz="2000">
                <a:solidFill>
                  <a:schemeClr val="bg1"/>
                </a:solidFill>
                <a:latin typeface="Arial" charset="0"/>
                <a:cs typeface="Times New Roman" pitchFamily="18" charset="0"/>
              </a:rPr>
              <a:t>Ve bu değişkenlik, yani risk, borçlanma oranı ile doğru orantılı</a:t>
            </a:r>
          </a:p>
          <a:p>
            <a:pPr marL="285750" indent="-285750">
              <a:lnSpc>
                <a:spcPct val="150000"/>
              </a:lnSpc>
              <a:spcBef>
                <a:spcPct val="20000"/>
              </a:spcBef>
              <a:buClr>
                <a:schemeClr val="accent2"/>
              </a:buClr>
              <a:buSzPct val="75000"/>
              <a:buFont typeface="Wingdings" pitchFamily="2" charset="2"/>
              <a:buChar char="n"/>
            </a:pPr>
            <a:r>
              <a:rPr lang="tr-TR" sz="2000">
                <a:solidFill>
                  <a:schemeClr val="bg1"/>
                </a:solidFill>
                <a:cs typeface="Times New Roman" pitchFamily="18" charset="0"/>
              </a:rPr>
              <a:t>Faaliyet karlılığı faiz giderinden yüksekse, özsermaye karlılığı artıyor.</a:t>
            </a:r>
            <a:endParaRPr lang="tr-TR" sz="2000">
              <a:solidFill>
                <a:schemeClr val="bg1"/>
              </a:solidFill>
              <a:latin typeface="Arial" charset="0"/>
              <a:cs typeface="Times New Roman" pitchFamily="18" charset="0"/>
            </a:endParaRPr>
          </a:p>
          <a:p>
            <a:pPr marL="285750" indent="-285750">
              <a:lnSpc>
                <a:spcPct val="150000"/>
              </a:lnSpc>
              <a:spcBef>
                <a:spcPct val="20000"/>
              </a:spcBef>
              <a:buClr>
                <a:schemeClr val="accent2"/>
              </a:buClr>
              <a:buSzPct val="75000"/>
              <a:buFont typeface="Wingdings" pitchFamily="2" charset="2"/>
              <a:buChar char="n"/>
            </a:pPr>
            <a:r>
              <a:rPr lang="tr-TR" sz="2000">
                <a:solidFill>
                  <a:schemeClr val="bg1"/>
                </a:solidFill>
                <a:latin typeface="Arial" charset="0"/>
                <a:cs typeface="Times New Roman" pitchFamily="18" charset="0"/>
              </a:rPr>
              <a:t>Yüksek karlılık yaratıyor olabilirsiniz, ama risk?</a:t>
            </a:r>
            <a:endParaRPr lang="en-US" sz="2000">
              <a:solidFill>
                <a:schemeClr val="bg1"/>
              </a:solidFill>
              <a:latin typeface="Arial" charset="0"/>
              <a:cs typeface="Times New Roman" pitchFamily="18" charset="0"/>
            </a:endParaRPr>
          </a:p>
        </p:txBody>
      </p:sp>
      <p:sp>
        <p:nvSpPr>
          <p:cNvPr id="5"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109</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703137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checkerboard(across)">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checkerboard(across)">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checkerboard(across)">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checkerboard(across)">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checkerboard(across)">
                                      <p:cBhvr>
                                        <p:cTn id="2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bldLvl="4"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684213" y="260648"/>
            <a:ext cx="8162925" cy="504825"/>
          </a:xfrm>
        </p:spPr>
        <p:txBody>
          <a:bodyPr/>
          <a:lstStyle/>
          <a:p>
            <a:pPr eaLnBrk="1" hangingPunct="1"/>
            <a:r>
              <a:rPr lang="tr-TR" sz="4000"/>
              <a:t>Karlılık Analizi</a:t>
            </a:r>
            <a:endParaRPr lang="en-US" sz="4000"/>
          </a:p>
        </p:txBody>
      </p:sp>
      <p:pic>
        <p:nvPicPr>
          <p:cNvPr id="3" name="Picture 2"/>
          <p:cNvPicPr>
            <a:picLocks noChangeAspect="1"/>
          </p:cNvPicPr>
          <p:nvPr/>
        </p:nvPicPr>
        <p:blipFill>
          <a:blip r:embed="rId2"/>
          <a:stretch>
            <a:fillRect/>
          </a:stretch>
        </p:blipFill>
        <p:spPr>
          <a:xfrm>
            <a:off x="782802" y="1484784"/>
            <a:ext cx="7533613" cy="2016224"/>
          </a:xfrm>
          <a:prstGeom prst="rect">
            <a:avLst/>
          </a:prstGeom>
        </p:spPr>
      </p:pic>
      <p:pic>
        <p:nvPicPr>
          <p:cNvPr id="7" name="Picture 6"/>
          <p:cNvPicPr>
            <a:picLocks noChangeAspect="1"/>
          </p:cNvPicPr>
          <p:nvPr/>
        </p:nvPicPr>
        <p:blipFill>
          <a:blip r:embed="rId3"/>
          <a:stretch>
            <a:fillRect/>
          </a:stretch>
        </p:blipFill>
        <p:spPr>
          <a:xfrm>
            <a:off x="805538" y="3723117"/>
            <a:ext cx="7510878" cy="2010139"/>
          </a:xfrm>
          <a:prstGeom prst="rect">
            <a:avLst/>
          </a:prstGeom>
        </p:spPr>
      </p:pic>
      <p:sp>
        <p:nvSpPr>
          <p:cNvPr id="5" name="Slide Number Placeholder 4">
            <a:extLst>
              <a:ext uri="{FF2B5EF4-FFF2-40B4-BE49-F238E27FC236}">
                <a16:creationId xmlns:a16="http://schemas.microsoft.com/office/drawing/2014/main" id="{66207F7F-A717-472B-AD1B-7CB3182C4A8E}"/>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110</a:t>
            </a:fld>
            <a:endParaRPr lang="tr-TR" sz="1200">
              <a:solidFill>
                <a:schemeClr val="tx2"/>
              </a:solidFill>
              <a:latin typeface="Verdana" pitchFamily="34" charset="0"/>
            </a:endParaRPr>
          </a:p>
        </p:txBody>
      </p:sp>
    </p:spTree>
    <p:extLst>
      <p:ext uri="{BB962C8B-B14F-4D97-AF65-F5344CB8AC3E}">
        <p14:creationId xmlns:p14="http://schemas.microsoft.com/office/powerpoint/2010/main" val="203591885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0"/>
          </p:nvPr>
        </p:nvSpPr>
        <p:spPr>
          <a:xfrm>
            <a:off x="8604448" y="6469287"/>
            <a:ext cx="539552" cy="370588"/>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B5DCC0D5-E676-4C58-9BD2-55F6800298B1}" type="slidenum">
              <a:rPr lang="tr-TR" sz="1200">
                <a:solidFill>
                  <a:schemeClr val="tx2"/>
                </a:solidFill>
                <a:latin typeface="Verdana" pitchFamily="34" charset="0"/>
              </a:rPr>
              <a:pPr marL="0" indent="0" eaLnBrk="1" hangingPunct="1">
                <a:buNone/>
              </a:pPr>
              <a:t>111</a:t>
            </a:fld>
            <a:endParaRPr lang="tr-TR" sz="1200">
              <a:solidFill>
                <a:schemeClr val="tx2"/>
              </a:solidFill>
              <a:latin typeface="Verdana" pitchFamily="34" charset="0"/>
            </a:endParaRPr>
          </a:p>
        </p:txBody>
      </p:sp>
      <p:sp>
        <p:nvSpPr>
          <p:cNvPr id="89091" name="Rectangle 2"/>
          <p:cNvSpPr>
            <a:spLocks noGrp="1" noChangeArrowheads="1"/>
          </p:cNvSpPr>
          <p:nvPr>
            <p:ph type="title"/>
          </p:nvPr>
        </p:nvSpPr>
        <p:spPr>
          <a:xfrm>
            <a:off x="684213" y="260648"/>
            <a:ext cx="8162925" cy="504825"/>
          </a:xfrm>
        </p:spPr>
        <p:txBody>
          <a:bodyPr/>
          <a:lstStyle/>
          <a:p>
            <a:pPr eaLnBrk="1" hangingPunct="1"/>
            <a:r>
              <a:rPr lang="tr-TR" sz="3600"/>
              <a:t>Karlılık Analizi</a:t>
            </a:r>
            <a:endParaRPr lang="en-US" sz="3600"/>
          </a:p>
        </p:txBody>
      </p:sp>
      <p:sp>
        <p:nvSpPr>
          <p:cNvPr id="89095" name="Rectangle 7"/>
          <p:cNvSpPr>
            <a:spLocks noChangeArrowheads="1"/>
          </p:cNvSpPr>
          <p:nvPr/>
        </p:nvSpPr>
        <p:spPr bwMode="auto">
          <a:xfrm>
            <a:off x="611560" y="1250950"/>
            <a:ext cx="856895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tr-TR">
                <a:cs typeface="Arial" charset="0"/>
              </a:rPr>
              <a:t>Özsermaye Karlılığı =  Faaliyet karlılığı   x      Finansman Etkisi    x   Vergi etkisi </a:t>
            </a:r>
            <a:endParaRPr lang="tr-TR"/>
          </a:p>
        </p:txBody>
      </p:sp>
      <p:pic>
        <p:nvPicPr>
          <p:cNvPr id="3" name="Picture 2"/>
          <p:cNvPicPr>
            <a:picLocks noChangeAspect="1"/>
          </p:cNvPicPr>
          <p:nvPr/>
        </p:nvPicPr>
        <p:blipFill>
          <a:blip r:embed="rId2"/>
          <a:stretch>
            <a:fillRect/>
          </a:stretch>
        </p:blipFill>
        <p:spPr>
          <a:xfrm>
            <a:off x="638835" y="4258669"/>
            <a:ext cx="7677581" cy="1474587"/>
          </a:xfrm>
          <a:prstGeom prst="rect">
            <a:avLst/>
          </a:prstGeom>
        </p:spPr>
      </p:pic>
      <p:pic>
        <p:nvPicPr>
          <p:cNvPr id="4" name="Picture 3"/>
          <p:cNvPicPr>
            <a:picLocks noChangeAspect="1"/>
          </p:cNvPicPr>
          <p:nvPr/>
        </p:nvPicPr>
        <p:blipFill>
          <a:blip r:embed="rId3"/>
          <a:stretch>
            <a:fillRect/>
          </a:stretch>
        </p:blipFill>
        <p:spPr>
          <a:xfrm>
            <a:off x="611560" y="2204865"/>
            <a:ext cx="7704856" cy="1479826"/>
          </a:xfrm>
          <a:prstGeom prst="rect">
            <a:avLst/>
          </a:prstGeom>
        </p:spPr>
      </p:pic>
    </p:spTree>
    <p:extLst>
      <p:ext uri="{BB962C8B-B14F-4D97-AF65-F5344CB8AC3E}">
        <p14:creationId xmlns:p14="http://schemas.microsoft.com/office/powerpoint/2010/main" val="1930755811"/>
      </p:ext>
    </p:extLst>
  </p:cSld>
  <p:clrMapOvr>
    <a:masterClrMapping/>
  </p:clrMapOvr>
  <p:transition advClick="0"/>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0"/>
          </p:nvPr>
        </p:nvSpPr>
        <p:spPr>
          <a:xfrm>
            <a:off x="8604448" y="6469287"/>
            <a:ext cx="539552" cy="370588"/>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B5DCC0D5-E676-4C58-9BD2-55F6800298B1}" type="slidenum">
              <a:rPr lang="tr-TR" sz="1200">
                <a:solidFill>
                  <a:schemeClr val="tx2"/>
                </a:solidFill>
                <a:latin typeface="Verdana" pitchFamily="34" charset="0"/>
              </a:rPr>
              <a:pPr marL="0" indent="0" eaLnBrk="1" hangingPunct="1">
                <a:buNone/>
              </a:pPr>
              <a:t>112</a:t>
            </a:fld>
            <a:endParaRPr lang="tr-TR" sz="1200">
              <a:solidFill>
                <a:schemeClr val="tx2"/>
              </a:solidFill>
              <a:latin typeface="Verdana" pitchFamily="34" charset="0"/>
            </a:endParaRPr>
          </a:p>
        </p:txBody>
      </p:sp>
      <p:sp>
        <p:nvSpPr>
          <p:cNvPr id="89091" name="Rectangle 2"/>
          <p:cNvSpPr>
            <a:spLocks noGrp="1" noChangeArrowheads="1"/>
          </p:cNvSpPr>
          <p:nvPr>
            <p:ph type="title"/>
          </p:nvPr>
        </p:nvSpPr>
        <p:spPr>
          <a:xfrm>
            <a:off x="684213" y="260648"/>
            <a:ext cx="8162925" cy="504825"/>
          </a:xfrm>
        </p:spPr>
        <p:txBody>
          <a:bodyPr/>
          <a:lstStyle/>
          <a:p>
            <a:r>
              <a:rPr lang="en-US" sz="3600" err="1"/>
              <a:t>Konsept</a:t>
            </a:r>
            <a:r>
              <a:rPr lang="en-US" sz="3600"/>
              <a:t> </a:t>
            </a:r>
            <a:r>
              <a:rPr lang="en-US" sz="3600" err="1"/>
              <a:t>Çalışması</a:t>
            </a:r>
            <a:endParaRPr lang="en-US" sz="3600"/>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pic>
        <p:nvPicPr>
          <p:cNvPr id="3" name="Picture 2">
            <a:extLst>
              <a:ext uri="{FF2B5EF4-FFF2-40B4-BE49-F238E27FC236}">
                <a16:creationId xmlns:a16="http://schemas.microsoft.com/office/drawing/2014/main" id="{90B34EAB-AF46-5F72-8A71-599E119C8EC7}"/>
              </a:ext>
            </a:extLst>
          </p:cNvPr>
          <p:cNvPicPr>
            <a:picLocks noChangeAspect="1"/>
          </p:cNvPicPr>
          <p:nvPr/>
        </p:nvPicPr>
        <p:blipFill>
          <a:blip r:embed="rId3"/>
          <a:stretch>
            <a:fillRect/>
          </a:stretch>
        </p:blipFill>
        <p:spPr>
          <a:xfrm>
            <a:off x="219993" y="2385377"/>
            <a:ext cx="4352007" cy="2613006"/>
          </a:xfrm>
          <a:prstGeom prst="rect">
            <a:avLst/>
          </a:prstGeom>
        </p:spPr>
      </p:pic>
      <p:pic>
        <p:nvPicPr>
          <p:cNvPr id="5" name="Picture 4">
            <a:extLst>
              <a:ext uri="{FF2B5EF4-FFF2-40B4-BE49-F238E27FC236}">
                <a16:creationId xmlns:a16="http://schemas.microsoft.com/office/drawing/2014/main" id="{4219A694-2772-1966-F209-221308A6A164}"/>
              </a:ext>
            </a:extLst>
          </p:cNvPr>
          <p:cNvPicPr>
            <a:picLocks noChangeAspect="1"/>
          </p:cNvPicPr>
          <p:nvPr/>
        </p:nvPicPr>
        <p:blipFill>
          <a:blip r:embed="rId4"/>
          <a:stretch>
            <a:fillRect/>
          </a:stretch>
        </p:blipFill>
        <p:spPr>
          <a:xfrm>
            <a:off x="4687872" y="2385377"/>
            <a:ext cx="4352006" cy="2613006"/>
          </a:xfrm>
          <a:prstGeom prst="rect">
            <a:avLst/>
          </a:prstGeom>
        </p:spPr>
      </p:pic>
      <p:sp>
        <p:nvSpPr>
          <p:cNvPr id="2" name="TextBox 1">
            <a:extLst>
              <a:ext uri="{FF2B5EF4-FFF2-40B4-BE49-F238E27FC236}">
                <a16:creationId xmlns:a16="http://schemas.microsoft.com/office/drawing/2014/main" id="{CC172CDF-472C-9F30-46BF-202097B2E972}"/>
              </a:ext>
            </a:extLst>
          </p:cNvPr>
          <p:cNvSpPr txBox="1"/>
          <p:nvPr/>
        </p:nvSpPr>
        <p:spPr>
          <a:xfrm>
            <a:off x="2128058" y="1978431"/>
            <a:ext cx="1005840" cy="369332"/>
          </a:xfrm>
          <a:prstGeom prst="rect">
            <a:avLst/>
          </a:prstGeom>
          <a:noFill/>
        </p:spPr>
        <p:txBody>
          <a:bodyPr wrap="square" rtlCol="0">
            <a:spAutoFit/>
          </a:bodyPr>
          <a:lstStyle/>
          <a:p>
            <a:r>
              <a:rPr lang="tr-TR" b="1" dirty="0"/>
              <a:t>Brisa</a:t>
            </a:r>
          </a:p>
        </p:txBody>
      </p:sp>
      <p:sp>
        <p:nvSpPr>
          <p:cNvPr id="4" name="TextBox 3">
            <a:extLst>
              <a:ext uri="{FF2B5EF4-FFF2-40B4-BE49-F238E27FC236}">
                <a16:creationId xmlns:a16="http://schemas.microsoft.com/office/drawing/2014/main" id="{D8DAFEAD-8CF3-F68A-D023-6CBBC37A7064}"/>
              </a:ext>
            </a:extLst>
          </p:cNvPr>
          <p:cNvSpPr txBox="1"/>
          <p:nvPr/>
        </p:nvSpPr>
        <p:spPr>
          <a:xfrm>
            <a:off x="6517178" y="1981197"/>
            <a:ext cx="1390986" cy="369332"/>
          </a:xfrm>
          <a:prstGeom prst="rect">
            <a:avLst/>
          </a:prstGeom>
          <a:noFill/>
        </p:spPr>
        <p:txBody>
          <a:bodyPr wrap="square" rtlCol="0">
            <a:spAutoFit/>
          </a:bodyPr>
          <a:lstStyle/>
          <a:p>
            <a:r>
              <a:rPr lang="tr-TR" b="1" dirty="0" err="1"/>
              <a:t>Goodyear</a:t>
            </a:r>
            <a:endParaRPr lang="tr-TR" b="1" dirty="0"/>
          </a:p>
        </p:txBody>
      </p:sp>
    </p:spTree>
    <p:extLst>
      <p:ext uri="{BB962C8B-B14F-4D97-AF65-F5344CB8AC3E}">
        <p14:creationId xmlns:p14="http://schemas.microsoft.com/office/powerpoint/2010/main" val="910045350"/>
      </p:ext>
    </p:extLst>
  </p:cSld>
  <p:clrMapOvr>
    <a:masterClrMapping/>
  </p:clrMapOvr>
  <p:transition advClick="0"/>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title"/>
          </p:nvPr>
        </p:nvSpPr>
        <p:spPr>
          <a:xfrm>
            <a:off x="1299882" y="261121"/>
            <a:ext cx="7463118" cy="574842"/>
          </a:xfrm>
        </p:spPr>
        <p:txBody>
          <a:bodyPr vert="horz" lIns="91440" tIns="45720" rIns="91440" bIns="45720" rtlCol="0" anchor="t">
            <a:normAutofit/>
          </a:bodyPr>
          <a:lstStyle/>
          <a:p>
            <a:r>
              <a:rPr lang="tr-TR" sz="2400">
                <a:solidFill>
                  <a:srgbClr val="0070C0"/>
                </a:solidFill>
              </a:rPr>
              <a:t>Ford’s Value Proposition</a:t>
            </a:r>
          </a:p>
        </p:txBody>
      </p:sp>
      <p:pic>
        <p:nvPicPr>
          <p:cNvPr id="6" name="Content Placeholder 5"/>
          <p:cNvPicPr>
            <a:picLocks noGrp="1" noChangeAspect="1"/>
          </p:cNvPicPr>
          <p:nvPr>
            <p:ph idx="4294967295"/>
          </p:nvPr>
        </p:nvPicPr>
        <p:blipFill rotWithShape="1">
          <a:blip r:embed="rId2"/>
          <a:srcRect l="5556" t="17920" r="19136" b="6872"/>
          <a:stretch/>
        </p:blipFill>
        <p:spPr>
          <a:xfrm>
            <a:off x="179512" y="1412776"/>
            <a:ext cx="8849100" cy="4968552"/>
          </a:xfrm>
          <a:prstGeom prst="rect">
            <a:avLst/>
          </a:prstGeom>
        </p:spPr>
      </p:pic>
      <p:sp>
        <p:nvSpPr>
          <p:cNvPr id="4" name="Slide Number Placeholder 4">
            <a:extLst>
              <a:ext uri="{FF2B5EF4-FFF2-40B4-BE49-F238E27FC236}">
                <a16:creationId xmlns:a16="http://schemas.microsoft.com/office/drawing/2014/main" id="{4684F754-2275-4665-ADCF-0C008B169D54}"/>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113</a:t>
            </a:fld>
            <a:endParaRPr lang="tr-TR" sz="1200">
              <a:solidFill>
                <a:schemeClr val="tx2"/>
              </a:solidFill>
              <a:latin typeface="Verdana" pitchFamily="34" charset="0"/>
            </a:endParaRPr>
          </a:p>
        </p:txBody>
      </p:sp>
    </p:spTree>
    <p:extLst>
      <p:ext uri="{BB962C8B-B14F-4D97-AF65-F5344CB8AC3E}">
        <p14:creationId xmlns:p14="http://schemas.microsoft.com/office/powerpoint/2010/main" val="319448409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p:cNvSpPr>
            <a:spLocks noGrp="1"/>
          </p:cNvSpPr>
          <p:nvPr>
            <p:ph idx="10"/>
          </p:nvPr>
        </p:nvSpPr>
        <p:spPr>
          <a:xfrm>
            <a:off x="107504" y="1124744"/>
            <a:ext cx="8856984" cy="5184576"/>
          </a:xfrm>
        </p:spPr>
        <p:txBody>
          <a:bodyPr/>
          <a:lstStyle/>
          <a:p>
            <a:r>
              <a:rPr lang="tr-TR" sz="2000" b="0">
                <a:solidFill>
                  <a:schemeClr val="tx1"/>
                </a:solidFill>
              </a:rPr>
              <a:t>Şirketin yönetici bilançolarını hazırlayınız.</a:t>
            </a:r>
          </a:p>
          <a:p>
            <a:r>
              <a:rPr lang="tr-TR" sz="2000" b="0">
                <a:solidFill>
                  <a:schemeClr val="tx1"/>
                </a:solidFill>
              </a:rPr>
              <a:t>2009 ve 2010 için nakit akım tablosu hazırlayınız.</a:t>
            </a:r>
          </a:p>
          <a:p>
            <a:r>
              <a:rPr lang="tr-TR" sz="2000" b="0">
                <a:solidFill>
                  <a:schemeClr val="tx1"/>
                </a:solidFill>
              </a:rPr>
              <a:t>Şirketin 2008, 2009 ve 2010 için faaliyet kar marjını, sermaye devir hızını, faaliyet karlılığını, faiz etkisini, finansal kaldıraç oranını, vergi etkisini ve özsermaye karlılığını hesaplayın.</a:t>
            </a:r>
            <a:endParaRPr lang="en-US" sz="2000" b="0">
              <a:solidFill>
                <a:schemeClr val="tx1"/>
              </a:solidFill>
            </a:endParaRPr>
          </a:p>
          <a:p>
            <a:r>
              <a:rPr lang="tr-TR" sz="2000" b="0">
                <a:solidFill>
                  <a:schemeClr val="tx1"/>
                </a:solidFill>
              </a:rPr>
              <a:t>2010 senesinde aynı sektördeki firmaların ortalama tahsilat süresi 30 gün, ortalama ödeme süresi 33 gün ve stok devir hızı 8’dir. Şirket faaliyetlerini sektör gibi yönetseydi, 31 Aralık 2010 itibarı ile işletme sermayesi ihtiyacı ne olurdu?</a:t>
            </a:r>
          </a:p>
          <a:p>
            <a:r>
              <a:rPr lang="tr-TR" sz="2000" b="0">
                <a:solidFill>
                  <a:schemeClr val="tx1"/>
                </a:solidFill>
              </a:rPr>
              <a:t>Faaliyetlerden nakit akımı ne olurdu? </a:t>
            </a:r>
          </a:p>
          <a:p>
            <a:r>
              <a:rPr lang="tr-TR" sz="2000" b="0">
                <a:solidFill>
                  <a:schemeClr val="tx1"/>
                </a:solidFill>
              </a:rPr>
              <a:t>Yönetici bilançosu nasıl olurdu? </a:t>
            </a:r>
          </a:p>
          <a:p>
            <a:r>
              <a:rPr lang="tr-TR" sz="2000" b="0">
                <a:solidFill>
                  <a:schemeClr val="tx1"/>
                </a:solidFill>
              </a:rPr>
              <a:t>Faaliyet kar marjı, sermaye devir hızı, faaliyet karlılığı, faiz etkisi, finansal kaldıraç oranı, vergi etkisi ve özsermaye karlılığı ne olurdu? (faiz gideri/FVÖK=%4 ve vergi oranı %40 olsun)</a:t>
            </a:r>
          </a:p>
        </p:txBody>
      </p:sp>
      <p:sp>
        <p:nvSpPr>
          <p:cNvPr id="5" name="Title 2"/>
          <p:cNvSpPr>
            <a:spLocks noGrp="1"/>
          </p:cNvSpPr>
          <p:nvPr>
            <p:ph type="title"/>
          </p:nvPr>
        </p:nvSpPr>
        <p:spPr>
          <a:xfrm>
            <a:off x="323528" y="188640"/>
            <a:ext cx="8784976" cy="864096"/>
          </a:xfrm>
        </p:spPr>
        <p:txBody>
          <a:bodyPr/>
          <a:lstStyle/>
          <a:p>
            <a:r>
              <a:rPr lang="tr-TR" sz="4000"/>
              <a:t>Konsept Çalışması – Verimsiz A.Ş.</a:t>
            </a:r>
            <a:endParaRPr lang="en-US" sz="4000"/>
          </a:p>
        </p:txBody>
      </p:sp>
      <p:sp>
        <p:nvSpPr>
          <p:cNvPr id="6" name="Slide Number Placeholder 4">
            <a:extLst>
              <a:ext uri="{FF2B5EF4-FFF2-40B4-BE49-F238E27FC236}">
                <a16:creationId xmlns:a16="http://schemas.microsoft.com/office/drawing/2014/main" id="{E70F9C00-093A-4D14-8495-D7496E665CEC}"/>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114</a:t>
            </a:fld>
            <a:endParaRPr lang="tr-TR" sz="1200">
              <a:solidFill>
                <a:schemeClr val="tx2"/>
              </a:solidFill>
              <a:latin typeface="Verdana" pitchFamily="34" charset="0"/>
            </a:endParaRPr>
          </a:p>
        </p:txBody>
      </p:sp>
    </p:spTree>
    <p:extLst>
      <p:ext uri="{BB962C8B-B14F-4D97-AF65-F5344CB8AC3E}">
        <p14:creationId xmlns:p14="http://schemas.microsoft.com/office/powerpoint/2010/main" val="24325449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358008"/>
            <a:ext cx="8229600" cy="1143000"/>
          </a:xfrm>
        </p:spPr>
        <p:txBody>
          <a:bodyPr/>
          <a:lstStyle/>
          <a:p>
            <a:r>
              <a:rPr lang="tr-TR"/>
              <a:t>SERMAYE MALİYETİ</a:t>
            </a:r>
            <a:endParaRPr lang="en-GB"/>
          </a:p>
        </p:txBody>
      </p:sp>
      <p:sp>
        <p:nvSpPr>
          <p:cNvPr id="4"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115</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88213565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116</a:t>
            </a:fld>
            <a:endParaRPr lang="tr-TR" sz="1200">
              <a:solidFill>
                <a:schemeClr val="tx2"/>
              </a:solidFill>
              <a:latin typeface="Verdana" pitchFamily="34" charset="0"/>
            </a:endParaRPr>
          </a:p>
        </p:txBody>
      </p:sp>
      <p:sp>
        <p:nvSpPr>
          <p:cNvPr id="5" name="Rectangle 2"/>
          <p:cNvSpPr txBox="1">
            <a:spLocks noChangeArrowheads="1"/>
          </p:cNvSpPr>
          <p:nvPr/>
        </p:nvSpPr>
        <p:spPr>
          <a:xfrm>
            <a:off x="107504" y="1197421"/>
            <a:ext cx="8766720" cy="4823867"/>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90000"/>
              </a:lnSpc>
              <a:spcAft>
                <a:spcPts val="1200"/>
              </a:spcAft>
              <a:buFont typeface="Wingdings" pitchFamily="2" charset="2"/>
              <a:buChar char="p"/>
            </a:pPr>
            <a:r>
              <a:rPr lang="tr-TR" sz="1800">
                <a:latin typeface="Verdana" pitchFamily="34" charset="0"/>
                <a:ea typeface="Verdana" pitchFamily="34" charset="0"/>
                <a:cs typeface="Verdana" pitchFamily="34" charset="0"/>
              </a:rPr>
              <a:t> Ağırlıklı Sermaye Maliyeti (ASM)</a:t>
            </a:r>
          </a:p>
          <a:p>
            <a:pPr lvl="1" algn="just">
              <a:lnSpc>
                <a:spcPct val="90000"/>
              </a:lnSpc>
              <a:spcAft>
                <a:spcPts val="1200"/>
              </a:spcAft>
              <a:buFont typeface="Wingdings" pitchFamily="2" charset="2"/>
              <a:buChar char="n"/>
            </a:pPr>
            <a:r>
              <a:rPr lang="tr-TR" sz="1800">
                <a:latin typeface="Verdana" pitchFamily="34" charset="0"/>
                <a:ea typeface="Verdana" pitchFamily="34" charset="0"/>
                <a:cs typeface="Verdana" pitchFamily="34" charset="0"/>
              </a:rPr>
              <a:t> Borç oranı = Borç / Toplam pasifler</a:t>
            </a:r>
          </a:p>
          <a:p>
            <a:pPr lvl="1" algn="just">
              <a:lnSpc>
                <a:spcPct val="90000"/>
              </a:lnSpc>
              <a:spcAft>
                <a:spcPts val="1200"/>
              </a:spcAft>
              <a:buFont typeface="Wingdings" pitchFamily="2" charset="2"/>
              <a:buChar char="n"/>
            </a:pPr>
            <a:r>
              <a:rPr lang="tr-TR" sz="1800">
                <a:latin typeface="Verdana" pitchFamily="34" charset="0"/>
                <a:ea typeface="Verdana" pitchFamily="34" charset="0"/>
                <a:cs typeface="Verdana" pitchFamily="34" charset="0"/>
              </a:rPr>
              <a:t> Sermaye oranı = </a:t>
            </a:r>
            <a:r>
              <a:rPr lang="tr-TR" sz="1800" err="1">
                <a:latin typeface="Verdana" pitchFamily="34" charset="0"/>
                <a:ea typeface="Verdana" pitchFamily="34" charset="0"/>
                <a:cs typeface="Verdana" pitchFamily="34" charset="0"/>
              </a:rPr>
              <a:t>Özsermaye</a:t>
            </a:r>
            <a:r>
              <a:rPr lang="tr-TR" sz="1800">
                <a:latin typeface="Verdana" pitchFamily="34" charset="0"/>
                <a:ea typeface="Verdana" pitchFamily="34" charset="0"/>
                <a:cs typeface="Verdana" pitchFamily="34" charset="0"/>
              </a:rPr>
              <a:t> / Toplam pasifler</a:t>
            </a:r>
          </a:p>
          <a:p>
            <a:pPr lvl="1" algn="just">
              <a:lnSpc>
                <a:spcPct val="90000"/>
              </a:lnSpc>
              <a:spcAft>
                <a:spcPts val="1200"/>
              </a:spcAft>
              <a:buFont typeface="Wingdings" pitchFamily="2" charset="2"/>
              <a:buChar char="n"/>
            </a:pPr>
            <a:r>
              <a:rPr lang="tr-TR" sz="1800">
                <a:latin typeface="Verdana" pitchFamily="34" charset="0"/>
                <a:ea typeface="Verdana" pitchFamily="34" charset="0"/>
                <a:cs typeface="Verdana" pitchFamily="34" charset="0"/>
              </a:rPr>
              <a:t> Faiz = Ortalama borç maliyeti</a:t>
            </a:r>
          </a:p>
          <a:p>
            <a:pPr lvl="1" algn="just">
              <a:lnSpc>
                <a:spcPct val="90000"/>
              </a:lnSpc>
              <a:spcAft>
                <a:spcPts val="1200"/>
              </a:spcAft>
              <a:buFont typeface="Wingdings" pitchFamily="2" charset="2"/>
              <a:buChar char="n"/>
            </a:pPr>
            <a:r>
              <a:rPr lang="tr-TR" sz="1800">
                <a:latin typeface="Verdana" pitchFamily="34" charset="0"/>
                <a:ea typeface="Verdana" pitchFamily="34" charset="0"/>
                <a:cs typeface="Verdana" pitchFamily="34" charset="0"/>
              </a:rPr>
              <a:t> SM = Sermaye maliyeti,</a:t>
            </a:r>
          </a:p>
          <a:p>
            <a:pPr lvl="1" algn="just">
              <a:lnSpc>
                <a:spcPct val="90000"/>
              </a:lnSpc>
              <a:spcAft>
                <a:spcPts val="1200"/>
              </a:spcAft>
              <a:buFont typeface="Wingdings" pitchFamily="2" charset="2"/>
              <a:buChar char="n"/>
            </a:pPr>
            <a:r>
              <a:rPr lang="tr-TR" sz="1800">
                <a:latin typeface="Verdana" pitchFamily="34" charset="0"/>
                <a:ea typeface="Verdana" pitchFamily="34" charset="0"/>
                <a:cs typeface="Verdana" pitchFamily="34" charset="0"/>
              </a:rPr>
              <a:t> Vergi = Efektif kurumlar vergisi oranı, ise</a:t>
            </a:r>
          </a:p>
          <a:p>
            <a:pPr algn="just">
              <a:lnSpc>
                <a:spcPct val="90000"/>
              </a:lnSpc>
              <a:spcAft>
                <a:spcPts val="1200"/>
              </a:spcAft>
              <a:buNone/>
            </a:pPr>
            <a:r>
              <a:rPr lang="tr-TR" sz="1800">
                <a:solidFill>
                  <a:srgbClr val="3333CC"/>
                </a:solidFill>
                <a:latin typeface="Verdana" pitchFamily="34" charset="0"/>
                <a:ea typeface="Verdana" pitchFamily="34" charset="0"/>
                <a:cs typeface="Verdana" pitchFamily="34" charset="0"/>
              </a:rPr>
              <a:t>	ASM = Borç oranı x Faiz x (1-vergi) + Sermaye oranı x SM </a:t>
            </a:r>
          </a:p>
          <a:p>
            <a:pPr lvl="1" algn="just">
              <a:lnSpc>
                <a:spcPct val="90000"/>
              </a:lnSpc>
              <a:spcAft>
                <a:spcPts val="1200"/>
              </a:spcAft>
              <a:buFont typeface="Wingdings" pitchFamily="2" charset="2"/>
              <a:buChar char="n"/>
            </a:pPr>
            <a:endParaRPr lang="tr-TR" sz="1800">
              <a:latin typeface="Verdana" pitchFamily="34" charset="0"/>
              <a:ea typeface="Verdana" pitchFamily="34" charset="0"/>
              <a:cs typeface="Verdana" pitchFamily="34" charset="0"/>
            </a:endParaRPr>
          </a:p>
          <a:p>
            <a:pPr lvl="1" algn="just">
              <a:lnSpc>
                <a:spcPct val="90000"/>
              </a:lnSpc>
              <a:spcAft>
                <a:spcPts val="1200"/>
              </a:spcAft>
              <a:buFont typeface="Wingdings" pitchFamily="2" charset="2"/>
              <a:buChar char="n"/>
            </a:pPr>
            <a:r>
              <a:rPr lang="tr-TR" sz="1800">
                <a:latin typeface="Verdana" pitchFamily="34" charset="0"/>
                <a:ea typeface="Verdana" pitchFamily="34" charset="0"/>
                <a:cs typeface="Verdana" pitchFamily="34" charset="0"/>
              </a:rPr>
              <a:t>Şirket halka açık ise borç ve sermaye oranı hesaplanırken defter değerleri yerine </a:t>
            </a:r>
            <a:r>
              <a:rPr lang="tr-TR" sz="1800" b="1">
                <a:latin typeface="Verdana" pitchFamily="34" charset="0"/>
                <a:ea typeface="Verdana" pitchFamily="34" charset="0"/>
                <a:cs typeface="Verdana" pitchFamily="34" charset="0"/>
              </a:rPr>
              <a:t>piyasa değerleri </a:t>
            </a:r>
            <a:r>
              <a:rPr lang="tr-TR" sz="1800">
                <a:latin typeface="Verdana" pitchFamily="34" charset="0"/>
                <a:ea typeface="Verdana" pitchFamily="34" charset="0"/>
                <a:cs typeface="Verdana" pitchFamily="34" charset="0"/>
              </a:rPr>
              <a:t>kullanılmalıdır. </a:t>
            </a:r>
          </a:p>
        </p:txBody>
      </p:sp>
      <p:sp>
        <p:nvSpPr>
          <p:cNvPr id="6" name="Rectangle 3"/>
          <p:cNvSpPr>
            <a:spLocks noChangeArrowheads="1"/>
          </p:cNvSpPr>
          <p:nvPr/>
        </p:nvSpPr>
        <p:spPr bwMode="auto">
          <a:xfrm>
            <a:off x="971600" y="44625"/>
            <a:ext cx="7488832"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marL="762000" indent="-762000" algn="ctr"/>
            <a:r>
              <a:rPr lang="tr-TR" sz="3200" b="0">
                <a:latin typeface="+mj-lt"/>
              </a:rPr>
              <a:t>Ağırlıklı Sermaye Maliyeti</a:t>
            </a:r>
          </a:p>
          <a:p>
            <a:pPr marL="762000" indent="-762000" algn="ctr"/>
            <a:r>
              <a:rPr lang="tr-TR" sz="2400">
                <a:latin typeface="+mj-lt"/>
              </a:rPr>
              <a:t>(Weighted Average Cost of Capital, WACC)</a:t>
            </a:r>
            <a:endParaRPr lang="tr-TR" sz="2400" b="0">
              <a:latin typeface="+mj-lt"/>
            </a:endParaRPr>
          </a:p>
        </p:txBody>
      </p:sp>
    </p:spTree>
    <p:extLst>
      <p:ext uri="{BB962C8B-B14F-4D97-AF65-F5344CB8AC3E}">
        <p14:creationId xmlns:p14="http://schemas.microsoft.com/office/powerpoint/2010/main" val="29343068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117</a:t>
            </a:fld>
            <a:endParaRPr lang="tr-TR" sz="1200">
              <a:solidFill>
                <a:schemeClr val="tx2"/>
              </a:solidFill>
              <a:latin typeface="Verdana" pitchFamily="34" charset="0"/>
            </a:endParaRPr>
          </a:p>
        </p:txBody>
      </p:sp>
      <p:sp>
        <p:nvSpPr>
          <p:cNvPr id="5" name="Rectangle 2"/>
          <p:cNvSpPr txBox="1">
            <a:spLocks noChangeArrowheads="1"/>
          </p:cNvSpPr>
          <p:nvPr/>
        </p:nvSpPr>
        <p:spPr>
          <a:xfrm>
            <a:off x="0" y="1340421"/>
            <a:ext cx="9144000" cy="4896891"/>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10000"/>
              </a:lnSpc>
              <a:spcAft>
                <a:spcPct val="20000"/>
              </a:spcAft>
              <a:buNone/>
            </a:pPr>
            <a:r>
              <a:rPr lang="tr-TR" sz="1800">
                <a:latin typeface="Verdana" pitchFamily="34" charset="0"/>
                <a:ea typeface="Verdana" pitchFamily="34" charset="0"/>
                <a:cs typeface="Verdana" pitchFamily="34" charset="0"/>
              </a:rPr>
              <a:t>		ASM = Borç oranı x Faiz x (1-vergi)+Sermaye oranı x SM </a:t>
            </a:r>
          </a:p>
          <a:p>
            <a:pPr lvl="1">
              <a:lnSpc>
                <a:spcPct val="110000"/>
              </a:lnSpc>
              <a:spcAft>
                <a:spcPct val="20000"/>
              </a:spcAft>
              <a:buFont typeface="Wingdings" pitchFamily="2" charset="2"/>
              <a:buChar char="n"/>
            </a:pPr>
            <a:r>
              <a:rPr lang="tr-TR" sz="1800">
                <a:latin typeface="Verdana" pitchFamily="34" charset="0"/>
                <a:ea typeface="Verdana" pitchFamily="34" charset="0"/>
                <a:cs typeface="Verdana" pitchFamily="34" charset="0"/>
              </a:rPr>
              <a:t>Burada borç, sermaye ve vergi oranları bilanço tahminlerinden gelecektir.</a:t>
            </a:r>
          </a:p>
          <a:p>
            <a:pPr lvl="1">
              <a:lnSpc>
                <a:spcPct val="110000"/>
              </a:lnSpc>
              <a:spcAft>
                <a:spcPct val="20000"/>
              </a:spcAft>
              <a:buFont typeface="Wingdings" pitchFamily="2" charset="2"/>
              <a:buChar char="n"/>
            </a:pPr>
            <a:r>
              <a:rPr lang="tr-TR" sz="1800">
                <a:latin typeface="Verdana" pitchFamily="34" charset="0"/>
                <a:ea typeface="Verdana" pitchFamily="34" charset="0"/>
                <a:cs typeface="Verdana" pitchFamily="34" charset="0"/>
              </a:rPr>
              <a:t>Borç maliyetinin vergi oranı kadar düşürülmesi ile faizlerin vergiden düşürülebilmesinin yarattığı vergi kalkanı etkisi dikkate alınmıştır.</a:t>
            </a:r>
          </a:p>
          <a:p>
            <a:pPr lvl="1">
              <a:lnSpc>
                <a:spcPct val="110000"/>
              </a:lnSpc>
              <a:spcAft>
                <a:spcPct val="20000"/>
              </a:spcAft>
              <a:buFont typeface="Wingdings" pitchFamily="2" charset="2"/>
              <a:buChar char="n"/>
            </a:pPr>
            <a:r>
              <a:rPr lang="tr-TR" sz="1800">
                <a:latin typeface="Verdana" pitchFamily="34" charset="0"/>
                <a:ea typeface="Verdana" pitchFamily="34" charset="0"/>
                <a:cs typeface="Verdana" pitchFamily="34" charset="0"/>
              </a:rPr>
              <a:t>Sermaye maliyeti “Capital Asset Pricing” modeli kullanılarak hesaplanır:</a:t>
            </a:r>
          </a:p>
          <a:p>
            <a:pPr lvl="2">
              <a:lnSpc>
                <a:spcPct val="110000"/>
              </a:lnSpc>
              <a:spcAft>
                <a:spcPct val="20000"/>
              </a:spcAft>
              <a:buFont typeface="Wingdings" pitchFamily="2" charset="2"/>
              <a:buChar char="p"/>
            </a:pPr>
            <a:r>
              <a:rPr lang="tr-TR" sz="1800">
                <a:latin typeface="Verdana" pitchFamily="34" charset="0"/>
                <a:ea typeface="Verdana" pitchFamily="34" charset="0"/>
                <a:cs typeface="Verdana" pitchFamily="34" charset="0"/>
              </a:rPr>
              <a:t> SM = Ülke faizi + hisse risk primi  </a:t>
            </a:r>
          </a:p>
          <a:p>
            <a:pPr lvl="2">
              <a:lnSpc>
                <a:spcPct val="110000"/>
              </a:lnSpc>
              <a:spcAft>
                <a:spcPct val="20000"/>
              </a:spcAft>
              <a:buFont typeface="Wingdings" pitchFamily="2" charset="2"/>
              <a:buChar char="p"/>
            </a:pPr>
            <a:r>
              <a:rPr lang="tr-TR" sz="1800">
                <a:latin typeface="Verdana" pitchFamily="34" charset="0"/>
                <a:ea typeface="Verdana" pitchFamily="34" charset="0"/>
                <a:cs typeface="Verdana" pitchFamily="34" charset="0"/>
              </a:rPr>
              <a:t>      = Ülke faizi + </a:t>
            </a:r>
            <a:r>
              <a:rPr lang="el-GR" sz="1800">
                <a:latin typeface="Verdana" pitchFamily="34" charset="0"/>
                <a:ea typeface="Verdana" pitchFamily="34" charset="0"/>
                <a:cs typeface="Verdana" pitchFamily="34" charset="0"/>
              </a:rPr>
              <a:t>β</a:t>
            </a:r>
            <a:r>
              <a:rPr lang="tr-TR" sz="1800">
                <a:latin typeface="Verdana" pitchFamily="34" charset="0"/>
                <a:ea typeface="Verdana" pitchFamily="34" charset="0"/>
                <a:cs typeface="Verdana" pitchFamily="34" charset="0"/>
              </a:rPr>
              <a:t> x (Borsa getirisi – ülke faizi) </a:t>
            </a:r>
          </a:p>
          <a:p>
            <a:pPr lvl="2">
              <a:lnSpc>
                <a:spcPct val="110000"/>
              </a:lnSpc>
              <a:spcAft>
                <a:spcPct val="20000"/>
              </a:spcAft>
              <a:buFont typeface="Wingdings" pitchFamily="2" charset="2"/>
              <a:buChar char="p"/>
            </a:pPr>
            <a:r>
              <a:rPr lang="tr-TR" sz="1800">
                <a:latin typeface="Verdana" pitchFamily="34" charset="0"/>
                <a:ea typeface="Verdana" pitchFamily="34" charset="0"/>
                <a:cs typeface="Verdana" pitchFamily="34" charset="0"/>
              </a:rPr>
              <a:t> Ülke faizi = Hazine bonosu getirisi </a:t>
            </a:r>
          </a:p>
          <a:p>
            <a:pPr lvl="2">
              <a:lnSpc>
                <a:spcPct val="110000"/>
              </a:lnSpc>
              <a:spcAft>
                <a:spcPct val="20000"/>
              </a:spcAft>
              <a:buFont typeface="Wingdings" pitchFamily="2" charset="2"/>
              <a:buChar char="p"/>
            </a:pPr>
            <a:r>
              <a:rPr lang="tr-TR" sz="1800">
                <a:latin typeface="Verdana" pitchFamily="34" charset="0"/>
                <a:ea typeface="Verdana" pitchFamily="34" charset="0"/>
                <a:cs typeface="Verdana" pitchFamily="34" charset="0"/>
              </a:rPr>
              <a:t> </a:t>
            </a:r>
            <a:r>
              <a:rPr lang="el-GR" sz="1800">
                <a:latin typeface="Verdana" pitchFamily="34" charset="0"/>
                <a:ea typeface="Verdana" pitchFamily="34" charset="0"/>
                <a:cs typeface="Verdana" pitchFamily="34" charset="0"/>
              </a:rPr>
              <a:t>β</a:t>
            </a:r>
            <a:r>
              <a:rPr lang="tr-TR" sz="1800">
                <a:latin typeface="Verdana" pitchFamily="34" charset="0"/>
                <a:ea typeface="Verdana" pitchFamily="34" charset="0"/>
                <a:cs typeface="Verdana" pitchFamily="34" charset="0"/>
              </a:rPr>
              <a:t> = Şirket hisse fiyatlarının borsaya göreceli dalgalanma katsayısı</a:t>
            </a:r>
          </a:p>
          <a:p>
            <a:pPr lvl="2">
              <a:lnSpc>
                <a:spcPct val="110000"/>
              </a:lnSpc>
              <a:spcAft>
                <a:spcPct val="20000"/>
              </a:spcAft>
              <a:buFont typeface="Wingdings" pitchFamily="2" charset="2"/>
              <a:buChar char="p"/>
            </a:pPr>
            <a:r>
              <a:rPr lang="tr-TR" sz="1800">
                <a:latin typeface="Verdana" pitchFamily="34" charset="0"/>
                <a:ea typeface="Verdana" pitchFamily="34" charset="0"/>
                <a:cs typeface="Verdana" pitchFamily="34" charset="0"/>
              </a:rPr>
              <a:t> Borsa getirisi – ülke faizi pratikte %5 alınır.</a:t>
            </a:r>
          </a:p>
        </p:txBody>
      </p:sp>
      <p:sp>
        <p:nvSpPr>
          <p:cNvPr id="8" name="Rectangle 3"/>
          <p:cNvSpPr>
            <a:spLocks noChangeArrowheads="1"/>
          </p:cNvSpPr>
          <p:nvPr/>
        </p:nvSpPr>
        <p:spPr bwMode="auto">
          <a:xfrm>
            <a:off x="971600" y="44624"/>
            <a:ext cx="7488832"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marL="762000" indent="-762000" algn="ctr"/>
            <a:r>
              <a:rPr lang="tr-TR" sz="3200" b="0">
                <a:latin typeface="+mj-lt"/>
              </a:rPr>
              <a:t>Ağırlıklı Sermaye Maliyeti</a:t>
            </a:r>
          </a:p>
          <a:p>
            <a:pPr marL="762000" indent="-762000" algn="ctr"/>
            <a:r>
              <a:rPr lang="tr-TR" sz="2400">
                <a:latin typeface="+mj-lt"/>
              </a:rPr>
              <a:t>(Weighted Average Cost of Capital, WACC)</a:t>
            </a:r>
            <a:endParaRPr lang="tr-TR" sz="2400" b="0">
              <a:latin typeface="+mj-lt"/>
            </a:endParaRPr>
          </a:p>
        </p:txBody>
      </p:sp>
    </p:spTree>
    <p:extLst>
      <p:ext uri="{BB962C8B-B14F-4D97-AF65-F5344CB8AC3E}">
        <p14:creationId xmlns:p14="http://schemas.microsoft.com/office/powerpoint/2010/main" val="3312546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568301" y="6540821"/>
            <a:ext cx="684219" cy="252579"/>
          </a:xfrm>
          <a:prstGeom prst="rect">
            <a:avLst/>
          </a:prstGeom>
        </p:spPr>
        <p:txBody>
          <a:bodyPr/>
          <a:lstStyle/>
          <a:p>
            <a:fld id="{01D3C277-0702-6341-951E-FBBC5FE7F744}" type="slidenum">
              <a:rPr lang="en-US" sz="1200" b="1" smtClean="0">
                <a:solidFill>
                  <a:schemeClr val="accent1"/>
                </a:solidFill>
                <a:latin typeface="Verdana" panose="020B0604030504040204" pitchFamily="34" charset="0"/>
                <a:ea typeface="Verdana" panose="020B0604030504040204" pitchFamily="34" charset="0"/>
                <a:cs typeface="Verdana" panose="020B0604030504040204" pitchFamily="34" charset="0"/>
              </a:rPr>
              <a:pPr/>
              <a:t>118</a:t>
            </a:fld>
            <a:endParaRPr lang="en-US" sz="1200" b="1">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pic>
        <p:nvPicPr>
          <p:cNvPr id="78850" name="Picture 2"/>
          <p:cNvPicPr>
            <a:picLocks noChangeAspect="1" noChangeArrowheads="1"/>
          </p:cNvPicPr>
          <p:nvPr/>
        </p:nvPicPr>
        <p:blipFill>
          <a:blip r:embed="rId3"/>
          <a:srcRect/>
          <a:stretch>
            <a:fillRect/>
          </a:stretch>
        </p:blipFill>
        <p:spPr bwMode="auto">
          <a:xfrm>
            <a:off x="1967104" y="1184250"/>
            <a:ext cx="5114731" cy="5029200"/>
          </a:xfrm>
          <a:prstGeom prst="rect">
            <a:avLst/>
          </a:prstGeom>
          <a:noFill/>
          <a:ln w="9525">
            <a:noFill/>
            <a:miter lim="800000"/>
            <a:headEnd/>
            <a:tailEnd/>
          </a:ln>
        </p:spPr>
      </p:pic>
      <p:sp>
        <p:nvSpPr>
          <p:cNvPr id="2" name="Title 1"/>
          <p:cNvSpPr>
            <a:spLocks noGrp="1"/>
          </p:cNvSpPr>
          <p:nvPr>
            <p:ph type="title"/>
          </p:nvPr>
        </p:nvSpPr>
        <p:spPr>
          <a:xfrm>
            <a:off x="457200" y="125760"/>
            <a:ext cx="8229600" cy="1143000"/>
          </a:xfrm>
        </p:spPr>
        <p:txBody>
          <a:bodyPr/>
          <a:lstStyle/>
          <a:p>
            <a:r>
              <a:rPr lang="tr-TR" sz="4000"/>
              <a:t>Beta Katsayısı</a:t>
            </a:r>
            <a:endParaRPr lang="en-US" sz="4000"/>
          </a:p>
        </p:txBody>
      </p:sp>
      <p:pic>
        <p:nvPicPr>
          <p:cNvPr id="6" name="Picture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3852240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496293" y="6540821"/>
            <a:ext cx="684219" cy="252579"/>
          </a:xfrm>
          <a:prstGeom prst="rect">
            <a:avLst/>
          </a:prstGeom>
        </p:spPr>
        <p:txBody>
          <a:bodyPr/>
          <a:lstStyle/>
          <a:p>
            <a:fld id="{01D3C277-0702-6341-951E-FBBC5FE7F744}" type="slidenum">
              <a:rPr lang="en-US" sz="1200" b="1" smtClean="0">
                <a:solidFill>
                  <a:schemeClr val="accent1"/>
                </a:solidFill>
                <a:latin typeface="Verdana" panose="020B0604030504040204" pitchFamily="34" charset="0"/>
                <a:ea typeface="Verdana" panose="020B0604030504040204" pitchFamily="34" charset="0"/>
                <a:cs typeface="Verdana" panose="020B0604030504040204" pitchFamily="34" charset="0"/>
              </a:rPr>
              <a:pPr/>
              <a:t>119</a:t>
            </a:fld>
            <a:endParaRPr lang="en-US" sz="1200" b="1">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6" name="Title 1"/>
          <p:cNvSpPr>
            <a:spLocks noGrp="1"/>
          </p:cNvSpPr>
          <p:nvPr>
            <p:ph type="title"/>
          </p:nvPr>
        </p:nvSpPr>
        <p:spPr>
          <a:xfrm>
            <a:off x="457200" y="125760"/>
            <a:ext cx="8229600" cy="1143000"/>
          </a:xfrm>
        </p:spPr>
        <p:txBody>
          <a:bodyPr/>
          <a:lstStyle/>
          <a:p>
            <a:r>
              <a:rPr lang="tr-TR" sz="4000"/>
              <a:t>Beta Katsayısı</a:t>
            </a:r>
            <a:endParaRPr lang="en-US" sz="4000"/>
          </a:p>
        </p:txBody>
      </p:sp>
      <p:pic>
        <p:nvPicPr>
          <p:cNvPr id="7" name="Picture 6"/>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4"/>
            <a:ext cx="648072" cy="656278"/>
          </a:xfrm>
          <a:prstGeom prst="rect">
            <a:avLst/>
          </a:prstGeom>
          <a:noFill/>
          <a:ln>
            <a:noFill/>
          </a:ln>
        </p:spPr>
      </p:pic>
      <p:graphicFrame>
        <p:nvGraphicFramePr>
          <p:cNvPr id="8" name="Table 7"/>
          <p:cNvGraphicFramePr>
            <a:graphicFrameLocks noGrp="1"/>
          </p:cNvGraphicFramePr>
          <p:nvPr/>
        </p:nvGraphicFramePr>
        <p:xfrm>
          <a:off x="1763688" y="1186016"/>
          <a:ext cx="5904656" cy="4546762"/>
        </p:xfrm>
        <a:graphic>
          <a:graphicData uri="http://schemas.openxmlformats.org/drawingml/2006/table">
            <a:tbl>
              <a:tblPr firstRow="1" firstCol="1" bandRow="1"/>
              <a:tblGrid>
                <a:gridCol w="1632182">
                  <a:extLst>
                    <a:ext uri="{9D8B030D-6E8A-4147-A177-3AD203B41FA5}">
                      <a16:colId xmlns:a16="http://schemas.microsoft.com/office/drawing/2014/main" val="20000"/>
                    </a:ext>
                  </a:extLst>
                </a:gridCol>
                <a:gridCol w="1920213">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912101">
                  <a:extLst>
                    <a:ext uri="{9D8B030D-6E8A-4147-A177-3AD203B41FA5}">
                      <a16:colId xmlns:a16="http://schemas.microsoft.com/office/drawing/2014/main" val="20003"/>
                    </a:ext>
                  </a:extLst>
                </a:gridCol>
              </a:tblGrid>
              <a:tr h="315499">
                <a:tc>
                  <a:txBody>
                    <a:bodyPr/>
                    <a:lstStyle/>
                    <a:p>
                      <a:pPr marL="0" marR="0">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Company</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lumMod val="75000"/>
                        <a:alpha val="39000"/>
                      </a:schemeClr>
                    </a:solidFill>
                  </a:tcPr>
                </a:tc>
                <a:tc>
                  <a:txBody>
                    <a:bodyPr/>
                    <a:lstStyle/>
                    <a:p>
                      <a:pPr marL="381635" marR="0" indent="-381635">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lumMod val="75000"/>
                        <a:alpha val="39000"/>
                      </a:schemeClr>
                    </a:solidFill>
                  </a:tcPr>
                </a:tc>
                <a:tc>
                  <a:txBody>
                    <a:bodyPr/>
                    <a:lstStyle/>
                    <a:p>
                      <a:pPr marL="0" marR="0">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Industry</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lumMod val="75000"/>
                        <a:alpha val="39000"/>
                      </a:schemeClr>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Estimated Beta</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lumMod val="75000"/>
                        <a:alpha val="39000"/>
                      </a:schemeClr>
                    </a:solidFill>
                  </a:tcPr>
                </a:tc>
                <a:extLst>
                  <a:ext uri="{0D108BD9-81ED-4DB2-BD59-A6C34878D82A}">
                    <a16:rowId xmlns:a16="http://schemas.microsoft.com/office/drawing/2014/main" val="10000"/>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Morgan Stanley</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Banking</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1.84</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1"/>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Citigroup</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Banking</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1.59</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extLst>
                  <a:ext uri="{0D108BD9-81ED-4DB2-BD59-A6C34878D82A}">
                    <a16:rowId xmlns:a16="http://schemas.microsoft.com/office/drawing/2014/main" val="10002"/>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Goldman Sachs Group</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Banking</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1.48</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Qantas Airways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Australian Securities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Major Airlines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1.33</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4"/>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Delta Airlines </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Major Airlines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1.29</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extLst>
                  <a:ext uri="{0D108BD9-81ED-4DB2-BD59-A6C34878D82A}">
                    <a16:rowId xmlns:a16="http://schemas.microsoft.com/office/drawing/2014/main" val="10005"/>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Southwest Airlines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Major Airlines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1.27</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Nokia</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Helsinki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Electronic Equipment</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1.25</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07"/>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Hewlett-Packard</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Electronic Equipment</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1.25</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extLst>
                  <a:ext uri="{0D108BD9-81ED-4DB2-BD59-A6C34878D82A}">
                    <a16:rowId xmlns:a16="http://schemas.microsoft.com/office/drawing/2014/main" val="10008"/>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Cisco Systems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Nasdaq (New York)</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Electronic Equipment</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1.21</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General Motors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tabLst>
                          <a:tab pos="1843405" algn="r"/>
                        </a:tabLs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Auto Manufacturing</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1.23</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lnL>
                      <a:noFill/>
                    </a:lnL>
                    <a:lnR>
                      <a:noFill/>
                    </a:lnR>
                    <a:lnT w="190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10"/>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Honda Motor</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tabLst>
                          <a:tab pos="1843405" algn="r"/>
                        </a:tabLst>
                      </a:pPr>
                      <a:r>
                        <a:rPr lang="en-US" sz="1000">
                          <a:solidFill>
                            <a:srgbClr val="002060"/>
                          </a:solidFill>
                          <a:effectLst/>
                          <a:latin typeface="Arial" panose="020B0604020202020204" pitchFamily="34" charset="0"/>
                          <a:ea typeface="Calibri" panose="020F0502020204030204" pitchFamily="34" charset="0"/>
                        </a:rPr>
                        <a:t>Tokyo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Auto Manufacturing</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1.23</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lnL>
                      <a:noFill/>
                    </a:lnL>
                    <a:lnR>
                      <a:noFill/>
                    </a:lnR>
                    <a:lnT>
                      <a:noFill/>
                    </a:lnT>
                    <a:lnB>
                      <a:noFill/>
                    </a:lnB>
                    <a:solidFill>
                      <a:srgbClr val="FFFFFF"/>
                    </a:solidFill>
                  </a:tcPr>
                </a:tc>
                <a:extLst>
                  <a:ext uri="{0D108BD9-81ED-4DB2-BD59-A6C34878D82A}">
                    <a16:rowId xmlns:a16="http://schemas.microsoft.com/office/drawing/2014/main" val="10011"/>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Nissan Motor </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tabLst>
                          <a:tab pos="1843405" algn="r"/>
                        </a:tabLst>
                      </a:pPr>
                      <a:r>
                        <a:rPr lang="en-US" sz="1000">
                          <a:solidFill>
                            <a:srgbClr val="002060"/>
                          </a:solidFill>
                          <a:effectLst/>
                          <a:latin typeface="Arial" panose="020B0604020202020204" pitchFamily="34" charset="0"/>
                          <a:ea typeface="Calibri" panose="020F0502020204030204" pitchFamily="34" charset="0"/>
                        </a:rPr>
                        <a:t>Tokyo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Auto Manufacturing</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1.22</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lnL>
                      <a:noFill/>
                    </a:lnL>
                    <a:lnR>
                      <a:noFill/>
                    </a:lnR>
                    <a:lnT>
                      <a:noFill/>
                    </a:lnT>
                    <a:lnB>
                      <a:noFill/>
                    </a:lnB>
                    <a:solidFill>
                      <a:srgbClr val="FFFFFF"/>
                    </a:solidFill>
                  </a:tcPr>
                </a:tc>
                <a:extLst>
                  <a:ext uri="{0D108BD9-81ED-4DB2-BD59-A6C34878D82A}">
                    <a16:rowId xmlns:a16="http://schemas.microsoft.com/office/drawing/2014/main" val="10012"/>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Amazon.com Inc.</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tabLst>
                          <a:tab pos="1843405" algn="r"/>
                        </a:tabLst>
                      </a:pPr>
                      <a:r>
                        <a:rPr lang="en-US" sz="1000">
                          <a:solidFill>
                            <a:srgbClr val="002060"/>
                          </a:solidFill>
                          <a:effectLst/>
                          <a:latin typeface="Arial" panose="020B0604020202020204" pitchFamily="34" charset="0"/>
                          <a:ea typeface="Calibri" panose="020F0502020204030204" pitchFamily="34" charset="0"/>
                        </a:rPr>
                        <a:t>Nasdaq (New York)	</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Online Distribution</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1.02</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extLst>
                  <a:ext uri="{0D108BD9-81ED-4DB2-BD59-A6C34878D82A}">
                    <a16:rowId xmlns:a16="http://schemas.microsoft.com/office/drawing/2014/main" val="10013"/>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Google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Nasdaq (New York)</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Internet Information</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0.97</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extLst>
                  <a:ext uri="{0D108BD9-81ED-4DB2-BD59-A6C34878D82A}">
                    <a16:rowId xmlns:a16="http://schemas.microsoft.com/office/drawing/2014/main" val="10014"/>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Microsoft Corporation</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Nasdaq (New York)</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Software and Services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0.92</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Chevron Corporation</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Major Oil and Gas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0.90</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16"/>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Total </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Euronext Paris </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Major Oil and Gas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0.83</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extLst>
                  <a:ext uri="{0D108BD9-81ED-4DB2-BD59-A6C34878D82A}">
                    <a16:rowId xmlns:a16="http://schemas.microsoft.com/office/drawing/2014/main" val="10017"/>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Exxon Mobil</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Major Oil and Gas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0.78</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Nestlé</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SIX-Swiss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Personal Products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0.58</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19"/>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Unilever</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Euronext Amsterdam </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Personal Products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0.49</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extLst>
                  <a:ext uri="{0D108BD9-81ED-4DB2-BD59-A6C34878D82A}">
                    <a16:rowId xmlns:a16="http://schemas.microsoft.com/office/drawing/2014/main" val="10020"/>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Proctor &amp; Gamble Inc.</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Personal Products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0.47</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21"/>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Tesco</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London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Distribution- Discount</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0.46</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lnL>
                      <a:noFill/>
                    </a:lnL>
                    <a:lnR>
                      <a:noFill/>
                    </a:lnR>
                    <a:lnT w="190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22"/>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J Sainsbury</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London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Distribution- Discount</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0.41</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lnL>
                      <a:noFill/>
                    </a:lnL>
                    <a:lnR>
                      <a:noFill/>
                    </a:lnR>
                    <a:lnT>
                      <a:noFill/>
                    </a:lnT>
                    <a:lnB>
                      <a:noFill/>
                    </a:lnB>
                    <a:solidFill>
                      <a:srgbClr val="FFFFFF"/>
                    </a:solidFill>
                  </a:tcPr>
                </a:tc>
                <a:extLst>
                  <a:ext uri="{0D108BD9-81ED-4DB2-BD59-A6C34878D82A}">
                    <a16:rowId xmlns:a16="http://schemas.microsoft.com/office/drawing/2014/main" val="10023"/>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Wal-Mart Stores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Distribution- Discount</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0.40</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lnL>
                      <a:noFill/>
                    </a:lnL>
                    <a:lnR>
                      <a:noFill/>
                    </a:lnR>
                    <a:lnT>
                      <a:noFill/>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24"/>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Verizon Communications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Telecom Services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0.43</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w="190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25"/>
                  </a:ext>
                </a:extLst>
              </a:tr>
              <a:tr h="161941">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ATT</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New York Stock Exchange</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000">
                          <a:solidFill>
                            <a:srgbClr val="002060"/>
                          </a:solidFill>
                          <a:effectLst/>
                          <a:latin typeface="Arial" panose="020B0604020202020204" pitchFamily="34" charset="0"/>
                          <a:ea typeface="Calibri" panose="020F0502020204030204" pitchFamily="34" charset="0"/>
                        </a:rPr>
                        <a:t>Telecom Services</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000" b="1">
                          <a:solidFill>
                            <a:srgbClr val="002060"/>
                          </a:solidFill>
                          <a:effectLst/>
                          <a:latin typeface="Arial" panose="020B0604020202020204" pitchFamily="34" charset="0"/>
                          <a:ea typeface="Calibri" panose="020F0502020204030204" pitchFamily="34" charset="0"/>
                        </a:rPr>
                        <a:t>0.42</a:t>
                      </a:r>
                      <a:endParaRPr lang="en-US" sz="1000">
                        <a:solidFill>
                          <a:srgbClr val="002060"/>
                        </a:solidFill>
                        <a:effectLst/>
                        <a:latin typeface="Times New Roman" panose="02020603050405020304" pitchFamily="18" charset="0"/>
                        <a:ea typeface="Calibri" panose="020F0502020204030204" pitchFamily="34" charset="0"/>
                      </a:endParaRPr>
                    </a:p>
                  </a:txBody>
                  <a:tcPr marL="51440" marR="51440" marT="0" marB="0" anchor="ctr">
                    <a:lnL>
                      <a:noFill/>
                    </a:lnL>
                    <a:lnR>
                      <a:noFill/>
                    </a:lnR>
                    <a:lnT>
                      <a:noFill/>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26"/>
                  </a:ext>
                </a:extLst>
              </a:tr>
            </a:tbl>
          </a:graphicData>
        </a:graphic>
      </p:graphicFrame>
      <p:sp>
        <p:nvSpPr>
          <p:cNvPr id="9" name="TextBox 8"/>
          <p:cNvSpPr txBox="1"/>
          <p:nvPr/>
        </p:nvSpPr>
        <p:spPr>
          <a:xfrm>
            <a:off x="1763688" y="6165304"/>
            <a:ext cx="2063385" cy="246221"/>
          </a:xfrm>
          <a:prstGeom prst="rect">
            <a:avLst/>
          </a:prstGeom>
          <a:noFill/>
        </p:spPr>
        <p:txBody>
          <a:bodyPr wrap="none" rtlCol="0">
            <a:spAutoFit/>
          </a:bodyPr>
          <a:lstStyle/>
          <a:p>
            <a:r>
              <a:rPr lang="tr-TR" sz="1000"/>
              <a:t>Source: Datastream, March 2014</a:t>
            </a:r>
            <a:endParaRPr lang="en-US" sz="1000"/>
          </a:p>
        </p:txBody>
      </p:sp>
    </p:spTree>
    <p:extLst>
      <p:ext uri="{BB962C8B-B14F-4D97-AF65-F5344CB8AC3E}">
        <p14:creationId xmlns:p14="http://schemas.microsoft.com/office/powerpoint/2010/main" val="379614071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120</a:t>
            </a:fld>
            <a:endParaRPr lang="tr-TR" sz="1200">
              <a:solidFill>
                <a:schemeClr val="tx2"/>
              </a:solidFill>
              <a:latin typeface="Verdana" pitchFamily="34" charset="0"/>
            </a:endParaRPr>
          </a:p>
        </p:txBody>
      </p:sp>
      <p:graphicFrame>
        <p:nvGraphicFramePr>
          <p:cNvPr id="6" name="Group 35"/>
          <p:cNvGraphicFramePr>
            <a:graphicFrameLocks noGrp="1"/>
          </p:cNvGraphicFramePr>
          <p:nvPr>
            <p:ph/>
          </p:nvPr>
        </p:nvGraphicFramePr>
        <p:xfrm>
          <a:off x="1763489" y="1602578"/>
          <a:ext cx="5184775" cy="4130678"/>
        </p:xfrm>
        <a:graphic>
          <a:graphicData uri="http://schemas.openxmlformats.org/drawingml/2006/table">
            <a:tbl>
              <a:tblPr/>
              <a:tblGrid>
                <a:gridCol w="4187825">
                  <a:extLst>
                    <a:ext uri="{9D8B030D-6E8A-4147-A177-3AD203B41FA5}">
                      <a16:colId xmlns:a16="http://schemas.microsoft.com/office/drawing/2014/main" val="20000"/>
                    </a:ext>
                  </a:extLst>
                </a:gridCol>
                <a:gridCol w="996950">
                  <a:extLst>
                    <a:ext uri="{9D8B030D-6E8A-4147-A177-3AD203B41FA5}">
                      <a16:colId xmlns:a16="http://schemas.microsoft.com/office/drawing/2014/main" val="20001"/>
                    </a:ext>
                  </a:extLst>
                </a:gridCol>
              </a:tblGrid>
              <a:tr h="515938">
                <a:tc>
                  <a:txBody>
                    <a:bodyPr/>
                    <a:lstStyle/>
                    <a:p>
                      <a:pPr marL="342900" marR="0" lvl="0" indent="-342900" algn="l" defTabSz="914400" rtl="0" eaLnBrk="1" fontAlgn="t"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Ortalama borç maliyeti</a:t>
                      </a:r>
                      <a:endParaRPr kumimoji="0" lang="tr-TR" sz="16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t" latinLnBrk="0" hangingPunct="1">
                        <a:lnSpc>
                          <a:spcPct val="100000"/>
                        </a:lnSpc>
                        <a:spcBef>
                          <a:spcPct val="0"/>
                        </a:spcBef>
                        <a:spcAft>
                          <a:spcPct val="0"/>
                        </a:spcAft>
                        <a:buClrTx/>
                        <a:buSzTx/>
                        <a:buFontTx/>
                        <a:buNone/>
                        <a:tabLst/>
                      </a:pPr>
                      <a:endParaRPr kumimoji="0" lang="tr-TR" sz="16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5938">
                <a:tc>
                  <a:txBody>
                    <a:bodyPr/>
                    <a:lstStyle/>
                    <a:p>
                      <a:pPr marL="342900" marR="0" lvl="0" indent="-342900" algn="l" defTabSz="914400" rtl="0" eaLnBrk="1" fontAlgn="t"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Ülke faizi</a:t>
                      </a:r>
                      <a:endParaRPr kumimoji="0" lang="tr-TR" sz="16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t" latinLnBrk="0" hangingPunct="1">
                        <a:lnSpc>
                          <a:spcPct val="100000"/>
                        </a:lnSpc>
                        <a:spcBef>
                          <a:spcPct val="0"/>
                        </a:spcBef>
                        <a:spcAft>
                          <a:spcPct val="0"/>
                        </a:spcAft>
                        <a:buClrTx/>
                        <a:buSzTx/>
                        <a:buFontTx/>
                        <a:buNone/>
                        <a:tabLst/>
                      </a:pPr>
                      <a:endParaRPr kumimoji="0" lang="tr-TR" sz="16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52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Beta</a:t>
                      </a:r>
                      <a:endParaRPr kumimoji="0" lang="tr-TR" sz="16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Arial" charset="0"/>
                        </a:rPr>
                        <a:t>1</a:t>
                      </a: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59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Hisse risk primi</a:t>
                      </a:r>
                      <a:endParaRPr kumimoji="0" lang="tr-TR" sz="16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5%</a:t>
                      </a:r>
                      <a:endParaRPr kumimoji="0" lang="tr-TR" sz="16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59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Sermaye maliyeti</a:t>
                      </a:r>
                      <a:endParaRPr kumimoji="0" lang="tr-TR" sz="16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endParaRPr kumimoji="0" lang="tr-TR" sz="1600" b="1" i="0" u="none" strike="noStrike" cap="none" normalizeH="0" baseline="0">
                        <a:ln>
                          <a:noFill/>
                        </a:ln>
                        <a:solidFill>
                          <a:srgbClr val="0000CC"/>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7525">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Net borç / (Net borç + özsermaye)</a:t>
                      </a:r>
                      <a:endParaRPr kumimoji="0" lang="tr-TR" sz="16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0.5</a:t>
                      </a:r>
                      <a:endParaRPr kumimoji="0" lang="tr-TR" sz="16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59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Özsermaye / (Net borç + özsermaye)</a:t>
                      </a:r>
                      <a:endParaRPr kumimoji="0" lang="tr-TR" sz="16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0.5</a:t>
                      </a:r>
                      <a:endParaRPr kumimoji="0" lang="tr-TR" sz="16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59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tr-TR" sz="1600" b="0" i="0" u="none" strike="noStrike" cap="none" normalizeH="0" baseline="0">
                          <a:ln>
                            <a:noFill/>
                          </a:ln>
                          <a:solidFill>
                            <a:schemeClr val="tx1"/>
                          </a:solidFill>
                          <a:effectLst/>
                          <a:latin typeface="Verdana" pitchFamily="34" charset="0"/>
                          <a:cs typeface="Arial" charset="0"/>
                        </a:rPr>
                        <a:t>Ağırlıklı Sermaye Maliyeti</a:t>
                      </a:r>
                      <a:endParaRPr kumimoji="0" lang="tr-TR" sz="1600" b="0" i="0" u="none" strike="noStrike" cap="none" normalizeH="0" baseline="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endParaRPr kumimoji="0" lang="tr-TR" sz="1600" b="1" i="0" u="none" strike="noStrike" cap="none" normalizeH="0" baseline="0">
                        <a:ln>
                          <a:noFill/>
                        </a:ln>
                        <a:solidFill>
                          <a:srgbClr val="0000CC"/>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 name="Rectangle 3"/>
          <p:cNvSpPr>
            <a:spLocks noChangeArrowheads="1"/>
          </p:cNvSpPr>
          <p:nvPr/>
        </p:nvSpPr>
        <p:spPr bwMode="auto">
          <a:xfrm>
            <a:off x="971600" y="44625"/>
            <a:ext cx="7488832"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marL="762000" indent="-762000" algn="ctr"/>
            <a:r>
              <a:rPr lang="tr-TR" sz="3200" b="0">
                <a:latin typeface="+mj-lt"/>
              </a:rPr>
              <a:t>Konsept Çalışması: </a:t>
            </a:r>
          </a:p>
          <a:p>
            <a:pPr marL="762000" indent="-762000" algn="ctr"/>
            <a:r>
              <a:rPr lang="tr-TR" sz="3200" b="0">
                <a:latin typeface="+mj-lt"/>
              </a:rPr>
              <a:t>Ağırlıklı Sermaye Maliyeti</a:t>
            </a:r>
          </a:p>
        </p:txBody>
      </p:sp>
    </p:spTree>
    <p:extLst>
      <p:ext uri="{BB962C8B-B14F-4D97-AF65-F5344CB8AC3E}">
        <p14:creationId xmlns:p14="http://schemas.microsoft.com/office/powerpoint/2010/main" val="2911894063"/>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121</a:t>
            </a:fld>
            <a:endParaRPr lang="tr-TR" sz="1200">
              <a:solidFill>
                <a:schemeClr val="tx2"/>
              </a:solidFill>
              <a:latin typeface="Verdana" pitchFamily="34" charset="0"/>
            </a:endParaRPr>
          </a:p>
        </p:txBody>
      </p:sp>
      <p:sp>
        <p:nvSpPr>
          <p:cNvPr id="5" name="Rectangle 2"/>
          <p:cNvSpPr txBox="1">
            <a:spLocks noChangeArrowheads="1"/>
          </p:cNvSpPr>
          <p:nvPr/>
        </p:nvSpPr>
        <p:spPr>
          <a:xfrm>
            <a:off x="0" y="1340421"/>
            <a:ext cx="9144000" cy="4896891"/>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10000"/>
              </a:lnSpc>
              <a:spcAft>
                <a:spcPct val="20000"/>
              </a:spcAft>
              <a:buNone/>
            </a:pPr>
            <a:r>
              <a:rPr lang="tr-TR" sz="2000">
                <a:latin typeface="Verdana" pitchFamily="34" charset="0"/>
                <a:ea typeface="Verdana" pitchFamily="34" charset="0"/>
                <a:cs typeface="Verdana" pitchFamily="34" charset="0"/>
              </a:rPr>
              <a:t>		</a:t>
            </a:r>
          </a:p>
          <a:p>
            <a:pPr lvl="1" algn="just">
              <a:lnSpc>
                <a:spcPct val="110000"/>
              </a:lnSpc>
              <a:spcAft>
                <a:spcPct val="20000"/>
              </a:spcAft>
              <a:buFont typeface="Wingdings" pitchFamily="2" charset="2"/>
              <a:buChar char="n"/>
            </a:pPr>
            <a:r>
              <a:rPr lang="tr-TR" sz="1800">
                <a:latin typeface="Verdana" pitchFamily="34" charset="0"/>
                <a:ea typeface="Verdana" pitchFamily="34" charset="0"/>
                <a:cs typeface="Verdana" pitchFamily="34" charset="0"/>
              </a:rPr>
              <a:t>Karlılık analizi kısmında şirketin borçlanmasının özsermaye karlılık riskini nasıl etkilediğini bir örnekle paylaşmıştık.</a:t>
            </a:r>
          </a:p>
          <a:p>
            <a:pPr lvl="1" algn="just">
              <a:lnSpc>
                <a:spcPct val="110000"/>
              </a:lnSpc>
              <a:spcAft>
                <a:spcPct val="20000"/>
              </a:spcAft>
              <a:buFont typeface="Wingdings" pitchFamily="2" charset="2"/>
              <a:buChar char="n"/>
            </a:pPr>
            <a:r>
              <a:rPr lang="tr-TR" sz="1800">
                <a:latin typeface="Verdana" pitchFamily="34" charset="0"/>
                <a:ea typeface="Verdana" pitchFamily="34" charset="0"/>
                <a:cs typeface="Verdana" pitchFamily="34" charset="0"/>
              </a:rPr>
              <a:t>Aynı iş riskine sahip, ancak farklı borçlanma yapılarındaki şirketler için beta katsayısı aşağıdaki formül uygulanarak alınan finansal riske göre ayarlanır. </a:t>
            </a:r>
          </a:p>
          <a:p>
            <a:pPr lvl="1" algn="just">
              <a:lnSpc>
                <a:spcPct val="110000"/>
              </a:lnSpc>
              <a:spcAft>
                <a:spcPct val="20000"/>
              </a:spcAft>
              <a:buFont typeface="Wingdings" pitchFamily="2" charset="2"/>
              <a:buChar char="n"/>
            </a:pPr>
            <a:endParaRPr lang="tr-TR" sz="2000">
              <a:latin typeface="Verdana" pitchFamily="34" charset="0"/>
              <a:ea typeface="Verdana" pitchFamily="34" charset="0"/>
              <a:cs typeface="Verdana" pitchFamily="34" charset="0"/>
            </a:endParaRPr>
          </a:p>
          <a:p>
            <a:pPr lvl="2" algn="just">
              <a:lnSpc>
                <a:spcPct val="110000"/>
              </a:lnSpc>
              <a:spcAft>
                <a:spcPct val="20000"/>
              </a:spcAft>
              <a:buFont typeface="Wingdings" pitchFamily="2" charset="2"/>
              <a:buChar char="p"/>
            </a:pPr>
            <a:r>
              <a:rPr lang="tr-TR" sz="2000">
                <a:latin typeface="Verdana" pitchFamily="34" charset="0"/>
                <a:ea typeface="Verdana" pitchFamily="34" charset="0"/>
                <a:cs typeface="Verdana" pitchFamily="34" charset="0"/>
              </a:rPr>
              <a:t> </a:t>
            </a:r>
            <a:r>
              <a:rPr lang="el-GR" sz="2000">
                <a:latin typeface="Verdana" pitchFamily="34" charset="0"/>
                <a:ea typeface="Verdana" pitchFamily="34" charset="0"/>
                <a:cs typeface="Verdana" pitchFamily="34" charset="0"/>
              </a:rPr>
              <a:t>β</a:t>
            </a:r>
            <a:r>
              <a:rPr lang="tr-TR" sz="2000" baseline="-25000">
                <a:latin typeface="Verdana" pitchFamily="34" charset="0"/>
                <a:ea typeface="Verdana" pitchFamily="34" charset="0"/>
                <a:cs typeface="Verdana" pitchFamily="34" charset="0"/>
              </a:rPr>
              <a:t>borçlu</a:t>
            </a:r>
            <a:r>
              <a:rPr lang="tr-TR" sz="2000">
                <a:latin typeface="Verdana" pitchFamily="34" charset="0"/>
                <a:ea typeface="Verdana" pitchFamily="34" charset="0"/>
                <a:cs typeface="Verdana" pitchFamily="34" charset="0"/>
              </a:rPr>
              <a:t> = </a:t>
            </a:r>
            <a:r>
              <a:rPr lang="el-GR" sz="2000">
                <a:latin typeface="Verdana" pitchFamily="34" charset="0"/>
                <a:ea typeface="Verdana" pitchFamily="34" charset="0"/>
                <a:cs typeface="Verdana" pitchFamily="34" charset="0"/>
              </a:rPr>
              <a:t>β</a:t>
            </a:r>
            <a:r>
              <a:rPr lang="tr-TR" sz="2000" baseline="-25000">
                <a:latin typeface="Verdana" pitchFamily="34" charset="0"/>
                <a:ea typeface="Verdana" pitchFamily="34" charset="0"/>
                <a:cs typeface="Verdana" pitchFamily="34" charset="0"/>
              </a:rPr>
              <a:t>borçsuz</a:t>
            </a:r>
            <a:r>
              <a:rPr lang="tr-TR" sz="2000">
                <a:latin typeface="Verdana" pitchFamily="34" charset="0"/>
                <a:ea typeface="Verdana" pitchFamily="34" charset="0"/>
                <a:cs typeface="Verdana" pitchFamily="34" charset="0"/>
              </a:rPr>
              <a:t> * (1 + (1 – vergi oranı) * Borç/Sermaye)</a:t>
            </a:r>
          </a:p>
        </p:txBody>
      </p:sp>
      <p:sp>
        <p:nvSpPr>
          <p:cNvPr id="6" name="Title 1"/>
          <p:cNvSpPr>
            <a:spLocks noGrp="1"/>
          </p:cNvSpPr>
          <p:nvPr>
            <p:ph type="title"/>
          </p:nvPr>
        </p:nvSpPr>
        <p:spPr>
          <a:xfrm>
            <a:off x="457200" y="125760"/>
            <a:ext cx="8229600" cy="1143000"/>
          </a:xfrm>
        </p:spPr>
        <p:txBody>
          <a:bodyPr/>
          <a:lstStyle/>
          <a:p>
            <a:r>
              <a:rPr lang="tr-TR" sz="4000"/>
              <a:t>Finansal Risk &amp; Beta Katsayısı</a:t>
            </a:r>
            <a:endParaRPr lang="en-US" sz="4000"/>
          </a:p>
        </p:txBody>
      </p:sp>
    </p:spTree>
    <p:extLst>
      <p:ext uri="{BB962C8B-B14F-4D97-AF65-F5344CB8AC3E}">
        <p14:creationId xmlns:p14="http://schemas.microsoft.com/office/powerpoint/2010/main" val="2795240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069976"/>
            <a:ext cx="8229600" cy="1143000"/>
          </a:xfrm>
        </p:spPr>
        <p:txBody>
          <a:bodyPr/>
          <a:lstStyle/>
          <a:p>
            <a:r>
              <a:rPr lang="tr-TR" b="1"/>
              <a:t>PARANIN ZAMAN DEĞERİ</a:t>
            </a:r>
            <a:endParaRPr lang="en-GB" b="1"/>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6"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122</a:t>
            </a:fld>
            <a:endParaRPr lang="tr-TR" sz="1200">
              <a:solidFill>
                <a:schemeClr val="tx2"/>
              </a:solidFill>
              <a:latin typeface="Verdana" pitchFamily="34"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r>
              <a:rPr lang="tr-TR" altLang="en-US"/>
              <a:t>Paranın Zaman Değeri </a:t>
            </a:r>
            <a:endParaRPr lang="en-US" altLang="en-US"/>
          </a:p>
        </p:txBody>
      </p:sp>
      <p:sp>
        <p:nvSpPr>
          <p:cNvPr id="123907" name="Rectangle 3"/>
          <p:cNvSpPr>
            <a:spLocks noChangeArrowheads="1"/>
          </p:cNvSpPr>
          <p:nvPr/>
        </p:nvSpPr>
        <p:spPr bwMode="auto">
          <a:xfrm>
            <a:off x="1403350" y="1916113"/>
            <a:ext cx="2511425" cy="2028761"/>
          </a:xfrm>
          <a:prstGeom prst="rect">
            <a:avLst/>
          </a:prstGeom>
          <a:gradFill rotWithShape="0">
            <a:gsLst>
              <a:gs pos="0">
                <a:srgbClr val="FFFFFF"/>
              </a:gs>
              <a:gs pos="100000">
                <a:srgbClr val="FFCC00"/>
              </a:gs>
            </a:gsLst>
            <a:lin ang="2700000" scaled="1"/>
          </a:gradFill>
          <a:ln w="38100" cmpd="dbl">
            <a:solidFill>
              <a:srgbClr val="336600"/>
            </a:solidFill>
            <a:miter lim="800000"/>
            <a:headEnd/>
            <a:tailEnd/>
          </a:ln>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tr-TR" altLang="en-US" sz="2800" u="sng">
                <a:latin typeface="Times New Roman" panose="02020603050405020304" pitchFamily="18" charset="0"/>
              </a:rPr>
              <a:t>Bugünkü Değer</a:t>
            </a:r>
            <a:endParaRPr lang="en-US" altLang="en-US" sz="2800" u="sng">
              <a:latin typeface="Times New Roman" panose="02020603050405020304" pitchFamily="18" charset="0"/>
            </a:endParaRPr>
          </a:p>
          <a:p>
            <a:pPr algn="ctr">
              <a:spcBef>
                <a:spcPct val="50000"/>
              </a:spcBef>
            </a:pPr>
            <a:r>
              <a:rPr lang="tr-TR" altLang="en-US" sz="2800">
                <a:latin typeface="Times New Roman" panose="02020603050405020304" pitchFamily="18" charset="0"/>
              </a:rPr>
              <a:t>Gelecekteki bir nakit akımının bugünkü değeri</a:t>
            </a:r>
            <a:endParaRPr lang="en-US" altLang="en-US" sz="2800">
              <a:latin typeface="Times New Roman" panose="02020603050405020304" pitchFamily="18" charset="0"/>
            </a:endParaRPr>
          </a:p>
        </p:txBody>
      </p:sp>
      <p:sp>
        <p:nvSpPr>
          <p:cNvPr id="6" name="Rectangle 4"/>
          <p:cNvSpPr>
            <a:spLocks noChangeArrowheads="1"/>
          </p:cNvSpPr>
          <p:nvPr/>
        </p:nvSpPr>
        <p:spPr bwMode="auto">
          <a:xfrm>
            <a:off x="5029200" y="1447800"/>
            <a:ext cx="3276600" cy="1597873"/>
          </a:xfrm>
          <a:prstGeom prst="rect">
            <a:avLst/>
          </a:prstGeom>
          <a:gradFill rotWithShape="0">
            <a:gsLst>
              <a:gs pos="0">
                <a:srgbClr val="FFFFFF"/>
              </a:gs>
              <a:gs pos="100000">
                <a:srgbClr val="FFCC00"/>
              </a:gs>
            </a:gsLst>
            <a:lin ang="2700000" scaled="1"/>
          </a:gradFill>
          <a:ln w="38100" cmpd="dbl">
            <a:solidFill>
              <a:srgbClr val="336600"/>
            </a:solidFill>
            <a:miter lim="800000"/>
            <a:headEnd/>
            <a:tailEnd/>
          </a:ln>
        </p:spPr>
        <p:txBody>
          <a:bodyPr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tr-TR" altLang="en-US" sz="2800" u="sng">
                <a:latin typeface="Times New Roman" panose="02020603050405020304" pitchFamily="18" charset="0"/>
              </a:rPr>
              <a:t>Gelecekteki Değer</a:t>
            </a:r>
            <a:endParaRPr lang="en-US" altLang="en-US" sz="2800">
              <a:latin typeface="Times New Roman" panose="02020603050405020304" pitchFamily="18" charset="0"/>
            </a:endParaRPr>
          </a:p>
          <a:p>
            <a:pPr algn="ctr">
              <a:spcBef>
                <a:spcPct val="50000"/>
              </a:spcBef>
            </a:pPr>
            <a:r>
              <a:rPr lang="tr-TR" altLang="en-US" sz="2800">
                <a:latin typeface="Times New Roman" panose="02020603050405020304" pitchFamily="18" charset="0"/>
              </a:rPr>
              <a:t>Bir yatırımın ileride erişeceği değer</a:t>
            </a:r>
            <a:endParaRPr lang="en-US" altLang="en-US" sz="2800">
              <a:latin typeface="Times New Roman" panose="02020603050405020304" pitchFamily="18" charset="0"/>
            </a:endParaRPr>
          </a:p>
        </p:txBody>
      </p:sp>
      <p:sp>
        <p:nvSpPr>
          <p:cNvPr id="7" name="Rectangle 5"/>
          <p:cNvSpPr>
            <a:spLocks noChangeArrowheads="1"/>
          </p:cNvSpPr>
          <p:nvPr/>
        </p:nvSpPr>
        <p:spPr bwMode="auto">
          <a:xfrm>
            <a:off x="4500563" y="3716338"/>
            <a:ext cx="3311797" cy="2459648"/>
          </a:xfrm>
          <a:prstGeom prst="rect">
            <a:avLst/>
          </a:prstGeom>
          <a:gradFill rotWithShape="0">
            <a:gsLst>
              <a:gs pos="0">
                <a:schemeClr val="hlink">
                  <a:gamma/>
                  <a:tint val="0"/>
                  <a:invGamma/>
                </a:schemeClr>
              </a:gs>
              <a:gs pos="100000">
                <a:schemeClr val="hlink"/>
              </a:gs>
            </a:gsLst>
            <a:lin ang="2700000" scaled="1"/>
          </a:gradFill>
          <a:ln w="38100" cmpd="dbl">
            <a:solidFill>
              <a:srgbClr val="336600"/>
            </a:solidFill>
            <a:miter lim="800000"/>
            <a:headEnd/>
            <a:tailEnd/>
          </a:ln>
          <a:effectLst/>
        </p:spPr>
        <p:txBody>
          <a:bodyPr wrap="square" lIns="90488" tIns="44450" rIns="90488" bIns="44450">
            <a:spAutoFit/>
          </a:bodyPr>
          <a:lstStyle/>
          <a:p>
            <a:pPr algn="ctr" eaLnBrk="0" hangingPunct="0">
              <a:spcBef>
                <a:spcPct val="50000"/>
              </a:spcBef>
              <a:defRPr/>
            </a:pPr>
            <a:r>
              <a:rPr lang="tr-TR" sz="2800" u="sng">
                <a:latin typeface="Times New Roman" pitchFamily="18" charset="0"/>
                <a:cs typeface="Arial" charset="0"/>
              </a:rPr>
              <a:t>İskonto Oranı</a:t>
            </a:r>
            <a:endParaRPr lang="en-US" sz="2800" u="sng">
              <a:latin typeface="Times New Roman" pitchFamily="18" charset="0"/>
              <a:cs typeface="Arial" charset="0"/>
            </a:endParaRPr>
          </a:p>
          <a:p>
            <a:pPr algn="ctr" eaLnBrk="0" hangingPunct="0">
              <a:spcBef>
                <a:spcPct val="50000"/>
              </a:spcBef>
              <a:defRPr/>
            </a:pPr>
            <a:r>
              <a:rPr lang="tr-TR" sz="2800">
                <a:latin typeface="Times New Roman" pitchFamily="18" charset="0"/>
                <a:cs typeface="Arial" charset="0"/>
              </a:rPr>
              <a:t>Gelecekteki nakit akımlarının bugünkü değerini bulurken kullanılan faiz oranı</a:t>
            </a:r>
            <a:endParaRPr lang="en-US" sz="2800">
              <a:latin typeface="Times New Roman" pitchFamily="18" charset="0"/>
              <a:cs typeface="Arial" charset="0"/>
            </a:endParaRPr>
          </a:p>
        </p:txBody>
      </p:sp>
      <p:sp>
        <p:nvSpPr>
          <p:cNvPr id="9" name="Slide Number Placeholder 4">
            <a:extLst>
              <a:ext uri="{FF2B5EF4-FFF2-40B4-BE49-F238E27FC236}">
                <a16:creationId xmlns:a16="http://schemas.microsoft.com/office/drawing/2014/main" id="{137BAA89-82E7-4A38-B7B2-FEA0A947FCA0}"/>
              </a:ext>
            </a:extLst>
          </p:cNvPr>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123</a:t>
            </a:fld>
            <a:endParaRPr lang="tr-TR" sz="1200">
              <a:solidFill>
                <a:schemeClr val="tx2"/>
              </a:solidFill>
              <a:latin typeface="Verdana" pitchFamily="34" charset="0"/>
            </a:endParaRPr>
          </a:p>
        </p:txBody>
      </p:sp>
    </p:spTree>
    <p:extLst>
      <p:ext uri="{BB962C8B-B14F-4D97-AF65-F5344CB8AC3E}">
        <p14:creationId xmlns:p14="http://schemas.microsoft.com/office/powerpoint/2010/main" val="4211784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p:txBody>
          <a:bodyPr/>
          <a:lstStyle/>
          <a:p>
            <a:pPr eaLnBrk="1" hangingPunct="1"/>
            <a:r>
              <a:rPr lang="tr-TR" sz="3600">
                <a:cs typeface="Times New Roman" pitchFamily="18" charset="0"/>
              </a:rPr>
              <a:t>Gelecekteki Değer (GD)</a:t>
            </a:r>
            <a:r>
              <a:rPr lang="en-US" sz="3600"/>
              <a:t> </a:t>
            </a:r>
          </a:p>
        </p:txBody>
      </p:sp>
      <p:sp>
        <p:nvSpPr>
          <p:cNvPr id="107524" name="Rectangle 3"/>
          <p:cNvSpPr>
            <a:spLocks noGrp="1" noChangeArrowheads="1"/>
          </p:cNvSpPr>
          <p:nvPr>
            <p:ph type="body" idx="4294967295"/>
          </p:nvPr>
        </p:nvSpPr>
        <p:spPr>
          <a:xfrm>
            <a:off x="539552" y="1268760"/>
            <a:ext cx="8229600" cy="4862512"/>
          </a:xfrm>
          <a:prstGeom prst="rect">
            <a:avLst/>
          </a:prstGeom>
        </p:spPr>
        <p:txBody>
          <a:bodyPr/>
          <a:lstStyle/>
          <a:p>
            <a:pPr eaLnBrk="1" hangingPunct="1"/>
            <a:r>
              <a:rPr lang="tr-TR"/>
              <a:t>Bugünkü değeri BD olan bir naktin bir sene sonraki değeri:</a:t>
            </a:r>
          </a:p>
          <a:p>
            <a:r>
              <a:rPr lang="tr-TR"/>
              <a:t>GD = BD + BD*f;    f = faiz</a:t>
            </a:r>
          </a:p>
          <a:p>
            <a:pPr eaLnBrk="1" hangingPunct="1"/>
            <a:r>
              <a:rPr lang="tr-TR"/>
              <a:t>     = BD*(1+f)</a:t>
            </a:r>
          </a:p>
          <a:p>
            <a:pPr>
              <a:buNone/>
            </a:pPr>
            <a:endParaRPr lang="tr-TR"/>
          </a:p>
          <a:p>
            <a:pPr>
              <a:buNone/>
            </a:pPr>
            <a:r>
              <a:rPr lang="tr-TR"/>
              <a:t>Bugünkü değeri BD olan bir naktin </a:t>
            </a:r>
            <a:r>
              <a:rPr lang="tr-TR" b="1"/>
              <a:t>t</a:t>
            </a:r>
            <a:r>
              <a:rPr lang="tr-TR"/>
              <a:t> sene sonraki değeri:</a:t>
            </a:r>
          </a:p>
          <a:p>
            <a:pPr eaLnBrk="1" hangingPunct="1">
              <a:buFont typeface="Wingdings" pitchFamily="2" charset="2"/>
              <a:buNone/>
            </a:pPr>
            <a:r>
              <a:rPr lang="tr-TR"/>
              <a:t>				</a:t>
            </a:r>
            <a:r>
              <a:rPr lang="tr-TR" b="1">
                <a:solidFill>
                  <a:srgbClr val="0000CC"/>
                </a:solidFill>
              </a:rPr>
              <a:t>GD = BD*(1+f)</a:t>
            </a:r>
            <a:r>
              <a:rPr lang="tr-TR" b="1" baseline="34000">
                <a:solidFill>
                  <a:srgbClr val="0000CC"/>
                </a:solidFill>
              </a:rPr>
              <a:t>t</a:t>
            </a:r>
          </a:p>
        </p:txBody>
      </p:sp>
      <p:sp>
        <p:nvSpPr>
          <p:cNvPr id="6" name="Slide Number Placeholder 4"/>
          <p:cNvSpPr txBox="1">
            <a:spLocks/>
          </p:cNvSpPr>
          <p:nvPr/>
        </p:nvSpPr>
        <p:spPr>
          <a:xfrm>
            <a:off x="8419714" y="6453337"/>
            <a:ext cx="724286" cy="368246"/>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124</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0365295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5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75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75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752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752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108548" name="Rectangle 4"/>
          <p:cNvSpPr>
            <a:spLocks noGrp="1" noChangeArrowheads="1"/>
          </p:cNvSpPr>
          <p:nvPr>
            <p:ph type="title"/>
          </p:nvPr>
        </p:nvSpPr>
        <p:spPr>
          <a:xfrm>
            <a:off x="457200" y="-27384"/>
            <a:ext cx="8229600" cy="1143000"/>
          </a:xfrm>
        </p:spPr>
        <p:txBody>
          <a:bodyPr lIns="90488" tIns="44450" rIns="90488" bIns="44450" anchor="ctr"/>
          <a:lstStyle/>
          <a:p>
            <a:pPr eaLnBrk="1" hangingPunct="1"/>
            <a:r>
              <a:rPr lang="tr-TR" sz="3600"/>
              <a:t>Gelecekteki Değer</a:t>
            </a:r>
            <a:endParaRPr lang="en-US" sz="3600"/>
          </a:p>
        </p:txBody>
      </p:sp>
      <p:sp>
        <p:nvSpPr>
          <p:cNvPr id="108549" name="Rectangle 7"/>
          <p:cNvSpPr>
            <a:spLocks noChangeArrowheads="1"/>
          </p:cNvSpPr>
          <p:nvPr/>
        </p:nvSpPr>
        <p:spPr bwMode="auto">
          <a:xfrm>
            <a:off x="833438" y="2662238"/>
            <a:ext cx="7934325" cy="3444533"/>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tr-TR" sz="2800" i="1" u="sng">
                <a:latin typeface="Times New Roman" pitchFamily="18" charset="0"/>
              </a:rPr>
              <a:t>Örnek</a:t>
            </a:r>
            <a:endParaRPr lang="en-US" sz="2800" i="1" u="sng">
              <a:latin typeface="Times New Roman" pitchFamily="18" charset="0"/>
            </a:endParaRPr>
          </a:p>
          <a:p>
            <a:pPr eaLnBrk="0" hangingPunct="0">
              <a:spcBef>
                <a:spcPct val="50000"/>
              </a:spcBef>
            </a:pPr>
            <a:r>
              <a:rPr lang="tr-TR" sz="2800" i="1">
                <a:latin typeface="Times New Roman" pitchFamily="18" charset="0"/>
              </a:rPr>
              <a:t>Bugün </a:t>
            </a:r>
            <a:r>
              <a:rPr lang="en-US" sz="2800" i="1">
                <a:latin typeface="Times New Roman" pitchFamily="18" charset="0"/>
              </a:rPr>
              <a:t>400</a:t>
            </a:r>
            <a:r>
              <a:rPr lang="tr-TR" sz="2800" i="1">
                <a:latin typeface="Times New Roman" pitchFamily="18" charset="0"/>
              </a:rPr>
              <a:t>.</a:t>
            </a:r>
            <a:r>
              <a:rPr lang="en-US" sz="2800" i="1">
                <a:latin typeface="Times New Roman" pitchFamily="18" charset="0"/>
              </a:rPr>
              <a:t>000</a:t>
            </a:r>
            <a:r>
              <a:rPr lang="tr-TR" sz="2800" i="1">
                <a:latin typeface="Times New Roman" pitchFamily="18" charset="0"/>
              </a:rPr>
              <a:t>₺ yatırdığımız bir mevduatın %12 faizle seneye değeri nedir</a:t>
            </a:r>
            <a:r>
              <a:rPr lang="en-US" sz="2800" i="1">
                <a:latin typeface="Times New Roman" pitchFamily="18" charset="0"/>
              </a:rPr>
              <a:t>?</a:t>
            </a:r>
            <a:endParaRPr lang="tr-TR" sz="2800" i="1">
              <a:latin typeface="Times New Roman" pitchFamily="18" charset="0"/>
            </a:endParaRPr>
          </a:p>
          <a:p>
            <a:pPr eaLnBrk="0" hangingPunct="0">
              <a:spcBef>
                <a:spcPct val="50000"/>
              </a:spcBef>
            </a:pPr>
            <a:r>
              <a:rPr lang="tr-TR" sz="2800" i="1">
                <a:latin typeface="Times New Roman" pitchFamily="18" charset="0"/>
              </a:rPr>
              <a:t>GD = 400.000 x (1+0,12)</a:t>
            </a:r>
            <a:r>
              <a:rPr lang="tr-TR" sz="2800" i="1" baseline="30000">
                <a:latin typeface="Times New Roman" pitchFamily="18" charset="0"/>
              </a:rPr>
              <a:t>1</a:t>
            </a:r>
            <a:r>
              <a:rPr lang="tr-TR" sz="2800" i="1">
                <a:latin typeface="Times New Roman" pitchFamily="18" charset="0"/>
              </a:rPr>
              <a:t> = 448.000₺</a:t>
            </a:r>
          </a:p>
          <a:p>
            <a:pPr eaLnBrk="0" hangingPunct="0">
              <a:spcBef>
                <a:spcPct val="50000"/>
              </a:spcBef>
            </a:pPr>
            <a:r>
              <a:rPr lang="tr-TR" sz="2800" i="1">
                <a:latin typeface="Times New Roman" pitchFamily="18" charset="0"/>
              </a:rPr>
              <a:t>Aylık mevduat için verilen bir oran olsaydı?</a:t>
            </a:r>
            <a:endParaRPr lang="en-US" sz="2400" i="1">
              <a:latin typeface="Times New Roman" pitchFamily="18" charset="0"/>
            </a:endParaRPr>
          </a:p>
          <a:p>
            <a:pPr eaLnBrk="0" hangingPunct="0">
              <a:spcBef>
                <a:spcPct val="50000"/>
              </a:spcBef>
            </a:pPr>
            <a:endParaRPr lang="en-US" sz="2400" i="1">
              <a:latin typeface="Times New Roman" pitchFamily="18" charset="0"/>
            </a:endParaRPr>
          </a:p>
        </p:txBody>
      </p:sp>
      <p:pic>
        <p:nvPicPr>
          <p:cNvPr id="108550" name="Picture 9"/>
          <p:cNvPicPr>
            <a:picLocks noChangeArrowheads="1"/>
          </p:cNvPicPr>
          <p:nvPr/>
        </p:nvPicPr>
        <p:blipFill>
          <a:blip r:embed="rId3" cstate="print"/>
          <a:srcRect/>
          <a:stretch>
            <a:fillRect/>
          </a:stretch>
        </p:blipFill>
        <p:spPr bwMode="auto">
          <a:xfrm>
            <a:off x="6019800" y="1617663"/>
            <a:ext cx="2085975" cy="1214437"/>
          </a:xfrm>
          <a:prstGeom prst="rect">
            <a:avLst/>
          </a:prstGeom>
          <a:noFill/>
          <a:ln w="12700">
            <a:noFill/>
            <a:miter lim="800000"/>
            <a:headEnd/>
            <a:tailEnd/>
          </a:ln>
        </p:spPr>
      </p:pic>
      <p:sp>
        <p:nvSpPr>
          <p:cNvPr id="7" name="Slide Number Placeholder 4"/>
          <p:cNvSpPr txBox="1">
            <a:spLocks/>
          </p:cNvSpPr>
          <p:nvPr/>
        </p:nvSpPr>
        <p:spPr>
          <a:xfrm>
            <a:off x="8532440" y="6453337"/>
            <a:ext cx="611560" cy="368246"/>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125</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8" name="Picture 7"/>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320787897"/>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5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5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85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85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9"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p>
        </p:txBody>
      </p:sp>
      <p:sp>
        <p:nvSpPr>
          <p:cNvPr id="108548" name="Rectangle 4"/>
          <p:cNvSpPr>
            <a:spLocks noGrp="1" noChangeArrowheads="1"/>
          </p:cNvSpPr>
          <p:nvPr>
            <p:ph type="title"/>
          </p:nvPr>
        </p:nvSpPr>
        <p:spPr>
          <a:xfrm>
            <a:off x="457200" y="-27384"/>
            <a:ext cx="8229600" cy="1143000"/>
          </a:xfrm>
        </p:spPr>
        <p:txBody>
          <a:bodyPr lIns="90488" tIns="44450" rIns="90488" bIns="44450" anchor="ctr"/>
          <a:lstStyle/>
          <a:p>
            <a:pPr eaLnBrk="1" hangingPunct="1"/>
            <a:r>
              <a:rPr lang="tr-TR" sz="3600"/>
              <a:t>Gelecekteki Değer</a:t>
            </a:r>
            <a:endParaRPr lang="en-US" sz="3600"/>
          </a:p>
        </p:txBody>
      </p:sp>
      <p:sp>
        <p:nvSpPr>
          <p:cNvPr id="108549" name="Rectangle 7"/>
          <p:cNvSpPr>
            <a:spLocks noChangeArrowheads="1"/>
          </p:cNvSpPr>
          <p:nvPr/>
        </p:nvSpPr>
        <p:spPr bwMode="auto">
          <a:xfrm>
            <a:off x="833438" y="2348880"/>
            <a:ext cx="7934325" cy="4306307"/>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tr-TR" sz="2800" i="1" u="sng">
                <a:latin typeface="Times New Roman" pitchFamily="18" charset="0"/>
              </a:rPr>
              <a:t>Örnek</a:t>
            </a:r>
            <a:endParaRPr lang="en-US" sz="2800" i="1" u="sng">
              <a:latin typeface="Times New Roman" pitchFamily="18" charset="0"/>
            </a:endParaRPr>
          </a:p>
          <a:p>
            <a:pPr eaLnBrk="0" hangingPunct="0">
              <a:spcBef>
                <a:spcPct val="50000"/>
              </a:spcBef>
            </a:pPr>
            <a:r>
              <a:rPr lang="tr-TR" sz="2800" i="1">
                <a:latin typeface="Times New Roman" pitchFamily="18" charset="0"/>
              </a:rPr>
              <a:t>Her sene %10 kazanacağınız varsayımıyla, paranızı kaç senede iki katına çıkartırsınız?</a:t>
            </a:r>
          </a:p>
          <a:p>
            <a:pPr eaLnBrk="0" hangingPunct="0">
              <a:spcBef>
                <a:spcPct val="50000"/>
              </a:spcBef>
            </a:pPr>
            <a:endParaRPr lang="tr-TR" sz="2800" i="1">
              <a:latin typeface="Times New Roman" pitchFamily="18" charset="0"/>
            </a:endParaRPr>
          </a:p>
          <a:p>
            <a:pPr eaLnBrk="0" hangingPunct="0">
              <a:spcBef>
                <a:spcPct val="50000"/>
              </a:spcBef>
            </a:pPr>
            <a:r>
              <a:rPr lang="tr-TR" sz="2800" i="1">
                <a:latin typeface="Times New Roman" pitchFamily="18" charset="0"/>
              </a:rPr>
              <a:t>Her sene %10 kazanacağınız ve ilaveten ilk yatırdığınız tutarın %10’u kadar birikim ekleyeceğiniz tasarrufunuz kaç yılda iki katına çıkar?</a:t>
            </a:r>
            <a:endParaRPr lang="en-US" sz="2400" i="1">
              <a:latin typeface="Times New Roman" pitchFamily="18" charset="0"/>
            </a:endParaRPr>
          </a:p>
          <a:p>
            <a:pPr eaLnBrk="0" hangingPunct="0">
              <a:spcBef>
                <a:spcPct val="50000"/>
              </a:spcBef>
            </a:pPr>
            <a:endParaRPr lang="en-US" sz="2400" i="1">
              <a:latin typeface="Times New Roman" pitchFamily="18" charset="0"/>
            </a:endParaRPr>
          </a:p>
        </p:txBody>
      </p:sp>
      <p:pic>
        <p:nvPicPr>
          <p:cNvPr id="108550" name="Picture 9"/>
          <p:cNvPicPr>
            <a:picLocks noChangeArrowheads="1"/>
          </p:cNvPicPr>
          <p:nvPr/>
        </p:nvPicPr>
        <p:blipFill>
          <a:blip r:embed="rId3" cstate="print"/>
          <a:srcRect/>
          <a:stretch>
            <a:fillRect/>
          </a:stretch>
        </p:blipFill>
        <p:spPr bwMode="auto">
          <a:xfrm>
            <a:off x="6019800" y="1617663"/>
            <a:ext cx="2085975" cy="1214437"/>
          </a:xfrm>
          <a:prstGeom prst="rect">
            <a:avLst/>
          </a:prstGeom>
          <a:noFill/>
          <a:ln w="12700">
            <a:noFill/>
            <a:miter lim="800000"/>
            <a:headEnd/>
            <a:tailEnd/>
          </a:ln>
        </p:spPr>
      </p:pic>
      <p:sp>
        <p:nvSpPr>
          <p:cNvPr id="7" name="Slide Number Placeholder 4"/>
          <p:cNvSpPr txBox="1">
            <a:spLocks/>
          </p:cNvSpPr>
          <p:nvPr/>
        </p:nvSpPr>
        <p:spPr>
          <a:xfrm>
            <a:off x="8419714" y="6469287"/>
            <a:ext cx="724286"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126</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8" name="Picture 7"/>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012922964"/>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5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5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854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9"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tr-TR" sz="4000"/>
              <a:t>Bileşik Faizin Gücü</a:t>
            </a:r>
            <a:endParaRPr lang="en-GB"/>
          </a:p>
        </p:txBody>
      </p:sp>
      <p:sp>
        <p:nvSpPr>
          <p:cNvPr id="4" name="Slide Number Placeholder 4"/>
          <p:cNvSpPr txBox="1">
            <a:spLocks/>
          </p:cNvSpPr>
          <p:nvPr/>
        </p:nvSpPr>
        <p:spPr>
          <a:xfrm>
            <a:off x="8521700" y="6469286"/>
            <a:ext cx="62230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127</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4"/>
            <a:ext cx="648072" cy="656278"/>
          </a:xfrm>
          <a:prstGeom prst="rect">
            <a:avLst/>
          </a:prstGeom>
          <a:noFill/>
          <a:ln>
            <a:noFill/>
          </a:ln>
        </p:spPr>
      </p:pic>
      <p:graphicFrame>
        <p:nvGraphicFramePr>
          <p:cNvPr id="2" name="Object 2">
            <a:extLst>
              <a:ext uri="{FF2B5EF4-FFF2-40B4-BE49-F238E27FC236}">
                <a16:creationId xmlns:a16="http://schemas.microsoft.com/office/drawing/2014/main" id="{2516EABB-4A60-1BF7-A8AF-43F388DE2AFF}"/>
              </a:ext>
            </a:extLst>
          </p:cNvPr>
          <p:cNvGraphicFramePr>
            <a:graphicFrameLocks/>
          </p:cNvGraphicFramePr>
          <p:nvPr>
            <p:extLst>
              <p:ext uri="{D42A27DB-BD31-4B8C-83A1-F6EECF244321}">
                <p14:modId xmlns:p14="http://schemas.microsoft.com/office/powerpoint/2010/main" val="1894737617"/>
              </p:ext>
            </p:extLst>
          </p:nvPr>
        </p:nvGraphicFramePr>
        <p:xfrm>
          <a:off x="533400" y="1196752"/>
          <a:ext cx="7988300" cy="5108575"/>
        </p:xfrm>
        <a:graphic>
          <a:graphicData uri="http://schemas.openxmlformats.org/presentationml/2006/ole">
            <mc:AlternateContent xmlns:mc="http://schemas.openxmlformats.org/markup-compatibility/2006">
              <mc:Choice xmlns:v="urn:schemas-microsoft-com:vml" Requires="v">
                <p:oleObj name="Chart" r:id="rId3" imgW="7970598" imgH="5105416" progId="MSGraph.Chart.8">
                  <p:embed followColorScheme="full"/>
                </p:oleObj>
              </mc:Choice>
              <mc:Fallback>
                <p:oleObj name="Chart" r:id="rId3" imgW="7970598" imgH="5105416" progId="MSGraph.Chart.8">
                  <p:embed followColorScheme="full"/>
                  <p:pic>
                    <p:nvPicPr>
                      <p:cNvPr id="2" name="Object 2">
                        <a:extLst>
                          <a:ext uri="{FF2B5EF4-FFF2-40B4-BE49-F238E27FC236}">
                            <a16:creationId xmlns:a16="http://schemas.microsoft.com/office/drawing/2014/main" id="{2516EABB-4A60-1BF7-A8AF-43F388DE2AF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196752"/>
                        <a:ext cx="7988300" cy="510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4517083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p:cNvSpPr>
            <a:spLocks noGrp="1"/>
          </p:cNvSpPr>
          <p:nvPr>
            <p:ph type="title"/>
          </p:nvPr>
        </p:nvSpPr>
        <p:spPr>
          <a:xfrm>
            <a:off x="518864" y="44624"/>
            <a:ext cx="8229600" cy="1143000"/>
          </a:xfrm>
        </p:spPr>
        <p:txBody>
          <a:bodyPr/>
          <a:lstStyle/>
          <a:p>
            <a:r>
              <a:rPr lang="tr-TR" altLang="en-US" sz="4000"/>
              <a:t>Bileşik Faiz</a:t>
            </a:r>
            <a:endParaRPr lang="en-GB" altLang="en-US" sz="4000"/>
          </a:p>
        </p:txBody>
      </p:sp>
      <p:sp>
        <p:nvSpPr>
          <p:cNvPr id="4" name="Rectangle 5"/>
          <p:cNvSpPr>
            <a:spLocks noGrp="1" noChangeArrowheads="1"/>
          </p:cNvSpPr>
          <p:nvPr>
            <p:ph idx="4294967295"/>
          </p:nvPr>
        </p:nvSpPr>
        <p:spPr>
          <a:xfrm>
            <a:off x="457200" y="1600200"/>
            <a:ext cx="8229600" cy="4525963"/>
          </a:xfrm>
          <a:prstGeom prst="rect">
            <a:avLst/>
          </a:prstGeom>
        </p:spPr>
        <p:txBody>
          <a:bodyPr/>
          <a:lstStyle/>
          <a:p>
            <a:pPr>
              <a:buFont typeface="Wingdings" panose="05000000000000000000" pitchFamily="2" charset="2"/>
              <a:buNone/>
            </a:pPr>
            <a:r>
              <a:rPr lang="tr-TR" altLang="en-US" sz="2800"/>
              <a:t>Aylık %1 faizli bir konut kredisi için:</a:t>
            </a:r>
          </a:p>
          <a:p>
            <a:pPr>
              <a:buFont typeface="Arial" panose="020B0604020202020204" pitchFamily="34" charset="0"/>
              <a:buNone/>
            </a:pPr>
            <a:endParaRPr lang="tr-TR" altLang="en-US" sz="2800"/>
          </a:p>
          <a:p>
            <a:pPr>
              <a:buFont typeface="Arial" panose="020B0604020202020204" pitchFamily="34" charset="0"/>
              <a:buNone/>
            </a:pPr>
            <a:r>
              <a:rPr lang="tr-TR" altLang="en-US" sz="2800"/>
              <a:t>1)</a:t>
            </a:r>
            <a:r>
              <a:rPr lang="en-US" altLang="en-US" sz="2800"/>
              <a:t> </a:t>
            </a:r>
            <a:r>
              <a:rPr lang="tr-TR" altLang="en-US" sz="2800"/>
              <a:t>Yıllık basit faiz nedir</a:t>
            </a:r>
            <a:r>
              <a:rPr lang="en-US" altLang="en-US" sz="2800"/>
              <a:t>?</a:t>
            </a:r>
          </a:p>
          <a:p>
            <a:pPr>
              <a:buFont typeface="Wingdings" panose="05000000000000000000" pitchFamily="2" charset="2"/>
              <a:buNone/>
            </a:pPr>
            <a:r>
              <a:rPr lang="tr-TR" altLang="en-US" sz="2800"/>
              <a:t>	 = 0,01x12 = 0,12 ya da %12</a:t>
            </a:r>
          </a:p>
          <a:p>
            <a:pPr>
              <a:buFont typeface="Wingdings" panose="05000000000000000000" pitchFamily="2" charset="2"/>
              <a:buNone/>
            </a:pPr>
            <a:endParaRPr lang="tr-TR" altLang="en-US" sz="2800"/>
          </a:p>
          <a:p>
            <a:pPr>
              <a:buFont typeface="Wingdings" panose="05000000000000000000" pitchFamily="2" charset="2"/>
              <a:buNone/>
            </a:pPr>
            <a:r>
              <a:rPr lang="tr-TR" altLang="en-US" sz="2800"/>
              <a:t>2) Yıllık bileşik faiz nedir</a:t>
            </a:r>
            <a:r>
              <a:rPr lang="en-US" altLang="en-US" sz="2800"/>
              <a:t>? </a:t>
            </a:r>
          </a:p>
          <a:p>
            <a:pPr>
              <a:buFont typeface="Wingdings" panose="05000000000000000000" pitchFamily="2" charset="2"/>
              <a:buNone/>
            </a:pPr>
            <a:r>
              <a:rPr lang="tr-TR" altLang="en-US" sz="2800"/>
              <a:t>    = (1+0,01)</a:t>
            </a:r>
            <a:r>
              <a:rPr lang="tr-TR" altLang="en-US" sz="2800" baseline="30000"/>
              <a:t>12</a:t>
            </a:r>
            <a:r>
              <a:rPr lang="tr-TR" altLang="en-US" sz="2800"/>
              <a:t> – 1 = 0,1268</a:t>
            </a:r>
          </a:p>
          <a:p>
            <a:pPr>
              <a:buFont typeface="Wingdings" panose="05000000000000000000" pitchFamily="2" charset="2"/>
              <a:buNone/>
            </a:pPr>
            <a:r>
              <a:rPr lang="tr-TR" altLang="en-US" sz="2800"/>
              <a:t>                                     = %12,68</a:t>
            </a:r>
            <a:endParaRPr lang="en-US" altLang="en-US" sz="2800"/>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4"/>
            <a:ext cx="648072" cy="656278"/>
          </a:xfrm>
          <a:prstGeom prst="rect">
            <a:avLst/>
          </a:prstGeom>
          <a:noFill/>
          <a:ln>
            <a:noFill/>
          </a:ln>
        </p:spPr>
      </p:pic>
      <p:sp>
        <p:nvSpPr>
          <p:cNvPr id="6" name="Slide Number Placeholder 4">
            <a:extLst>
              <a:ext uri="{FF2B5EF4-FFF2-40B4-BE49-F238E27FC236}">
                <a16:creationId xmlns:a16="http://schemas.microsoft.com/office/drawing/2014/main" id="{1948046C-4665-4346-ADE6-3EDC97E895FA}"/>
              </a:ext>
            </a:extLst>
          </p:cNvPr>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128</a:t>
            </a:fld>
            <a:endParaRPr lang="tr-TR" sz="1200">
              <a:solidFill>
                <a:schemeClr val="tx2"/>
              </a:solidFill>
              <a:latin typeface="Verdana" pitchFamily="34" charset="0"/>
            </a:endParaRPr>
          </a:p>
        </p:txBody>
      </p:sp>
    </p:spTree>
    <p:extLst>
      <p:ext uri="{BB962C8B-B14F-4D97-AF65-F5344CB8AC3E}">
        <p14:creationId xmlns:p14="http://schemas.microsoft.com/office/powerpoint/2010/main" val="11301816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4370" name="Text Box 2"/>
          <p:cNvSpPr>
            <a:spLocks noGrp="1" noChangeArrowheads="1"/>
          </p:cNvSpPr>
          <p:nvPr>
            <p:ph type="title"/>
          </p:nvPr>
        </p:nvSpPr>
        <p:spPr>
          <a:xfrm>
            <a:off x="468313" y="1268413"/>
            <a:ext cx="8162925" cy="519112"/>
          </a:xfrm>
        </p:spPr>
        <p:txBody>
          <a:bodyPr>
            <a:spAutoFit/>
          </a:bodyPr>
          <a:lstStyle/>
          <a:p>
            <a:r>
              <a:rPr lang="tr-TR" sz="2800" b="1"/>
              <a:t>Seneye satmak üzere 1 dönüm arazi satın alalım</a:t>
            </a:r>
            <a:endParaRPr lang="en-US" sz="2800" b="1"/>
          </a:p>
        </p:txBody>
      </p:sp>
      <p:sp>
        <p:nvSpPr>
          <p:cNvPr id="314372" name="Rectangle 4"/>
          <p:cNvSpPr>
            <a:spLocks noGrp="1" noChangeArrowheads="1"/>
          </p:cNvSpPr>
          <p:nvPr>
            <p:ph type="body" idx="4294967295"/>
          </p:nvPr>
        </p:nvSpPr>
        <p:spPr>
          <a:xfrm>
            <a:off x="1691680" y="4869135"/>
            <a:ext cx="5689600" cy="1800225"/>
          </a:xfrm>
          <a:prstGeom prst="rect">
            <a:avLst/>
          </a:prstGeom>
          <a:solidFill>
            <a:schemeClr val="tx2"/>
          </a:solidFill>
        </p:spPr>
        <p:txBody>
          <a:bodyPr/>
          <a:lstStyle/>
          <a:p>
            <a:pPr marL="0" indent="0" eaLnBrk="1" hangingPunct="1">
              <a:lnSpc>
                <a:spcPct val="80000"/>
              </a:lnSpc>
              <a:buFont typeface="Wingdings" pitchFamily="2" charset="2"/>
              <a:buNone/>
            </a:pPr>
            <a:r>
              <a:rPr lang="tr-TR" sz="1600">
                <a:solidFill>
                  <a:schemeClr val="bg1"/>
                </a:solidFill>
                <a:cs typeface="Times New Roman" pitchFamily="18" charset="0"/>
              </a:rPr>
              <a:t>Seneye $10.500 dolara satmayı düşündüğümüz bir dönüm araziyi bugün $10.000’a alalım.</a:t>
            </a:r>
            <a:r>
              <a:rPr lang="en-US" sz="1600">
                <a:solidFill>
                  <a:schemeClr val="bg1"/>
                </a:solidFill>
                <a:cs typeface="Times New Roman" pitchFamily="18" charset="0"/>
              </a:rPr>
              <a:t> </a:t>
            </a:r>
            <a:endParaRPr lang="tr-TR" sz="1600">
              <a:solidFill>
                <a:schemeClr val="bg1"/>
              </a:solidFill>
              <a:cs typeface="Times New Roman" pitchFamily="18" charset="0"/>
            </a:endParaRPr>
          </a:p>
          <a:p>
            <a:pPr marL="0" indent="0" eaLnBrk="1" hangingPunct="1">
              <a:lnSpc>
                <a:spcPct val="80000"/>
              </a:lnSpc>
              <a:buFont typeface="Wingdings" pitchFamily="2" charset="2"/>
              <a:buNone/>
            </a:pPr>
            <a:endParaRPr lang="tr-TR" sz="1200">
              <a:solidFill>
                <a:schemeClr val="bg1"/>
              </a:solidFill>
              <a:cs typeface="Times New Roman" pitchFamily="18" charset="0"/>
            </a:endParaRPr>
          </a:p>
          <a:p>
            <a:pPr marL="0" indent="0" eaLnBrk="1" hangingPunct="1">
              <a:lnSpc>
                <a:spcPct val="80000"/>
              </a:lnSpc>
              <a:buFont typeface="Wingdings" pitchFamily="2" charset="2"/>
              <a:buNone/>
            </a:pPr>
            <a:r>
              <a:rPr lang="tr-TR" sz="1600">
                <a:solidFill>
                  <a:schemeClr val="bg1"/>
                </a:solidFill>
                <a:cs typeface="Times New Roman" pitchFamily="18" charset="0"/>
              </a:rPr>
              <a:t>Bu yatırımdan beklenen getiri</a:t>
            </a:r>
            <a:r>
              <a:rPr lang="en-US" sz="1600">
                <a:solidFill>
                  <a:schemeClr val="bg1"/>
                </a:solidFill>
                <a:cs typeface="Times New Roman" pitchFamily="18" charset="0"/>
              </a:rPr>
              <a:t> </a:t>
            </a:r>
            <a:r>
              <a:rPr lang="tr-TR" sz="1600">
                <a:solidFill>
                  <a:schemeClr val="bg1"/>
                </a:solidFill>
                <a:cs typeface="Times New Roman" pitchFamily="18" charset="0"/>
              </a:rPr>
              <a:t>%</a:t>
            </a:r>
            <a:r>
              <a:rPr lang="en-US" sz="1600">
                <a:solidFill>
                  <a:schemeClr val="bg1"/>
                </a:solidFill>
                <a:cs typeface="Times New Roman" pitchFamily="18" charset="0"/>
              </a:rPr>
              <a:t>5. </a:t>
            </a:r>
            <a:endParaRPr lang="tr-TR" sz="1600">
              <a:solidFill>
                <a:schemeClr val="bg1"/>
              </a:solidFill>
              <a:cs typeface="Times New Roman" pitchFamily="18" charset="0"/>
            </a:endParaRPr>
          </a:p>
          <a:p>
            <a:pPr marL="0" indent="0" eaLnBrk="1" hangingPunct="1">
              <a:lnSpc>
                <a:spcPct val="80000"/>
              </a:lnSpc>
              <a:buFont typeface="Wingdings" pitchFamily="2" charset="2"/>
              <a:buNone/>
            </a:pPr>
            <a:endParaRPr lang="tr-TR" sz="1200">
              <a:solidFill>
                <a:schemeClr val="bg1"/>
              </a:solidFill>
              <a:cs typeface="Times New Roman" pitchFamily="18" charset="0"/>
            </a:endParaRPr>
          </a:p>
          <a:p>
            <a:pPr marL="0" indent="0" eaLnBrk="1" hangingPunct="1">
              <a:lnSpc>
                <a:spcPct val="80000"/>
              </a:lnSpc>
              <a:buFont typeface="Wingdings" pitchFamily="2" charset="2"/>
              <a:buNone/>
            </a:pPr>
            <a:r>
              <a:rPr lang="tr-TR" sz="1600">
                <a:solidFill>
                  <a:schemeClr val="bg1"/>
                </a:solidFill>
                <a:cs typeface="Times New Roman" pitchFamily="18" charset="0"/>
              </a:rPr>
              <a:t>Eğer tamamen karşılaştırabilir bir alternatiften (risk, vergi, likidite gözönüne alındığında) daha yüksek getiri bulabiliyorsak bu araziyi almamamız lazım.</a:t>
            </a:r>
            <a:endParaRPr lang="en-US" sz="1600">
              <a:solidFill>
                <a:schemeClr val="bg1"/>
              </a:solidFill>
            </a:endParaRPr>
          </a:p>
        </p:txBody>
      </p:sp>
      <p:sp>
        <p:nvSpPr>
          <p:cNvPr id="16" name="Rectangle 2"/>
          <p:cNvSpPr txBox="1">
            <a:spLocks noChangeArrowheads="1"/>
          </p:cNvSpPr>
          <p:nvPr/>
        </p:nvSpPr>
        <p:spPr bwMode="auto">
          <a:xfrm>
            <a:off x="2412528" y="134020"/>
            <a:ext cx="6695976" cy="774700"/>
          </a:xfrm>
          <a:prstGeom prst="rect">
            <a:avLst/>
          </a:prstGeom>
          <a:noFill/>
          <a:ln w="9525">
            <a:noFill/>
            <a:miter lim="800000"/>
            <a:headEnd/>
            <a:tailEnd/>
          </a:ln>
        </p:spPr>
        <p:txBody>
          <a:bodyPr anchor="b"/>
          <a:lstStyle/>
          <a:p>
            <a:pPr>
              <a:defRPr/>
            </a:pPr>
            <a:r>
              <a:rPr lang="tr-TR" sz="4000" kern="0">
                <a:solidFill>
                  <a:srgbClr val="0C0000"/>
                </a:solidFill>
                <a:latin typeface="+mj-lt"/>
                <a:ea typeface="+mj-ea"/>
                <a:cs typeface="Times New Roman" pitchFamily="18" charset="0"/>
              </a:rPr>
              <a:t>Paranın Zaman Değeri</a:t>
            </a:r>
            <a:endParaRPr lang="en-US" sz="4000" kern="0">
              <a:solidFill>
                <a:srgbClr val="0C0000"/>
              </a:solidFill>
              <a:latin typeface="+mj-lt"/>
              <a:ea typeface="+mj-ea"/>
              <a:cs typeface="+mj-cs"/>
            </a:endParaRPr>
          </a:p>
        </p:txBody>
      </p:sp>
      <p:sp>
        <p:nvSpPr>
          <p:cNvPr id="11" name="Slide Number Placeholder 4"/>
          <p:cNvSpPr txBox="1">
            <a:spLocks/>
          </p:cNvSpPr>
          <p:nvPr/>
        </p:nvSpPr>
        <p:spPr>
          <a:xfrm>
            <a:off x="8532440" y="6533088"/>
            <a:ext cx="611560" cy="352296"/>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129</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12" name="Picture 1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cxnSp>
        <p:nvCxnSpPr>
          <p:cNvPr id="13" name="Straight Connector 12"/>
          <p:cNvCxnSpPr/>
          <p:nvPr/>
        </p:nvCxnSpPr>
        <p:spPr>
          <a:xfrm>
            <a:off x="1980679" y="3357563"/>
            <a:ext cx="4392613" cy="0"/>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1980679" y="3357563"/>
            <a:ext cx="0" cy="86360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6373292" y="2420938"/>
            <a:ext cx="0" cy="936625"/>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99592" y="4283075"/>
            <a:ext cx="2698175" cy="369332"/>
          </a:xfrm>
          <a:prstGeom prst="rect">
            <a:avLst/>
          </a:prstGeom>
          <a:solidFill>
            <a:schemeClr val="tx2">
              <a:lumMod val="20000"/>
              <a:lumOff val="80000"/>
            </a:schemeClr>
          </a:solidFill>
        </p:spPr>
        <p:txBody>
          <a:bodyPr wrap="none">
            <a:spAutoFit/>
          </a:bodyPr>
          <a:lstStyle/>
          <a:p>
            <a:pPr>
              <a:defRPr/>
            </a:pPr>
            <a:r>
              <a:rPr lang="tr-TR">
                <a:cs typeface="Arial" charset="0"/>
              </a:rPr>
              <a:t>Bugün</a:t>
            </a:r>
            <a:r>
              <a:rPr lang="tr-TR">
                <a:latin typeface="Arial" charset="0"/>
                <a:cs typeface="Arial" charset="0"/>
              </a:rPr>
              <a:t> $10.000 yatıralım</a:t>
            </a:r>
            <a:endParaRPr lang="en-GB">
              <a:latin typeface="Arial" charset="0"/>
              <a:cs typeface="Arial" charset="0"/>
            </a:endParaRPr>
          </a:p>
        </p:txBody>
      </p:sp>
      <p:sp>
        <p:nvSpPr>
          <p:cNvPr id="18" name="TextBox 17"/>
          <p:cNvSpPr txBox="1"/>
          <p:nvPr/>
        </p:nvSpPr>
        <p:spPr>
          <a:xfrm>
            <a:off x="5865916" y="2060575"/>
            <a:ext cx="1082348" cy="369332"/>
          </a:xfrm>
          <a:prstGeom prst="rect">
            <a:avLst/>
          </a:prstGeom>
          <a:solidFill>
            <a:schemeClr val="tx2">
              <a:lumMod val="20000"/>
              <a:lumOff val="80000"/>
            </a:schemeClr>
          </a:solidFill>
        </p:spPr>
        <p:txBody>
          <a:bodyPr wrap="none">
            <a:spAutoFit/>
          </a:bodyPr>
          <a:lstStyle/>
          <a:p>
            <a:pPr>
              <a:defRPr/>
            </a:pPr>
            <a:r>
              <a:rPr lang="tr-TR">
                <a:latin typeface="Arial" charset="0"/>
                <a:cs typeface="Arial" charset="0"/>
              </a:rPr>
              <a:t>$10.500 </a:t>
            </a:r>
            <a:endParaRPr lang="en-GB">
              <a:latin typeface="Arial" charset="0"/>
              <a:cs typeface="Arial" charset="0"/>
            </a:endParaRPr>
          </a:p>
        </p:txBody>
      </p:sp>
      <p:sp>
        <p:nvSpPr>
          <p:cNvPr id="2" name="TextBox 1"/>
          <p:cNvSpPr txBox="1"/>
          <p:nvPr/>
        </p:nvSpPr>
        <p:spPr>
          <a:xfrm>
            <a:off x="5796136" y="3501008"/>
            <a:ext cx="1107996" cy="369332"/>
          </a:xfrm>
          <a:prstGeom prst="rect">
            <a:avLst/>
          </a:prstGeom>
          <a:noFill/>
        </p:spPr>
        <p:txBody>
          <a:bodyPr wrap="none" rtlCol="0">
            <a:spAutoFit/>
          </a:bodyPr>
          <a:lstStyle/>
          <a:p>
            <a:r>
              <a:rPr lang="tr-TR"/>
              <a:t>1.yılsonu</a:t>
            </a:r>
            <a:endParaRPr lang="en-US"/>
          </a:p>
        </p:txBody>
      </p:sp>
    </p:spTree>
    <p:extLst>
      <p:ext uri="{BB962C8B-B14F-4D97-AF65-F5344CB8AC3E}">
        <p14:creationId xmlns:p14="http://schemas.microsoft.com/office/powerpoint/2010/main" val="36741566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14370"/>
                                        </p:tgtEl>
                                        <p:attrNameLst>
                                          <p:attrName>style.visibility</p:attrName>
                                        </p:attrNameLst>
                                      </p:cBhvr>
                                      <p:to>
                                        <p:strVal val="visible"/>
                                      </p:to>
                                    </p:set>
                                    <p:anim calcmode="lin" valueType="num">
                                      <p:cBhvr additive="base">
                                        <p:cTn id="7" dur="500" fill="hold"/>
                                        <p:tgtEl>
                                          <p:spTgt spid="314370"/>
                                        </p:tgtEl>
                                        <p:attrNameLst>
                                          <p:attrName>ppt_x</p:attrName>
                                        </p:attrNameLst>
                                      </p:cBhvr>
                                      <p:tavLst>
                                        <p:tav tm="0">
                                          <p:val>
                                            <p:strVal val="#ppt_x"/>
                                          </p:val>
                                        </p:tav>
                                        <p:tav tm="100000">
                                          <p:val>
                                            <p:strVal val="#ppt_x"/>
                                          </p:val>
                                        </p:tav>
                                      </p:tavLst>
                                    </p:anim>
                                    <p:anim calcmode="lin" valueType="num">
                                      <p:cBhvr additive="base">
                                        <p:cTn id="8" dur="500" fill="hold"/>
                                        <p:tgtEl>
                                          <p:spTgt spid="31437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314372">
                                            <p:bg/>
                                          </p:spTgt>
                                        </p:tgtEl>
                                        <p:attrNameLst>
                                          <p:attrName>style.visibility</p:attrName>
                                        </p:attrNameLst>
                                      </p:cBhvr>
                                      <p:to>
                                        <p:strVal val="visible"/>
                                      </p:to>
                                    </p:set>
                                    <p:animEffect transition="in" filter="checkerboard(across)">
                                      <p:cBhvr>
                                        <p:cTn id="13" dur="500"/>
                                        <p:tgtEl>
                                          <p:spTgt spid="314372">
                                            <p:bg/>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314372">
                                            <p:txEl>
                                              <p:pRg st="0" end="0"/>
                                            </p:txEl>
                                          </p:spTgt>
                                        </p:tgtEl>
                                        <p:attrNameLst>
                                          <p:attrName>style.visibility</p:attrName>
                                        </p:attrNameLst>
                                      </p:cBhvr>
                                      <p:to>
                                        <p:strVal val="visible"/>
                                      </p:to>
                                    </p:set>
                                    <p:animEffect transition="in" filter="checkerboard(across)">
                                      <p:cBhvr>
                                        <p:cTn id="16" dur="500"/>
                                        <p:tgtEl>
                                          <p:spTgt spid="31437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314372">
                                            <p:txEl>
                                              <p:pRg st="2" end="2"/>
                                            </p:txEl>
                                          </p:spTgt>
                                        </p:tgtEl>
                                        <p:attrNameLst>
                                          <p:attrName>style.visibility</p:attrName>
                                        </p:attrNameLst>
                                      </p:cBhvr>
                                      <p:to>
                                        <p:strVal val="visible"/>
                                      </p:to>
                                    </p:set>
                                    <p:animEffect transition="in" filter="checkerboard(across)">
                                      <p:cBhvr>
                                        <p:cTn id="21" dur="500"/>
                                        <p:tgtEl>
                                          <p:spTgt spid="314372">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314372">
                                            <p:txEl>
                                              <p:pRg st="4" end="4"/>
                                            </p:txEl>
                                          </p:spTgt>
                                        </p:tgtEl>
                                        <p:attrNameLst>
                                          <p:attrName>style.visibility</p:attrName>
                                        </p:attrNameLst>
                                      </p:cBhvr>
                                      <p:to>
                                        <p:strVal val="visible"/>
                                      </p:to>
                                    </p:set>
                                    <p:animEffect transition="in" filter="checkerboard(across)">
                                      <p:cBhvr>
                                        <p:cTn id="26" dur="500"/>
                                        <p:tgtEl>
                                          <p:spTgt spid="31437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0" grpId="0" autoUpdateAnimBg="0"/>
      <p:bldP spid="314372" grpId="0" build="p" bldLvl="5" animBg="1"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p:nvPr>
        </p:nvSpPr>
        <p:spPr/>
        <p:txBody>
          <a:bodyPr/>
          <a:lstStyle/>
          <a:p>
            <a:pPr eaLnBrk="1" hangingPunct="1"/>
            <a:r>
              <a:rPr lang="tr-TR" sz="3600">
                <a:cs typeface="Times New Roman" pitchFamily="18" charset="0"/>
              </a:rPr>
              <a:t>Sermayenin Fırsat Maliyeti</a:t>
            </a:r>
            <a:endParaRPr lang="en-US" sz="3600"/>
          </a:p>
        </p:txBody>
      </p:sp>
      <p:sp>
        <p:nvSpPr>
          <p:cNvPr id="104452" name="Rectangle 3"/>
          <p:cNvSpPr>
            <a:spLocks noGrp="1" noChangeArrowheads="1"/>
          </p:cNvSpPr>
          <p:nvPr>
            <p:ph type="body" idx="4294967295"/>
          </p:nvPr>
        </p:nvSpPr>
        <p:spPr>
          <a:xfrm>
            <a:off x="457200" y="1268413"/>
            <a:ext cx="8229600" cy="4862512"/>
          </a:xfrm>
          <a:prstGeom prst="rect">
            <a:avLst/>
          </a:prstGeom>
        </p:spPr>
        <p:txBody>
          <a:bodyPr/>
          <a:lstStyle/>
          <a:p>
            <a:pPr eaLnBrk="1" hangingPunct="1">
              <a:lnSpc>
                <a:spcPct val="90000"/>
              </a:lnSpc>
            </a:pPr>
            <a:r>
              <a:rPr lang="tr-TR" sz="2400">
                <a:cs typeface="Arial" charset="0"/>
              </a:rPr>
              <a:t>Bu örnekte 10.500 doları alacağımıza kesin gözüyle bakıyoruz, yani risksiz varsayıyoruz.</a:t>
            </a:r>
          </a:p>
          <a:p>
            <a:pPr eaLnBrk="1" hangingPunct="1">
              <a:lnSpc>
                <a:spcPct val="90000"/>
              </a:lnSpc>
            </a:pPr>
            <a:endParaRPr lang="en-US" sz="2400">
              <a:cs typeface="Arial" charset="0"/>
            </a:endParaRPr>
          </a:p>
          <a:p>
            <a:pPr eaLnBrk="1" hangingPunct="1">
              <a:lnSpc>
                <a:spcPct val="90000"/>
              </a:lnSpc>
            </a:pPr>
            <a:r>
              <a:rPr lang="tr-TR" sz="2400">
                <a:cs typeface="Arial" charset="0"/>
              </a:rPr>
              <a:t>Alternatifimiz bankada devlet garantili %3 getiri sağlayan mevduat yapmak olsun.</a:t>
            </a:r>
          </a:p>
          <a:p>
            <a:pPr eaLnBrk="1" hangingPunct="1">
              <a:lnSpc>
                <a:spcPct val="90000"/>
              </a:lnSpc>
            </a:pPr>
            <a:endParaRPr lang="en-US" sz="2400">
              <a:cs typeface="Arial" charset="0"/>
            </a:endParaRPr>
          </a:p>
          <a:p>
            <a:pPr lvl="1" eaLnBrk="1" hangingPunct="1">
              <a:lnSpc>
                <a:spcPct val="90000"/>
              </a:lnSpc>
            </a:pPr>
            <a:r>
              <a:rPr lang="tr-TR" sz="2000">
                <a:cs typeface="Arial" charset="0"/>
              </a:rPr>
              <a:t>Araziyi alırsak vazgeçmek durumunda olduğumuz bir getiri olduğu için bu sermayenin fırsat maliyetidir, diğer ismiyle sermaye maliyetidir. </a:t>
            </a:r>
            <a:r>
              <a:rPr lang="tr-TR" sz="2000" b="1">
                <a:cs typeface="Arial" charset="0"/>
              </a:rPr>
              <a:t>r</a:t>
            </a:r>
            <a:r>
              <a:rPr lang="tr-TR" sz="2000">
                <a:cs typeface="Arial" charset="0"/>
              </a:rPr>
              <a:t> diyelim.</a:t>
            </a:r>
            <a:endParaRPr lang="en-US" sz="2000">
              <a:cs typeface="Times New Roman" pitchFamily="18" charset="0"/>
            </a:endParaRPr>
          </a:p>
        </p:txBody>
      </p:sp>
      <p:sp>
        <p:nvSpPr>
          <p:cNvPr id="6" name="Slide Number Placeholder 4"/>
          <p:cNvSpPr txBox="1">
            <a:spLocks/>
          </p:cNvSpPr>
          <p:nvPr/>
        </p:nvSpPr>
        <p:spPr>
          <a:xfrm>
            <a:off x="8604448" y="6453336"/>
            <a:ext cx="539552" cy="368246"/>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130</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094608269"/>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ChangeArrowheads="1"/>
          </p:cNvSpPr>
          <p:nvPr>
            <p:ph type="title"/>
          </p:nvPr>
        </p:nvSpPr>
        <p:spPr>
          <a:xfrm>
            <a:off x="878904" y="274638"/>
            <a:ext cx="8229600" cy="1143000"/>
          </a:xfrm>
        </p:spPr>
        <p:txBody>
          <a:bodyPr/>
          <a:lstStyle/>
          <a:p>
            <a:pPr eaLnBrk="1" hangingPunct="1"/>
            <a:r>
              <a:rPr lang="tr-TR" sz="3600"/>
              <a:t>Net bugünkü değer (NPV:</a:t>
            </a:r>
            <a:r>
              <a:rPr lang="tr-TR" sz="2800">
                <a:solidFill>
                  <a:srgbClr val="3333CC"/>
                </a:solidFill>
              </a:rPr>
              <a:t>Net Present Value</a:t>
            </a:r>
            <a:r>
              <a:rPr lang="tr-TR" sz="3600"/>
              <a:t>)</a:t>
            </a:r>
          </a:p>
        </p:txBody>
      </p:sp>
      <p:sp>
        <p:nvSpPr>
          <p:cNvPr id="112644" name="Rectangle 3"/>
          <p:cNvSpPr>
            <a:spLocks noGrp="1" noChangeArrowheads="1"/>
          </p:cNvSpPr>
          <p:nvPr>
            <p:ph type="body" idx="4294967295"/>
          </p:nvPr>
        </p:nvSpPr>
        <p:spPr>
          <a:xfrm>
            <a:off x="734888" y="1268413"/>
            <a:ext cx="8229600" cy="4862512"/>
          </a:xfrm>
          <a:prstGeom prst="rect">
            <a:avLst/>
          </a:prstGeom>
        </p:spPr>
        <p:txBody>
          <a:bodyPr/>
          <a:lstStyle/>
          <a:p>
            <a:pPr eaLnBrk="1" hangingPunct="1"/>
            <a:endParaRPr lang="tr-TR" sz="2400">
              <a:solidFill>
                <a:srgbClr val="3333CC"/>
              </a:solidFill>
            </a:endParaRPr>
          </a:p>
          <a:p>
            <a:pPr eaLnBrk="1" hangingPunct="1"/>
            <a:r>
              <a:rPr lang="tr-TR" sz="2400">
                <a:solidFill>
                  <a:srgbClr val="3333CC"/>
                </a:solidFill>
              </a:rPr>
              <a:t>NBD = BD(gelecekteki nakitler) – yatırım tutarı</a:t>
            </a:r>
          </a:p>
          <a:p>
            <a:pPr eaLnBrk="1" hangingPunct="1"/>
            <a:endParaRPr lang="tr-TR" sz="2400"/>
          </a:p>
          <a:p>
            <a:pPr eaLnBrk="1" hangingPunct="1"/>
            <a:r>
              <a:rPr lang="tr-TR" sz="2400"/>
              <a:t>$10.500’lık arazi değerinin bugünkü değeri:</a:t>
            </a:r>
          </a:p>
          <a:p>
            <a:pPr eaLnBrk="1" hangingPunct="1"/>
            <a:r>
              <a:rPr lang="tr-TR" sz="2400"/>
              <a:t>10.500 / 1,03 = $10.194</a:t>
            </a:r>
          </a:p>
          <a:p>
            <a:pPr eaLnBrk="1" hangingPunct="1"/>
            <a:r>
              <a:rPr lang="tr-TR" sz="2400"/>
              <a:t>Başlangıçtaki yatırım tutarı = $10.000</a:t>
            </a:r>
          </a:p>
          <a:p>
            <a:pPr eaLnBrk="1" hangingPunct="1"/>
            <a:r>
              <a:rPr lang="tr-TR" sz="2400"/>
              <a:t>NBD = -10.000 + 10.194 = $194 </a:t>
            </a:r>
          </a:p>
          <a:p>
            <a:pPr eaLnBrk="1" hangingPunct="1"/>
            <a:r>
              <a:rPr lang="tr-TR" sz="2400"/>
              <a:t>$194 &gt; 0   =&gt; Araziyi al.</a:t>
            </a:r>
          </a:p>
          <a:p>
            <a:pPr lvl="1" eaLnBrk="1" hangingPunct="1"/>
            <a:endParaRPr lang="tr-TR" sz="2000">
              <a:cs typeface="Times New Roman" pitchFamily="18" charset="0"/>
            </a:endParaRPr>
          </a:p>
          <a:p>
            <a:pPr eaLnBrk="1" hangingPunct="1"/>
            <a:r>
              <a:rPr lang="tr-TR" sz="2400">
                <a:cs typeface="Times New Roman" pitchFamily="18" charset="0"/>
              </a:rPr>
              <a:t>Bir yatırımın net bugünkü değeri sıfırdan büyükse yatırım yapılabilir.</a:t>
            </a:r>
            <a:endParaRPr lang="en-US" sz="2400">
              <a:cs typeface="Times New Roman" pitchFamily="18" charset="0"/>
            </a:endParaRPr>
          </a:p>
          <a:p>
            <a:pPr eaLnBrk="1" hangingPunct="1"/>
            <a:endParaRPr lang="tr-TR" sz="2400"/>
          </a:p>
        </p:txBody>
      </p:sp>
      <p:sp>
        <p:nvSpPr>
          <p:cNvPr id="6"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131</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3919017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0514" name="Text Box 2"/>
          <p:cNvSpPr>
            <a:spLocks noGrp="1" noChangeArrowheads="1"/>
          </p:cNvSpPr>
          <p:nvPr>
            <p:ph type="title"/>
          </p:nvPr>
        </p:nvSpPr>
        <p:spPr>
          <a:xfrm>
            <a:off x="684213" y="1320949"/>
            <a:ext cx="8162925" cy="523875"/>
          </a:xfrm>
        </p:spPr>
        <p:txBody>
          <a:bodyPr>
            <a:spAutoFit/>
          </a:bodyPr>
          <a:lstStyle/>
          <a:p>
            <a:r>
              <a:rPr lang="tr-TR" sz="2800" b="1"/>
              <a:t>Eğer satış bundan iki yıl sonra olacaksa?</a:t>
            </a:r>
            <a:endParaRPr lang="en-US" sz="2800" b="1"/>
          </a:p>
        </p:txBody>
      </p:sp>
      <p:sp>
        <p:nvSpPr>
          <p:cNvPr id="5" name="Slide Number Placeholder 4"/>
          <p:cNvSpPr txBox="1">
            <a:spLocks/>
          </p:cNvSpPr>
          <p:nvPr/>
        </p:nvSpPr>
        <p:spPr>
          <a:xfrm>
            <a:off x="8532440" y="6469287"/>
            <a:ext cx="611560" cy="352296"/>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132</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6" name="Rectangle 2"/>
          <p:cNvSpPr txBox="1">
            <a:spLocks noChangeArrowheads="1"/>
          </p:cNvSpPr>
          <p:nvPr/>
        </p:nvSpPr>
        <p:spPr>
          <a:xfrm>
            <a:off x="457200" y="274638"/>
            <a:ext cx="8229600" cy="1143000"/>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sz="4400" b="0" i="0" u="none" strike="noStrike" kern="1200" cap="none" spc="0" normalizeH="0" baseline="0" noProof="0">
                <a:ln>
                  <a:noFill/>
                </a:ln>
                <a:solidFill>
                  <a:schemeClr val="tx1"/>
                </a:solidFill>
                <a:effectLst/>
                <a:uLnTx/>
                <a:uFillTx/>
                <a:latin typeface="+mj-lt"/>
                <a:ea typeface="+mj-ea"/>
                <a:cs typeface="+mj-cs"/>
              </a:rPr>
              <a:t>NBD</a:t>
            </a:r>
          </a:p>
        </p:txBody>
      </p:sp>
      <p:cxnSp>
        <p:nvCxnSpPr>
          <p:cNvPr id="9" name="Straight Connector 8"/>
          <p:cNvCxnSpPr/>
          <p:nvPr/>
        </p:nvCxnSpPr>
        <p:spPr>
          <a:xfrm>
            <a:off x="2340719" y="3430300"/>
            <a:ext cx="4392613" cy="0"/>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2340719" y="3430300"/>
            <a:ext cx="0" cy="86360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6733332" y="2493675"/>
            <a:ext cx="0" cy="936625"/>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259632" y="4355812"/>
            <a:ext cx="2698175" cy="369332"/>
          </a:xfrm>
          <a:prstGeom prst="rect">
            <a:avLst/>
          </a:prstGeom>
          <a:solidFill>
            <a:schemeClr val="tx2">
              <a:lumMod val="20000"/>
              <a:lumOff val="80000"/>
            </a:schemeClr>
          </a:solidFill>
        </p:spPr>
        <p:txBody>
          <a:bodyPr wrap="none">
            <a:spAutoFit/>
          </a:bodyPr>
          <a:lstStyle/>
          <a:p>
            <a:pPr>
              <a:defRPr/>
            </a:pPr>
            <a:r>
              <a:rPr lang="tr-TR">
                <a:cs typeface="Arial" charset="0"/>
              </a:rPr>
              <a:t>Bugün</a:t>
            </a:r>
            <a:r>
              <a:rPr lang="tr-TR">
                <a:latin typeface="Arial" charset="0"/>
                <a:cs typeface="Arial" charset="0"/>
              </a:rPr>
              <a:t> $10.000 yatıralım</a:t>
            </a:r>
            <a:endParaRPr lang="en-GB">
              <a:latin typeface="Arial" charset="0"/>
              <a:cs typeface="Arial" charset="0"/>
            </a:endParaRPr>
          </a:p>
        </p:txBody>
      </p:sp>
      <p:sp>
        <p:nvSpPr>
          <p:cNvPr id="13" name="TextBox 12"/>
          <p:cNvSpPr txBox="1"/>
          <p:nvPr/>
        </p:nvSpPr>
        <p:spPr>
          <a:xfrm>
            <a:off x="6225956" y="2133312"/>
            <a:ext cx="1082348" cy="369332"/>
          </a:xfrm>
          <a:prstGeom prst="rect">
            <a:avLst/>
          </a:prstGeom>
          <a:solidFill>
            <a:schemeClr val="tx2">
              <a:lumMod val="20000"/>
              <a:lumOff val="80000"/>
            </a:schemeClr>
          </a:solidFill>
        </p:spPr>
        <p:txBody>
          <a:bodyPr wrap="none">
            <a:spAutoFit/>
          </a:bodyPr>
          <a:lstStyle/>
          <a:p>
            <a:pPr>
              <a:defRPr/>
            </a:pPr>
            <a:r>
              <a:rPr lang="tr-TR">
                <a:latin typeface="Arial" charset="0"/>
                <a:cs typeface="Arial" charset="0"/>
              </a:rPr>
              <a:t>$10.500 </a:t>
            </a:r>
            <a:endParaRPr lang="en-GB">
              <a:latin typeface="Arial" charset="0"/>
              <a:cs typeface="Arial" charset="0"/>
            </a:endParaRPr>
          </a:p>
        </p:txBody>
      </p:sp>
      <p:sp>
        <p:nvSpPr>
          <p:cNvPr id="14" name="TextBox 13"/>
          <p:cNvSpPr txBox="1"/>
          <p:nvPr/>
        </p:nvSpPr>
        <p:spPr>
          <a:xfrm>
            <a:off x="6156176" y="3573745"/>
            <a:ext cx="1107996" cy="369332"/>
          </a:xfrm>
          <a:prstGeom prst="rect">
            <a:avLst/>
          </a:prstGeom>
          <a:noFill/>
        </p:spPr>
        <p:txBody>
          <a:bodyPr wrap="none" rtlCol="0">
            <a:spAutoFit/>
          </a:bodyPr>
          <a:lstStyle/>
          <a:p>
            <a:r>
              <a:rPr lang="tr-TR"/>
              <a:t>2.yılsonu</a:t>
            </a:r>
            <a:endParaRPr lang="en-US"/>
          </a:p>
        </p:txBody>
      </p:sp>
      <p:sp>
        <p:nvSpPr>
          <p:cNvPr id="15" name="TextBox 14"/>
          <p:cNvSpPr txBox="1"/>
          <p:nvPr/>
        </p:nvSpPr>
        <p:spPr>
          <a:xfrm>
            <a:off x="3995936" y="3573016"/>
            <a:ext cx="1107996" cy="369332"/>
          </a:xfrm>
          <a:prstGeom prst="rect">
            <a:avLst/>
          </a:prstGeom>
          <a:noFill/>
        </p:spPr>
        <p:txBody>
          <a:bodyPr wrap="none" rtlCol="0">
            <a:spAutoFit/>
          </a:bodyPr>
          <a:lstStyle/>
          <a:p>
            <a:r>
              <a:rPr lang="tr-TR"/>
              <a:t>1.yılsonu</a:t>
            </a:r>
            <a:endParaRPr lang="en-US"/>
          </a:p>
        </p:txBody>
      </p:sp>
      <p:cxnSp>
        <p:nvCxnSpPr>
          <p:cNvPr id="16" name="Straight Connector 15"/>
          <p:cNvCxnSpPr/>
          <p:nvPr/>
        </p:nvCxnSpPr>
        <p:spPr>
          <a:xfrm flipV="1">
            <a:off x="4572000" y="3355692"/>
            <a:ext cx="0" cy="21732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0006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20514"/>
                                        </p:tgtEl>
                                        <p:attrNameLst>
                                          <p:attrName>style.visibility</p:attrName>
                                        </p:attrNameLst>
                                      </p:cBhvr>
                                      <p:to>
                                        <p:strVal val="visible"/>
                                      </p:to>
                                    </p:set>
                                    <p:anim calcmode="lin" valueType="num">
                                      <p:cBhvr additive="base">
                                        <p:cTn id="7" dur="500" fill="hold"/>
                                        <p:tgtEl>
                                          <p:spTgt spid="320514"/>
                                        </p:tgtEl>
                                        <p:attrNameLst>
                                          <p:attrName>ppt_x</p:attrName>
                                        </p:attrNameLst>
                                      </p:cBhvr>
                                      <p:tavLst>
                                        <p:tav tm="0">
                                          <p:val>
                                            <p:strVal val="#ppt_x"/>
                                          </p:val>
                                        </p:tav>
                                        <p:tav tm="100000">
                                          <p:val>
                                            <p:strVal val="#ppt_x"/>
                                          </p:val>
                                        </p:tav>
                                      </p:tavLst>
                                    </p:anim>
                                    <p:anim calcmode="lin" valueType="num">
                                      <p:cBhvr additive="base">
                                        <p:cTn id="8" dur="500" fill="hold"/>
                                        <p:tgtEl>
                                          <p:spTgt spid="3205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4" grpId="0"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2"/>
          <p:cNvSpPr>
            <a:spLocks noGrp="1" noChangeArrowheads="1"/>
          </p:cNvSpPr>
          <p:nvPr>
            <p:ph type="title"/>
          </p:nvPr>
        </p:nvSpPr>
        <p:spPr/>
        <p:txBody>
          <a:bodyPr/>
          <a:lstStyle/>
          <a:p>
            <a:pPr eaLnBrk="1" hangingPunct="1"/>
            <a:r>
              <a:rPr lang="tr-TR"/>
              <a:t>NBD</a:t>
            </a:r>
          </a:p>
        </p:txBody>
      </p:sp>
      <p:sp>
        <p:nvSpPr>
          <p:cNvPr id="114692" name="Rectangle 3"/>
          <p:cNvSpPr>
            <a:spLocks noGrp="1" noChangeArrowheads="1"/>
          </p:cNvSpPr>
          <p:nvPr>
            <p:ph type="body" idx="4294967295"/>
          </p:nvPr>
        </p:nvSpPr>
        <p:spPr>
          <a:xfrm>
            <a:off x="457200" y="1268413"/>
            <a:ext cx="8229600" cy="4862512"/>
          </a:xfrm>
          <a:prstGeom prst="rect">
            <a:avLst/>
          </a:prstGeom>
        </p:spPr>
        <p:txBody>
          <a:bodyPr/>
          <a:lstStyle/>
          <a:p>
            <a:pPr eaLnBrk="1" hangingPunct="1"/>
            <a:r>
              <a:rPr lang="tr-TR"/>
              <a:t>$10.500’ın 1. yıl itibarı ile değeri:</a:t>
            </a:r>
          </a:p>
          <a:p>
            <a:pPr eaLnBrk="1" hangingPunct="1"/>
            <a:r>
              <a:rPr lang="tr-TR"/>
              <a:t>10.500/1,03 = $10.194</a:t>
            </a:r>
          </a:p>
          <a:p>
            <a:pPr eaLnBrk="1" hangingPunct="1"/>
            <a:r>
              <a:rPr lang="tr-TR"/>
              <a:t>$10.194’ın bugün itibarı ile değeri:</a:t>
            </a:r>
          </a:p>
          <a:p>
            <a:pPr eaLnBrk="1" hangingPunct="1"/>
            <a:r>
              <a:rPr lang="tr-TR"/>
              <a:t>10.194/1,03 = $9.897</a:t>
            </a:r>
          </a:p>
          <a:p>
            <a:pPr eaLnBrk="1" hangingPunct="1"/>
            <a:r>
              <a:rPr lang="tr-TR"/>
              <a:t>NBD = -10.000 + 9.897 = -103</a:t>
            </a:r>
          </a:p>
          <a:p>
            <a:pPr eaLnBrk="1" hangingPunct="1"/>
            <a:r>
              <a:rPr lang="tr-TR"/>
              <a:t>Makul değil.</a:t>
            </a:r>
          </a:p>
        </p:txBody>
      </p:sp>
      <p:sp>
        <p:nvSpPr>
          <p:cNvPr id="6" name="Slide Number Placeholder 4"/>
          <p:cNvSpPr txBox="1">
            <a:spLocks/>
          </p:cNvSpPr>
          <p:nvPr/>
        </p:nvSpPr>
        <p:spPr>
          <a:xfrm>
            <a:off x="8604448" y="6453336"/>
            <a:ext cx="539552"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133</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156242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6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6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46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46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469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build="p"/>
    </p:bld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2562" name="Text Box 2"/>
          <p:cNvSpPr>
            <a:spLocks noGrp="1" noChangeArrowheads="1"/>
          </p:cNvSpPr>
          <p:nvPr>
            <p:ph type="title"/>
          </p:nvPr>
        </p:nvSpPr>
        <p:spPr>
          <a:xfrm>
            <a:off x="611560" y="1454870"/>
            <a:ext cx="8162925" cy="461962"/>
          </a:xfrm>
        </p:spPr>
        <p:txBody>
          <a:bodyPr>
            <a:spAutoFit/>
          </a:bodyPr>
          <a:lstStyle/>
          <a:p>
            <a:r>
              <a:rPr lang="tr-TR" sz="2400" b="1"/>
              <a:t>Satış 2 yıl sonra, ancak arada kira geliri kazanırsak?</a:t>
            </a:r>
            <a:endParaRPr lang="en-US" sz="2400" b="1"/>
          </a:p>
        </p:txBody>
      </p:sp>
      <p:sp>
        <p:nvSpPr>
          <p:cNvPr id="5"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134</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6" name="Rectangle 2"/>
          <p:cNvSpPr txBox="1">
            <a:spLocks noChangeArrowheads="1"/>
          </p:cNvSpPr>
          <p:nvPr/>
        </p:nvSpPr>
        <p:spPr>
          <a:xfrm>
            <a:off x="457200" y="274638"/>
            <a:ext cx="8229600" cy="1143000"/>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sz="4400" b="0" i="0" u="none" strike="noStrike" kern="1200" cap="none" spc="0" normalizeH="0" baseline="0" noProof="0">
                <a:ln>
                  <a:noFill/>
                </a:ln>
                <a:solidFill>
                  <a:schemeClr val="tx1"/>
                </a:solidFill>
                <a:effectLst/>
                <a:uLnTx/>
                <a:uFillTx/>
                <a:latin typeface="+mj-lt"/>
                <a:ea typeface="+mj-ea"/>
                <a:cs typeface="+mj-cs"/>
              </a:rPr>
              <a:t>NBD</a:t>
            </a:r>
          </a:p>
        </p:txBody>
      </p:sp>
      <p:cxnSp>
        <p:nvCxnSpPr>
          <p:cNvPr id="9" name="Straight Connector 8"/>
          <p:cNvCxnSpPr/>
          <p:nvPr/>
        </p:nvCxnSpPr>
        <p:spPr>
          <a:xfrm>
            <a:off x="2340719" y="3430300"/>
            <a:ext cx="4392613" cy="0"/>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2340719" y="3430300"/>
            <a:ext cx="0" cy="86360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6733332" y="2493675"/>
            <a:ext cx="0" cy="936625"/>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259632" y="4355812"/>
            <a:ext cx="2698175" cy="369332"/>
          </a:xfrm>
          <a:prstGeom prst="rect">
            <a:avLst/>
          </a:prstGeom>
          <a:solidFill>
            <a:schemeClr val="tx2">
              <a:lumMod val="20000"/>
              <a:lumOff val="80000"/>
            </a:schemeClr>
          </a:solidFill>
        </p:spPr>
        <p:txBody>
          <a:bodyPr wrap="none">
            <a:spAutoFit/>
          </a:bodyPr>
          <a:lstStyle/>
          <a:p>
            <a:pPr>
              <a:defRPr/>
            </a:pPr>
            <a:r>
              <a:rPr lang="tr-TR">
                <a:cs typeface="Arial" charset="0"/>
              </a:rPr>
              <a:t>Bugün</a:t>
            </a:r>
            <a:r>
              <a:rPr lang="tr-TR">
                <a:latin typeface="Arial" charset="0"/>
                <a:cs typeface="Arial" charset="0"/>
              </a:rPr>
              <a:t> $10.000 yatıralım</a:t>
            </a:r>
            <a:endParaRPr lang="en-GB">
              <a:latin typeface="Arial" charset="0"/>
              <a:cs typeface="Arial" charset="0"/>
            </a:endParaRPr>
          </a:p>
        </p:txBody>
      </p:sp>
      <p:sp>
        <p:nvSpPr>
          <p:cNvPr id="13" name="TextBox 12"/>
          <p:cNvSpPr txBox="1"/>
          <p:nvPr/>
        </p:nvSpPr>
        <p:spPr>
          <a:xfrm>
            <a:off x="6225956" y="2133312"/>
            <a:ext cx="2050561" cy="369332"/>
          </a:xfrm>
          <a:prstGeom prst="rect">
            <a:avLst/>
          </a:prstGeom>
          <a:solidFill>
            <a:schemeClr val="tx2">
              <a:lumMod val="20000"/>
              <a:lumOff val="80000"/>
            </a:schemeClr>
          </a:solidFill>
        </p:spPr>
        <p:txBody>
          <a:bodyPr wrap="none">
            <a:spAutoFit/>
          </a:bodyPr>
          <a:lstStyle/>
          <a:p>
            <a:pPr>
              <a:defRPr/>
            </a:pPr>
            <a:r>
              <a:rPr lang="tr-TR">
                <a:latin typeface="Arial" charset="0"/>
                <a:cs typeface="Arial" charset="0"/>
              </a:rPr>
              <a:t>$1.000 + $10.500 </a:t>
            </a:r>
            <a:endParaRPr lang="en-GB">
              <a:latin typeface="Arial" charset="0"/>
              <a:cs typeface="Arial" charset="0"/>
            </a:endParaRPr>
          </a:p>
        </p:txBody>
      </p:sp>
      <p:sp>
        <p:nvSpPr>
          <p:cNvPr id="14" name="TextBox 13"/>
          <p:cNvSpPr txBox="1"/>
          <p:nvPr/>
        </p:nvSpPr>
        <p:spPr>
          <a:xfrm>
            <a:off x="6156176" y="3573745"/>
            <a:ext cx="1107996" cy="369332"/>
          </a:xfrm>
          <a:prstGeom prst="rect">
            <a:avLst/>
          </a:prstGeom>
          <a:noFill/>
        </p:spPr>
        <p:txBody>
          <a:bodyPr wrap="none" rtlCol="0">
            <a:spAutoFit/>
          </a:bodyPr>
          <a:lstStyle/>
          <a:p>
            <a:r>
              <a:rPr lang="tr-TR"/>
              <a:t>2.yılsonu</a:t>
            </a:r>
            <a:endParaRPr lang="en-US"/>
          </a:p>
        </p:txBody>
      </p:sp>
      <p:sp>
        <p:nvSpPr>
          <p:cNvPr id="15" name="TextBox 14"/>
          <p:cNvSpPr txBox="1"/>
          <p:nvPr/>
        </p:nvSpPr>
        <p:spPr>
          <a:xfrm>
            <a:off x="3995936" y="3573016"/>
            <a:ext cx="1107996" cy="369332"/>
          </a:xfrm>
          <a:prstGeom prst="rect">
            <a:avLst/>
          </a:prstGeom>
          <a:noFill/>
        </p:spPr>
        <p:txBody>
          <a:bodyPr wrap="none" rtlCol="0">
            <a:spAutoFit/>
          </a:bodyPr>
          <a:lstStyle/>
          <a:p>
            <a:r>
              <a:rPr lang="tr-TR"/>
              <a:t>1.yılsonu</a:t>
            </a:r>
            <a:endParaRPr lang="en-US"/>
          </a:p>
        </p:txBody>
      </p:sp>
      <p:cxnSp>
        <p:nvCxnSpPr>
          <p:cNvPr id="16" name="Straight Connector 15"/>
          <p:cNvCxnSpPr/>
          <p:nvPr/>
        </p:nvCxnSpPr>
        <p:spPr>
          <a:xfrm flipV="1">
            <a:off x="4572000" y="3355692"/>
            <a:ext cx="0" cy="2173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4572000" y="2492896"/>
            <a:ext cx="0" cy="936625"/>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4114061" y="2132856"/>
            <a:ext cx="889987" cy="369332"/>
          </a:xfrm>
          <a:prstGeom prst="rect">
            <a:avLst/>
          </a:prstGeom>
          <a:solidFill>
            <a:schemeClr val="tx2">
              <a:lumMod val="20000"/>
              <a:lumOff val="80000"/>
            </a:schemeClr>
          </a:solidFill>
        </p:spPr>
        <p:txBody>
          <a:bodyPr wrap="none">
            <a:spAutoFit/>
          </a:bodyPr>
          <a:lstStyle/>
          <a:p>
            <a:pPr>
              <a:defRPr/>
            </a:pPr>
            <a:r>
              <a:rPr lang="tr-TR">
                <a:latin typeface="Arial" charset="0"/>
                <a:cs typeface="Arial" charset="0"/>
              </a:rPr>
              <a:t>$1.000</a:t>
            </a:r>
            <a:endParaRPr lang="en-GB">
              <a:latin typeface="Arial" charset="0"/>
              <a:cs typeface="Arial" charset="0"/>
            </a:endParaRPr>
          </a:p>
        </p:txBody>
      </p:sp>
    </p:spTree>
    <p:extLst>
      <p:ext uri="{BB962C8B-B14F-4D97-AF65-F5344CB8AC3E}">
        <p14:creationId xmlns:p14="http://schemas.microsoft.com/office/powerpoint/2010/main" val="146255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22562"/>
                                        </p:tgtEl>
                                        <p:attrNameLst>
                                          <p:attrName>style.visibility</p:attrName>
                                        </p:attrNameLst>
                                      </p:cBhvr>
                                      <p:to>
                                        <p:strVal val="visible"/>
                                      </p:to>
                                    </p:set>
                                    <p:anim calcmode="lin" valueType="num">
                                      <p:cBhvr additive="base">
                                        <p:cTn id="7" dur="500" fill="hold"/>
                                        <p:tgtEl>
                                          <p:spTgt spid="322562"/>
                                        </p:tgtEl>
                                        <p:attrNameLst>
                                          <p:attrName>ppt_x</p:attrName>
                                        </p:attrNameLst>
                                      </p:cBhvr>
                                      <p:tavLst>
                                        <p:tav tm="0">
                                          <p:val>
                                            <p:strVal val="#ppt_x"/>
                                          </p:val>
                                        </p:tav>
                                        <p:tav tm="100000">
                                          <p:val>
                                            <p:strVal val="#ppt_x"/>
                                          </p:val>
                                        </p:tav>
                                      </p:tavLst>
                                    </p:anim>
                                    <p:anim calcmode="lin" valueType="num">
                                      <p:cBhvr additive="base">
                                        <p:cTn id="8" dur="500" fill="hold"/>
                                        <p:tgtEl>
                                          <p:spTgt spid="32256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2" grpId="0"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2"/>
          <p:cNvSpPr>
            <a:spLocks noGrp="1" noChangeArrowheads="1"/>
          </p:cNvSpPr>
          <p:nvPr>
            <p:ph type="title"/>
          </p:nvPr>
        </p:nvSpPr>
        <p:spPr/>
        <p:txBody>
          <a:bodyPr/>
          <a:lstStyle/>
          <a:p>
            <a:pPr eaLnBrk="1" hangingPunct="1"/>
            <a:r>
              <a:rPr lang="tr-TR"/>
              <a:t>NBD</a:t>
            </a:r>
          </a:p>
        </p:txBody>
      </p:sp>
      <p:sp>
        <p:nvSpPr>
          <p:cNvPr id="116740" name="Rectangle 3"/>
          <p:cNvSpPr>
            <a:spLocks noGrp="1" noChangeArrowheads="1"/>
          </p:cNvSpPr>
          <p:nvPr>
            <p:ph type="body" idx="4294967295"/>
          </p:nvPr>
        </p:nvSpPr>
        <p:spPr>
          <a:xfrm>
            <a:off x="457200" y="1268413"/>
            <a:ext cx="8229600" cy="4862512"/>
          </a:xfrm>
          <a:prstGeom prst="rect">
            <a:avLst/>
          </a:prstGeom>
        </p:spPr>
        <p:txBody>
          <a:bodyPr/>
          <a:lstStyle/>
          <a:p>
            <a:pPr eaLnBrk="1" hangingPunct="1"/>
            <a:r>
              <a:rPr lang="tr-TR"/>
              <a:t>$11.500’ın 1. yıl itibarı ile değeri:</a:t>
            </a:r>
          </a:p>
          <a:p>
            <a:pPr eaLnBrk="1" hangingPunct="1"/>
            <a:r>
              <a:rPr lang="tr-TR"/>
              <a:t>11.500/1,03 = $11.165</a:t>
            </a:r>
          </a:p>
          <a:p>
            <a:pPr eaLnBrk="1" hangingPunct="1"/>
            <a:r>
              <a:rPr lang="tr-TR"/>
              <a:t>$12,165’ın bugün itibarı ile değeri:</a:t>
            </a:r>
          </a:p>
          <a:p>
            <a:pPr eaLnBrk="1" hangingPunct="1"/>
            <a:r>
              <a:rPr lang="tr-TR"/>
              <a:t>12.165/1,03 = $11.810,7</a:t>
            </a:r>
          </a:p>
          <a:p>
            <a:pPr eaLnBrk="1" hangingPunct="1"/>
            <a:r>
              <a:rPr lang="tr-TR"/>
              <a:t>NBD = -10.000 + 11.810,7 = 1.810,7</a:t>
            </a:r>
          </a:p>
          <a:p>
            <a:pPr eaLnBrk="1" hangingPunct="1"/>
            <a:r>
              <a:rPr lang="tr-TR"/>
              <a:t>Makul.</a:t>
            </a:r>
          </a:p>
        </p:txBody>
      </p:sp>
      <p:sp>
        <p:nvSpPr>
          <p:cNvPr id="6" name="Slide Number Placeholder 4"/>
          <p:cNvSpPr txBox="1">
            <a:spLocks/>
          </p:cNvSpPr>
          <p:nvPr/>
        </p:nvSpPr>
        <p:spPr>
          <a:xfrm>
            <a:off x="8460432" y="6469287"/>
            <a:ext cx="683568"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135</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40352" y="6165305"/>
            <a:ext cx="648072" cy="656278"/>
          </a:xfrm>
          <a:prstGeom prst="rect">
            <a:avLst/>
          </a:prstGeom>
          <a:noFill/>
          <a:ln>
            <a:noFill/>
          </a:ln>
        </p:spPr>
      </p:pic>
    </p:spTree>
    <p:extLst>
      <p:ext uri="{BB962C8B-B14F-4D97-AF65-F5344CB8AC3E}">
        <p14:creationId xmlns:p14="http://schemas.microsoft.com/office/powerpoint/2010/main" val="374338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7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67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67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67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674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67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pPr eaLnBrk="1" hangingPunct="1"/>
            <a:r>
              <a:rPr lang="tr-TR"/>
              <a:t>Eşit ödemeler serisi</a:t>
            </a:r>
            <a:endParaRPr lang="en-US"/>
          </a:p>
        </p:txBody>
      </p:sp>
      <p:sp>
        <p:nvSpPr>
          <p:cNvPr id="3077" name="Rectangle 3"/>
          <p:cNvSpPr>
            <a:spLocks noGrp="1" noChangeArrowheads="1"/>
          </p:cNvSpPr>
          <p:nvPr>
            <p:ph type="body" idx="4294967295"/>
          </p:nvPr>
        </p:nvSpPr>
        <p:spPr>
          <a:xfrm>
            <a:off x="457200" y="1268413"/>
            <a:ext cx="8229600" cy="1366837"/>
          </a:xfrm>
          <a:prstGeom prst="rect">
            <a:avLst/>
          </a:prstGeom>
        </p:spPr>
        <p:txBody>
          <a:bodyPr/>
          <a:lstStyle/>
          <a:p>
            <a:pPr eaLnBrk="1" hangingPunct="1">
              <a:buFont typeface="Wingdings" pitchFamily="2" charset="2"/>
              <a:buNone/>
            </a:pPr>
            <a:r>
              <a:rPr lang="en-US" b="1" i="1" u="sng" err="1"/>
              <a:t>Annuit</a:t>
            </a:r>
            <a:r>
              <a:rPr lang="tr-TR" b="1" i="1" u="sng"/>
              <a:t>e </a:t>
            </a:r>
            <a:r>
              <a:rPr lang="en-US"/>
              <a:t>- </a:t>
            </a:r>
            <a:r>
              <a:rPr lang="tr-TR"/>
              <a:t>Belli bir süre için her dönem aynı miktar içeren bir nakit akımının bugünkü değeri</a:t>
            </a:r>
            <a:endParaRPr lang="en-US"/>
          </a:p>
        </p:txBody>
      </p:sp>
      <p:sp>
        <p:nvSpPr>
          <p:cNvPr id="7" name="Slide Number Placeholder 4"/>
          <p:cNvSpPr txBox="1">
            <a:spLocks/>
          </p:cNvSpPr>
          <p:nvPr/>
        </p:nvSpPr>
        <p:spPr>
          <a:xfrm>
            <a:off x="8460432" y="6469287"/>
            <a:ext cx="683568"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136</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graphicFrame>
        <p:nvGraphicFramePr>
          <p:cNvPr id="9" name="Object 4"/>
          <p:cNvGraphicFramePr>
            <a:graphicFrameLocks noChangeAspect="1"/>
          </p:cNvGraphicFramePr>
          <p:nvPr/>
        </p:nvGraphicFramePr>
        <p:xfrm>
          <a:off x="1835696" y="3212976"/>
          <a:ext cx="5345264" cy="1730273"/>
        </p:xfrm>
        <a:graphic>
          <a:graphicData uri="http://schemas.openxmlformats.org/presentationml/2006/ole">
            <mc:AlternateContent xmlns:mc="http://schemas.openxmlformats.org/markup-compatibility/2006">
              <mc:Choice xmlns:v="urn:schemas-microsoft-com:vml" Requires="v">
                <p:oleObj name="Equation" r:id="rId3" imgW="1485720" imgH="482400" progId="Equation.3">
                  <p:embed/>
                </p:oleObj>
              </mc:Choice>
              <mc:Fallback>
                <p:oleObj name="Equation" r:id="rId3" imgW="1485720" imgH="482400" progId="Equation.3">
                  <p:embed/>
                  <p:pic>
                    <p:nvPicPr>
                      <p:cNvPr id="9" name="Object 4"/>
                      <p:cNvPicPr>
                        <a:picLocks noChangeAspect="1" noChangeArrowheads="1"/>
                      </p:cNvPicPr>
                      <p:nvPr/>
                    </p:nvPicPr>
                    <p:blipFill>
                      <a:blip r:embed="rId4"/>
                      <a:srcRect/>
                      <a:stretch>
                        <a:fillRect/>
                      </a:stretch>
                    </p:blipFill>
                    <p:spPr bwMode="auto">
                      <a:xfrm>
                        <a:off x="1835696" y="3212976"/>
                        <a:ext cx="5345264" cy="1730273"/>
                      </a:xfrm>
                      <a:prstGeom prst="rect">
                        <a:avLst/>
                      </a:prstGeom>
                      <a:gradFill rotWithShape="0">
                        <a:gsLst>
                          <a:gs pos="0">
                            <a:srgbClr val="CCFF33"/>
                          </a:gs>
                          <a:gs pos="100000">
                            <a:srgbClr val="CCFF33">
                              <a:gamma/>
                              <a:tint val="0"/>
                              <a:invGamma/>
                            </a:srgbClr>
                          </a:gs>
                        </a:gsLst>
                        <a:lin ang="2700000" scaled="1"/>
                      </a:gradFill>
                      <a:ln w="38100" cmpd="dbl">
                        <a:solidFill>
                          <a:srgbClr val="FF3300"/>
                        </a:solidFill>
                        <a:miter lim="800000"/>
                        <a:headEnd/>
                        <a:tailEnd/>
                      </a:ln>
                    </p:spPr>
                  </p:pic>
                </p:oleObj>
              </mc:Fallback>
            </mc:AlternateContent>
          </a:graphicData>
        </a:graphic>
      </p:graphicFrame>
    </p:spTree>
    <p:extLst>
      <p:ext uri="{BB962C8B-B14F-4D97-AF65-F5344CB8AC3E}">
        <p14:creationId xmlns:p14="http://schemas.microsoft.com/office/powerpoint/2010/main" val="515124242"/>
      </p:ext>
    </p:extLst>
  </p:cSld>
  <p:clrMapOvr>
    <a:masterClrMapping/>
  </p:clrMapOvr>
  <p:transition>
    <p:dissolv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tr-TR"/>
              <a:t>Annuite</a:t>
            </a:r>
            <a:endParaRPr lang="en-GB"/>
          </a:p>
        </p:txBody>
      </p:sp>
      <p:sp>
        <p:nvSpPr>
          <p:cNvPr id="4" name="Rectangle 3"/>
          <p:cNvSpPr>
            <a:spLocks noChangeArrowheads="1"/>
          </p:cNvSpPr>
          <p:nvPr/>
        </p:nvSpPr>
        <p:spPr bwMode="auto">
          <a:xfrm>
            <a:off x="685799" y="1524000"/>
            <a:ext cx="6058811" cy="2414246"/>
          </a:xfrm>
          <a:prstGeom prst="rect">
            <a:avLst/>
          </a:prstGeom>
          <a:noFill/>
          <a:ln w="9525">
            <a:noFill/>
            <a:miter lim="800000"/>
            <a:headEnd/>
            <a:tailEnd/>
          </a:ln>
        </p:spPr>
        <p:txBody>
          <a:bodyPr lIns="92075" tIns="46038" rIns="92075" bIns="46038"/>
          <a:lstStyle/>
          <a:p>
            <a:pPr marL="342900" indent="-342900">
              <a:spcBef>
                <a:spcPct val="20000"/>
              </a:spcBef>
              <a:buClr>
                <a:schemeClr val="bg2"/>
              </a:buClr>
              <a:buSzPct val="75000"/>
              <a:buFont typeface="Wingdings" pitchFamily="2" charset="2"/>
              <a:buNone/>
            </a:pPr>
            <a:r>
              <a:rPr lang="tr-TR" sz="2400" i="1" u="sng">
                <a:latin typeface="Verdana" pitchFamily="34" charset="0"/>
              </a:rPr>
              <a:t>Örnek:</a:t>
            </a:r>
            <a:endParaRPr lang="en-US" sz="2400" i="1">
              <a:latin typeface="Verdana" pitchFamily="34" charset="0"/>
            </a:endParaRPr>
          </a:p>
          <a:p>
            <a:pPr marL="342900" indent="-342900">
              <a:spcBef>
                <a:spcPct val="20000"/>
              </a:spcBef>
              <a:buClr>
                <a:schemeClr val="bg2"/>
              </a:buClr>
              <a:buSzPct val="75000"/>
              <a:buFont typeface="Wingdings" pitchFamily="2" charset="2"/>
              <a:buNone/>
            </a:pPr>
            <a:r>
              <a:rPr lang="en-US" sz="1800" i="1">
                <a:latin typeface="Verdana" pitchFamily="34" charset="0"/>
              </a:rPr>
              <a:t>	</a:t>
            </a:r>
            <a:r>
              <a:rPr lang="tr-TR" sz="1800" i="1">
                <a:latin typeface="Verdana" pitchFamily="34" charset="0"/>
              </a:rPr>
              <a:t>Önümüzdeki 4 yıl boyunca her ay </a:t>
            </a:r>
            <a:r>
              <a:rPr lang="en-US" sz="1800" i="1">
                <a:latin typeface="Verdana" pitchFamily="34" charset="0"/>
              </a:rPr>
              <a:t>$300 </a:t>
            </a:r>
            <a:r>
              <a:rPr lang="tr-TR" sz="1800" i="1">
                <a:latin typeface="Verdana" pitchFamily="34" charset="0"/>
              </a:rPr>
              <a:t>ödemek üzere bir araba kiralamayı düşünüyorsunuz</a:t>
            </a:r>
            <a:r>
              <a:rPr lang="en-US" sz="1800" i="1">
                <a:latin typeface="Verdana" pitchFamily="34" charset="0"/>
              </a:rPr>
              <a:t>. </a:t>
            </a:r>
            <a:r>
              <a:rPr lang="tr-TR" sz="1800" i="1">
                <a:latin typeface="Verdana" pitchFamily="34" charset="0"/>
              </a:rPr>
              <a:t>Herhangi bir peşin veya dönem sonu ilave ödeme yok. Eğer aylık fırsat maliyetiniz %0.5 ise</a:t>
            </a:r>
            <a:r>
              <a:rPr lang="en-US" sz="1800" i="1">
                <a:latin typeface="Verdana" pitchFamily="34" charset="0"/>
              </a:rPr>
              <a:t>, </a:t>
            </a:r>
            <a:r>
              <a:rPr lang="tr-TR" sz="1800" i="1">
                <a:latin typeface="Verdana" pitchFamily="34" charset="0"/>
              </a:rPr>
              <a:t>bu kiralamanın bugünkü değeri nedir</a:t>
            </a:r>
            <a:r>
              <a:rPr lang="en-US" sz="1800" i="1">
                <a:latin typeface="Verdana" pitchFamily="34" charset="0"/>
              </a:rPr>
              <a:t>?</a:t>
            </a:r>
            <a:endParaRPr lang="en-US" sz="2400" i="1">
              <a:latin typeface="Verdana" pitchFamily="34" charset="0"/>
            </a:endParaRPr>
          </a:p>
        </p:txBody>
      </p:sp>
      <p:pic>
        <p:nvPicPr>
          <p:cNvPr id="5" name="Picture 4" descr="M0504"/>
          <p:cNvPicPr>
            <a:picLocks noChangeAspect="1" noChangeArrowheads="1"/>
          </p:cNvPicPr>
          <p:nvPr/>
        </p:nvPicPr>
        <p:blipFill>
          <a:blip r:embed="rId2" cstate="print"/>
          <a:srcRect/>
          <a:stretch>
            <a:fillRect/>
          </a:stretch>
        </p:blipFill>
        <p:spPr bwMode="auto">
          <a:xfrm>
            <a:off x="6478610" y="2107413"/>
            <a:ext cx="2701902" cy="1393595"/>
          </a:xfrm>
          <a:prstGeom prst="rect">
            <a:avLst/>
          </a:prstGeom>
          <a:noFill/>
          <a:ln w="9525">
            <a:noFill/>
            <a:miter lim="800000"/>
            <a:headEnd/>
            <a:tailEnd/>
          </a:ln>
        </p:spPr>
      </p:pic>
      <p:sp>
        <p:nvSpPr>
          <p:cNvPr id="7"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137</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8" name="Picture 7"/>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61606976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pPr eaLnBrk="1" hangingPunct="1"/>
            <a:r>
              <a:rPr lang="tr-TR"/>
              <a:t>Konsept Çalışması - Mortgage</a:t>
            </a:r>
            <a:endParaRPr lang="en-US"/>
          </a:p>
        </p:txBody>
      </p:sp>
      <p:sp>
        <p:nvSpPr>
          <p:cNvPr id="7" name="Slide Number Placeholder 4"/>
          <p:cNvSpPr txBox="1">
            <a:spLocks/>
          </p:cNvSpPr>
          <p:nvPr/>
        </p:nvSpPr>
        <p:spPr>
          <a:xfrm>
            <a:off x="8460432" y="6469287"/>
            <a:ext cx="683568"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138</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11" name="Rectangle 10"/>
          <p:cNvSpPr/>
          <p:nvPr/>
        </p:nvSpPr>
        <p:spPr>
          <a:xfrm>
            <a:off x="0" y="1340767"/>
            <a:ext cx="8892480" cy="4524315"/>
          </a:xfrm>
          <a:prstGeom prst="rect">
            <a:avLst/>
          </a:prstGeom>
        </p:spPr>
        <p:txBody>
          <a:bodyPr wrap="square">
            <a:spAutoFit/>
          </a:bodyPr>
          <a:lstStyle/>
          <a:p>
            <a:pPr lvl="1">
              <a:lnSpc>
                <a:spcPct val="150000"/>
              </a:lnSpc>
            </a:pPr>
            <a:r>
              <a:rPr lang="tr-TR" sz="2400">
                <a:latin typeface="+mj-lt"/>
              </a:rPr>
              <a:t>TL400,000 mortgage, 120 taksit, %0,87 aylık faiz oranı:</a:t>
            </a:r>
          </a:p>
          <a:p>
            <a:pPr marL="914400" lvl="1" indent="-457200">
              <a:lnSpc>
                <a:spcPct val="150000"/>
              </a:lnSpc>
              <a:buAutoNum type="arabicParenR"/>
            </a:pPr>
            <a:r>
              <a:rPr lang="tr-TR" sz="2400">
                <a:latin typeface="+mj-lt"/>
              </a:rPr>
              <a:t>Aylık ödemeler nedir?</a:t>
            </a:r>
          </a:p>
          <a:p>
            <a:pPr marL="914400" lvl="1" indent="-457200">
              <a:lnSpc>
                <a:spcPct val="150000"/>
              </a:lnSpc>
              <a:buAutoNum type="arabicParenR"/>
            </a:pPr>
            <a:r>
              <a:rPr lang="tr-TR" sz="2400">
                <a:latin typeface="+mj-lt"/>
              </a:rPr>
              <a:t>50 ödeme yaptıysanız, toplam ne kadar ödeme yaptınız?</a:t>
            </a:r>
          </a:p>
          <a:p>
            <a:pPr marL="914400" lvl="1" indent="-457200">
              <a:lnSpc>
                <a:spcPct val="150000"/>
              </a:lnSpc>
              <a:buAutoNum type="arabicParenR"/>
            </a:pPr>
            <a:r>
              <a:rPr lang="tr-TR" sz="2400">
                <a:latin typeface="+mj-lt"/>
              </a:rPr>
              <a:t>Kalan borcunuz bugünkü değeri nedir?</a:t>
            </a:r>
          </a:p>
          <a:p>
            <a:pPr marL="914400" lvl="1" indent="-457200">
              <a:lnSpc>
                <a:spcPct val="150000"/>
              </a:lnSpc>
              <a:buAutoNum type="arabicParenR"/>
            </a:pPr>
            <a:r>
              <a:rPr lang="tr-TR" sz="2400">
                <a:latin typeface="+mj-lt"/>
              </a:rPr>
              <a:t>Eğer bugün yeniden finansman yaparsanız (borcu kapatıp, yeni kredi alırsanız) kalan bakiyeniz üzerinden %2 ceza ödeyeceksiniz. Diyelim ki bir banka %0,65 ile kredi öneriyor. Ceza düşüldükten sonra bugün itibarı ile ne tasarrufunuz olur?</a:t>
            </a:r>
          </a:p>
        </p:txBody>
      </p:sp>
    </p:spTree>
    <p:extLst>
      <p:ext uri="{BB962C8B-B14F-4D97-AF65-F5344CB8AC3E}">
        <p14:creationId xmlns:p14="http://schemas.microsoft.com/office/powerpoint/2010/main" val="984276754"/>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bldLvl="2"/>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646040"/>
            <a:ext cx="8229600" cy="1143000"/>
          </a:xfrm>
        </p:spPr>
        <p:txBody>
          <a:bodyPr/>
          <a:lstStyle/>
          <a:p>
            <a:r>
              <a:rPr lang="tr-TR"/>
              <a:t>YATIRIM KARARI YÖNTEMLERİ</a:t>
            </a:r>
            <a:endParaRPr lang="en-GB"/>
          </a:p>
        </p:txBody>
      </p:sp>
      <p:sp>
        <p:nvSpPr>
          <p:cNvPr id="4"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139</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02884029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3"/>
          <p:cNvSpPr>
            <a:spLocks noGrp="1" noChangeArrowheads="1"/>
          </p:cNvSpPr>
          <p:nvPr>
            <p:ph type="title"/>
          </p:nvPr>
        </p:nvSpPr>
        <p:spPr>
          <a:noFill/>
        </p:spPr>
        <p:txBody>
          <a:bodyPr/>
          <a:lstStyle/>
          <a:p>
            <a:pPr eaLnBrk="1" hangingPunct="1"/>
            <a:r>
              <a:rPr lang="tr-TR" altLang="ko-KR" sz="4000"/>
              <a:t>Yatırım Kararı Yöntemleri</a:t>
            </a:r>
            <a:endParaRPr lang="tr-TR" sz="4000"/>
          </a:p>
        </p:txBody>
      </p:sp>
      <p:sp>
        <p:nvSpPr>
          <p:cNvPr id="8197" name="Text Box 4"/>
          <p:cNvSpPr txBox="1">
            <a:spLocks noChangeArrowheads="1"/>
          </p:cNvSpPr>
          <p:nvPr/>
        </p:nvSpPr>
        <p:spPr bwMode="auto">
          <a:xfrm>
            <a:off x="1143000" y="1333500"/>
            <a:ext cx="7162800" cy="339725"/>
          </a:xfrm>
          <a:prstGeom prst="rect">
            <a:avLst/>
          </a:prstGeom>
          <a:noFill/>
          <a:ln w="9525">
            <a:noFill/>
            <a:miter lim="800000"/>
            <a:headEnd/>
            <a:tailEnd/>
          </a:ln>
        </p:spPr>
        <p:txBody>
          <a:bodyPr>
            <a:spAutoFit/>
          </a:bodyPr>
          <a:lstStyle/>
          <a:p>
            <a:pPr algn="ctr">
              <a:spcBef>
                <a:spcPct val="50000"/>
              </a:spcBef>
            </a:pPr>
            <a:r>
              <a:rPr lang="tr-TR">
                <a:latin typeface="Times New Roman" pitchFamily="18" charset="0"/>
              </a:rPr>
              <a:t>ABD’de yapılmış yatırım karar metodları kullanımı üzerine bir CFO anketi</a:t>
            </a:r>
            <a:endParaRPr lang="en-US">
              <a:latin typeface="Times New Roman" pitchFamily="18" charset="0"/>
            </a:endParaRPr>
          </a:p>
        </p:txBody>
      </p:sp>
      <p:sp>
        <p:nvSpPr>
          <p:cNvPr id="6"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140</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graphicFrame>
        <p:nvGraphicFramePr>
          <p:cNvPr id="2" name="Object 3">
            <a:extLst>
              <a:ext uri="{FF2B5EF4-FFF2-40B4-BE49-F238E27FC236}">
                <a16:creationId xmlns:a16="http://schemas.microsoft.com/office/drawing/2014/main" id="{3901AD34-8280-9059-921E-40163A6323B3}"/>
              </a:ext>
            </a:extLst>
          </p:cNvPr>
          <p:cNvGraphicFramePr>
            <a:graphicFrameLocks noChangeAspect="1"/>
          </p:cNvGraphicFramePr>
          <p:nvPr>
            <p:extLst>
              <p:ext uri="{D42A27DB-BD31-4B8C-83A1-F6EECF244321}">
                <p14:modId xmlns:p14="http://schemas.microsoft.com/office/powerpoint/2010/main" val="910674703"/>
              </p:ext>
            </p:extLst>
          </p:nvPr>
        </p:nvGraphicFramePr>
        <p:xfrm>
          <a:off x="1475656" y="1916832"/>
          <a:ext cx="6454775" cy="4048125"/>
        </p:xfrm>
        <a:graphic>
          <a:graphicData uri="http://schemas.openxmlformats.org/presentationml/2006/ole">
            <mc:AlternateContent xmlns:mc="http://schemas.openxmlformats.org/markup-compatibility/2006">
              <mc:Choice xmlns:v="urn:schemas-microsoft-com:vml" Requires="v">
                <p:oleObj name="Chart" r:id="rId3" imgW="6095913" imgH="4061529" progId="MSGraph.Chart.8">
                  <p:embed followColorScheme="full"/>
                </p:oleObj>
              </mc:Choice>
              <mc:Fallback>
                <p:oleObj name="Chart" r:id="rId3" imgW="6095913" imgH="4061529" progId="MSGraph.Chart.8">
                  <p:embed followColorScheme="full"/>
                  <p:pic>
                    <p:nvPicPr>
                      <p:cNvPr id="2" name="Object 3">
                        <a:extLst>
                          <a:ext uri="{FF2B5EF4-FFF2-40B4-BE49-F238E27FC236}">
                            <a16:creationId xmlns:a16="http://schemas.microsoft.com/office/drawing/2014/main" id="{3901AD34-8280-9059-921E-40163A6323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1916832"/>
                        <a:ext cx="6454775" cy="4048125"/>
                      </a:xfrm>
                      <a:prstGeom prst="rect">
                        <a:avLst/>
                      </a:prstGeom>
                      <a:solidFill>
                        <a:schemeClr val="bg1"/>
                      </a:solidFill>
                    </p:spPr>
                  </p:pic>
                </p:oleObj>
              </mc:Fallback>
            </mc:AlternateContent>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2"/>
          <p:cNvSpPr>
            <a:spLocks noGrp="1" noChangeArrowheads="1"/>
          </p:cNvSpPr>
          <p:nvPr>
            <p:ph type="body" idx="4294967295"/>
          </p:nvPr>
        </p:nvSpPr>
        <p:spPr>
          <a:xfrm>
            <a:off x="734888" y="1268413"/>
            <a:ext cx="8229600" cy="5112915"/>
          </a:xfrm>
          <a:prstGeom prst="rect">
            <a:avLst/>
          </a:prstGeom>
        </p:spPr>
        <p:txBody>
          <a:bodyPr/>
          <a:lstStyle/>
          <a:p>
            <a:pPr eaLnBrk="1" hangingPunct="1">
              <a:spcBef>
                <a:spcPct val="10000"/>
              </a:spcBef>
            </a:pPr>
            <a:r>
              <a:rPr lang="tr-TR" altLang="ko-KR" sz="2400"/>
              <a:t>İyi bir yatırım kararı yöntemi:</a:t>
            </a:r>
          </a:p>
          <a:p>
            <a:pPr lvl="1" eaLnBrk="1" hangingPunct="1">
              <a:spcBef>
                <a:spcPct val="10000"/>
              </a:spcBef>
            </a:pPr>
            <a:r>
              <a:rPr lang="tr-TR" altLang="ko-KR" sz="2400"/>
              <a:t>Nakit akımlarının zamanlama farklarını kaale alır</a:t>
            </a:r>
          </a:p>
          <a:p>
            <a:pPr lvl="1" eaLnBrk="1" hangingPunct="1">
              <a:spcBef>
                <a:spcPct val="10000"/>
              </a:spcBef>
            </a:pPr>
            <a:r>
              <a:rPr lang="tr-TR" altLang="ko-KR" sz="2400"/>
              <a:t>Nakit akımlarının riskliliğini kaale alır</a:t>
            </a:r>
          </a:p>
          <a:p>
            <a:pPr lvl="1" eaLnBrk="1" hangingPunct="1">
              <a:spcBef>
                <a:spcPct val="10000"/>
              </a:spcBef>
            </a:pPr>
            <a:r>
              <a:rPr lang="tr-TR" altLang="ko-KR" sz="2400"/>
              <a:t>Şirkete maksimum değer katan nakit akımını belirler</a:t>
            </a:r>
          </a:p>
          <a:p>
            <a:pPr eaLnBrk="1" hangingPunct="1">
              <a:spcBef>
                <a:spcPct val="10000"/>
              </a:spcBef>
            </a:pPr>
            <a:endParaRPr lang="tr-TR" altLang="ko-KR" sz="2400"/>
          </a:p>
          <a:p>
            <a:pPr eaLnBrk="1" hangingPunct="1">
              <a:spcBef>
                <a:spcPct val="10000"/>
              </a:spcBef>
            </a:pPr>
            <a:r>
              <a:rPr lang="tr-TR" altLang="ko-KR" sz="2400"/>
              <a:t>Bu kriterleri sağlayan Net Bugünkü Değer (NPV) yöntemidir.</a:t>
            </a:r>
          </a:p>
          <a:p>
            <a:pPr eaLnBrk="1" hangingPunct="1">
              <a:spcBef>
                <a:spcPct val="10000"/>
              </a:spcBef>
            </a:pPr>
            <a:endParaRPr lang="tr-TR" altLang="ko-KR" sz="2400"/>
          </a:p>
          <a:p>
            <a:pPr eaLnBrk="1" hangingPunct="1">
              <a:spcBef>
                <a:spcPct val="10000"/>
              </a:spcBef>
            </a:pPr>
            <a:endParaRPr lang="tr-TR" altLang="ko-KR" sz="2400"/>
          </a:p>
          <a:p>
            <a:pPr eaLnBrk="1" hangingPunct="1">
              <a:spcBef>
                <a:spcPct val="10000"/>
              </a:spcBef>
            </a:pPr>
            <a:endParaRPr lang="tr-TR" altLang="ko-KR" sz="2400"/>
          </a:p>
          <a:p>
            <a:pPr eaLnBrk="1" hangingPunct="1">
              <a:spcBef>
                <a:spcPct val="10000"/>
              </a:spcBef>
            </a:pPr>
            <a:r>
              <a:rPr lang="tr-TR" altLang="ko-KR" sz="2400"/>
              <a:t>Sık kullanılan diğer yöntemler:</a:t>
            </a:r>
          </a:p>
          <a:p>
            <a:pPr lvl="1">
              <a:spcBef>
                <a:spcPct val="10000"/>
              </a:spcBef>
            </a:pPr>
            <a:r>
              <a:rPr lang="tr-TR" altLang="ko-KR" sz="2400"/>
              <a:t>İçverim Oranı (IRR)</a:t>
            </a:r>
          </a:p>
          <a:p>
            <a:pPr lvl="1">
              <a:spcBef>
                <a:spcPct val="10000"/>
              </a:spcBef>
            </a:pPr>
            <a:r>
              <a:rPr lang="tr-TR" altLang="ko-KR" sz="2400"/>
              <a:t>Geri Ödeme Süresi (Payback period)</a:t>
            </a:r>
          </a:p>
        </p:txBody>
      </p:sp>
      <p:sp>
        <p:nvSpPr>
          <p:cNvPr id="145412" name="Rectangle 3"/>
          <p:cNvSpPr>
            <a:spLocks noGrp="1" noChangeArrowheads="1"/>
          </p:cNvSpPr>
          <p:nvPr>
            <p:ph type="title"/>
          </p:nvPr>
        </p:nvSpPr>
        <p:spPr>
          <a:noFill/>
        </p:spPr>
        <p:txBody>
          <a:bodyPr/>
          <a:lstStyle/>
          <a:p>
            <a:pPr eaLnBrk="1" hangingPunct="1"/>
            <a:r>
              <a:rPr lang="tr-TR" altLang="ko-KR" sz="4000">
                <a:solidFill>
                  <a:srgbClr val="0C0000"/>
                </a:solidFill>
              </a:rPr>
              <a:t>Yatırım Kararı Yöntemleri</a:t>
            </a:r>
            <a:endParaRPr lang="tr-TR" sz="4000">
              <a:solidFill>
                <a:srgbClr val="0C0000"/>
              </a:solidFill>
            </a:endParaRPr>
          </a:p>
        </p:txBody>
      </p:sp>
      <p:pic>
        <p:nvPicPr>
          <p:cNvPr id="743428" name="Picture 4"/>
          <p:cNvPicPr>
            <a:picLocks noChangeAspect="1" noChangeArrowheads="1"/>
          </p:cNvPicPr>
          <p:nvPr/>
        </p:nvPicPr>
        <p:blipFill>
          <a:blip r:embed="rId2" cstate="print"/>
          <a:srcRect/>
          <a:stretch>
            <a:fillRect/>
          </a:stretch>
        </p:blipFill>
        <p:spPr bwMode="auto">
          <a:xfrm>
            <a:off x="1116013" y="3868465"/>
            <a:ext cx="7175500" cy="928687"/>
          </a:xfrm>
          <a:prstGeom prst="rect">
            <a:avLst/>
          </a:prstGeom>
          <a:noFill/>
          <a:ln w="9525">
            <a:noFill/>
            <a:miter lim="800000"/>
            <a:headEnd/>
            <a:tailEnd/>
          </a:ln>
        </p:spPr>
      </p:pic>
      <p:sp>
        <p:nvSpPr>
          <p:cNvPr id="8"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141</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9" name="Picture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43428"/>
                                        </p:tgtEl>
                                        <p:attrNameLst>
                                          <p:attrName>style.visibility</p:attrName>
                                        </p:attrNameLst>
                                      </p:cBhvr>
                                      <p:to>
                                        <p:strVal val="visible"/>
                                      </p:to>
                                    </p:set>
                                    <p:animEffect transition="in" filter="checkerboard(across)">
                                      <p:cBhvr>
                                        <p:cTn id="7" dur="500"/>
                                        <p:tgtEl>
                                          <p:spTgt spid="743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9" name="Rectangle 2"/>
          <p:cNvSpPr>
            <a:spLocks noGrp="1" noChangeArrowheads="1"/>
          </p:cNvSpPr>
          <p:nvPr>
            <p:ph type="title"/>
          </p:nvPr>
        </p:nvSpPr>
        <p:spPr>
          <a:xfrm>
            <a:off x="762000" y="188640"/>
            <a:ext cx="8162925" cy="890860"/>
          </a:xfrm>
        </p:spPr>
        <p:txBody>
          <a:bodyPr/>
          <a:lstStyle/>
          <a:p>
            <a:pPr eaLnBrk="1" hangingPunct="1"/>
            <a:r>
              <a:rPr lang="tr-TR" sz="4000"/>
              <a:t>Özetle NBD kuralı</a:t>
            </a:r>
            <a:endParaRPr lang="en-US" sz="4000"/>
          </a:p>
        </p:txBody>
      </p:sp>
      <p:pic>
        <p:nvPicPr>
          <p:cNvPr id="157700" name="Picture 3"/>
          <p:cNvPicPr>
            <a:picLocks noChangeAspect="1" noChangeArrowheads="1"/>
          </p:cNvPicPr>
          <p:nvPr/>
        </p:nvPicPr>
        <p:blipFill>
          <a:blip r:embed="rId2" cstate="print"/>
          <a:srcRect/>
          <a:stretch>
            <a:fillRect/>
          </a:stretch>
        </p:blipFill>
        <p:spPr bwMode="auto">
          <a:xfrm>
            <a:off x="762000" y="1412776"/>
            <a:ext cx="8077200" cy="4876800"/>
          </a:xfrm>
          <a:prstGeom prst="rect">
            <a:avLst/>
          </a:prstGeom>
          <a:noFill/>
          <a:ln w="9525">
            <a:noFill/>
            <a:miter lim="800000"/>
            <a:headEnd/>
            <a:tailEnd/>
          </a:ln>
        </p:spPr>
      </p:pic>
      <p:sp>
        <p:nvSpPr>
          <p:cNvPr id="157701" name="TextBox 5"/>
          <p:cNvSpPr txBox="1">
            <a:spLocks noChangeArrowheads="1"/>
          </p:cNvSpPr>
          <p:nvPr/>
        </p:nvSpPr>
        <p:spPr bwMode="auto">
          <a:xfrm>
            <a:off x="1384300" y="1609725"/>
            <a:ext cx="1819275" cy="306388"/>
          </a:xfrm>
          <a:prstGeom prst="rect">
            <a:avLst/>
          </a:prstGeom>
          <a:solidFill>
            <a:schemeClr val="bg1"/>
          </a:solidFill>
          <a:ln w="9525">
            <a:noFill/>
            <a:miter lim="800000"/>
            <a:headEnd/>
            <a:tailEnd/>
          </a:ln>
        </p:spPr>
        <p:txBody>
          <a:bodyPr wrap="none">
            <a:spAutoFit/>
          </a:bodyPr>
          <a:lstStyle/>
          <a:p>
            <a:r>
              <a:rPr lang="tr-TR" sz="1400"/>
              <a:t>Beklenen nakit akımları</a:t>
            </a:r>
            <a:endParaRPr lang="en-GB" sz="1400"/>
          </a:p>
        </p:txBody>
      </p:sp>
      <p:sp>
        <p:nvSpPr>
          <p:cNvPr id="157702" name="TextBox 6"/>
          <p:cNvSpPr txBox="1">
            <a:spLocks noChangeArrowheads="1"/>
          </p:cNvSpPr>
          <p:nvPr/>
        </p:nvSpPr>
        <p:spPr bwMode="auto">
          <a:xfrm>
            <a:off x="3471863" y="2760663"/>
            <a:ext cx="1460500" cy="307975"/>
          </a:xfrm>
          <a:prstGeom prst="rect">
            <a:avLst/>
          </a:prstGeom>
          <a:solidFill>
            <a:schemeClr val="bg1"/>
          </a:solidFill>
          <a:ln w="9525">
            <a:noFill/>
            <a:miter lim="800000"/>
            <a:headEnd/>
            <a:tailEnd/>
          </a:ln>
        </p:spPr>
        <p:txBody>
          <a:bodyPr>
            <a:spAutoFit/>
          </a:bodyPr>
          <a:lstStyle/>
          <a:p>
            <a:pPr algn="ctr"/>
            <a:r>
              <a:rPr lang="tr-TR" sz="1400"/>
              <a:t>NBD formülü</a:t>
            </a:r>
            <a:endParaRPr lang="en-GB" sz="1400"/>
          </a:p>
        </p:txBody>
      </p:sp>
      <p:sp>
        <p:nvSpPr>
          <p:cNvPr id="157703" name="TextBox 7"/>
          <p:cNvSpPr txBox="1">
            <a:spLocks noChangeArrowheads="1"/>
          </p:cNvSpPr>
          <p:nvPr/>
        </p:nvSpPr>
        <p:spPr bwMode="auto">
          <a:xfrm>
            <a:off x="7019925" y="1968500"/>
            <a:ext cx="1624013" cy="523875"/>
          </a:xfrm>
          <a:prstGeom prst="rect">
            <a:avLst/>
          </a:prstGeom>
          <a:solidFill>
            <a:schemeClr val="bg1"/>
          </a:solidFill>
          <a:ln w="9525">
            <a:noFill/>
            <a:miter lim="800000"/>
            <a:headEnd/>
            <a:tailEnd/>
          </a:ln>
        </p:spPr>
        <p:txBody>
          <a:bodyPr wrap="none">
            <a:spAutoFit/>
          </a:bodyPr>
          <a:lstStyle/>
          <a:p>
            <a:pPr algn="ctr"/>
            <a:r>
              <a:rPr lang="tr-TR" sz="1400"/>
              <a:t>Proje değer yaratıyor</a:t>
            </a:r>
          </a:p>
          <a:p>
            <a:pPr algn="ctr"/>
            <a:r>
              <a:rPr lang="tr-TR" sz="1400"/>
              <a:t>KABUL</a:t>
            </a:r>
            <a:endParaRPr lang="en-GB" sz="1400"/>
          </a:p>
        </p:txBody>
      </p:sp>
      <p:sp>
        <p:nvSpPr>
          <p:cNvPr id="157704" name="TextBox 8"/>
          <p:cNvSpPr txBox="1">
            <a:spLocks noChangeArrowheads="1"/>
          </p:cNvSpPr>
          <p:nvPr/>
        </p:nvSpPr>
        <p:spPr bwMode="auto">
          <a:xfrm>
            <a:off x="1476375" y="4130675"/>
            <a:ext cx="1492250" cy="522288"/>
          </a:xfrm>
          <a:prstGeom prst="rect">
            <a:avLst/>
          </a:prstGeom>
          <a:solidFill>
            <a:schemeClr val="bg1"/>
          </a:solidFill>
          <a:ln w="9525">
            <a:noFill/>
            <a:miter lim="800000"/>
            <a:headEnd/>
            <a:tailEnd/>
          </a:ln>
        </p:spPr>
        <p:txBody>
          <a:bodyPr>
            <a:spAutoFit/>
          </a:bodyPr>
          <a:lstStyle/>
          <a:p>
            <a:r>
              <a:rPr lang="tr-TR" sz="1400"/>
              <a:t>Sermaye maliyeti</a:t>
            </a:r>
          </a:p>
          <a:p>
            <a:endParaRPr lang="en-GB" sz="1400"/>
          </a:p>
        </p:txBody>
      </p:sp>
      <p:sp>
        <p:nvSpPr>
          <p:cNvPr id="157705" name="TextBox 9"/>
          <p:cNvSpPr txBox="1">
            <a:spLocks noChangeArrowheads="1"/>
          </p:cNvSpPr>
          <p:nvPr/>
        </p:nvSpPr>
        <p:spPr bwMode="auto">
          <a:xfrm>
            <a:off x="1476375" y="5516563"/>
            <a:ext cx="1582738" cy="523875"/>
          </a:xfrm>
          <a:prstGeom prst="rect">
            <a:avLst/>
          </a:prstGeom>
          <a:solidFill>
            <a:schemeClr val="bg1"/>
          </a:solidFill>
          <a:ln w="9525">
            <a:noFill/>
            <a:miter lim="800000"/>
            <a:headEnd/>
            <a:tailEnd/>
          </a:ln>
        </p:spPr>
        <p:txBody>
          <a:bodyPr>
            <a:spAutoFit/>
          </a:bodyPr>
          <a:lstStyle/>
          <a:p>
            <a:r>
              <a:rPr lang="tr-TR" sz="1400"/>
              <a:t>Nakit akımlarının</a:t>
            </a:r>
          </a:p>
          <a:p>
            <a:r>
              <a:rPr lang="tr-TR" sz="1400"/>
              <a:t>riskliliği</a:t>
            </a:r>
            <a:endParaRPr lang="en-GB" sz="1400"/>
          </a:p>
        </p:txBody>
      </p:sp>
      <p:sp>
        <p:nvSpPr>
          <p:cNvPr id="157706" name="TextBox 10"/>
          <p:cNvSpPr txBox="1">
            <a:spLocks noChangeArrowheads="1"/>
          </p:cNvSpPr>
          <p:nvPr/>
        </p:nvSpPr>
        <p:spPr bwMode="auto">
          <a:xfrm>
            <a:off x="7019925" y="3770313"/>
            <a:ext cx="1587500" cy="522287"/>
          </a:xfrm>
          <a:prstGeom prst="rect">
            <a:avLst/>
          </a:prstGeom>
          <a:solidFill>
            <a:schemeClr val="bg1"/>
          </a:solidFill>
          <a:ln w="9525">
            <a:noFill/>
            <a:miter lim="800000"/>
            <a:headEnd/>
            <a:tailEnd/>
          </a:ln>
        </p:spPr>
        <p:txBody>
          <a:bodyPr wrap="none">
            <a:spAutoFit/>
          </a:bodyPr>
          <a:lstStyle/>
          <a:p>
            <a:pPr algn="ctr"/>
            <a:r>
              <a:rPr lang="tr-TR" sz="1400"/>
              <a:t>Proje zarar yaratıyor</a:t>
            </a:r>
          </a:p>
          <a:p>
            <a:pPr algn="ctr"/>
            <a:r>
              <a:rPr lang="tr-TR" sz="1400"/>
              <a:t>RED</a:t>
            </a:r>
            <a:endParaRPr lang="en-GB" sz="1400"/>
          </a:p>
        </p:txBody>
      </p:sp>
      <p:sp>
        <p:nvSpPr>
          <p:cNvPr id="11"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142</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12" name="Picture 1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13" name="TextBox 12"/>
          <p:cNvSpPr txBox="1"/>
          <p:nvPr/>
        </p:nvSpPr>
        <p:spPr>
          <a:xfrm>
            <a:off x="5724128" y="2051556"/>
            <a:ext cx="934871" cy="369332"/>
          </a:xfrm>
          <a:prstGeom prst="rect">
            <a:avLst/>
          </a:prstGeom>
          <a:solidFill>
            <a:schemeClr val="bg1"/>
          </a:solidFill>
        </p:spPr>
        <p:txBody>
          <a:bodyPr wrap="none" rtlCol="0">
            <a:spAutoFit/>
          </a:bodyPr>
          <a:lstStyle/>
          <a:p>
            <a:r>
              <a:rPr lang="tr-TR"/>
              <a:t>NBD&gt;0</a:t>
            </a:r>
            <a:endParaRPr lang="en-US"/>
          </a:p>
        </p:txBody>
      </p:sp>
      <p:sp>
        <p:nvSpPr>
          <p:cNvPr id="14" name="TextBox 13"/>
          <p:cNvSpPr txBox="1"/>
          <p:nvPr/>
        </p:nvSpPr>
        <p:spPr>
          <a:xfrm>
            <a:off x="5724128" y="3861048"/>
            <a:ext cx="934871" cy="369332"/>
          </a:xfrm>
          <a:prstGeom prst="rect">
            <a:avLst/>
          </a:prstGeom>
          <a:solidFill>
            <a:schemeClr val="bg1"/>
          </a:solidFill>
        </p:spPr>
        <p:txBody>
          <a:bodyPr wrap="none" rtlCol="0">
            <a:spAutoFit/>
          </a:bodyPr>
          <a:lstStyle/>
          <a:p>
            <a:r>
              <a:rPr lang="tr-TR"/>
              <a:t>NBD&lt;0</a:t>
            </a:r>
            <a:endParaRPr lang="en-US"/>
          </a:p>
        </p:txBody>
      </p:sp>
    </p:spTree>
    <p:extLst>
      <p:ext uri="{BB962C8B-B14F-4D97-AF65-F5344CB8AC3E}">
        <p14:creationId xmlns:p14="http://schemas.microsoft.com/office/powerpoint/2010/main" val="2925699499"/>
      </p:ext>
    </p:extLst>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Rectangle 2"/>
          <p:cNvSpPr>
            <a:spLocks noGrp="1" noChangeArrowheads="1"/>
          </p:cNvSpPr>
          <p:nvPr>
            <p:ph type="body" idx="4294967295"/>
          </p:nvPr>
        </p:nvSpPr>
        <p:spPr>
          <a:xfrm>
            <a:off x="323528" y="1268412"/>
            <a:ext cx="8568952" cy="5112915"/>
          </a:xfrm>
          <a:prstGeom prst="rect">
            <a:avLst/>
          </a:prstGeom>
        </p:spPr>
        <p:txBody>
          <a:bodyPr/>
          <a:lstStyle/>
          <a:p>
            <a:pPr marL="0" indent="0" algn="just" eaLnBrk="1" hangingPunct="1">
              <a:lnSpc>
                <a:spcPct val="90000"/>
              </a:lnSpc>
              <a:buFont typeface="Wingdings" pitchFamily="2" charset="2"/>
              <a:buNone/>
            </a:pPr>
            <a:r>
              <a:rPr lang="tr-TR" sz="2400"/>
              <a:t>Oyuncak A.Ş. yeni bir ürün değerlendirmektedir. Tahmini nakit akımları aşağıdaki gibidir:</a:t>
            </a:r>
          </a:p>
          <a:p>
            <a:pPr marL="0" indent="0" algn="just" eaLnBrk="1" hangingPunct="1">
              <a:lnSpc>
                <a:spcPct val="90000"/>
              </a:lnSpc>
              <a:buFont typeface="Wingdings" pitchFamily="2" charset="2"/>
              <a:buNone/>
            </a:pPr>
            <a:r>
              <a:rPr lang="tr-TR" sz="2400"/>
              <a:t>Şimdi		: -$18.000</a:t>
            </a:r>
          </a:p>
          <a:p>
            <a:pPr marL="0" indent="0" algn="just" eaLnBrk="1" hangingPunct="1">
              <a:lnSpc>
                <a:spcPct val="90000"/>
              </a:lnSpc>
              <a:buFont typeface="Wingdings" pitchFamily="2" charset="2"/>
              <a:buNone/>
            </a:pPr>
            <a:r>
              <a:rPr lang="tr-TR" sz="2400"/>
              <a:t>1 - 4		: $5.200</a:t>
            </a:r>
          </a:p>
          <a:p>
            <a:pPr marL="0" indent="0" algn="just" eaLnBrk="1" hangingPunct="1">
              <a:lnSpc>
                <a:spcPct val="90000"/>
              </a:lnSpc>
              <a:buFont typeface="Wingdings" pitchFamily="2" charset="2"/>
              <a:buNone/>
            </a:pPr>
            <a:r>
              <a:rPr lang="tr-TR" sz="2400"/>
              <a:t>5		: $7.200 ($2.000 işletme sermayesi geri dönümü dahil) </a:t>
            </a:r>
          </a:p>
          <a:p>
            <a:pPr marL="0" indent="0" algn="just" eaLnBrk="1" hangingPunct="1">
              <a:lnSpc>
                <a:spcPct val="90000"/>
              </a:lnSpc>
              <a:buFont typeface="Wingdings" pitchFamily="2" charset="2"/>
              <a:buNone/>
            </a:pPr>
            <a:endParaRPr lang="tr-TR" sz="2400"/>
          </a:p>
          <a:p>
            <a:pPr marL="0" indent="0" algn="just" eaLnBrk="1" hangingPunct="1">
              <a:lnSpc>
                <a:spcPct val="90000"/>
              </a:lnSpc>
              <a:buFont typeface="Wingdings" pitchFamily="2" charset="2"/>
              <a:buNone/>
            </a:pPr>
            <a:r>
              <a:rPr lang="tr-TR" sz="2400"/>
              <a:t>Aşağıdakileri hesaplayınız:</a:t>
            </a:r>
          </a:p>
          <a:p>
            <a:pPr marL="0" indent="0" algn="just" eaLnBrk="1" hangingPunct="1">
              <a:lnSpc>
                <a:spcPct val="90000"/>
              </a:lnSpc>
              <a:buFont typeface="Wingdings" pitchFamily="2" charset="2"/>
              <a:buAutoNum type="alphaLcParenR"/>
            </a:pPr>
            <a:r>
              <a:rPr lang="tr-TR" sz="2400"/>
              <a:t> Geri ödeme süresi</a:t>
            </a:r>
          </a:p>
          <a:p>
            <a:pPr marL="0" indent="0" algn="just" eaLnBrk="1" hangingPunct="1">
              <a:lnSpc>
                <a:spcPct val="90000"/>
              </a:lnSpc>
              <a:buFont typeface="Wingdings" pitchFamily="2" charset="2"/>
              <a:buAutoNum type="alphaLcParenR"/>
            </a:pPr>
            <a:r>
              <a:rPr lang="tr-TR" sz="2400"/>
              <a:t> Net bugünkü değer (%10 iskonto oranı)</a:t>
            </a:r>
          </a:p>
          <a:p>
            <a:pPr marL="0" indent="0" algn="just" eaLnBrk="1" hangingPunct="1">
              <a:lnSpc>
                <a:spcPct val="90000"/>
              </a:lnSpc>
              <a:buFont typeface="Wingdings" pitchFamily="2" charset="2"/>
              <a:buAutoNum type="alphaLcParenR"/>
            </a:pPr>
            <a:r>
              <a:rPr lang="tr-TR" sz="2400"/>
              <a:t> İç verim oranı</a:t>
            </a:r>
          </a:p>
          <a:p>
            <a:pPr marL="0" indent="0" algn="just" eaLnBrk="1" hangingPunct="1">
              <a:lnSpc>
                <a:spcPct val="90000"/>
              </a:lnSpc>
              <a:buFont typeface="Wingdings" pitchFamily="2" charset="2"/>
              <a:buAutoNum type="alphaLcParenR"/>
            </a:pPr>
            <a:r>
              <a:rPr lang="tr-TR" sz="2400"/>
              <a:t> Bu projeye başlanmalı mıdır?</a:t>
            </a:r>
          </a:p>
          <a:p>
            <a:pPr marL="0" indent="0" algn="just" eaLnBrk="1" hangingPunct="1">
              <a:lnSpc>
                <a:spcPct val="90000"/>
              </a:lnSpc>
              <a:buFont typeface="Wingdings" pitchFamily="2" charset="2"/>
              <a:buNone/>
            </a:pPr>
            <a:r>
              <a:rPr lang="tr-TR" sz="2400"/>
              <a:t> </a:t>
            </a:r>
          </a:p>
        </p:txBody>
      </p:sp>
      <p:sp>
        <p:nvSpPr>
          <p:cNvPr id="146436" name="Rectangle 3"/>
          <p:cNvSpPr>
            <a:spLocks noGrp="1" noChangeArrowheads="1"/>
          </p:cNvSpPr>
          <p:nvPr>
            <p:ph type="title"/>
          </p:nvPr>
        </p:nvSpPr>
        <p:spPr>
          <a:noFill/>
        </p:spPr>
        <p:txBody>
          <a:bodyPr/>
          <a:lstStyle/>
          <a:p>
            <a:pPr eaLnBrk="1" hangingPunct="1"/>
            <a:r>
              <a:rPr lang="tr-TR" altLang="ko-KR" sz="4000"/>
              <a:t>Yatırım Kararı Yöntemleri</a:t>
            </a:r>
            <a:endParaRPr lang="tr-TR" sz="4000"/>
          </a:p>
        </p:txBody>
      </p:sp>
      <p:sp>
        <p:nvSpPr>
          <p:cNvPr id="6"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143</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08062039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2"/>
          <p:cNvSpPr>
            <a:spLocks noGrp="1" noChangeArrowheads="1"/>
          </p:cNvSpPr>
          <p:nvPr>
            <p:ph type="body" idx="4294967295"/>
          </p:nvPr>
        </p:nvSpPr>
        <p:spPr>
          <a:xfrm>
            <a:off x="457200" y="1268413"/>
            <a:ext cx="8229600" cy="4862512"/>
          </a:xfrm>
          <a:prstGeom prst="rect">
            <a:avLst/>
          </a:prstGeom>
        </p:spPr>
        <p:txBody>
          <a:bodyPr/>
          <a:lstStyle/>
          <a:p>
            <a:pPr marL="533400" indent="-533400" eaLnBrk="1" hangingPunct="1">
              <a:buFont typeface="Wingdings" pitchFamily="2" charset="2"/>
              <a:buNone/>
            </a:pPr>
            <a:r>
              <a:rPr lang="tr-TR" sz="2400"/>
              <a:t>a) 	0		: -$18.000	Kümülatif</a:t>
            </a:r>
          </a:p>
          <a:p>
            <a:pPr marL="533400" indent="-533400" eaLnBrk="1" hangingPunct="1">
              <a:buFont typeface="Wingdings" pitchFamily="2" charset="2"/>
              <a:buNone/>
            </a:pPr>
            <a:r>
              <a:rPr lang="tr-TR" sz="2400"/>
              <a:t>	1 		: 5.200		-12.800</a:t>
            </a:r>
          </a:p>
          <a:p>
            <a:pPr marL="533400" indent="-533400" eaLnBrk="1" hangingPunct="1">
              <a:buFont typeface="Wingdings" pitchFamily="2" charset="2"/>
              <a:buNone/>
            </a:pPr>
            <a:r>
              <a:rPr lang="tr-TR" sz="2400"/>
              <a:t>	2 		: 5.200		-7.600</a:t>
            </a:r>
          </a:p>
          <a:p>
            <a:pPr marL="533400" indent="-533400" eaLnBrk="1" hangingPunct="1">
              <a:buFont typeface="Wingdings" pitchFamily="2" charset="2"/>
              <a:buNone/>
            </a:pPr>
            <a:r>
              <a:rPr lang="tr-TR" sz="2400"/>
              <a:t>	3 		: 5.200		-2.400</a:t>
            </a:r>
          </a:p>
          <a:p>
            <a:pPr marL="533400" indent="-533400" eaLnBrk="1" hangingPunct="1">
              <a:buFont typeface="Wingdings" pitchFamily="2" charset="2"/>
              <a:buNone/>
            </a:pPr>
            <a:r>
              <a:rPr lang="tr-TR" sz="2400"/>
              <a:t>	4 		: 5.200</a:t>
            </a:r>
          </a:p>
          <a:p>
            <a:pPr marL="533400" indent="-533400" eaLnBrk="1" hangingPunct="1">
              <a:buFont typeface="Wingdings" pitchFamily="2" charset="2"/>
              <a:buNone/>
            </a:pPr>
            <a:r>
              <a:rPr lang="tr-TR" sz="2400"/>
              <a:t>	5		: 7.200</a:t>
            </a:r>
          </a:p>
          <a:p>
            <a:pPr marL="533400" indent="-533400" eaLnBrk="1" hangingPunct="1">
              <a:buFont typeface="Wingdings" pitchFamily="2" charset="2"/>
              <a:buNone/>
            </a:pPr>
            <a:r>
              <a:rPr lang="tr-TR" sz="2400" b="1"/>
              <a:t>Geri ödeme süresi:</a:t>
            </a:r>
          </a:p>
        </p:txBody>
      </p:sp>
      <p:sp>
        <p:nvSpPr>
          <p:cNvPr id="147460" name="Rectangle 3"/>
          <p:cNvSpPr>
            <a:spLocks noGrp="1" noChangeArrowheads="1"/>
          </p:cNvSpPr>
          <p:nvPr>
            <p:ph type="title"/>
          </p:nvPr>
        </p:nvSpPr>
        <p:spPr>
          <a:noFill/>
        </p:spPr>
        <p:txBody>
          <a:bodyPr/>
          <a:lstStyle/>
          <a:p>
            <a:pPr eaLnBrk="1" hangingPunct="1"/>
            <a:r>
              <a:rPr lang="tr-TR" altLang="ko-KR" sz="4000"/>
              <a:t>Yatırım Kararı Yöntemleri</a:t>
            </a:r>
            <a:endParaRPr lang="tr-TR" sz="4000"/>
          </a:p>
        </p:txBody>
      </p:sp>
      <p:sp>
        <p:nvSpPr>
          <p:cNvPr id="6"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144</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49865745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Grp="1" noChangeArrowheads="1"/>
          </p:cNvSpPr>
          <p:nvPr>
            <p:ph type="body" idx="4294967295"/>
          </p:nvPr>
        </p:nvSpPr>
        <p:spPr>
          <a:xfrm>
            <a:off x="251520" y="1196405"/>
            <a:ext cx="8568952" cy="5328939"/>
          </a:xfrm>
          <a:prstGeom prst="rect">
            <a:avLst/>
          </a:prstGeom>
        </p:spPr>
        <p:txBody>
          <a:bodyPr/>
          <a:lstStyle/>
          <a:p>
            <a:pPr marL="533400" indent="-533400" eaLnBrk="1" hangingPunct="1">
              <a:buFont typeface="Wingdings" pitchFamily="2" charset="2"/>
              <a:buNone/>
            </a:pPr>
            <a:r>
              <a:rPr lang="tr-TR" sz="2000"/>
              <a:t>b) 	0		: -$18.000	B.Değer	  	KÜM. B. Değer</a:t>
            </a:r>
          </a:p>
          <a:p>
            <a:pPr marL="533400" indent="-533400" eaLnBrk="1" hangingPunct="1">
              <a:buFont typeface="Wingdings" pitchFamily="2" charset="2"/>
              <a:buNone/>
            </a:pPr>
            <a:r>
              <a:rPr lang="tr-TR" sz="2000"/>
              <a:t>	1 		: 5.200		4.727,3  		-13.272,7</a:t>
            </a:r>
          </a:p>
          <a:p>
            <a:pPr marL="533400" indent="-533400" eaLnBrk="1" hangingPunct="1">
              <a:buFont typeface="Wingdings" pitchFamily="2" charset="2"/>
              <a:buNone/>
            </a:pPr>
            <a:r>
              <a:rPr lang="tr-TR" sz="2000"/>
              <a:t>	2 		: 5.200		4.297,5   	-8.975,2</a:t>
            </a:r>
          </a:p>
          <a:p>
            <a:pPr marL="533400" indent="-533400" eaLnBrk="1" hangingPunct="1">
              <a:buFont typeface="Wingdings" pitchFamily="2" charset="2"/>
              <a:buNone/>
            </a:pPr>
            <a:r>
              <a:rPr lang="tr-TR" sz="2000"/>
              <a:t>	3 		: 5.200		3.906,8   	-5.068,4</a:t>
            </a:r>
          </a:p>
          <a:p>
            <a:pPr marL="533400" indent="-533400" eaLnBrk="1" hangingPunct="1">
              <a:buFont typeface="Wingdings" pitchFamily="2" charset="2"/>
              <a:buNone/>
            </a:pPr>
            <a:r>
              <a:rPr lang="tr-TR" sz="2000"/>
              <a:t>	4 		: 5.200       	3.551,7   	-1.516,7</a:t>
            </a:r>
          </a:p>
          <a:p>
            <a:pPr marL="533400" indent="-533400" eaLnBrk="1" hangingPunct="1">
              <a:buFont typeface="Wingdings" pitchFamily="2" charset="2"/>
              <a:buNone/>
            </a:pPr>
            <a:r>
              <a:rPr lang="tr-TR" sz="2000"/>
              <a:t>	5		: 7.200 		4.470,6  		2.953,9</a:t>
            </a:r>
          </a:p>
          <a:p>
            <a:pPr marL="533400" indent="-533400">
              <a:buNone/>
            </a:pPr>
            <a:r>
              <a:rPr lang="tr-TR" sz="2000"/>
              <a:t> </a:t>
            </a:r>
            <a:r>
              <a:rPr lang="tr-TR" sz="2000" b="1"/>
              <a:t>Net bugünkü değer</a:t>
            </a:r>
            <a:r>
              <a:rPr lang="tr-TR" sz="2000"/>
              <a:t> </a:t>
            </a:r>
          </a:p>
          <a:p>
            <a:pPr marL="533400" indent="-533400">
              <a:buNone/>
            </a:pPr>
            <a:r>
              <a:rPr lang="tr-TR" sz="2000"/>
              <a:t>NBD = -18.000 + (5.200/1.10) + (5.200/1.10</a:t>
            </a:r>
            <a:r>
              <a:rPr lang="tr-TR" sz="2000" baseline="30000"/>
              <a:t>2</a:t>
            </a:r>
            <a:r>
              <a:rPr lang="tr-TR" sz="2000"/>
              <a:t>) + (5.200/1.10</a:t>
            </a:r>
            <a:r>
              <a:rPr lang="tr-TR" sz="2000" baseline="30000"/>
              <a:t>3</a:t>
            </a:r>
            <a:r>
              <a:rPr lang="tr-TR" sz="2000"/>
              <a:t>) + (5.200/1.10</a:t>
            </a:r>
            <a:r>
              <a:rPr lang="tr-TR" sz="2000" baseline="30000"/>
              <a:t>4</a:t>
            </a:r>
            <a:r>
              <a:rPr lang="tr-TR" sz="2000"/>
              <a:t>) + (7.200/1.10</a:t>
            </a:r>
            <a:r>
              <a:rPr lang="tr-TR" sz="2000" baseline="30000"/>
              <a:t>5</a:t>
            </a:r>
            <a:r>
              <a:rPr lang="tr-TR" sz="2000"/>
              <a:t>) = </a:t>
            </a:r>
            <a:endParaRPr lang="tr-TR" sz="2000">
              <a:solidFill>
                <a:srgbClr val="0000FF"/>
              </a:solidFill>
            </a:endParaRPr>
          </a:p>
          <a:p>
            <a:pPr marL="533400" indent="-533400" eaLnBrk="1" hangingPunct="1">
              <a:buFont typeface="Wingdings" pitchFamily="2" charset="2"/>
              <a:buNone/>
            </a:pPr>
            <a:endParaRPr lang="tr-TR" sz="2000"/>
          </a:p>
          <a:p>
            <a:pPr marL="533400" indent="-533400">
              <a:buNone/>
            </a:pPr>
            <a:r>
              <a:rPr lang="tr-TR" sz="2000"/>
              <a:t>c) </a:t>
            </a:r>
            <a:r>
              <a:rPr lang="tr-TR" sz="2000" b="1"/>
              <a:t>İç verim oranı</a:t>
            </a:r>
            <a:r>
              <a:rPr lang="tr-TR" sz="2000"/>
              <a:t> = ?   NBD(r) = 0 = -18.000 + 5.200/(1+r) + 5.200/(1+r)</a:t>
            </a:r>
            <a:r>
              <a:rPr lang="tr-TR" sz="2000" baseline="30000"/>
              <a:t>2</a:t>
            </a:r>
            <a:r>
              <a:rPr lang="tr-TR" sz="2000"/>
              <a:t> + 5.200/(1+r)</a:t>
            </a:r>
            <a:r>
              <a:rPr lang="tr-TR" sz="2000" baseline="30000"/>
              <a:t>3</a:t>
            </a:r>
            <a:r>
              <a:rPr lang="tr-TR" sz="2000"/>
              <a:t> + 5.200/(1+r)</a:t>
            </a:r>
            <a:r>
              <a:rPr lang="tr-TR" sz="2000" baseline="30000"/>
              <a:t>4</a:t>
            </a:r>
            <a:r>
              <a:rPr lang="tr-TR" sz="2000"/>
              <a:t> + 7.200/(1+r)</a:t>
            </a:r>
            <a:r>
              <a:rPr lang="tr-TR" sz="2000" baseline="30000"/>
              <a:t>5</a:t>
            </a:r>
            <a:r>
              <a:rPr lang="tr-TR" sz="2000"/>
              <a:t> </a:t>
            </a:r>
          </a:p>
          <a:p>
            <a:pPr marL="533400" indent="-533400" eaLnBrk="1" hangingPunct="1">
              <a:buFont typeface="Wingdings" pitchFamily="2" charset="2"/>
              <a:buNone/>
            </a:pPr>
            <a:r>
              <a:rPr lang="tr-TR" sz="2000"/>
              <a:t>			     =</a:t>
            </a:r>
            <a:endParaRPr lang="tr-TR" sz="2000">
              <a:solidFill>
                <a:srgbClr val="0000FF"/>
              </a:solidFill>
            </a:endParaRPr>
          </a:p>
          <a:p>
            <a:pPr marL="533400" indent="-533400" eaLnBrk="1" hangingPunct="1">
              <a:buFont typeface="Wingdings" pitchFamily="2" charset="2"/>
              <a:buNone/>
            </a:pPr>
            <a:r>
              <a:rPr lang="tr-TR" sz="2000"/>
              <a:t>d) NBD &gt;0, içverim oranı&gt;%10, çok kısa bir geri dönüm süre şartı olmadıkça evet.</a:t>
            </a:r>
          </a:p>
          <a:p>
            <a:pPr marL="533400" indent="-533400" eaLnBrk="1" hangingPunct="1">
              <a:buFont typeface="Wingdings" pitchFamily="2" charset="2"/>
              <a:buNone/>
            </a:pPr>
            <a:endParaRPr lang="tr-TR" sz="2000"/>
          </a:p>
        </p:txBody>
      </p:sp>
      <p:sp>
        <p:nvSpPr>
          <p:cNvPr id="148484" name="Rectangle 3"/>
          <p:cNvSpPr>
            <a:spLocks noGrp="1" noChangeArrowheads="1"/>
          </p:cNvSpPr>
          <p:nvPr>
            <p:ph type="title"/>
          </p:nvPr>
        </p:nvSpPr>
        <p:spPr>
          <a:noFill/>
        </p:spPr>
        <p:txBody>
          <a:bodyPr/>
          <a:lstStyle/>
          <a:p>
            <a:pPr eaLnBrk="1" hangingPunct="1"/>
            <a:r>
              <a:rPr lang="tr-TR" altLang="ko-KR" sz="4000"/>
              <a:t>Yatırım Kararı Yöntemleri</a:t>
            </a:r>
            <a:endParaRPr lang="tr-TR" sz="4000"/>
          </a:p>
        </p:txBody>
      </p:sp>
      <p:sp>
        <p:nvSpPr>
          <p:cNvPr id="6"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145</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714875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848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848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848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848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848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build="p"/>
    </p:bldLst>
  </p:timing>
</p:sld>
</file>

<file path=ppt/slides/slide1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7" name="Title 5"/>
          <p:cNvSpPr>
            <a:spLocks noGrp="1"/>
          </p:cNvSpPr>
          <p:nvPr>
            <p:ph type="title"/>
          </p:nvPr>
        </p:nvSpPr>
        <p:spPr>
          <a:xfrm>
            <a:off x="1105272" y="332656"/>
            <a:ext cx="7859216" cy="710952"/>
          </a:xfrm>
        </p:spPr>
        <p:txBody>
          <a:bodyPr/>
          <a:lstStyle/>
          <a:p>
            <a:r>
              <a:rPr lang="tr-TR" sz="3200"/>
              <a:t>Geri dönüm süresi neden iyi bir metod değil</a:t>
            </a:r>
            <a:endParaRPr lang="en-GB" sz="3200"/>
          </a:p>
        </p:txBody>
      </p:sp>
      <p:sp>
        <p:nvSpPr>
          <p:cNvPr id="7" name="TextBox 6"/>
          <p:cNvSpPr txBox="1">
            <a:spLocks noChangeArrowheads="1"/>
          </p:cNvSpPr>
          <p:nvPr/>
        </p:nvSpPr>
        <p:spPr bwMode="auto">
          <a:xfrm>
            <a:off x="827088" y="5108575"/>
            <a:ext cx="7993062" cy="1015663"/>
          </a:xfrm>
          <a:prstGeom prst="rect">
            <a:avLst/>
          </a:prstGeom>
          <a:noFill/>
          <a:ln w="9525">
            <a:noFill/>
            <a:miter lim="800000"/>
            <a:headEnd/>
            <a:tailEnd/>
          </a:ln>
        </p:spPr>
        <p:txBody>
          <a:bodyPr>
            <a:spAutoFit/>
          </a:bodyPr>
          <a:lstStyle/>
          <a:p>
            <a:r>
              <a:rPr lang="tr-TR" sz="2000">
                <a:latin typeface="Verdana" pitchFamily="34" charset="0"/>
                <a:ea typeface="Verdana" pitchFamily="34" charset="0"/>
                <a:cs typeface="Verdana" pitchFamily="34" charset="0"/>
              </a:rPr>
              <a:t>2 yatırımın da geri dönüm süresi aynı, ancak F projesi çok daha fazla değer yaratıyor. Geri dönüm süresi bunu yakalayamıyor.</a:t>
            </a:r>
            <a:endParaRPr lang="en-GB" sz="1600">
              <a:latin typeface="Verdana" pitchFamily="34" charset="0"/>
              <a:ea typeface="Verdana" pitchFamily="34" charset="0"/>
              <a:cs typeface="Verdana" pitchFamily="34" charset="0"/>
            </a:endParaRPr>
          </a:p>
        </p:txBody>
      </p:sp>
      <p:graphicFrame>
        <p:nvGraphicFramePr>
          <p:cNvPr id="8" name="Table 7"/>
          <p:cNvGraphicFramePr>
            <a:graphicFrameLocks noGrp="1"/>
          </p:cNvGraphicFramePr>
          <p:nvPr/>
        </p:nvGraphicFramePr>
        <p:xfrm>
          <a:off x="755650" y="1268413"/>
          <a:ext cx="7920880" cy="3708400"/>
        </p:xfrm>
        <a:graphic>
          <a:graphicData uri="http://schemas.openxmlformats.org/drawingml/2006/table">
            <a:tbl>
              <a:tblPr firstRow="1" bandRow="1">
                <a:tableStyleId>{5C22544A-7EE6-4342-B048-85BDC9FD1C3A}</a:tableStyleId>
              </a:tblPr>
              <a:tblGrid>
                <a:gridCol w="2843393">
                  <a:extLst>
                    <a:ext uri="{9D8B030D-6E8A-4147-A177-3AD203B41FA5}">
                      <a16:colId xmlns:a16="http://schemas.microsoft.com/office/drawing/2014/main" val="20000"/>
                    </a:ext>
                  </a:extLst>
                </a:gridCol>
                <a:gridCol w="2437194">
                  <a:extLst>
                    <a:ext uri="{9D8B030D-6E8A-4147-A177-3AD203B41FA5}">
                      <a16:colId xmlns:a16="http://schemas.microsoft.com/office/drawing/2014/main" val="20001"/>
                    </a:ext>
                  </a:extLst>
                </a:gridCol>
                <a:gridCol w="2640293">
                  <a:extLst>
                    <a:ext uri="{9D8B030D-6E8A-4147-A177-3AD203B41FA5}">
                      <a16:colId xmlns:a16="http://schemas.microsoft.com/office/drawing/2014/main" val="2000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b="1">
                          <a:solidFill>
                            <a:schemeClr val="bg1"/>
                          </a:solidFill>
                        </a:rPr>
                        <a:t>Yıl</a:t>
                      </a:r>
                      <a:endParaRPr lang="en-GB" b="1">
                        <a:solidFill>
                          <a:schemeClr val="bg1"/>
                        </a:solidFill>
                      </a:endParaRPr>
                    </a:p>
                  </a:txBody>
                  <a:tcPr/>
                </a:tc>
                <a:tc>
                  <a:txBody>
                    <a:bodyPr/>
                    <a:lstStyle/>
                    <a:p>
                      <a:pPr algn="r"/>
                      <a:r>
                        <a:rPr lang="tr-TR" b="1">
                          <a:solidFill>
                            <a:schemeClr val="bg1"/>
                          </a:solidFill>
                        </a:rPr>
                        <a:t>Proje E</a:t>
                      </a:r>
                      <a:endParaRPr lang="en-GB" b="1">
                        <a:solidFill>
                          <a:schemeClr val="bg1"/>
                        </a:solidFill>
                      </a:endParaRPr>
                    </a:p>
                  </a:txBody>
                  <a:tcPr/>
                </a:tc>
                <a:tc>
                  <a:txBody>
                    <a:bodyPr/>
                    <a:lstStyle/>
                    <a:p>
                      <a:pPr algn="r"/>
                      <a:r>
                        <a:rPr lang="tr-TR" b="1">
                          <a:solidFill>
                            <a:schemeClr val="bg1"/>
                          </a:solidFill>
                        </a:rPr>
                        <a:t>Proje F</a:t>
                      </a:r>
                      <a:endParaRPr lang="en-GB" b="1">
                        <a:solidFill>
                          <a:schemeClr val="bg1"/>
                        </a:solidFill>
                      </a:endParaRPr>
                    </a:p>
                  </a:txBody>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b="0">
                          <a:solidFill>
                            <a:schemeClr val="accent4"/>
                          </a:solidFill>
                        </a:rPr>
                        <a:t>0</a:t>
                      </a:r>
                      <a:endParaRPr lang="en-GB" b="0">
                        <a:solidFill>
                          <a:schemeClr val="accent4"/>
                        </a:solidFill>
                      </a:endParaRPr>
                    </a:p>
                  </a:txBody>
                  <a:tcPr/>
                </a:tc>
                <a:tc>
                  <a:txBody>
                    <a:bodyPr/>
                    <a:lstStyle/>
                    <a:p>
                      <a:pPr algn="r"/>
                      <a:r>
                        <a:rPr lang="tr-TR" b="0"/>
                        <a:t>($1.000.000)</a:t>
                      </a:r>
                      <a:endParaRPr lang="en-GB" b="0"/>
                    </a:p>
                  </a:txBody>
                  <a:tcPr/>
                </a:tc>
                <a:tc>
                  <a:txBody>
                    <a:bodyPr/>
                    <a:lstStyle/>
                    <a:p>
                      <a:pPr algn="r"/>
                      <a:r>
                        <a:rPr lang="tr-TR" b="0"/>
                        <a:t>($1.000.000)</a:t>
                      </a:r>
                      <a:endParaRPr lang="en-GB" b="0"/>
                    </a:p>
                  </a:txBody>
                  <a:tcPr/>
                </a:tc>
                <a:extLst>
                  <a:ext uri="{0D108BD9-81ED-4DB2-BD59-A6C34878D82A}">
                    <a16:rowId xmlns:a16="http://schemas.microsoft.com/office/drawing/2014/main" val="10001"/>
                  </a:ext>
                </a:extLst>
              </a:tr>
              <a:tr h="370840">
                <a:tc>
                  <a:txBody>
                    <a:bodyPr/>
                    <a:lstStyle/>
                    <a:p>
                      <a:pPr algn="ctr"/>
                      <a:r>
                        <a:rPr lang="tr-TR"/>
                        <a:t>1</a:t>
                      </a:r>
                      <a:endParaRPr lang="en-GB"/>
                    </a:p>
                  </a:txBody>
                  <a:tcPr/>
                </a:tc>
                <a:tc>
                  <a:txBody>
                    <a:bodyPr/>
                    <a:lstStyle/>
                    <a:p>
                      <a:pPr algn="r"/>
                      <a:r>
                        <a:rPr lang="tr-TR"/>
                        <a:t>$325.000</a:t>
                      </a:r>
                      <a:endParaRPr lang="en-GB"/>
                    </a:p>
                  </a:txBody>
                  <a:tcPr/>
                </a:tc>
                <a:tc>
                  <a:txBody>
                    <a:bodyPr/>
                    <a:lstStyle/>
                    <a:p>
                      <a:pPr algn="r"/>
                      <a:r>
                        <a:rPr lang="tr-TR"/>
                        <a:t>$325.000</a:t>
                      </a:r>
                      <a:endParaRPr lang="en-GB"/>
                    </a:p>
                  </a:txBody>
                  <a:tcPr/>
                </a:tc>
                <a:extLst>
                  <a:ext uri="{0D108BD9-81ED-4DB2-BD59-A6C34878D82A}">
                    <a16:rowId xmlns:a16="http://schemas.microsoft.com/office/drawing/2014/main" val="10002"/>
                  </a:ext>
                </a:extLst>
              </a:tr>
              <a:tr h="370840">
                <a:tc>
                  <a:txBody>
                    <a:bodyPr/>
                    <a:lstStyle/>
                    <a:p>
                      <a:pPr algn="ctr"/>
                      <a:r>
                        <a:rPr lang="tr-TR"/>
                        <a:t>2</a:t>
                      </a:r>
                      <a:endParaRPr lang="en-GB"/>
                    </a:p>
                  </a:txBody>
                  <a:tcPr/>
                </a:tc>
                <a:tc>
                  <a:txBody>
                    <a:bodyPr/>
                    <a:lstStyle/>
                    <a:p>
                      <a:pPr algn="r"/>
                      <a:r>
                        <a:rPr lang="tr-TR"/>
                        <a:t>325.000</a:t>
                      </a:r>
                      <a:endParaRPr lang="en-GB"/>
                    </a:p>
                  </a:txBody>
                  <a:tcPr/>
                </a:tc>
                <a:tc>
                  <a:txBody>
                    <a:bodyPr/>
                    <a:lstStyle/>
                    <a:p>
                      <a:pPr algn="r"/>
                      <a:r>
                        <a:rPr lang="tr-TR"/>
                        <a:t>325.000</a:t>
                      </a:r>
                      <a:endParaRPr lang="en-GB"/>
                    </a:p>
                  </a:txBody>
                  <a:tcPr/>
                </a:tc>
                <a:extLst>
                  <a:ext uri="{0D108BD9-81ED-4DB2-BD59-A6C34878D82A}">
                    <a16:rowId xmlns:a16="http://schemas.microsoft.com/office/drawing/2014/main" val="10003"/>
                  </a:ext>
                </a:extLst>
              </a:tr>
              <a:tr h="370840">
                <a:tc>
                  <a:txBody>
                    <a:bodyPr/>
                    <a:lstStyle/>
                    <a:p>
                      <a:pPr algn="ctr"/>
                      <a:r>
                        <a:rPr lang="tr-TR"/>
                        <a:t>3</a:t>
                      </a:r>
                      <a:endParaRPr lang="en-GB"/>
                    </a:p>
                  </a:txBody>
                  <a:tcPr/>
                </a:tc>
                <a:tc>
                  <a:txBody>
                    <a:bodyPr/>
                    <a:lstStyle/>
                    <a:p>
                      <a:pPr algn="r"/>
                      <a:r>
                        <a:rPr lang="tr-TR"/>
                        <a:t>325.000</a:t>
                      </a:r>
                      <a:endParaRPr lang="en-GB"/>
                    </a:p>
                  </a:txBody>
                  <a:tcPr/>
                </a:tc>
                <a:tc>
                  <a:txBody>
                    <a:bodyPr/>
                    <a:lstStyle/>
                    <a:p>
                      <a:pPr algn="r"/>
                      <a:r>
                        <a:rPr lang="tr-TR"/>
                        <a:t>325.000</a:t>
                      </a:r>
                      <a:endParaRPr lang="en-GB"/>
                    </a:p>
                  </a:txBody>
                  <a:tcPr/>
                </a:tc>
                <a:extLst>
                  <a:ext uri="{0D108BD9-81ED-4DB2-BD59-A6C34878D82A}">
                    <a16:rowId xmlns:a16="http://schemas.microsoft.com/office/drawing/2014/main" val="10004"/>
                  </a:ext>
                </a:extLst>
              </a:tr>
              <a:tr h="370840">
                <a:tc>
                  <a:txBody>
                    <a:bodyPr/>
                    <a:lstStyle/>
                    <a:p>
                      <a:pPr algn="ctr"/>
                      <a:r>
                        <a:rPr lang="tr-TR"/>
                        <a:t>4</a:t>
                      </a:r>
                      <a:endParaRPr lang="en-GB"/>
                    </a:p>
                  </a:txBody>
                  <a:tcPr/>
                </a:tc>
                <a:tc>
                  <a:txBody>
                    <a:bodyPr/>
                    <a:lstStyle/>
                    <a:p>
                      <a:pPr algn="r"/>
                      <a:r>
                        <a:rPr lang="tr-TR"/>
                        <a:t>325.000</a:t>
                      </a:r>
                      <a:endParaRPr lang="en-GB"/>
                    </a:p>
                  </a:txBody>
                  <a:tcPr/>
                </a:tc>
                <a:tc>
                  <a:txBody>
                    <a:bodyPr/>
                    <a:lstStyle/>
                    <a:p>
                      <a:pPr algn="r"/>
                      <a:r>
                        <a:rPr lang="tr-TR"/>
                        <a:t>325.000</a:t>
                      </a:r>
                      <a:endParaRPr lang="en-GB"/>
                    </a:p>
                  </a:txBody>
                  <a:tcPr/>
                </a:tc>
                <a:extLst>
                  <a:ext uri="{0D108BD9-81ED-4DB2-BD59-A6C34878D82A}">
                    <a16:rowId xmlns:a16="http://schemas.microsoft.com/office/drawing/2014/main" val="10005"/>
                  </a:ext>
                </a:extLst>
              </a:tr>
              <a:tr h="370840">
                <a:tc>
                  <a:txBody>
                    <a:bodyPr/>
                    <a:lstStyle/>
                    <a:p>
                      <a:pPr algn="ctr"/>
                      <a:r>
                        <a:rPr lang="tr-TR"/>
                        <a:t>5</a:t>
                      </a:r>
                      <a:endParaRPr lang="en-GB"/>
                    </a:p>
                  </a:txBody>
                  <a:tcPr/>
                </a:tc>
                <a:tc>
                  <a:txBody>
                    <a:bodyPr/>
                    <a:lstStyle/>
                    <a:p>
                      <a:pPr algn="r"/>
                      <a:r>
                        <a:rPr lang="tr-TR"/>
                        <a:t>325.000</a:t>
                      </a:r>
                      <a:endParaRPr lang="en-GB"/>
                    </a:p>
                  </a:txBody>
                  <a:tcPr/>
                </a:tc>
                <a:tc>
                  <a:txBody>
                    <a:bodyPr/>
                    <a:lstStyle/>
                    <a:p>
                      <a:pPr algn="r"/>
                      <a:r>
                        <a:rPr lang="tr-TR"/>
                        <a:t>975.000</a:t>
                      </a:r>
                      <a:endParaRPr lang="en-GB"/>
                    </a:p>
                  </a:txBody>
                  <a:tcPr/>
                </a:tc>
                <a:extLst>
                  <a:ext uri="{0D108BD9-81ED-4DB2-BD59-A6C34878D82A}">
                    <a16:rowId xmlns:a16="http://schemas.microsoft.com/office/drawing/2014/main" val="10006"/>
                  </a:ext>
                </a:extLst>
              </a:tr>
              <a:tr h="370840">
                <a:tc>
                  <a:txBody>
                    <a:bodyPr/>
                    <a:lstStyle/>
                    <a:p>
                      <a:r>
                        <a:rPr lang="tr-TR"/>
                        <a:t>Toplam nakit akımı</a:t>
                      </a:r>
                      <a:endParaRPr lang="en-GB"/>
                    </a:p>
                  </a:txBody>
                  <a:tcPr/>
                </a:tc>
                <a:tc>
                  <a:txBody>
                    <a:bodyPr/>
                    <a:lstStyle/>
                    <a:p>
                      <a:pPr algn="r"/>
                      <a:r>
                        <a:rPr lang="tr-TR"/>
                        <a:t>$625.000</a:t>
                      </a:r>
                      <a:endParaRPr lang="en-GB"/>
                    </a:p>
                  </a:txBody>
                  <a:tcPr/>
                </a:tc>
                <a:tc>
                  <a:txBody>
                    <a:bodyPr/>
                    <a:lstStyle/>
                    <a:p>
                      <a:pPr algn="r"/>
                      <a:r>
                        <a:rPr lang="tr-TR"/>
                        <a:t>$1.275.000</a:t>
                      </a:r>
                      <a:endParaRPr lang="en-GB"/>
                    </a:p>
                  </a:txBody>
                  <a:tcPr/>
                </a:tc>
                <a:extLst>
                  <a:ext uri="{0D108BD9-81ED-4DB2-BD59-A6C34878D82A}">
                    <a16:rowId xmlns:a16="http://schemas.microsoft.com/office/drawing/2014/main" val="10007"/>
                  </a:ext>
                </a:extLst>
              </a:tr>
              <a:tr h="370840">
                <a:tc>
                  <a:txBody>
                    <a:bodyPr/>
                    <a:lstStyle/>
                    <a:p>
                      <a:r>
                        <a:rPr lang="tr-TR"/>
                        <a:t>Sermaye maliyeti</a:t>
                      </a:r>
                      <a:endParaRPr lang="en-GB"/>
                    </a:p>
                  </a:txBody>
                  <a:tcPr/>
                </a:tc>
                <a:tc>
                  <a:txBody>
                    <a:bodyPr/>
                    <a:lstStyle/>
                    <a:p>
                      <a:pPr algn="ctr"/>
                      <a:r>
                        <a:rPr lang="tr-TR"/>
                        <a:t>%10</a:t>
                      </a:r>
                      <a:endParaRPr lang="en-GB"/>
                    </a:p>
                  </a:txBody>
                  <a:tcPr/>
                </a:tc>
                <a:tc>
                  <a:txBody>
                    <a:bodyPr/>
                    <a:lstStyle/>
                    <a:p>
                      <a:pPr algn="ctr"/>
                      <a:r>
                        <a:rPr lang="tr-TR"/>
                        <a:t>%10</a:t>
                      </a:r>
                      <a:endParaRPr lang="en-GB"/>
                    </a:p>
                  </a:txBody>
                  <a:tcPr/>
                </a:tc>
                <a:extLst>
                  <a:ext uri="{0D108BD9-81ED-4DB2-BD59-A6C34878D82A}">
                    <a16:rowId xmlns:a16="http://schemas.microsoft.com/office/drawing/2014/main" val="10008"/>
                  </a:ext>
                </a:extLst>
              </a:tr>
              <a:tr h="370840">
                <a:tc>
                  <a:txBody>
                    <a:bodyPr/>
                    <a:lstStyle/>
                    <a:p>
                      <a:r>
                        <a:rPr lang="tr-TR"/>
                        <a:t>NBD</a:t>
                      </a:r>
                      <a:endParaRPr lang="en-GB"/>
                    </a:p>
                  </a:txBody>
                  <a:tcPr/>
                </a:tc>
                <a:tc>
                  <a:txBody>
                    <a:bodyPr/>
                    <a:lstStyle/>
                    <a:p>
                      <a:pPr algn="ctr"/>
                      <a:endParaRPr lang="en-GB"/>
                    </a:p>
                  </a:txBody>
                  <a:tcPr/>
                </a:tc>
                <a:tc>
                  <a:txBody>
                    <a:bodyPr/>
                    <a:lstStyle/>
                    <a:p>
                      <a:pPr algn="ctr"/>
                      <a:endParaRPr lang="en-GB"/>
                    </a:p>
                  </a:txBody>
                  <a:tcPr/>
                </a:tc>
                <a:extLst>
                  <a:ext uri="{0D108BD9-81ED-4DB2-BD59-A6C34878D82A}">
                    <a16:rowId xmlns:a16="http://schemas.microsoft.com/office/drawing/2014/main" val="10009"/>
                  </a:ext>
                </a:extLst>
              </a:tr>
            </a:tbl>
          </a:graphicData>
        </a:graphic>
      </p:graphicFrame>
      <p:sp>
        <p:nvSpPr>
          <p:cNvPr id="6"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146</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9" name="Picture 8"/>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8171665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amond(in)">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Text Box 2"/>
          <p:cNvSpPr>
            <a:spLocks noGrp="1" noChangeArrowheads="1"/>
          </p:cNvSpPr>
          <p:nvPr>
            <p:ph type="title"/>
          </p:nvPr>
        </p:nvSpPr>
        <p:spPr>
          <a:xfrm>
            <a:off x="755576" y="836712"/>
            <a:ext cx="8162925" cy="1015663"/>
          </a:xfrm>
        </p:spPr>
        <p:txBody>
          <a:bodyPr wrap="square">
            <a:spAutoFit/>
          </a:bodyPr>
          <a:lstStyle/>
          <a:p>
            <a:br>
              <a:rPr lang="en-US" sz="2000" b="1">
                <a:latin typeface="Verdana" pitchFamily="34" charset="0"/>
                <a:ea typeface="Verdana" pitchFamily="34" charset="0"/>
                <a:cs typeface="Verdana" pitchFamily="34" charset="0"/>
              </a:rPr>
            </a:br>
            <a:r>
              <a:rPr lang="tr-TR" sz="2000">
                <a:latin typeface="Verdana" pitchFamily="34" charset="0"/>
                <a:ea typeface="Verdana" pitchFamily="34" charset="0"/>
                <a:cs typeface="Verdana" pitchFamily="34" charset="0"/>
              </a:rPr>
              <a:t>Başlangıç yatırımı $1 milyon  ve uygun iskonto oranı %10 olan 2 yatırımın kıyaslanması</a:t>
            </a:r>
            <a:endParaRPr lang="en-US" sz="2000">
              <a:latin typeface="Verdana" pitchFamily="34" charset="0"/>
              <a:ea typeface="Verdana" pitchFamily="34" charset="0"/>
              <a:cs typeface="Verdana" pitchFamily="34" charset="0"/>
            </a:endParaRPr>
          </a:p>
        </p:txBody>
      </p:sp>
      <p:graphicFrame>
        <p:nvGraphicFramePr>
          <p:cNvPr id="6" name="Table 5"/>
          <p:cNvGraphicFramePr>
            <a:graphicFrameLocks noGrp="1"/>
          </p:cNvGraphicFramePr>
          <p:nvPr/>
        </p:nvGraphicFramePr>
        <p:xfrm>
          <a:off x="755650" y="2312888"/>
          <a:ext cx="7920880" cy="3708400"/>
        </p:xfrm>
        <a:graphic>
          <a:graphicData uri="http://schemas.openxmlformats.org/drawingml/2006/table">
            <a:tbl>
              <a:tblPr firstRow="1" bandRow="1">
                <a:tableStyleId>{5C22544A-7EE6-4342-B048-85BDC9FD1C3A}</a:tableStyleId>
              </a:tblPr>
              <a:tblGrid>
                <a:gridCol w="2843393">
                  <a:extLst>
                    <a:ext uri="{9D8B030D-6E8A-4147-A177-3AD203B41FA5}">
                      <a16:colId xmlns:a16="http://schemas.microsoft.com/office/drawing/2014/main" val="20000"/>
                    </a:ext>
                  </a:extLst>
                </a:gridCol>
                <a:gridCol w="2437194">
                  <a:extLst>
                    <a:ext uri="{9D8B030D-6E8A-4147-A177-3AD203B41FA5}">
                      <a16:colId xmlns:a16="http://schemas.microsoft.com/office/drawing/2014/main" val="20001"/>
                    </a:ext>
                  </a:extLst>
                </a:gridCol>
                <a:gridCol w="2640293">
                  <a:extLst>
                    <a:ext uri="{9D8B030D-6E8A-4147-A177-3AD203B41FA5}">
                      <a16:colId xmlns:a16="http://schemas.microsoft.com/office/drawing/2014/main" val="2000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b="1">
                          <a:solidFill>
                            <a:schemeClr val="bg1"/>
                          </a:solidFill>
                        </a:rPr>
                        <a:t>Yıl</a:t>
                      </a:r>
                      <a:endParaRPr lang="en-GB" b="1">
                        <a:solidFill>
                          <a:schemeClr val="bg1"/>
                        </a:solidFill>
                      </a:endParaRPr>
                    </a:p>
                  </a:txBody>
                  <a:tcPr/>
                </a:tc>
                <a:tc>
                  <a:txBody>
                    <a:bodyPr/>
                    <a:lstStyle/>
                    <a:p>
                      <a:pPr algn="r"/>
                      <a:r>
                        <a:rPr lang="tr-TR" b="1">
                          <a:solidFill>
                            <a:schemeClr val="bg1"/>
                          </a:solidFill>
                        </a:rPr>
                        <a:t>Proje A</a:t>
                      </a:r>
                      <a:endParaRPr lang="en-GB" b="1">
                        <a:solidFill>
                          <a:schemeClr val="bg1"/>
                        </a:solidFill>
                      </a:endParaRPr>
                    </a:p>
                  </a:txBody>
                  <a:tcPr/>
                </a:tc>
                <a:tc>
                  <a:txBody>
                    <a:bodyPr/>
                    <a:lstStyle/>
                    <a:p>
                      <a:pPr algn="r"/>
                      <a:r>
                        <a:rPr lang="tr-TR" b="1">
                          <a:solidFill>
                            <a:schemeClr val="bg1"/>
                          </a:solidFill>
                        </a:rPr>
                        <a:t>Proje B</a:t>
                      </a:r>
                      <a:endParaRPr lang="en-GB" b="1">
                        <a:solidFill>
                          <a:schemeClr val="bg1"/>
                        </a:solidFill>
                      </a:endParaRPr>
                    </a:p>
                  </a:txBody>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b="0">
                          <a:solidFill>
                            <a:schemeClr val="accent4"/>
                          </a:solidFill>
                        </a:rPr>
                        <a:t>0</a:t>
                      </a:r>
                      <a:endParaRPr lang="en-GB" b="0">
                        <a:solidFill>
                          <a:schemeClr val="accent4"/>
                        </a:solidFill>
                      </a:endParaRPr>
                    </a:p>
                  </a:txBody>
                  <a:tcPr/>
                </a:tc>
                <a:tc>
                  <a:txBody>
                    <a:bodyPr/>
                    <a:lstStyle/>
                    <a:p>
                      <a:pPr algn="r"/>
                      <a:r>
                        <a:rPr lang="tr-TR" b="0"/>
                        <a:t>($1.000.000)</a:t>
                      </a:r>
                      <a:endParaRPr lang="en-GB" b="0"/>
                    </a:p>
                  </a:txBody>
                  <a:tcPr/>
                </a:tc>
                <a:tc>
                  <a:txBody>
                    <a:bodyPr/>
                    <a:lstStyle/>
                    <a:p>
                      <a:pPr algn="r"/>
                      <a:r>
                        <a:rPr lang="tr-TR" b="0"/>
                        <a:t>($1.000.000)</a:t>
                      </a:r>
                      <a:endParaRPr lang="en-GB" b="0"/>
                    </a:p>
                  </a:txBody>
                  <a:tcPr/>
                </a:tc>
                <a:extLst>
                  <a:ext uri="{0D108BD9-81ED-4DB2-BD59-A6C34878D82A}">
                    <a16:rowId xmlns:a16="http://schemas.microsoft.com/office/drawing/2014/main" val="10001"/>
                  </a:ext>
                </a:extLst>
              </a:tr>
              <a:tr h="370840">
                <a:tc>
                  <a:txBody>
                    <a:bodyPr/>
                    <a:lstStyle/>
                    <a:p>
                      <a:pPr algn="ctr"/>
                      <a:r>
                        <a:rPr lang="tr-TR"/>
                        <a:t>1</a:t>
                      </a:r>
                      <a:endParaRPr lang="en-GB"/>
                    </a:p>
                  </a:txBody>
                  <a:tcPr/>
                </a:tc>
                <a:tc>
                  <a:txBody>
                    <a:bodyPr/>
                    <a:lstStyle/>
                    <a:p>
                      <a:pPr algn="r"/>
                      <a:r>
                        <a:rPr lang="tr-TR"/>
                        <a:t>$800.000</a:t>
                      </a:r>
                      <a:endParaRPr lang="en-GB"/>
                    </a:p>
                  </a:txBody>
                  <a:tcPr/>
                </a:tc>
                <a:tc>
                  <a:txBody>
                    <a:bodyPr/>
                    <a:lstStyle/>
                    <a:p>
                      <a:pPr algn="r"/>
                      <a:r>
                        <a:rPr lang="tr-TR"/>
                        <a:t>$100.000</a:t>
                      </a:r>
                      <a:endParaRPr lang="en-GB"/>
                    </a:p>
                  </a:txBody>
                  <a:tcPr/>
                </a:tc>
                <a:extLst>
                  <a:ext uri="{0D108BD9-81ED-4DB2-BD59-A6C34878D82A}">
                    <a16:rowId xmlns:a16="http://schemas.microsoft.com/office/drawing/2014/main" val="10002"/>
                  </a:ext>
                </a:extLst>
              </a:tr>
              <a:tr h="370840">
                <a:tc>
                  <a:txBody>
                    <a:bodyPr/>
                    <a:lstStyle/>
                    <a:p>
                      <a:pPr algn="ctr"/>
                      <a:r>
                        <a:rPr lang="tr-TR"/>
                        <a:t>2</a:t>
                      </a:r>
                      <a:endParaRPr lang="en-GB"/>
                    </a:p>
                  </a:txBody>
                  <a:tcPr/>
                </a:tc>
                <a:tc>
                  <a:txBody>
                    <a:bodyPr/>
                    <a:lstStyle/>
                    <a:p>
                      <a:pPr algn="r"/>
                      <a:r>
                        <a:rPr lang="tr-TR"/>
                        <a:t>600.000</a:t>
                      </a:r>
                      <a:endParaRPr lang="en-GB"/>
                    </a:p>
                  </a:txBody>
                  <a:tcPr/>
                </a:tc>
                <a:tc>
                  <a:txBody>
                    <a:bodyPr/>
                    <a:lstStyle/>
                    <a:p>
                      <a:pPr algn="r"/>
                      <a:r>
                        <a:rPr lang="tr-TR"/>
                        <a:t>200.000</a:t>
                      </a:r>
                      <a:endParaRPr lang="en-GB"/>
                    </a:p>
                  </a:txBody>
                  <a:tcPr/>
                </a:tc>
                <a:extLst>
                  <a:ext uri="{0D108BD9-81ED-4DB2-BD59-A6C34878D82A}">
                    <a16:rowId xmlns:a16="http://schemas.microsoft.com/office/drawing/2014/main" val="10003"/>
                  </a:ext>
                </a:extLst>
              </a:tr>
              <a:tr h="370840">
                <a:tc>
                  <a:txBody>
                    <a:bodyPr/>
                    <a:lstStyle/>
                    <a:p>
                      <a:pPr algn="ctr"/>
                      <a:r>
                        <a:rPr lang="tr-TR"/>
                        <a:t>3</a:t>
                      </a:r>
                      <a:endParaRPr lang="en-GB"/>
                    </a:p>
                  </a:txBody>
                  <a:tcPr/>
                </a:tc>
                <a:tc>
                  <a:txBody>
                    <a:bodyPr/>
                    <a:lstStyle/>
                    <a:p>
                      <a:pPr algn="r"/>
                      <a:r>
                        <a:rPr lang="tr-TR"/>
                        <a:t>400.000</a:t>
                      </a:r>
                      <a:endParaRPr lang="en-GB"/>
                    </a:p>
                  </a:txBody>
                  <a:tcPr/>
                </a:tc>
                <a:tc>
                  <a:txBody>
                    <a:bodyPr/>
                    <a:lstStyle/>
                    <a:p>
                      <a:pPr algn="r"/>
                      <a:r>
                        <a:rPr lang="tr-TR"/>
                        <a:t>400.000</a:t>
                      </a:r>
                      <a:endParaRPr lang="en-GB"/>
                    </a:p>
                  </a:txBody>
                  <a:tcPr/>
                </a:tc>
                <a:extLst>
                  <a:ext uri="{0D108BD9-81ED-4DB2-BD59-A6C34878D82A}">
                    <a16:rowId xmlns:a16="http://schemas.microsoft.com/office/drawing/2014/main" val="10004"/>
                  </a:ext>
                </a:extLst>
              </a:tr>
              <a:tr h="370840">
                <a:tc>
                  <a:txBody>
                    <a:bodyPr/>
                    <a:lstStyle/>
                    <a:p>
                      <a:pPr algn="ctr"/>
                      <a:r>
                        <a:rPr lang="tr-TR"/>
                        <a:t>4</a:t>
                      </a:r>
                      <a:endParaRPr lang="en-GB"/>
                    </a:p>
                  </a:txBody>
                  <a:tcPr/>
                </a:tc>
                <a:tc>
                  <a:txBody>
                    <a:bodyPr/>
                    <a:lstStyle/>
                    <a:p>
                      <a:pPr algn="r"/>
                      <a:r>
                        <a:rPr lang="tr-TR"/>
                        <a:t>200.000</a:t>
                      </a:r>
                      <a:endParaRPr lang="en-GB"/>
                    </a:p>
                  </a:txBody>
                  <a:tcPr/>
                </a:tc>
                <a:tc>
                  <a:txBody>
                    <a:bodyPr/>
                    <a:lstStyle/>
                    <a:p>
                      <a:pPr algn="r"/>
                      <a:r>
                        <a:rPr lang="tr-TR"/>
                        <a:t>600.000</a:t>
                      </a:r>
                      <a:endParaRPr lang="en-GB"/>
                    </a:p>
                  </a:txBody>
                  <a:tcPr/>
                </a:tc>
                <a:extLst>
                  <a:ext uri="{0D108BD9-81ED-4DB2-BD59-A6C34878D82A}">
                    <a16:rowId xmlns:a16="http://schemas.microsoft.com/office/drawing/2014/main" val="10005"/>
                  </a:ext>
                </a:extLst>
              </a:tr>
              <a:tr h="370840">
                <a:tc>
                  <a:txBody>
                    <a:bodyPr/>
                    <a:lstStyle/>
                    <a:p>
                      <a:pPr algn="ctr"/>
                      <a:r>
                        <a:rPr lang="tr-TR"/>
                        <a:t>5</a:t>
                      </a:r>
                      <a:endParaRPr lang="en-GB"/>
                    </a:p>
                  </a:txBody>
                  <a:tcPr/>
                </a:tc>
                <a:tc>
                  <a:txBody>
                    <a:bodyPr/>
                    <a:lstStyle/>
                    <a:p>
                      <a:pPr algn="r"/>
                      <a:r>
                        <a:rPr lang="tr-TR"/>
                        <a:t>100.000</a:t>
                      </a:r>
                      <a:endParaRPr lang="en-GB"/>
                    </a:p>
                  </a:txBody>
                  <a:tcPr/>
                </a:tc>
                <a:tc>
                  <a:txBody>
                    <a:bodyPr/>
                    <a:lstStyle/>
                    <a:p>
                      <a:pPr algn="r"/>
                      <a:r>
                        <a:rPr lang="tr-TR"/>
                        <a:t>800.000</a:t>
                      </a:r>
                      <a:endParaRPr lang="en-GB"/>
                    </a:p>
                  </a:txBody>
                  <a:tcPr/>
                </a:tc>
                <a:extLst>
                  <a:ext uri="{0D108BD9-81ED-4DB2-BD59-A6C34878D82A}">
                    <a16:rowId xmlns:a16="http://schemas.microsoft.com/office/drawing/2014/main" val="10006"/>
                  </a:ext>
                </a:extLst>
              </a:tr>
              <a:tr h="370840">
                <a:tc>
                  <a:txBody>
                    <a:bodyPr/>
                    <a:lstStyle/>
                    <a:p>
                      <a:r>
                        <a:rPr lang="tr-TR"/>
                        <a:t>Toplam nakit akımı</a:t>
                      </a:r>
                      <a:endParaRPr lang="en-GB"/>
                    </a:p>
                  </a:txBody>
                  <a:tcPr/>
                </a:tc>
                <a:tc>
                  <a:txBody>
                    <a:bodyPr/>
                    <a:lstStyle/>
                    <a:p>
                      <a:pPr algn="r"/>
                      <a:r>
                        <a:rPr lang="tr-TR"/>
                        <a:t>$1.100.000</a:t>
                      </a:r>
                      <a:endParaRPr lang="en-GB"/>
                    </a:p>
                  </a:txBody>
                  <a:tcPr/>
                </a:tc>
                <a:tc>
                  <a:txBody>
                    <a:bodyPr/>
                    <a:lstStyle/>
                    <a:p>
                      <a:pPr algn="r"/>
                      <a:r>
                        <a:rPr lang="tr-TR"/>
                        <a:t>$1.100.000</a:t>
                      </a:r>
                      <a:endParaRPr lang="en-GB"/>
                    </a:p>
                  </a:txBody>
                  <a:tcPr/>
                </a:tc>
                <a:extLst>
                  <a:ext uri="{0D108BD9-81ED-4DB2-BD59-A6C34878D82A}">
                    <a16:rowId xmlns:a16="http://schemas.microsoft.com/office/drawing/2014/main" val="10007"/>
                  </a:ext>
                </a:extLst>
              </a:tr>
              <a:tr h="370840">
                <a:tc>
                  <a:txBody>
                    <a:bodyPr/>
                    <a:lstStyle/>
                    <a:p>
                      <a:r>
                        <a:rPr lang="tr-TR"/>
                        <a:t>Sermaye maliyeti</a:t>
                      </a:r>
                      <a:endParaRPr lang="en-GB"/>
                    </a:p>
                  </a:txBody>
                  <a:tcPr/>
                </a:tc>
                <a:tc>
                  <a:txBody>
                    <a:bodyPr/>
                    <a:lstStyle/>
                    <a:p>
                      <a:pPr algn="ctr"/>
                      <a:r>
                        <a:rPr lang="tr-TR"/>
                        <a:t>%10</a:t>
                      </a:r>
                      <a:endParaRPr lang="en-GB"/>
                    </a:p>
                  </a:txBody>
                  <a:tcPr/>
                </a:tc>
                <a:tc>
                  <a:txBody>
                    <a:bodyPr/>
                    <a:lstStyle/>
                    <a:p>
                      <a:pPr algn="ctr"/>
                      <a:r>
                        <a:rPr lang="tr-TR"/>
                        <a:t>%10</a:t>
                      </a:r>
                      <a:endParaRPr lang="en-GB"/>
                    </a:p>
                  </a:txBody>
                  <a:tcPr/>
                </a:tc>
                <a:extLst>
                  <a:ext uri="{0D108BD9-81ED-4DB2-BD59-A6C34878D82A}">
                    <a16:rowId xmlns:a16="http://schemas.microsoft.com/office/drawing/2014/main" val="10008"/>
                  </a:ext>
                </a:extLst>
              </a:tr>
              <a:tr h="370840">
                <a:tc>
                  <a:txBody>
                    <a:bodyPr/>
                    <a:lstStyle/>
                    <a:p>
                      <a:r>
                        <a:rPr lang="tr-TR"/>
                        <a:t>NBD</a:t>
                      </a:r>
                      <a:endParaRPr lang="en-GB"/>
                    </a:p>
                  </a:txBody>
                  <a:tcPr/>
                </a:tc>
                <a:tc>
                  <a:txBody>
                    <a:bodyPr/>
                    <a:lstStyle/>
                    <a:p>
                      <a:pPr algn="ctr"/>
                      <a:endParaRPr lang="en-GB"/>
                    </a:p>
                  </a:txBody>
                  <a:tcPr/>
                </a:tc>
                <a:tc>
                  <a:txBody>
                    <a:bodyPr/>
                    <a:lstStyle/>
                    <a:p>
                      <a:pPr algn="ctr"/>
                      <a:endParaRPr lang="en-GB"/>
                    </a:p>
                  </a:txBody>
                  <a:tcPr/>
                </a:tc>
                <a:extLst>
                  <a:ext uri="{0D108BD9-81ED-4DB2-BD59-A6C34878D82A}">
                    <a16:rowId xmlns:a16="http://schemas.microsoft.com/office/drawing/2014/main" val="10009"/>
                  </a:ext>
                </a:extLst>
              </a:tr>
            </a:tbl>
          </a:graphicData>
        </a:graphic>
      </p:graphicFrame>
      <p:sp>
        <p:nvSpPr>
          <p:cNvPr id="7"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147</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9" name="Rectangle 2"/>
          <p:cNvSpPr txBox="1">
            <a:spLocks noChangeArrowheads="1"/>
          </p:cNvSpPr>
          <p:nvPr/>
        </p:nvSpPr>
        <p:spPr>
          <a:xfrm>
            <a:off x="1017587" y="223515"/>
            <a:ext cx="8162925" cy="829221"/>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sz="3600" b="0" i="0" u="none" strike="noStrike" kern="1200" cap="none" spc="0" normalizeH="0" baseline="0" noProof="0">
                <a:ln>
                  <a:noFill/>
                </a:ln>
                <a:solidFill>
                  <a:schemeClr val="tx1"/>
                </a:solidFill>
                <a:effectLst/>
                <a:uLnTx/>
                <a:uFillTx/>
                <a:latin typeface="+mj-lt"/>
                <a:ea typeface="+mj-ea"/>
                <a:cs typeface="Times New Roman" pitchFamily="18" charset="0"/>
              </a:rPr>
              <a:t>NBD niye iyi bir yatırım karar metodu? </a:t>
            </a:r>
            <a:endParaRPr kumimoji="0" lang="en-US" sz="3600" b="0" i="0" u="none" strike="noStrike" kern="1200" cap="none" spc="0" normalizeH="0" baseline="0" noProof="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32488051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2"/>
          <p:cNvSpPr>
            <a:spLocks noGrp="1" noChangeArrowheads="1"/>
          </p:cNvSpPr>
          <p:nvPr>
            <p:ph type="title"/>
          </p:nvPr>
        </p:nvSpPr>
        <p:spPr>
          <a:xfrm>
            <a:off x="1115616" y="228823"/>
            <a:ext cx="8162925" cy="823913"/>
          </a:xfrm>
        </p:spPr>
        <p:txBody>
          <a:bodyPr/>
          <a:lstStyle/>
          <a:p>
            <a:pPr eaLnBrk="1" hangingPunct="1"/>
            <a:r>
              <a:rPr lang="tr-TR" sz="3200"/>
              <a:t>Risklilikleri  farklı iki projenin kıyaslanması</a:t>
            </a:r>
            <a:endParaRPr lang="en-US" sz="3600"/>
          </a:p>
        </p:txBody>
      </p:sp>
      <p:graphicFrame>
        <p:nvGraphicFramePr>
          <p:cNvPr id="5" name="Table 4"/>
          <p:cNvGraphicFramePr>
            <a:graphicFrameLocks noGrp="1"/>
          </p:cNvGraphicFramePr>
          <p:nvPr/>
        </p:nvGraphicFramePr>
        <p:xfrm>
          <a:off x="755650" y="2276872"/>
          <a:ext cx="7920880" cy="3708400"/>
        </p:xfrm>
        <a:graphic>
          <a:graphicData uri="http://schemas.openxmlformats.org/drawingml/2006/table">
            <a:tbl>
              <a:tblPr firstRow="1" bandRow="1">
                <a:tableStyleId>{5C22544A-7EE6-4342-B048-85BDC9FD1C3A}</a:tableStyleId>
              </a:tblPr>
              <a:tblGrid>
                <a:gridCol w="2843393">
                  <a:extLst>
                    <a:ext uri="{9D8B030D-6E8A-4147-A177-3AD203B41FA5}">
                      <a16:colId xmlns:a16="http://schemas.microsoft.com/office/drawing/2014/main" val="20000"/>
                    </a:ext>
                  </a:extLst>
                </a:gridCol>
                <a:gridCol w="2437194">
                  <a:extLst>
                    <a:ext uri="{9D8B030D-6E8A-4147-A177-3AD203B41FA5}">
                      <a16:colId xmlns:a16="http://schemas.microsoft.com/office/drawing/2014/main" val="20001"/>
                    </a:ext>
                  </a:extLst>
                </a:gridCol>
                <a:gridCol w="2640293">
                  <a:extLst>
                    <a:ext uri="{9D8B030D-6E8A-4147-A177-3AD203B41FA5}">
                      <a16:colId xmlns:a16="http://schemas.microsoft.com/office/drawing/2014/main" val="20002"/>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b="1">
                          <a:solidFill>
                            <a:schemeClr val="bg1"/>
                          </a:solidFill>
                        </a:rPr>
                        <a:t>Yıl</a:t>
                      </a:r>
                      <a:endParaRPr lang="en-GB" b="1">
                        <a:solidFill>
                          <a:schemeClr val="bg1"/>
                        </a:solidFill>
                      </a:endParaRPr>
                    </a:p>
                  </a:txBody>
                  <a:tcPr/>
                </a:tc>
                <a:tc>
                  <a:txBody>
                    <a:bodyPr/>
                    <a:lstStyle/>
                    <a:p>
                      <a:pPr algn="r"/>
                      <a:r>
                        <a:rPr lang="tr-TR" b="1">
                          <a:solidFill>
                            <a:schemeClr val="bg1"/>
                          </a:solidFill>
                        </a:rPr>
                        <a:t>Proje C</a:t>
                      </a:r>
                      <a:endParaRPr lang="en-GB" b="1">
                        <a:solidFill>
                          <a:schemeClr val="bg1"/>
                        </a:solidFill>
                      </a:endParaRPr>
                    </a:p>
                  </a:txBody>
                  <a:tcPr/>
                </a:tc>
                <a:tc>
                  <a:txBody>
                    <a:bodyPr/>
                    <a:lstStyle/>
                    <a:p>
                      <a:pPr algn="r"/>
                      <a:r>
                        <a:rPr lang="tr-TR" b="1">
                          <a:solidFill>
                            <a:schemeClr val="bg1"/>
                          </a:solidFill>
                        </a:rPr>
                        <a:t>Proje D</a:t>
                      </a:r>
                      <a:endParaRPr lang="en-GB" b="1">
                        <a:solidFill>
                          <a:schemeClr val="bg1"/>
                        </a:solidFill>
                      </a:endParaRPr>
                    </a:p>
                  </a:txBody>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tr-TR" b="0">
                          <a:solidFill>
                            <a:schemeClr val="accent4"/>
                          </a:solidFill>
                        </a:rPr>
                        <a:t>0</a:t>
                      </a:r>
                      <a:endParaRPr lang="en-GB" b="0">
                        <a:solidFill>
                          <a:schemeClr val="accent4"/>
                        </a:solidFill>
                      </a:endParaRPr>
                    </a:p>
                  </a:txBody>
                  <a:tcPr/>
                </a:tc>
                <a:tc>
                  <a:txBody>
                    <a:bodyPr/>
                    <a:lstStyle/>
                    <a:p>
                      <a:pPr algn="r"/>
                      <a:r>
                        <a:rPr lang="tr-TR" b="0"/>
                        <a:t>($1.000.000)</a:t>
                      </a:r>
                      <a:endParaRPr lang="en-GB" b="0"/>
                    </a:p>
                  </a:txBody>
                  <a:tcPr/>
                </a:tc>
                <a:tc>
                  <a:txBody>
                    <a:bodyPr/>
                    <a:lstStyle/>
                    <a:p>
                      <a:pPr algn="r"/>
                      <a:r>
                        <a:rPr lang="tr-TR" b="0"/>
                        <a:t>($1.000.000)</a:t>
                      </a:r>
                      <a:endParaRPr lang="en-GB" b="0"/>
                    </a:p>
                  </a:txBody>
                  <a:tcPr/>
                </a:tc>
                <a:extLst>
                  <a:ext uri="{0D108BD9-81ED-4DB2-BD59-A6C34878D82A}">
                    <a16:rowId xmlns:a16="http://schemas.microsoft.com/office/drawing/2014/main" val="10001"/>
                  </a:ext>
                </a:extLst>
              </a:tr>
              <a:tr h="370840">
                <a:tc>
                  <a:txBody>
                    <a:bodyPr/>
                    <a:lstStyle/>
                    <a:p>
                      <a:pPr algn="ctr"/>
                      <a:r>
                        <a:rPr lang="tr-TR"/>
                        <a:t>1</a:t>
                      </a:r>
                      <a:endParaRPr lang="en-GB"/>
                    </a:p>
                  </a:txBody>
                  <a:tcPr/>
                </a:tc>
                <a:tc>
                  <a:txBody>
                    <a:bodyPr/>
                    <a:lstStyle/>
                    <a:p>
                      <a:pPr algn="r"/>
                      <a:r>
                        <a:rPr lang="tr-TR"/>
                        <a:t>$300.000</a:t>
                      </a:r>
                      <a:endParaRPr lang="en-GB"/>
                    </a:p>
                  </a:txBody>
                  <a:tcPr/>
                </a:tc>
                <a:tc>
                  <a:txBody>
                    <a:bodyPr/>
                    <a:lstStyle/>
                    <a:p>
                      <a:pPr algn="r"/>
                      <a:r>
                        <a:rPr lang="tr-TR"/>
                        <a:t>$300.000</a:t>
                      </a:r>
                      <a:endParaRPr lang="en-GB"/>
                    </a:p>
                  </a:txBody>
                  <a:tcPr/>
                </a:tc>
                <a:extLst>
                  <a:ext uri="{0D108BD9-81ED-4DB2-BD59-A6C34878D82A}">
                    <a16:rowId xmlns:a16="http://schemas.microsoft.com/office/drawing/2014/main" val="10002"/>
                  </a:ext>
                </a:extLst>
              </a:tr>
              <a:tr h="370840">
                <a:tc>
                  <a:txBody>
                    <a:bodyPr/>
                    <a:lstStyle/>
                    <a:p>
                      <a:pPr algn="ctr"/>
                      <a:r>
                        <a:rPr lang="tr-TR"/>
                        <a:t>2</a:t>
                      </a:r>
                      <a:endParaRPr lang="en-GB"/>
                    </a:p>
                  </a:txBody>
                  <a:tcPr/>
                </a:tc>
                <a:tc>
                  <a:txBody>
                    <a:bodyPr/>
                    <a:lstStyle/>
                    <a:p>
                      <a:pPr algn="r"/>
                      <a:r>
                        <a:rPr lang="tr-TR"/>
                        <a:t>300.000</a:t>
                      </a:r>
                      <a:endParaRPr lang="en-GB"/>
                    </a:p>
                  </a:txBody>
                  <a:tcPr/>
                </a:tc>
                <a:tc>
                  <a:txBody>
                    <a:bodyPr/>
                    <a:lstStyle/>
                    <a:p>
                      <a:pPr algn="r"/>
                      <a:r>
                        <a:rPr lang="tr-TR"/>
                        <a:t>300.000</a:t>
                      </a:r>
                      <a:endParaRPr lang="en-GB"/>
                    </a:p>
                  </a:txBody>
                  <a:tcPr/>
                </a:tc>
                <a:extLst>
                  <a:ext uri="{0D108BD9-81ED-4DB2-BD59-A6C34878D82A}">
                    <a16:rowId xmlns:a16="http://schemas.microsoft.com/office/drawing/2014/main" val="10003"/>
                  </a:ext>
                </a:extLst>
              </a:tr>
              <a:tr h="370840">
                <a:tc>
                  <a:txBody>
                    <a:bodyPr/>
                    <a:lstStyle/>
                    <a:p>
                      <a:pPr algn="ctr"/>
                      <a:r>
                        <a:rPr lang="tr-TR"/>
                        <a:t>3</a:t>
                      </a:r>
                      <a:endParaRPr lang="en-GB"/>
                    </a:p>
                  </a:txBody>
                  <a:tcPr/>
                </a:tc>
                <a:tc>
                  <a:txBody>
                    <a:bodyPr/>
                    <a:lstStyle/>
                    <a:p>
                      <a:pPr algn="r"/>
                      <a:r>
                        <a:rPr lang="tr-TR"/>
                        <a:t>300.000</a:t>
                      </a:r>
                      <a:endParaRPr lang="en-GB"/>
                    </a:p>
                  </a:txBody>
                  <a:tcPr/>
                </a:tc>
                <a:tc>
                  <a:txBody>
                    <a:bodyPr/>
                    <a:lstStyle/>
                    <a:p>
                      <a:pPr algn="r"/>
                      <a:r>
                        <a:rPr lang="tr-TR"/>
                        <a:t>300.000</a:t>
                      </a:r>
                      <a:endParaRPr lang="en-GB"/>
                    </a:p>
                  </a:txBody>
                  <a:tcPr/>
                </a:tc>
                <a:extLst>
                  <a:ext uri="{0D108BD9-81ED-4DB2-BD59-A6C34878D82A}">
                    <a16:rowId xmlns:a16="http://schemas.microsoft.com/office/drawing/2014/main" val="10004"/>
                  </a:ext>
                </a:extLst>
              </a:tr>
              <a:tr h="370840">
                <a:tc>
                  <a:txBody>
                    <a:bodyPr/>
                    <a:lstStyle/>
                    <a:p>
                      <a:pPr algn="ctr"/>
                      <a:r>
                        <a:rPr lang="tr-TR"/>
                        <a:t>4</a:t>
                      </a:r>
                      <a:endParaRPr lang="en-GB"/>
                    </a:p>
                  </a:txBody>
                  <a:tcPr/>
                </a:tc>
                <a:tc>
                  <a:txBody>
                    <a:bodyPr/>
                    <a:lstStyle/>
                    <a:p>
                      <a:pPr algn="r"/>
                      <a:r>
                        <a:rPr lang="tr-TR"/>
                        <a:t>300.000</a:t>
                      </a:r>
                      <a:endParaRPr lang="en-GB"/>
                    </a:p>
                  </a:txBody>
                  <a:tcPr/>
                </a:tc>
                <a:tc>
                  <a:txBody>
                    <a:bodyPr/>
                    <a:lstStyle/>
                    <a:p>
                      <a:pPr algn="r"/>
                      <a:r>
                        <a:rPr lang="tr-TR"/>
                        <a:t>300.000</a:t>
                      </a:r>
                      <a:endParaRPr lang="en-GB"/>
                    </a:p>
                  </a:txBody>
                  <a:tcPr/>
                </a:tc>
                <a:extLst>
                  <a:ext uri="{0D108BD9-81ED-4DB2-BD59-A6C34878D82A}">
                    <a16:rowId xmlns:a16="http://schemas.microsoft.com/office/drawing/2014/main" val="10005"/>
                  </a:ext>
                </a:extLst>
              </a:tr>
              <a:tr h="370840">
                <a:tc>
                  <a:txBody>
                    <a:bodyPr/>
                    <a:lstStyle/>
                    <a:p>
                      <a:pPr algn="ctr"/>
                      <a:r>
                        <a:rPr lang="tr-TR"/>
                        <a:t>5</a:t>
                      </a:r>
                      <a:endParaRPr lang="en-GB"/>
                    </a:p>
                  </a:txBody>
                  <a:tcPr/>
                </a:tc>
                <a:tc>
                  <a:txBody>
                    <a:bodyPr/>
                    <a:lstStyle/>
                    <a:p>
                      <a:pPr algn="r"/>
                      <a:r>
                        <a:rPr lang="tr-TR"/>
                        <a:t>300.000</a:t>
                      </a:r>
                      <a:endParaRPr lang="en-GB"/>
                    </a:p>
                  </a:txBody>
                  <a:tcPr/>
                </a:tc>
                <a:tc>
                  <a:txBody>
                    <a:bodyPr/>
                    <a:lstStyle/>
                    <a:p>
                      <a:pPr algn="r"/>
                      <a:r>
                        <a:rPr lang="tr-TR"/>
                        <a:t>300.000</a:t>
                      </a:r>
                      <a:endParaRPr lang="en-GB"/>
                    </a:p>
                  </a:txBody>
                  <a:tcPr/>
                </a:tc>
                <a:extLst>
                  <a:ext uri="{0D108BD9-81ED-4DB2-BD59-A6C34878D82A}">
                    <a16:rowId xmlns:a16="http://schemas.microsoft.com/office/drawing/2014/main" val="10006"/>
                  </a:ext>
                </a:extLst>
              </a:tr>
              <a:tr h="370840">
                <a:tc>
                  <a:txBody>
                    <a:bodyPr/>
                    <a:lstStyle/>
                    <a:p>
                      <a:r>
                        <a:rPr lang="tr-TR"/>
                        <a:t>Toplam nakit akımı</a:t>
                      </a:r>
                      <a:endParaRPr lang="en-GB"/>
                    </a:p>
                  </a:txBody>
                  <a:tcPr/>
                </a:tc>
                <a:tc>
                  <a:txBody>
                    <a:bodyPr/>
                    <a:lstStyle/>
                    <a:p>
                      <a:pPr algn="r"/>
                      <a:r>
                        <a:rPr lang="tr-TR"/>
                        <a:t>$500.000</a:t>
                      </a:r>
                      <a:endParaRPr lang="en-GB"/>
                    </a:p>
                  </a:txBody>
                  <a:tcPr/>
                </a:tc>
                <a:tc>
                  <a:txBody>
                    <a:bodyPr/>
                    <a:lstStyle/>
                    <a:p>
                      <a:pPr algn="r"/>
                      <a:r>
                        <a:rPr lang="tr-TR"/>
                        <a:t>$500.000</a:t>
                      </a:r>
                      <a:endParaRPr lang="en-GB"/>
                    </a:p>
                  </a:txBody>
                  <a:tcPr/>
                </a:tc>
                <a:extLst>
                  <a:ext uri="{0D108BD9-81ED-4DB2-BD59-A6C34878D82A}">
                    <a16:rowId xmlns:a16="http://schemas.microsoft.com/office/drawing/2014/main" val="10007"/>
                  </a:ext>
                </a:extLst>
              </a:tr>
              <a:tr h="370840">
                <a:tc>
                  <a:txBody>
                    <a:bodyPr/>
                    <a:lstStyle/>
                    <a:p>
                      <a:r>
                        <a:rPr lang="tr-TR"/>
                        <a:t>Sermaye maliyeti</a:t>
                      </a:r>
                      <a:endParaRPr lang="en-GB"/>
                    </a:p>
                  </a:txBody>
                  <a:tcPr/>
                </a:tc>
                <a:tc>
                  <a:txBody>
                    <a:bodyPr/>
                    <a:lstStyle/>
                    <a:p>
                      <a:pPr algn="ctr"/>
                      <a:r>
                        <a:rPr lang="tr-TR"/>
                        <a:t>%8</a:t>
                      </a:r>
                      <a:endParaRPr lang="en-GB"/>
                    </a:p>
                  </a:txBody>
                  <a:tcPr/>
                </a:tc>
                <a:tc>
                  <a:txBody>
                    <a:bodyPr/>
                    <a:lstStyle/>
                    <a:p>
                      <a:pPr algn="ctr"/>
                      <a:r>
                        <a:rPr lang="tr-TR"/>
                        <a:t>%12</a:t>
                      </a:r>
                      <a:endParaRPr lang="en-GB"/>
                    </a:p>
                  </a:txBody>
                  <a:tcPr/>
                </a:tc>
                <a:extLst>
                  <a:ext uri="{0D108BD9-81ED-4DB2-BD59-A6C34878D82A}">
                    <a16:rowId xmlns:a16="http://schemas.microsoft.com/office/drawing/2014/main" val="10008"/>
                  </a:ext>
                </a:extLst>
              </a:tr>
              <a:tr h="370840">
                <a:tc>
                  <a:txBody>
                    <a:bodyPr/>
                    <a:lstStyle/>
                    <a:p>
                      <a:r>
                        <a:rPr lang="tr-TR"/>
                        <a:t>NBD</a:t>
                      </a:r>
                      <a:endParaRPr lang="en-GB"/>
                    </a:p>
                  </a:txBody>
                  <a:tcPr/>
                </a:tc>
                <a:tc>
                  <a:txBody>
                    <a:bodyPr/>
                    <a:lstStyle/>
                    <a:p>
                      <a:pPr algn="ctr"/>
                      <a:endParaRPr lang="en-GB"/>
                    </a:p>
                  </a:txBody>
                  <a:tcPr/>
                </a:tc>
                <a:tc>
                  <a:txBody>
                    <a:bodyPr/>
                    <a:lstStyle/>
                    <a:p>
                      <a:pPr algn="ctr"/>
                      <a:endParaRPr lang="en-GB"/>
                    </a:p>
                  </a:txBody>
                  <a:tcPr/>
                </a:tc>
                <a:extLst>
                  <a:ext uri="{0D108BD9-81ED-4DB2-BD59-A6C34878D82A}">
                    <a16:rowId xmlns:a16="http://schemas.microsoft.com/office/drawing/2014/main" val="10009"/>
                  </a:ext>
                </a:extLst>
              </a:tr>
            </a:tbl>
          </a:graphicData>
        </a:graphic>
      </p:graphicFrame>
      <p:sp>
        <p:nvSpPr>
          <p:cNvPr id="7"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148</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6" name="Rectangle 2"/>
          <p:cNvSpPr txBox="1">
            <a:spLocks noChangeArrowheads="1"/>
          </p:cNvSpPr>
          <p:nvPr/>
        </p:nvSpPr>
        <p:spPr>
          <a:xfrm>
            <a:off x="899592" y="1380951"/>
            <a:ext cx="8162925" cy="607889"/>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(r</a:t>
            </a:r>
            <a:r>
              <a:rPr kumimoji="0" lang="en-US"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 = 0.</a:t>
            </a:r>
            <a:r>
              <a:rPr kumimoji="0" lang="tr-TR"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08</a:t>
            </a:r>
            <a:r>
              <a:rPr kumimoji="0" lang="en-US"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 </a:t>
            </a:r>
            <a:r>
              <a:rPr kumimoji="0" lang="tr-TR"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C projesi için ve</a:t>
            </a:r>
            <a:r>
              <a:rPr kumimoji="0" lang="en-US"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 </a:t>
            </a:r>
            <a:r>
              <a:rPr kumimoji="0" lang="tr-TR"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r</a:t>
            </a:r>
            <a:r>
              <a:rPr kumimoji="0" lang="en-US"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 = 0.1</a:t>
            </a:r>
            <a:r>
              <a:rPr kumimoji="0" lang="tr-TR"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2 </a:t>
            </a:r>
            <a:r>
              <a:rPr kumimoji="0" lang="en-US"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D</a:t>
            </a:r>
            <a:r>
              <a:rPr kumimoji="0" lang="tr-TR" sz="20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 projesi için)</a:t>
            </a:r>
            <a:endParaRPr kumimoji="0" lang="en-US" sz="240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596019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457200" y="-27384"/>
            <a:ext cx="8229600" cy="1143000"/>
          </a:xfrm>
          <a:noFill/>
        </p:spPr>
        <p:txBody>
          <a:bodyPr lIns="92075" tIns="46038" rIns="92075" bIns="46038" anchor="ctr"/>
          <a:lstStyle/>
          <a:p>
            <a:pPr eaLnBrk="1" hangingPunct="1"/>
            <a:r>
              <a:rPr lang="tr-TR"/>
              <a:t>İçverim oranı (IRR)</a:t>
            </a:r>
            <a:endParaRPr lang="en-US"/>
          </a:p>
        </p:txBody>
      </p:sp>
      <p:sp>
        <p:nvSpPr>
          <p:cNvPr id="9221" name="Rectangle 3"/>
          <p:cNvSpPr>
            <a:spLocks noGrp="1" noChangeArrowheads="1"/>
          </p:cNvSpPr>
          <p:nvPr>
            <p:ph type="body" idx="4294967295"/>
          </p:nvPr>
        </p:nvSpPr>
        <p:spPr>
          <a:xfrm>
            <a:off x="457200" y="1268413"/>
            <a:ext cx="8229600" cy="4862512"/>
          </a:xfrm>
          <a:prstGeom prst="rect">
            <a:avLst/>
          </a:prstGeom>
          <a:noFill/>
        </p:spPr>
        <p:txBody>
          <a:bodyPr lIns="92075" tIns="46038" rIns="92075" bIns="46038"/>
          <a:lstStyle/>
          <a:p>
            <a:pPr eaLnBrk="1" hangingPunct="1">
              <a:buFont typeface="Wingdings" pitchFamily="2" charset="2"/>
              <a:buNone/>
            </a:pPr>
            <a:r>
              <a:rPr lang="tr-TR" sz="2400" b="1" i="1" u="sng"/>
              <a:t>Örnek:</a:t>
            </a:r>
            <a:endParaRPr lang="en-US" sz="2400" i="1"/>
          </a:p>
          <a:p>
            <a:pPr eaLnBrk="1" hangingPunct="1">
              <a:buFont typeface="Wingdings" pitchFamily="2" charset="2"/>
              <a:buNone/>
            </a:pPr>
            <a:r>
              <a:rPr lang="en-US" sz="2400" i="1"/>
              <a:t>	</a:t>
            </a:r>
            <a:r>
              <a:rPr lang="tr-TR" sz="2400" i="1"/>
              <a:t>Değeri </a:t>
            </a:r>
            <a:r>
              <a:rPr lang="en-US" sz="2400" i="1"/>
              <a:t>$4,000</a:t>
            </a:r>
            <a:r>
              <a:rPr lang="tr-TR" sz="2400" i="1"/>
              <a:t> olan bir makine alacaksınız</a:t>
            </a:r>
            <a:r>
              <a:rPr lang="en-US" sz="2400" i="1"/>
              <a:t>. </a:t>
            </a:r>
            <a:r>
              <a:rPr lang="tr-TR" sz="2400" i="1"/>
              <a:t>Bu yatırım önümüzdeki iki sene</a:t>
            </a:r>
            <a:r>
              <a:rPr lang="en-US" sz="2400" i="1"/>
              <a:t> $2,000 </a:t>
            </a:r>
            <a:r>
              <a:rPr lang="tr-TR" sz="2400" i="1"/>
              <a:t>ve</a:t>
            </a:r>
            <a:r>
              <a:rPr lang="en-US" sz="2400" i="1"/>
              <a:t> $4,000 </a:t>
            </a:r>
            <a:r>
              <a:rPr lang="tr-TR" sz="2400" i="1"/>
              <a:t>nakit akımı yaratacak. Bu yatırımın içverim oranı nedir</a:t>
            </a:r>
            <a:r>
              <a:rPr lang="en-US" sz="2400" i="1"/>
              <a:t>?</a:t>
            </a:r>
          </a:p>
        </p:txBody>
      </p:sp>
      <p:graphicFrame>
        <p:nvGraphicFramePr>
          <p:cNvPr id="359428" name="Object 4"/>
          <p:cNvGraphicFramePr>
            <a:graphicFrameLocks/>
          </p:cNvGraphicFramePr>
          <p:nvPr/>
        </p:nvGraphicFramePr>
        <p:xfrm>
          <a:off x="827088" y="3368675"/>
          <a:ext cx="7750175" cy="1212850"/>
        </p:xfrm>
        <a:graphic>
          <a:graphicData uri="http://schemas.openxmlformats.org/presentationml/2006/ole">
            <mc:AlternateContent xmlns:mc="http://schemas.openxmlformats.org/markup-compatibility/2006">
              <mc:Choice xmlns:v="urn:schemas-microsoft-com:vml" Requires="v">
                <p:oleObj name="Equation" r:id="rId3" imgW="2679480" imgH="419040" progId="Equation.3">
                  <p:embed/>
                </p:oleObj>
              </mc:Choice>
              <mc:Fallback>
                <p:oleObj name="Equation" r:id="rId3" imgW="2679480" imgH="419040" progId="Equation.3">
                  <p:embed/>
                  <p:pic>
                    <p:nvPicPr>
                      <p:cNvPr id="359428"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3368675"/>
                        <a:ext cx="7750175" cy="121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149</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95900090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94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457200" y="44624"/>
            <a:ext cx="8229600" cy="1143000"/>
          </a:xfrm>
          <a:noFill/>
        </p:spPr>
        <p:txBody>
          <a:bodyPr lIns="92075" tIns="46038" rIns="92075" bIns="46038" anchor="ctr"/>
          <a:lstStyle/>
          <a:p>
            <a:pPr eaLnBrk="1" hangingPunct="1"/>
            <a:r>
              <a:rPr lang="tr-TR"/>
              <a:t>İçverim Oranı (IRR)</a:t>
            </a:r>
            <a:endParaRPr lang="en-US"/>
          </a:p>
        </p:txBody>
      </p:sp>
      <p:pic>
        <p:nvPicPr>
          <p:cNvPr id="158723" name="Picture 3"/>
          <p:cNvPicPr>
            <a:picLocks noChangeAspect="1" noChangeArrowheads="1"/>
          </p:cNvPicPr>
          <p:nvPr/>
        </p:nvPicPr>
        <p:blipFill>
          <a:blip r:embed="rId3" cstate="print"/>
          <a:srcRect/>
          <a:stretch>
            <a:fillRect/>
          </a:stretch>
        </p:blipFill>
        <p:spPr bwMode="auto">
          <a:xfrm>
            <a:off x="1309688" y="1268413"/>
            <a:ext cx="6523037" cy="4746625"/>
          </a:xfrm>
          <a:prstGeom prst="rect">
            <a:avLst/>
          </a:prstGeom>
          <a:noFill/>
          <a:ln w="9525">
            <a:noFill/>
            <a:miter lim="800000"/>
            <a:headEnd/>
            <a:tailEnd/>
          </a:ln>
        </p:spPr>
      </p:pic>
      <p:sp>
        <p:nvSpPr>
          <p:cNvPr id="4"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150</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5" name="Picture 4"/>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450997941"/>
      </p:ext>
    </p:extLst>
  </p:cSld>
  <p:clrMapOvr>
    <a:masterClrMapping/>
  </p:clrMapOvr>
  <p:transition>
    <p:wipe dir="r"/>
  </p:transition>
</p:sld>
</file>

<file path=ppt/slides/slide1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Slide Number Placeholder 4"/>
          <p:cNvSpPr>
            <a:spLocks noGrp="1"/>
          </p:cNvSpPr>
          <p:nvPr>
            <p:ph type="sldNum" sz="quarter" idx="10"/>
          </p:nvPr>
        </p:nvSpPr>
        <p:spPr/>
        <p:txBody>
          <a:bodyPr/>
          <a:lstStyle/>
          <a:p>
            <a:pPr>
              <a:defRPr/>
            </a:pPr>
            <a:fld id="{F0F4458A-F628-422E-9C3E-5882CBE9277C}" type="slidenum">
              <a:rPr lang="tr-TR"/>
              <a:pPr>
                <a:defRPr/>
              </a:pPr>
              <a:t>151</a:t>
            </a:fld>
            <a:endParaRPr lang="tr-TR"/>
          </a:p>
        </p:txBody>
      </p:sp>
      <p:sp>
        <p:nvSpPr>
          <p:cNvPr id="337922" name="Rectangle 2"/>
          <p:cNvSpPr>
            <a:spLocks noGrp="1" noChangeArrowheads="1"/>
          </p:cNvSpPr>
          <p:nvPr>
            <p:ph type="title"/>
          </p:nvPr>
        </p:nvSpPr>
        <p:spPr>
          <a:xfrm>
            <a:off x="762000" y="38447"/>
            <a:ext cx="8162925" cy="1230313"/>
          </a:xfrm>
        </p:spPr>
        <p:txBody>
          <a:bodyPr/>
          <a:lstStyle/>
          <a:p>
            <a:pPr eaLnBrk="1" hangingPunct="1"/>
            <a:r>
              <a:rPr lang="tr-TR" sz="3600">
                <a:solidFill>
                  <a:schemeClr val="tx1"/>
                </a:solidFill>
              </a:rPr>
              <a:t>Getiri mi Risk mi?</a:t>
            </a:r>
            <a:br>
              <a:rPr lang="tr-TR" sz="3600">
                <a:solidFill>
                  <a:schemeClr val="tx1"/>
                </a:solidFill>
              </a:rPr>
            </a:br>
            <a:r>
              <a:rPr lang="tr-TR" sz="2000">
                <a:solidFill>
                  <a:schemeClr val="tx1"/>
                </a:solidFill>
              </a:rPr>
              <a:t>Yatırım</a:t>
            </a:r>
            <a:r>
              <a:rPr lang="en-US" sz="2000">
                <a:solidFill>
                  <a:schemeClr val="tx1"/>
                </a:solidFill>
              </a:rPr>
              <a:t> = $1 mil</a:t>
            </a:r>
            <a:r>
              <a:rPr lang="tr-TR" sz="2000">
                <a:solidFill>
                  <a:schemeClr val="tx1"/>
                </a:solidFill>
              </a:rPr>
              <a:t>yon</a:t>
            </a:r>
            <a:r>
              <a:rPr lang="en-US" sz="2000">
                <a:solidFill>
                  <a:schemeClr val="tx1"/>
                </a:solidFill>
              </a:rPr>
              <a:t>; </a:t>
            </a:r>
            <a:r>
              <a:rPr lang="en-US" sz="2000" i="1">
                <a:solidFill>
                  <a:schemeClr val="tx1"/>
                </a:solidFill>
              </a:rPr>
              <a:t>k </a:t>
            </a:r>
            <a:r>
              <a:rPr lang="en-US" sz="2000">
                <a:solidFill>
                  <a:schemeClr val="tx1"/>
                </a:solidFill>
              </a:rPr>
              <a:t>= 0.10.</a:t>
            </a:r>
            <a:endParaRPr lang="en-US" sz="6000">
              <a:solidFill>
                <a:schemeClr val="tx1"/>
              </a:solidFill>
            </a:endParaRPr>
          </a:p>
        </p:txBody>
      </p:sp>
      <p:sp>
        <p:nvSpPr>
          <p:cNvPr id="337923" name="Rectangle 3"/>
          <p:cNvSpPr>
            <a:spLocks noChangeArrowheads="1"/>
          </p:cNvSpPr>
          <p:nvPr/>
        </p:nvSpPr>
        <p:spPr bwMode="auto">
          <a:xfrm>
            <a:off x="1403350" y="3716338"/>
            <a:ext cx="6872288" cy="1016000"/>
          </a:xfrm>
          <a:prstGeom prst="rect">
            <a:avLst/>
          </a:prstGeom>
          <a:solidFill>
            <a:srgbClr val="003366"/>
          </a:solidFill>
          <a:ln w="9525">
            <a:noFill/>
            <a:miter lim="800000"/>
            <a:headEnd/>
            <a:tailEnd/>
          </a:ln>
        </p:spPr>
        <p:txBody>
          <a:bodyPr>
            <a:spAutoFit/>
          </a:bodyPr>
          <a:lstStyle/>
          <a:p>
            <a:pPr algn="ctr" eaLnBrk="0" hangingPunct="0"/>
            <a:r>
              <a:rPr lang="tr-TR" sz="2000">
                <a:solidFill>
                  <a:schemeClr val="bg1"/>
                </a:solidFill>
                <a:latin typeface="Arial" charset="0"/>
                <a:cs typeface="Times New Roman" pitchFamily="18" charset="0"/>
              </a:rPr>
              <a:t>İki projenin içverim oranı da sermaye maliyeti üstünde, dolayısıyla ikisi de kabul edilebilir. Ancak sadecebirini yapabileceksek?</a:t>
            </a:r>
            <a:endParaRPr lang="en-US" sz="2000" b="0">
              <a:solidFill>
                <a:schemeClr val="bg1"/>
              </a:solidFill>
              <a:latin typeface="Arial" charset="0"/>
              <a:cs typeface="Times New Roman" pitchFamily="18" charset="0"/>
            </a:endParaRPr>
          </a:p>
        </p:txBody>
      </p:sp>
      <p:pic>
        <p:nvPicPr>
          <p:cNvPr id="337924" name="Picture 4"/>
          <p:cNvPicPr>
            <a:picLocks noChangeAspect="1" noChangeArrowheads="1"/>
          </p:cNvPicPr>
          <p:nvPr/>
        </p:nvPicPr>
        <p:blipFill>
          <a:blip r:embed="rId2" cstate="print"/>
          <a:srcRect/>
          <a:stretch>
            <a:fillRect/>
          </a:stretch>
        </p:blipFill>
        <p:spPr bwMode="auto">
          <a:xfrm>
            <a:off x="817563" y="1481138"/>
            <a:ext cx="8004175" cy="2084387"/>
          </a:xfrm>
          <a:prstGeom prst="rect">
            <a:avLst/>
          </a:prstGeom>
          <a:noFill/>
          <a:ln w="9525">
            <a:noFill/>
            <a:miter lim="800000"/>
            <a:headEnd/>
            <a:tailEnd/>
          </a:ln>
        </p:spPr>
      </p:pic>
      <p:sp>
        <p:nvSpPr>
          <p:cNvPr id="337925" name="Rectangle 5"/>
          <p:cNvSpPr>
            <a:spLocks noChangeArrowheads="1"/>
          </p:cNvSpPr>
          <p:nvPr/>
        </p:nvSpPr>
        <p:spPr bwMode="auto">
          <a:xfrm>
            <a:off x="1403350" y="4868863"/>
            <a:ext cx="6872288" cy="1323975"/>
          </a:xfrm>
          <a:prstGeom prst="rect">
            <a:avLst/>
          </a:prstGeom>
          <a:solidFill>
            <a:srgbClr val="003366"/>
          </a:solidFill>
          <a:ln w="9525">
            <a:noFill/>
            <a:miter lim="800000"/>
            <a:headEnd/>
            <a:tailEnd/>
          </a:ln>
        </p:spPr>
        <p:txBody>
          <a:bodyPr>
            <a:spAutoFit/>
          </a:bodyPr>
          <a:lstStyle/>
          <a:p>
            <a:pPr algn="ctr" eaLnBrk="0" hangingPunct="0"/>
            <a:r>
              <a:rPr lang="tr-TR" sz="2000">
                <a:solidFill>
                  <a:schemeClr val="bg1"/>
                </a:solidFill>
                <a:latin typeface="Arial" charset="0"/>
                <a:cs typeface="Times New Roman" pitchFamily="18" charset="0"/>
              </a:rPr>
              <a:t>E projesinin içverim oranı daha yüksek. Onu mu seçmeliyiz?</a:t>
            </a:r>
          </a:p>
          <a:p>
            <a:pPr algn="ctr" eaLnBrk="0" hangingPunct="0"/>
            <a:endParaRPr lang="tr-TR" sz="2000" b="0">
              <a:solidFill>
                <a:schemeClr val="bg1"/>
              </a:solidFill>
              <a:latin typeface="Arial" charset="0"/>
              <a:cs typeface="Times New Roman" pitchFamily="18" charset="0"/>
            </a:endParaRPr>
          </a:p>
          <a:p>
            <a:pPr algn="ctr" eaLnBrk="0" hangingPunct="0"/>
            <a:r>
              <a:rPr lang="tr-TR" sz="2000">
                <a:solidFill>
                  <a:schemeClr val="bg1"/>
                </a:solidFill>
                <a:latin typeface="Arial" charset="0"/>
                <a:cs typeface="Times New Roman" pitchFamily="18" charset="0"/>
              </a:rPr>
              <a:t>Ancak NPV</a:t>
            </a:r>
            <a:r>
              <a:rPr lang="tr-TR" sz="2000" baseline="-25000">
                <a:solidFill>
                  <a:schemeClr val="bg1"/>
                </a:solidFill>
                <a:latin typeface="Arial" charset="0"/>
                <a:cs typeface="Times New Roman" pitchFamily="18" charset="0"/>
              </a:rPr>
              <a:t>E</a:t>
            </a:r>
            <a:r>
              <a:rPr lang="tr-TR" sz="2000">
                <a:solidFill>
                  <a:schemeClr val="bg1"/>
                </a:solidFill>
                <a:latin typeface="Arial" charset="0"/>
                <a:cs typeface="Times New Roman" pitchFamily="18" charset="0"/>
              </a:rPr>
              <a:t> = $232,006 ve NPV</a:t>
            </a:r>
            <a:r>
              <a:rPr lang="tr-TR" sz="2000" baseline="-25000">
                <a:solidFill>
                  <a:schemeClr val="bg1"/>
                </a:solidFill>
                <a:latin typeface="Arial" charset="0"/>
                <a:cs typeface="Times New Roman" pitchFamily="18" charset="0"/>
              </a:rPr>
              <a:t>H</a:t>
            </a:r>
            <a:r>
              <a:rPr lang="tr-TR" sz="2000">
                <a:solidFill>
                  <a:schemeClr val="bg1"/>
                </a:solidFill>
                <a:latin typeface="Arial" charset="0"/>
                <a:cs typeface="Times New Roman" pitchFamily="18" charset="0"/>
              </a:rPr>
              <a:t> = $282,519</a:t>
            </a:r>
            <a:endParaRPr lang="en-US" sz="2000" b="0">
              <a:solidFill>
                <a:schemeClr val="bg1"/>
              </a:solidFill>
              <a:latin typeface="Arial" charset="0"/>
              <a:cs typeface="Times New Roman" pitchFamily="18" charset="0"/>
            </a:endParaRPr>
          </a:p>
        </p:txBody>
      </p:sp>
      <p:sp>
        <p:nvSpPr>
          <p:cNvPr id="7"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151</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9" name="Picture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787774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37922"/>
                                        </p:tgtEl>
                                        <p:attrNameLst>
                                          <p:attrName>style.visibility</p:attrName>
                                        </p:attrNameLst>
                                      </p:cBhvr>
                                      <p:to>
                                        <p:strVal val="visible"/>
                                      </p:to>
                                    </p:set>
                                    <p:anim calcmode="lin" valueType="num">
                                      <p:cBhvr additive="base">
                                        <p:cTn id="7" dur="500" fill="hold"/>
                                        <p:tgtEl>
                                          <p:spTgt spid="337922"/>
                                        </p:tgtEl>
                                        <p:attrNameLst>
                                          <p:attrName>ppt_x</p:attrName>
                                        </p:attrNameLst>
                                      </p:cBhvr>
                                      <p:tavLst>
                                        <p:tav tm="0">
                                          <p:val>
                                            <p:strVal val="#ppt_x"/>
                                          </p:val>
                                        </p:tav>
                                        <p:tav tm="100000">
                                          <p:val>
                                            <p:strVal val="#ppt_x"/>
                                          </p:val>
                                        </p:tav>
                                      </p:tavLst>
                                    </p:anim>
                                    <p:anim calcmode="lin" valueType="num">
                                      <p:cBhvr additive="base">
                                        <p:cTn id="8" dur="500" fill="hold"/>
                                        <p:tgtEl>
                                          <p:spTgt spid="33792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337924"/>
                                        </p:tgtEl>
                                        <p:attrNameLst>
                                          <p:attrName>style.visibility</p:attrName>
                                        </p:attrNameLst>
                                      </p:cBhvr>
                                      <p:to>
                                        <p:strVal val="visible"/>
                                      </p:to>
                                    </p:set>
                                    <p:animEffect transition="in" filter="checkerboard(across)">
                                      <p:cBhvr>
                                        <p:cTn id="13" dur="500"/>
                                        <p:tgtEl>
                                          <p:spTgt spid="337924"/>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37923"/>
                                        </p:tgtEl>
                                        <p:attrNameLst>
                                          <p:attrName>style.visibility</p:attrName>
                                        </p:attrNameLst>
                                      </p:cBhvr>
                                      <p:to>
                                        <p:strVal val="visible"/>
                                      </p:to>
                                    </p:set>
                                    <p:animEffect transition="in" filter="checkerboard(across)">
                                      <p:cBhvr>
                                        <p:cTn id="18" dur="500"/>
                                        <p:tgtEl>
                                          <p:spTgt spid="337923"/>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337925"/>
                                        </p:tgtEl>
                                        <p:attrNameLst>
                                          <p:attrName>style.visibility</p:attrName>
                                        </p:attrNameLst>
                                      </p:cBhvr>
                                      <p:to>
                                        <p:strVal val="visible"/>
                                      </p:to>
                                    </p:set>
                                    <p:animEffect transition="in" filter="checkerboard(across)">
                                      <p:cBhvr>
                                        <p:cTn id="23" dur="500"/>
                                        <p:tgtEl>
                                          <p:spTgt spid="337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2" grpId="0" autoUpdateAnimBg="0"/>
      <p:bldP spid="337923" grpId="0" animBg="1" autoUpdateAnimBg="0"/>
      <p:bldP spid="337925" grpId="0" animBg="1" autoUpdateAnimBg="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Text Box 2"/>
          <p:cNvSpPr txBox="1">
            <a:spLocks noChangeArrowheads="1"/>
          </p:cNvSpPr>
          <p:nvPr/>
        </p:nvSpPr>
        <p:spPr bwMode="auto">
          <a:xfrm>
            <a:off x="754063" y="801688"/>
            <a:ext cx="184150" cy="473075"/>
          </a:xfrm>
          <a:prstGeom prst="rect">
            <a:avLst/>
          </a:prstGeom>
          <a:noFill/>
          <a:ln w="9525">
            <a:noFill/>
            <a:miter lim="800000"/>
            <a:headEnd/>
            <a:tailEnd/>
          </a:ln>
        </p:spPr>
        <p:txBody>
          <a:bodyPr wrap="none">
            <a:spAutoFit/>
          </a:bodyPr>
          <a:lstStyle/>
          <a:p>
            <a:pPr eaLnBrk="0" hangingPunct="0">
              <a:lnSpc>
                <a:spcPts val="3000"/>
              </a:lnSpc>
            </a:pPr>
            <a:endParaRPr lang="en-US" sz="2400">
              <a:solidFill>
                <a:srgbClr val="003366"/>
              </a:solidFill>
              <a:latin typeface="Arial" charset="0"/>
            </a:endParaRPr>
          </a:p>
        </p:txBody>
      </p:sp>
      <p:sp>
        <p:nvSpPr>
          <p:cNvPr id="160772" name="Rectangle 3"/>
          <p:cNvSpPr>
            <a:spLocks noGrp="1" noChangeArrowheads="1"/>
          </p:cNvSpPr>
          <p:nvPr>
            <p:ph type="title"/>
          </p:nvPr>
        </p:nvSpPr>
        <p:spPr>
          <a:xfrm>
            <a:off x="741363" y="349250"/>
            <a:ext cx="8162925" cy="847725"/>
          </a:xfrm>
        </p:spPr>
        <p:txBody>
          <a:bodyPr/>
          <a:lstStyle/>
          <a:p>
            <a:r>
              <a:rPr lang="tr-TR" sz="3600"/>
              <a:t>Getiri mi Risk mi?</a:t>
            </a:r>
            <a:endParaRPr lang="en-US" sz="3600">
              <a:solidFill>
                <a:schemeClr val="tx1"/>
              </a:solidFill>
            </a:endParaRPr>
          </a:p>
        </p:txBody>
      </p:sp>
      <p:pic>
        <p:nvPicPr>
          <p:cNvPr id="338949" name="Picture 5"/>
          <p:cNvPicPr>
            <a:picLocks noChangeAspect="1" noChangeArrowheads="1"/>
          </p:cNvPicPr>
          <p:nvPr/>
        </p:nvPicPr>
        <p:blipFill>
          <a:blip r:embed="rId2" cstate="print"/>
          <a:srcRect/>
          <a:stretch>
            <a:fillRect/>
          </a:stretch>
        </p:blipFill>
        <p:spPr bwMode="auto">
          <a:xfrm>
            <a:off x="1485900" y="1208088"/>
            <a:ext cx="6757988" cy="5046662"/>
          </a:xfrm>
          <a:prstGeom prst="rect">
            <a:avLst/>
          </a:prstGeom>
          <a:noFill/>
          <a:ln w="9525">
            <a:noFill/>
            <a:miter lim="800000"/>
            <a:headEnd/>
            <a:tailEnd/>
          </a:ln>
        </p:spPr>
      </p:pic>
      <p:sp>
        <p:nvSpPr>
          <p:cNvPr id="6"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152</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0533406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38949"/>
                                        </p:tgtEl>
                                        <p:attrNameLst>
                                          <p:attrName>style.visibility</p:attrName>
                                        </p:attrNameLst>
                                      </p:cBhvr>
                                      <p:to>
                                        <p:strVal val="visible"/>
                                      </p:to>
                                    </p:set>
                                    <p:animEffect transition="in" filter="checkerboard(across)">
                                      <p:cBhvr>
                                        <p:cTn id="7" dur="500"/>
                                        <p:tgtEl>
                                          <p:spTgt spid="33894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nodePh="1">
                                  <p:stCondLst>
                                    <p:cond delay="0"/>
                                  </p:stCondLst>
                                  <p:endCondLst>
                                    <p:cond evt="begin" delay="0">
                                      <p:tn val="10"/>
                                    </p:cond>
                                  </p:endCondLst>
                                  <p:childTnLst>
                                    <p:set>
                                      <p:cBhvr>
                                        <p:cTn id="11" dur="1" fill="hold">
                                          <p:stCondLst>
                                            <p:cond delay="0"/>
                                          </p:stCondLst>
                                        </p:cTn>
                                        <p:tgtEl>
                                          <p:spTgt spid="338946"/>
                                        </p:tgtEl>
                                        <p:attrNameLst>
                                          <p:attrName>style.visibility</p:attrName>
                                        </p:attrNameLst>
                                      </p:cBhvr>
                                      <p:to>
                                        <p:strVal val="visible"/>
                                      </p:to>
                                    </p:set>
                                    <p:anim calcmode="lin" valueType="num">
                                      <p:cBhvr additive="base">
                                        <p:cTn id="12" dur="500" fill="hold"/>
                                        <p:tgtEl>
                                          <p:spTgt spid="338946"/>
                                        </p:tgtEl>
                                        <p:attrNameLst>
                                          <p:attrName>ppt_x</p:attrName>
                                        </p:attrNameLst>
                                      </p:cBhvr>
                                      <p:tavLst>
                                        <p:tav tm="0">
                                          <p:val>
                                            <p:strVal val="#ppt_x"/>
                                          </p:val>
                                        </p:tav>
                                        <p:tav tm="100000">
                                          <p:val>
                                            <p:strVal val="#ppt_x"/>
                                          </p:val>
                                        </p:tav>
                                      </p:tavLst>
                                    </p:anim>
                                    <p:anim calcmode="lin" valueType="num">
                                      <p:cBhvr additive="base">
                                        <p:cTn id="13" dur="500" fill="hold"/>
                                        <p:tgtEl>
                                          <p:spTgt spid="33894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6" grpId="0" autoUpdateAnimBg="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6" name="Rectangle 2"/>
          <p:cNvSpPr>
            <a:spLocks noGrp="1" noChangeArrowheads="1"/>
          </p:cNvSpPr>
          <p:nvPr>
            <p:ph type="title"/>
          </p:nvPr>
        </p:nvSpPr>
        <p:spPr>
          <a:xfrm>
            <a:off x="743520" y="0"/>
            <a:ext cx="8509000" cy="1311275"/>
          </a:xfrm>
        </p:spPr>
        <p:txBody>
          <a:bodyPr/>
          <a:lstStyle/>
          <a:p>
            <a:pPr eaLnBrk="1" hangingPunct="1"/>
            <a:r>
              <a:rPr lang="tr-TR" sz="3200">
                <a:cs typeface="Times New Roman" pitchFamily="18" charset="0"/>
              </a:rPr>
              <a:t>Yöneticiler neden içverim oranı kullanmayı seviyor</a:t>
            </a:r>
            <a:r>
              <a:rPr lang="en-US" sz="3200">
                <a:cs typeface="Times New Roman" pitchFamily="18" charset="0"/>
              </a:rPr>
              <a:t>?</a:t>
            </a:r>
          </a:p>
        </p:txBody>
      </p:sp>
      <p:sp>
        <p:nvSpPr>
          <p:cNvPr id="161797" name="Rectangle 3"/>
          <p:cNvSpPr>
            <a:spLocks noGrp="1" noChangeArrowheads="1"/>
          </p:cNvSpPr>
          <p:nvPr>
            <p:ph type="body" idx="4294967295"/>
          </p:nvPr>
        </p:nvSpPr>
        <p:spPr>
          <a:xfrm>
            <a:off x="741363" y="1304925"/>
            <a:ext cx="8110537" cy="4191000"/>
          </a:xfrm>
          <a:prstGeom prst="rect">
            <a:avLst/>
          </a:prstGeom>
        </p:spPr>
        <p:txBody>
          <a:bodyPr/>
          <a:lstStyle/>
          <a:p>
            <a:pPr eaLnBrk="1" hangingPunct="1">
              <a:lnSpc>
                <a:spcPct val="90000"/>
              </a:lnSpc>
            </a:pPr>
            <a:r>
              <a:rPr lang="tr-TR" sz="2400">
                <a:cs typeface="Times New Roman" pitchFamily="18" charset="0"/>
              </a:rPr>
              <a:t>Zira </a:t>
            </a:r>
            <a:r>
              <a:rPr lang="en-US" sz="2400">
                <a:cs typeface="Times New Roman" pitchFamily="18" charset="0"/>
              </a:rPr>
              <a:t>IRR </a:t>
            </a:r>
            <a:r>
              <a:rPr lang="tr-TR" sz="2400">
                <a:cs typeface="Times New Roman" pitchFamily="18" charset="0"/>
              </a:rPr>
              <a:t>sadece nakit akımlarının belirlenmesi ile bulunuyor</a:t>
            </a:r>
            <a:endParaRPr lang="en-US" sz="2400">
              <a:cs typeface="Times New Roman" pitchFamily="18" charset="0"/>
            </a:endParaRPr>
          </a:p>
          <a:p>
            <a:pPr lvl="1" eaLnBrk="1" hangingPunct="1">
              <a:lnSpc>
                <a:spcPct val="90000"/>
              </a:lnSpc>
            </a:pPr>
            <a:r>
              <a:rPr lang="tr-TR" sz="2400">
                <a:cs typeface="Times New Roman" pitchFamily="18" charset="0"/>
              </a:rPr>
              <a:t>Ancak yine de IRR’nin karşılaştırılacak bir sermaye maliyeti olması lazım</a:t>
            </a:r>
            <a:endParaRPr lang="en-US" sz="2400">
              <a:cs typeface="Times New Roman" pitchFamily="18" charset="0"/>
            </a:endParaRPr>
          </a:p>
          <a:p>
            <a:pPr lvl="1" eaLnBrk="1" hangingPunct="1">
              <a:lnSpc>
                <a:spcPct val="90000"/>
              </a:lnSpc>
            </a:pPr>
            <a:r>
              <a:rPr lang="tr-TR" sz="2400">
                <a:cs typeface="Times New Roman" pitchFamily="18" charset="0"/>
              </a:rPr>
              <a:t>Bir projenin sermaye maliyeti belirsiz ise IRR tercih edilebilir</a:t>
            </a:r>
            <a:endParaRPr lang="en-CA" sz="2400">
              <a:cs typeface="Times New Roman" pitchFamily="18" charset="0"/>
            </a:endParaRPr>
          </a:p>
          <a:p>
            <a:pPr eaLnBrk="1" hangingPunct="1">
              <a:lnSpc>
                <a:spcPct val="90000"/>
              </a:lnSpc>
            </a:pPr>
            <a:endParaRPr lang="tr-TR" sz="2400">
              <a:cs typeface="Times New Roman" pitchFamily="18" charset="0"/>
            </a:endParaRPr>
          </a:p>
          <a:p>
            <a:pPr eaLnBrk="1" hangingPunct="1">
              <a:lnSpc>
                <a:spcPct val="90000"/>
              </a:lnSpc>
            </a:pPr>
            <a:r>
              <a:rPr lang="tr-TR" sz="2400">
                <a:cs typeface="Times New Roman" pitchFamily="18" charset="0"/>
              </a:rPr>
              <a:t>Yöneticiler IRR metodunu anlaması daha kolay buluyor</a:t>
            </a:r>
            <a:endParaRPr lang="en-US" sz="2400">
              <a:cs typeface="Times New Roman" pitchFamily="18" charset="0"/>
            </a:endParaRPr>
          </a:p>
          <a:p>
            <a:pPr lvl="1" eaLnBrk="1" hangingPunct="1">
              <a:lnSpc>
                <a:spcPct val="90000"/>
              </a:lnSpc>
            </a:pPr>
            <a:r>
              <a:rPr lang="tr-TR" sz="2400">
                <a:cs typeface="Times New Roman" pitchFamily="18" charset="0"/>
              </a:rPr>
              <a:t>Yöneticilerin yatırım verimleri hakkında tecrübeleri var</a:t>
            </a:r>
            <a:endParaRPr lang="en-CA" sz="2400">
              <a:cs typeface="Times New Roman" pitchFamily="18" charset="0"/>
            </a:endParaRPr>
          </a:p>
        </p:txBody>
      </p:sp>
      <p:sp>
        <p:nvSpPr>
          <p:cNvPr id="6"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153</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41455070"/>
      </p:ext>
    </p:extLst>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358008"/>
            <a:ext cx="8229600" cy="1143000"/>
          </a:xfrm>
        </p:spPr>
        <p:txBody>
          <a:bodyPr/>
          <a:lstStyle/>
          <a:p>
            <a:r>
              <a:rPr lang="tr-TR"/>
              <a:t>PROJE DEĞERLEMESİ</a:t>
            </a:r>
            <a:endParaRPr lang="en-GB"/>
          </a:p>
        </p:txBody>
      </p:sp>
      <p:sp>
        <p:nvSpPr>
          <p:cNvPr id="4" name="Slide Number Placeholder 4"/>
          <p:cNvSpPr txBox="1">
            <a:spLocks/>
          </p:cNvSpPr>
          <p:nvPr/>
        </p:nvSpPr>
        <p:spPr>
          <a:xfrm>
            <a:off x="8532440" y="6469287"/>
            <a:ext cx="611560" cy="352295"/>
          </a:xfrm>
          <a:prstGeom prst="rect">
            <a:avLst/>
          </a:prstGeo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fld id="{6E519D9D-1516-4063-8C2F-FE843FAB8733}" type="slidenum">
              <a:rPr kumimoji="0" lang="tr-TR" sz="1200" b="1" i="0" u="none" strike="noStrike" kern="1200" cap="none" spc="0" normalizeH="0" baseline="0" noProof="0" smtClean="0">
                <a:ln>
                  <a:noFill/>
                </a:ln>
                <a:solidFill>
                  <a:schemeClr val="tx2"/>
                </a:solidFill>
                <a:effectLst/>
                <a:uLnTx/>
                <a:uFillTx/>
                <a:latin typeface="Verdana" pitchFamily="34" charset="0"/>
                <a:ea typeface="+mn-ea"/>
                <a:cs typeface="Arial" pitchFamily="34" charset="0"/>
              </a:rPr>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defRPr/>
              </a:pPr>
              <a:t>154</a:t>
            </a:fld>
            <a:endParaRPr kumimoji="0" lang="tr-TR" sz="1200" b="1" i="0" u="none" strike="noStrike" kern="1200" cap="none" spc="0" normalizeH="0" baseline="0" noProof="0">
              <a:ln>
                <a:noFill/>
              </a:ln>
              <a:solidFill>
                <a:schemeClr val="tx2"/>
              </a:solidFill>
              <a:effectLst/>
              <a:uLnTx/>
              <a:uFillTx/>
              <a:latin typeface="Verdana" pitchFamily="34" charset="0"/>
              <a:ea typeface="+mn-ea"/>
              <a:cs typeface="Arial" pitchFamily="34" charset="0"/>
            </a:endParaRP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3602867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155</a:t>
            </a:fld>
            <a:endParaRPr lang="tr-TR" sz="1200">
              <a:solidFill>
                <a:schemeClr val="tx2"/>
              </a:solidFill>
              <a:latin typeface="Verdana" pitchFamily="34" charset="0"/>
            </a:endParaRPr>
          </a:p>
        </p:txBody>
      </p:sp>
      <p:sp>
        <p:nvSpPr>
          <p:cNvPr id="7" name="Rectangle 2"/>
          <p:cNvSpPr>
            <a:spLocks noGrp="1" noChangeArrowheads="1"/>
          </p:cNvSpPr>
          <p:nvPr>
            <p:ph type="title"/>
          </p:nvPr>
        </p:nvSpPr>
        <p:spPr>
          <a:xfrm>
            <a:off x="457200" y="277813"/>
            <a:ext cx="8229600" cy="774700"/>
          </a:xfrm>
        </p:spPr>
        <p:txBody>
          <a:bodyPr/>
          <a:lstStyle/>
          <a:p>
            <a:pPr eaLnBrk="1" hangingPunct="1"/>
            <a:r>
              <a:rPr lang="tr-TR" sz="4000">
                <a:solidFill>
                  <a:srgbClr val="0C0000"/>
                </a:solidFill>
                <a:cs typeface="Arial" charset="0"/>
              </a:rPr>
              <a:t>Proje değerlemesi</a:t>
            </a:r>
            <a:endParaRPr lang="en-US" sz="4000">
              <a:solidFill>
                <a:srgbClr val="0C0000"/>
              </a:solidFill>
              <a:latin typeface="Times New Roman" pitchFamily="18" charset="0"/>
              <a:cs typeface="Times New Roman" pitchFamily="18" charset="0"/>
            </a:endParaRPr>
          </a:p>
        </p:txBody>
      </p:sp>
      <p:sp>
        <p:nvSpPr>
          <p:cNvPr id="8" name="Rectangle 3"/>
          <p:cNvSpPr txBox="1">
            <a:spLocks noChangeArrowheads="1"/>
          </p:cNvSpPr>
          <p:nvPr/>
        </p:nvSpPr>
        <p:spPr>
          <a:xfrm>
            <a:off x="323850" y="1303338"/>
            <a:ext cx="8686800" cy="4862512"/>
          </a:xfrm>
          <a:prstGeom prst="rect">
            <a:avLst/>
          </a:prstGeom>
        </p:spPr>
        <p:txBody>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lvl="1" indent="-342900">
              <a:buClr>
                <a:schemeClr val="bg2"/>
              </a:buClr>
              <a:buFont typeface="Wingdings" pitchFamily="2" charset="2"/>
              <a:buChar char="p"/>
            </a:pPr>
            <a:r>
              <a:rPr lang="tr-TR" sz="1800">
                <a:latin typeface="Verdana" pitchFamily="34" charset="0"/>
                <a:ea typeface="Verdana" pitchFamily="34" charset="0"/>
                <a:cs typeface="Verdana" pitchFamily="34" charset="0"/>
              </a:rPr>
              <a:t>Genel anlamda projenin net bugünkü değeri:</a:t>
            </a:r>
          </a:p>
          <a:p>
            <a:pPr marL="342900" lvl="1" indent="-342900">
              <a:buClr>
                <a:schemeClr val="bg2"/>
              </a:buClr>
              <a:buFont typeface="Wingdings" pitchFamily="2" charset="2"/>
              <a:buChar char="p"/>
            </a:pPr>
            <a:endParaRPr lang="tr-TR" sz="1800">
              <a:latin typeface="Verdana" pitchFamily="34" charset="0"/>
              <a:ea typeface="Verdana" pitchFamily="34" charset="0"/>
              <a:cs typeface="Verdana" pitchFamily="34" charset="0"/>
            </a:endParaRPr>
          </a:p>
          <a:p>
            <a:pPr marL="342900" lvl="1" indent="-342900">
              <a:buClr>
                <a:schemeClr val="bg2"/>
              </a:buClr>
              <a:buFont typeface="Wingdings" pitchFamily="2" charset="2"/>
              <a:buChar char="p"/>
            </a:pPr>
            <a:endParaRPr lang="tr-TR" sz="1800">
              <a:latin typeface="Verdana" pitchFamily="34" charset="0"/>
              <a:ea typeface="Verdana" pitchFamily="34" charset="0"/>
              <a:cs typeface="Verdana" pitchFamily="34" charset="0"/>
            </a:endParaRPr>
          </a:p>
          <a:p>
            <a:pPr marL="342900" lvl="1" indent="-342900">
              <a:buClr>
                <a:schemeClr val="bg2"/>
              </a:buClr>
              <a:buFont typeface="Wingdings" pitchFamily="2" charset="2"/>
              <a:buChar char="p"/>
            </a:pPr>
            <a:endParaRPr lang="tr-TR" sz="1800">
              <a:solidFill>
                <a:srgbClr val="3333CC"/>
              </a:solidFill>
              <a:latin typeface="Verdana" pitchFamily="34" charset="0"/>
              <a:ea typeface="Verdana" pitchFamily="34" charset="0"/>
              <a:cs typeface="Verdana" pitchFamily="34" charset="0"/>
            </a:endParaRPr>
          </a:p>
          <a:p>
            <a:pPr marL="342900" lvl="1" indent="-342900">
              <a:buClr>
                <a:schemeClr val="bg2"/>
              </a:buClr>
              <a:buFont typeface="Wingdings" pitchFamily="2" charset="2"/>
              <a:buChar char="p"/>
            </a:pPr>
            <a:endParaRPr lang="tr-TR" sz="1800">
              <a:solidFill>
                <a:srgbClr val="3333CC"/>
              </a:solidFill>
              <a:latin typeface="Verdana" pitchFamily="34" charset="0"/>
              <a:ea typeface="Verdana" pitchFamily="34" charset="0"/>
              <a:cs typeface="Verdana" pitchFamily="34" charset="0"/>
            </a:endParaRPr>
          </a:p>
          <a:p>
            <a:pPr marL="342900" lvl="1" indent="-342900">
              <a:buClr>
                <a:schemeClr val="bg2"/>
              </a:buClr>
              <a:buFont typeface="Wingdings" pitchFamily="2" charset="2"/>
              <a:buChar char="p"/>
            </a:pPr>
            <a:endParaRPr lang="tr-TR" sz="1800">
              <a:solidFill>
                <a:srgbClr val="3333CC"/>
              </a:solidFill>
              <a:latin typeface="Verdana" pitchFamily="34" charset="0"/>
              <a:ea typeface="Verdana" pitchFamily="34" charset="0"/>
              <a:cs typeface="Verdana" pitchFamily="34" charset="0"/>
            </a:endParaRPr>
          </a:p>
          <a:p>
            <a:pPr marL="342900" lvl="1" indent="-342900">
              <a:buClr>
                <a:schemeClr val="bg2"/>
              </a:buClr>
              <a:buFont typeface="Wingdings" pitchFamily="2" charset="2"/>
              <a:buChar char="p"/>
            </a:pPr>
            <a:r>
              <a:rPr lang="tr-TR" sz="1800">
                <a:solidFill>
                  <a:srgbClr val="3333CC"/>
                </a:solidFill>
                <a:latin typeface="Verdana" pitchFamily="34" charset="0"/>
                <a:ea typeface="Verdana" pitchFamily="34" charset="0"/>
                <a:cs typeface="Verdana" pitchFamily="34" charset="0"/>
              </a:rPr>
              <a:t> </a:t>
            </a:r>
            <a:r>
              <a:rPr lang="en-CA" sz="1800" b="1" err="1">
                <a:solidFill>
                  <a:srgbClr val="3333CC"/>
                </a:solidFill>
                <a:latin typeface="Verdana" pitchFamily="34" charset="0"/>
                <a:ea typeface="Verdana" pitchFamily="34" charset="0"/>
                <a:cs typeface="Verdana" pitchFamily="34" charset="0"/>
              </a:rPr>
              <a:t>CF</a:t>
            </a:r>
            <a:r>
              <a:rPr lang="en-CA" sz="1800" b="1" i="1" baseline="-30000" err="1">
                <a:solidFill>
                  <a:srgbClr val="3333CC"/>
                </a:solidFill>
                <a:latin typeface="Verdana" pitchFamily="34" charset="0"/>
                <a:ea typeface="Verdana" pitchFamily="34" charset="0"/>
                <a:cs typeface="Verdana" pitchFamily="34" charset="0"/>
              </a:rPr>
              <a:t>t</a:t>
            </a:r>
            <a:r>
              <a:rPr lang="tr-TR" sz="1800" b="1" i="1" baseline="-30000">
                <a:solidFill>
                  <a:srgbClr val="3333CC"/>
                </a:solidFill>
                <a:latin typeface="Verdana" pitchFamily="34" charset="0"/>
                <a:ea typeface="Verdana" pitchFamily="34" charset="0"/>
                <a:cs typeface="Verdana" pitchFamily="34" charset="0"/>
              </a:rPr>
              <a:t> </a:t>
            </a:r>
            <a:r>
              <a:rPr lang="tr-TR" sz="1800" b="1">
                <a:solidFill>
                  <a:srgbClr val="3333CC"/>
                </a:solidFill>
                <a:latin typeface="Verdana" pitchFamily="34" charset="0"/>
                <a:ea typeface="Verdana" pitchFamily="34" charset="0"/>
                <a:cs typeface="Verdana" pitchFamily="34" charset="0"/>
              </a:rPr>
              <a:t>= FAVÖK – Ödenen vergi – </a:t>
            </a:r>
            <a:r>
              <a:rPr lang="el-GR" sz="1800" b="1">
                <a:solidFill>
                  <a:srgbClr val="3333CC"/>
                </a:solidFill>
                <a:latin typeface="Verdana" pitchFamily="34" charset="0"/>
                <a:ea typeface="Verdana" pitchFamily="34" charset="0"/>
                <a:cs typeface="Verdana" pitchFamily="34" charset="0"/>
              </a:rPr>
              <a:t>Δ</a:t>
            </a:r>
            <a:r>
              <a:rPr lang="tr-TR" sz="1800" b="1">
                <a:solidFill>
                  <a:srgbClr val="3333CC"/>
                </a:solidFill>
                <a:latin typeface="Verdana" pitchFamily="34" charset="0"/>
                <a:ea typeface="Verdana" pitchFamily="34" charset="0"/>
                <a:cs typeface="Verdana" pitchFamily="34" charset="0"/>
              </a:rPr>
              <a:t>İşletme Sermayesi – Capex</a:t>
            </a:r>
          </a:p>
          <a:p>
            <a:pPr marL="342900" lvl="1" indent="-342900">
              <a:buClr>
                <a:schemeClr val="bg2"/>
              </a:buClr>
              <a:buFont typeface="Wingdings" pitchFamily="2" charset="2"/>
              <a:buChar char="p"/>
            </a:pPr>
            <a:endParaRPr lang="tr-TR" sz="1800" b="1">
              <a:latin typeface="Verdana" pitchFamily="34" charset="0"/>
              <a:ea typeface="Verdana" pitchFamily="34" charset="0"/>
              <a:cs typeface="Verdana" pitchFamily="34" charset="0"/>
            </a:endParaRPr>
          </a:p>
          <a:p>
            <a:pPr marL="342900" lvl="1" indent="-342900">
              <a:buClr>
                <a:schemeClr val="bg2"/>
              </a:buClr>
              <a:buFont typeface="Wingdings" pitchFamily="2" charset="2"/>
              <a:buChar char="p"/>
            </a:pPr>
            <a:r>
              <a:rPr lang="tr-TR" sz="1800" b="1">
                <a:latin typeface="Verdana" pitchFamily="34" charset="0"/>
                <a:ea typeface="Verdana" pitchFamily="34" charset="0"/>
                <a:cs typeface="Verdana" pitchFamily="34" charset="0"/>
              </a:rPr>
              <a:t>Alakalı nakit akımları</a:t>
            </a:r>
            <a:r>
              <a:rPr lang="en-US" sz="1800">
                <a:latin typeface="Verdana" pitchFamily="34" charset="0"/>
                <a:ea typeface="Verdana" pitchFamily="34" charset="0"/>
                <a:cs typeface="Verdana" pitchFamily="34" charset="0"/>
              </a:rPr>
              <a:t> </a:t>
            </a:r>
            <a:r>
              <a:rPr lang="tr-TR" sz="1800">
                <a:latin typeface="Verdana" pitchFamily="34" charset="0"/>
                <a:ea typeface="Verdana" pitchFamily="34" charset="0"/>
                <a:cs typeface="Verdana" pitchFamily="34" charset="0"/>
              </a:rPr>
              <a:t>yatırım kararı yüzünden şirketin nakit pozisyonunda değişiklik yaratan akımlardır.</a:t>
            </a:r>
          </a:p>
          <a:p>
            <a:endParaRPr lang="tr-TR" sz="1800">
              <a:latin typeface="Verdana" pitchFamily="34" charset="0"/>
              <a:ea typeface="Verdana" pitchFamily="34" charset="0"/>
              <a:cs typeface="Verdana" pitchFamily="34" charset="0"/>
            </a:endParaRPr>
          </a:p>
          <a:p>
            <a:r>
              <a:rPr lang="en-CA" sz="1800" err="1">
                <a:latin typeface="Verdana" pitchFamily="34" charset="0"/>
                <a:ea typeface="Verdana" pitchFamily="34" charset="0"/>
                <a:cs typeface="Verdana" pitchFamily="34" charset="0"/>
              </a:rPr>
              <a:t>Proje</a:t>
            </a:r>
            <a:r>
              <a:rPr lang="tr-TR" sz="1800">
                <a:latin typeface="Verdana" pitchFamily="34" charset="0"/>
                <a:ea typeface="Verdana" pitchFamily="34" charset="0"/>
                <a:cs typeface="Verdana" pitchFamily="34" charset="0"/>
              </a:rPr>
              <a:t>nin</a:t>
            </a:r>
            <a:r>
              <a:rPr lang="en-CA" sz="1800">
                <a:latin typeface="Verdana" pitchFamily="34" charset="0"/>
                <a:ea typeface="Verdana" pitchFamily="34" charset="0"/>
                <a:cs typeface="Verdana" pitchFamily="34" charset="0"/>
              </a:rPr>
              <a:t> </a:t>
            </a:r>
            <a:r>
              <a:rPr lang="en-CA" sz="1800" err="1">
                <a:latin typeface="Verdana" pitchFamily="34" charset="0"/>
                <a:ea typeface="Verdana" pitchFamily="34" charset="0"/>
                <a:cs typeface="Verdana" pitchFamily="34" charset="0"/>
              </a:rPr>
              <a:t>CF</a:t>
            </a:r>
            <a:r>
              <a:rPr lang="en-CA" sz="1800" i="1" baseline="-25000" err="1">
                <a:latin typeface="Verdana" pitchFamily="34" charset="0"/>
                <a:ea typeface="Verdana" pitchFamily="34" charset="0"/>
                <a:cs typeface="Verdana" pitchFamily="34" charset="0"/>
              </a:rPr>
              <a:t>t</a:t>
            </a:r>
            <a:r>
              <a:rPr lang="en-CA" sz="1800">
                <a:latin typeface="Verdana" pitchFamily="34" charset="0"/>
                <a:ea typeface="Verdana" pitchFamily="34" charset="0"/>
                <a:cs typeface="Verdana" pitchFamily="34" charset="0"/>
              </a:rPr>
              <a:t> = </a:t>
            </a:r>
            <a:r>
              <a:rPr lang="tr-TR" sz="1800">
                <a:latin typeface="Verdana" pitchFamily="34" charset="0"/>
                <a:ea typeface="Verdana" pitchFamily="34" charset="0"/>
                <a:cs typeface="Verdana" pitchFamily="34" charset="0"/>
              </a:rPr>
              <a:t>Firmanın</a:t>
            </a:r>
            <a:r>
              <a:rPr lang="en-CA" sz="1800">
                <a:latin typeface="Verdana" pitchFamily="34" charset="0"/>
                <a:ea typeface="Verdana" pitchFamily="34" charset="0"/>
                <a:cs typeface="Verdana" pitchFamily="34" charset="0"/>
              </a:rPr>
              <a:t> </a:t>
            </a:r>
            <a:r>
              <a:rPr lang="en-CA" sz="1800" err="1">
                <a:latin typeface="Verdana" pitchFamily="34" charset="0"/>
                <a:ea typeface="Verdana" pitchFamily="34" charset="0"/>
                <a:cs typeface="Verdana" pitchFamily="34" charset="0"/>
              </a:rPr>
              <a:t>CF</a:t>
            </a:r>
            <a:r>
              <a:rPr lang="en-CA" sz="1800" i="1" baseline="-25000" err="1">
                <a:latin typeface="Verdana" pitchFamily="34" charset="0"/>
                <a:ea typeface="Verdana" pitchFamily="34" charset="0"/>
                <a:cs typeface="Verdana" pitchFamily="34" charset="0"/>
              </a:rPr>
              <a:t>t</a:t>
            </a:r>
            <a:r>
              <a:rPr lang="en-CA" sz="1800" i="1" baseline="-25000">
                <a:latin typeface="Verdana" pitchFamily="34" charset="0"/>
                <a:ea typeface="Verdana" pitchFamily="34" charset="0"/>
                <a:cs typeface="Verdana" pitchFamily="34" charset="0"/>
              </a:rPr>
              <a:t> </a:t>
            </a:r>
            <a:r>
              <a:rPr lang="en-CA" sz="1800">
                <a:latin typeface="Verdana" pitchFamily="34" charset="0"/>
                <a:ea typeface="Verdana" pitchFamily="34" charset="0"/>
                <a:cs typeface="Verdana" pitchFamily="34" charset="0"/>
              </a:rPr>
              <a:t>(</a:t>
            </a:r>
            <a:r>
              <a:rPr lang="tr-TR" sz="1800">
                <a:latin typeface="Verdana" pitchFamily="34" charset="0"/>
                <a:ea typeface="Verdana" pitchFamily="34" charset="0"/>
                <a:cs typeface="Verdana" pitchFamily="34" charset="0"/>
              </a:rPr>
              <a:t>proje ile</a:t>
            </a:r>
            <a:r>
              <a:rPr lang="en-CA" sz="1800">
                <a:latin typeface="Verdana" pitchFamily="34" charset="0"/>
                <a:ea typeface="Verdana" pitchFamily="34" charset="0"/>
                <a:cs typeface="Verdana" pitchFamily="34" charset="0"/>
              </a:rPr>
              <a:t>) – Firm</a:t>
            </a:r>
            <a:r>
              <a:rPr lang="tr-TR" sz="1800">
                <a:latin typeface="Verdana" pitchFamily="34" charset="0"/>
                <a:ea typeface="Verdana" pitchFamily="34" charset="0"/>
                <a:cs typeface="Verdana" pitchFamily="34" charset="0"/>
              </a:rPr>
              <a:t>anın</a:t>
            </a:r>
            <a:r>
              <a:rPr lang="en-CA" sz="1800">
                <a:latin typeface="Verdana" pitchFamily="34" charset="0"/>
                <a:ea typeface="Verdana" pitchFamily="34" charset="0"/>
                <a:cs typeface="Verdana" pitchFamily="34" charset="0"/>
              </a:rPr>
              <a:t> </a:t>
            </a:r>
            <a:r>
              <a:rPr lang="en-CA" sz="1800" err="1">
                <a:latin typeface="Verdana" pitchFamily="34" charset="0"/>
                <a:ea typeface="Verdana" pitchFamily="34" charset="0"/>
                <a:cs typeface="Verdana" pitchFamily="34" charset="0"/>
              </a:rPr>
              <a:t>CF</a:t>
            </a:r>
            <a:r>
              <a:rPr lang="en-CA" sz="1800" i="1" baseline="-25000" err="1">
                <a:latin typeface="Verdana" pitchFamily="34" charset="0"/>
                <a:ea typeface="Verdana" pitchFamily="34" charset="0"/>
                <a:cs typeface="Verdana" pitchFamily="34" charset="0"/>
              </a:rPr>
              <a:t>t</a:t>
            </a:r>
            <a:r>
              <a:rPr lang="en-CA" sz="1800" i="1" baseline="-25000">
                <a:latin typeface="Verdana" pitchFamily="34" charset="0"/>
                <a:ea typeface="Verdana" pitchFamily="34" charset="0"/>
                <a:cs typeface="Verdana" pitchFamily="34" charset="0"/>
              </a:rPr>
              <a:t> </a:t>
            </a:r>
            <a:r>
              <a:rPr lang="en-CA" sz="1800">
                <a:latin typeface="Verdana" pitchFamily="34" charset="0"/>
                <a:ea typeface="Verdana" pitchFamily="34" charset="0"/>
                <a:cs typeface="Verdana" pitchFamily="34" charset="0"/>
              </a:rPr>
              <a:t>(</a:t>
            </a:r>
            <a:r>
              <a:rPr lang="en-CA" sz="1800" err="1">
                <a:latin typeface="Verdana" pitchFamily="34" charset="0"/>
                <a:ea typeface="Verdana" pitchFamily="34" charset="0"/>
                <a:cs typeface="Verdana" pitchFamily="34" charset="0"/>
              </a:rPr>
              <a:t>proje</a:t>
            </a:r>
            <a:r>
              <a:rPr lang="tr-TR" sz="1800">
                <a:latin typeface="Verdana" pitchFamily="34" charset="0"/>
                <a:ea typeface="Verdana" pitchFamily="34" charset="0"/>
                <a:cs typeface="Verdana" pitchFamily="34" charset="0"/>
              </a:rPr>
              <a:t>siz</a:t>
            </a:r>
            <a:r>
              <a:rPr lang="en-CA" sz="1800">
                <a:latin typeface="Verdana" pitchFamily="34" charset="0"/>
                <a:ea typeface="Verdana" pitchFamily="34" charset="0"/>
                <a:cs typeface="Verdana" pitchFamily="34" charset="0"/>
              </a:rPr>
              <a:t>)</a:t>
            </a:r>
            <a:endParaRPr lang="tr-TR" sz="1800">
              <a:latin typeface="Verdana" pitchFamily="34" charset="0"/>
              <a:ea typeface="Verdana" pitchFamily="34" charset="0"/>
              <a:cs typeface="Verdana" pitchFamily="34" charset="0"/>
            </a:endParaRPr>
          </a:p>
          <a:p>
            <a:pPr marL="342900" lvl="1" indent="-342900"/>
            <a:endParaRPr lang="tr-TR" sz="1800">
              <a:latin typeface="Verdana" pitchFamily="34" charset="0"/>
              <a:ea typeface="Verdana" pitchFamily="34" charset="0"/>
              <a:cs typeface="Verdana" pitchFamily="34" charset="0"/>
            </a:endParaRPr>
          </a:p>
          <a:p>
            <a:pPr marL="342900" lvl="1" indent="-342900"/>
            <a:r>
              <a:rPr lang="tr-TR" sz="1800">
                <a:latin typeface="Verdana" pitchFamily="34" charset="0"/>
                <a:ea typeface="Verdana" pitchFamily="34" charset="0"/>
                <a:cs typeface="Verdana" pitchFamily="34" charset="0"/>
              </a:rPr>
              <a:t>CF: Cash flow: nakit akımı, t: zaman</a:t>
            </a:r>
          </a:p>
        </p:txBody>
      </p:sp>
      <p:pic>
        <p:nvPicPr>
          <p:cNvPr id="9"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1916832"/>
            <a:ext cx="7175500"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3711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15754" cy="38975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561FBF24-1C74-416A-A429-4FCD43A3D9F0}" type="slidenum">
              <a:rPr lang="tr-TR" sz="1200">
                <a:solidFill>
                  <a:schemeClr val="tx2"/>
                </a:solidFill>
                <a:latin typeface="Verdana" pitchFamily="34" charset="0"/>
              </a:rPr>
              <a:pPr marL="0" indent="0" eaLnBrk="1" hangingPunct="1">
                <a:buNone/>
              </a:pPr>
              <a:t>156</a:t>
            </a:fld>
            <a:endParaRPr lang="tr-TR" sz="1200">
              <a:solidFill>
                <a:schemeClr val="tx2"/>
              </a:solidFill>
              <a:latin typeface="Verdana" pitchFamily="34" charset="0"/>
            </a:endParaRPr>
          </a:p>
        </p:txBody>
      </p:sp>
      <p:sp>
        <p:nvSpPr>
          <p:cNvPr id="112643" name="Rectangle 2"/>
          <p:cNvSpPr>
            <a:spLocks noGrp="1" noChangeArrowheads="1"/>
          </p:cNvSpPr>
          <p:nvPr>
            <p:ph type="title"/>
          </p:nvPr>
        </p:nvSpPr>
        <p:spPr/>
        <p:txBody>
          <a:bodyPr/>
          <a:lstStyle/>
          <a:p>
            <a:pPr eaLnBrk="1" hangingPunct="1"/>
            <a:r>
              <a:rPr lang="tr-TR" sz="3600">
                <a:cs typeface="Arial" charset="0"/>
              </a:rPr>
              <a:t>Örnek</a:t>
            </a:r>
            <a:endParaRPr lang="en-US" sz="3600">
              <a:cs typeface="Arial" charset="0"/>
            </a:endParaRPr>
          </a:p>
        </p:txBody>
      </p:sp>
      <p:sp>
        <p:nvSpPr>
          <p:cNvPr id="112644" name="Rectangle 3"/>
          <p:cNvSpPr>
            <a:spLocks noGrp="1" noChangeArrowheads="1"/>
          </p:cNvSpPr>
          <p:nvPr>
            <p:ph type="body" idx="4294967295"/>
          </p:nvPr>
        </p:nvSpPr>
        <p:spPr>
          <a:xfrm>
            <a:off x="457200" y="1268413"/>
            <a:ext cx="8507413" cy="4862512"/>
          </a:xfrm>
          <a:prstGeom prst="rect">
            <a:avLst/>
          </a:prstGeom>
        </p:spPr>
        <p:txBody>
          <a:bodyPr/>
          <a:lstStyle/>
          <a:p>
            <a:pPr eaLnBrk="1" hangingPunct="1">
              <a:lnSpc>
                <a:spcPct val="90000"/>
              </a:lnSpc>
              <a:spcAft>
                <a:spcPts val="600"/>
              </a:spcAft>
              <a:tabLst>
                <a:tab pos="5834063" algn="dec"/>
              </a:tabLst>
            </a:pPr>
            <a:r>
              <a:rPr lang="tr-TR" sz="1600">
                <a:latin typeface="Verdana" pitchFamily="34" charset="0"/>
                <a:ea typeface="Verdana" pitchFamily="34" charset="0"/>
                <a:cs typeface="Verdana" pitchFamily="34" charset="0"/>
              </a:rPr>
              <a:t>Bir kişi işe arabayla gitmektedir. Aklında toplu taşıma ile gitme projesi vardır.</a:t>
            </a:r>
            <a:endParaRPr lang="en-US" sz="1600">
              <a:latin typeface="Verdana" pitchFamily="34" charset="0"/>
              <a:ea typeface="Verdana" pitchFamily="34" charset="0"/>
              <a:cs typeface="Verdana" pitchFamily="34" charset="0"/>
            </a:endParaRPr>
          </a:p>
          <a:p>
            <a:pPr lvl="1" eaLnBrk="1" hangingPunct="1">
              <a:lnSpc>
                <a:spcPct val="90000"/>
              </a:lnSpc>
              <a:spcAft>
                <a:spcPts val="600"/>
              </a:spcAft>
              <a:tabLst>
                <a:tab pos="5834063" algn="dec"/>
              </a:tabLst>
            </a:pPr>
            <a:r>
              <a:rPr lang="tr-TR" sz="1600">
                <a:latin typeface="Verdana" pitchFamily="34" charset="0"/>
                <a:ea typeface="Verdana" pitchFamily="34" charset="0"/>
                <a:cs typeface="Verdana" pitchFamily="34" charset="0"/>
              </a:rPr>
              <a:t>Eğer arabası ile giderse aylık masrafları</a:t>
            </a:r>
            <a:r>
              <a:rPr lang="en-US" sz="1600">
                <a:latin typeface="Verdana" pitchFamily="34" charset="0"/>
                <a:ea typeface="Verdana" pitchFamily="34" charset="0"/>
                <a:cs typeface="Verdana" pitchFamily="34" charset="0"/>
              </a:rPr>
              <a:t>:</a:t>
            </a:r>
          </a:p>
          <a:p>
            <a:pPr lvl="2" eaLnBrk="1" hangingPunct="1">
              <a:lnSpc>
                <a:spcPct val="90000"/>
              </a:lnSpc>
              <a:spcAft>
                <a:spcPts val="600"/>
              </a:spcAft>
              <a:tabLst>
                <a:tab pos="5834063" algn="dec"/>
              </a:tabLst>
            </a:pPr>
            <a:r>
              <a:rPr lang="tr-TR" sz="1600">
                <a:latin typeface="Verdana" pitchFamily="34" charset="0"/>
                <a:ea typeface="Verdana" pitchFamily="34" charset="0"/>
                <a:cs typeface="Verdana" pitchFamily="34" charset="0"/>
              </a:rPr>
              <a:t>Arabanın sigorta gideri</a:t>
            </a:r>
            <a:r>
              <a:rPr lang="en-US" sz="1600">
                <a:latin typeface="Verdana" pitchFamily="34" charset="0"/>
                <a:ea typeface="Verdana" pitchFamily="34" charset="0"/>
                <a:cs typeface="Verdana" pitchFamily="34" charset="0"/>
              </a:rPr>
              <a:t>	</a:t>
            </a:r>
            <a:r>
              <a:rPr lang="tr-TR" sz="1600">
                <a:latin typeface="Verdana" pitchFamily="34" charset="0"/>
                <a:ea typeface="Verdana" pitchFamily="34" charset="0"/>
                <a:cs typeface="Verdana" pitchFamily="34" charset="0"/>
              </a:rPr>
              <a:t>TL</a:t>
            </a:r>
            <a:r>
              <a:rPr lang="en-US" sz="1600">
                <a:latin typeface="Verdana" pitchFamily="34" charset="0"/>
                <a:ea typeface="Verdana" pitchFamily="34" charset="0"/>
                <a:cs typeface="Verdana" pitchFamily="34" charset="0"/>
              </a:rPr>
              <a:t>120</a:t>
            </a:r>
          </a:p>
          <a:p>
            <a:pPr lvl="2" eaLnBrk="1" hangingPunct="1">
              <a:lnSpc>
                <a:spcPct val="90000"/>
              </a:lnSpc>
              <a:spcAft>
                <a:spcPts val="600"/>
              </a:spcAft>
              <a:tabLst>
                <a:tab pos="5834063" algn="dec"/>
              </a:tabLst>
            </a:pPr>
            <a:r>
              <a:rPr lang="tr-TR" sz="1600">
                <a:latin typeface="Verdana" pitchFamily="34" charset="0"/>
                <a:ea typeface="Verdana" pitchFamily="34" charset="0"/>
                <a:cs typeface="Verdana" pitchFamily="34" charset="0"/>
              </a:rPr>
              <a:t>Evinin oradaki </a:t>
            </a:r>
            <a:r>
              <a:rPr lang="tr-TR" sz="1600" err="1">
                <a:latin typeface="Verdana" pitchFamily="34" charset="0"/>
                <a:ea typeface="Verdana" pitchFamily="34" charset="0"/>
                <a:cs typeface="Verdana" pitchFamily="34" charset="0"/>
              </a:rPr>
              <a:t>İspark</a:t>
            </a:r>
            <a:r>
              <a:rPr lang="tr-TR" sz="1600">
                <a:latin typeface="Verdana" pitchFamily="34" charset="0"/>
                <a:ea typeface="Verdana" pitchFamily="34" charset="0"/>
                <a:cs typeface="Verdana" pitchFamily="34" charset="0"/>
              </a:rPr>
              <a:t> ücreti</a:t>
            </a:r>
            <a:r>
              <a:rPr lang="en-US" sz="1600">
                <a:latin typeface="Verdana" pitchFamily="34" charset="0"/>
                <a:ea typeface="Verdana" pitchFamily="34" charset="0"/>
                <a:cs typeface="Verdana" pitchFamily="34" charset="0"/>
              </a:rPr>
              <a:t>	</a:t>
            </a:r>
            <a:r>
              <a:rPr lang="tr-TR" sz="1600">
                <a:latin typeface="Verdana" pitchFamily="34" charset="0"/>
                <a:ea typeface="Verdana" pitchFamily="34" charset="0"/>
                <a:cs typeface="Verdana" pitchFamily="34" charset="0"/>
              </a:rPr>
              <a:t>TL</a:t>
            </a:r>
            <a:r>
              <a:rPr lang="en-US" sz="1600">
                <a:latin typeface="Verdana" pitchFamily="34" charset="0"/>
                <a:ea typeface="Verdana" pitchFamily="34" charset="0"/>
                <a:cs typeface="Verdana" pitchFamily="34" charset="0"/>
              </a:rPr>
              <a:t>150</a:t>
            </a:r>
          </a:p>
          <a:p>
            <a:pPr lvl="2" eaLnBrk="1" hangingPunct="1">
              <a:lnSpc>
                <a:spcPct val="90000"/>
              </a:lnSpc>
              <a:spcAft>
                <a:spcPts val="600"/>
              </a:spcAft>
              <a:tabLst>
                <a:tab pos="5834063" algn="dec"/>
              </a:tabLst>
            </a:pPr>
            <a:r>
              <a:rPr lang="tr-TR" sz="1600">
                <a:latin typeface="Verdana" pitchFamily="34" charset="0"/>
                <a:ea typeface="Verdana" pitchFamily="34" charset="0"/>
                <a:cs typeface="Verdana" pitchFamily="34" charset="0"/>
              </a:rPr>
              <a:t>İşinin oradaki </a:t>
            </a:r>
            <a:r>
              <a:rPr lang="tr-TR" sz="1600" err="1">
                <a:latin typeface="Verdana" pitchFamily="34" charset="0"/>
                <a:ea typeface="Verdana" pitchFamily="34" charset="0"/>
                <a:cs typeface="Verdana" pitchFamily="34" charset="0"/>
              </a:rPr>
              <a:t>İspark</a:t>
            </a:r>
            <a:r>
              <a:rPr lang="tr-TR" sz="1600">
                <a:latin typeface="Verdana" pitchFamily="34" charset="0"/>
                <a:ea typeface="Verdana" pitchFamily="34" charset="0"/>
                <a:cs typeface="Verdana" pitchFamily="34" charset="0"/>
              </a:rPr>
              <a:t> ücreti</a:t>
            </a:r>
            <a:r>
              <a:rPr lang="en-US" sz="1600">
                <a:latin typeface="Verdana" pitchFamily="34" charset="0"/>
                <a:ea typeface="Verdana" pitchFamily="34" charset="0"/>
                <a:cs typeface="Verdana" pitchFamily="34" charset="0"/>
              </a:rPr>
              <a:t>	</a:t>
            </a:r>
            <a:r>
              <a:rPr lang="tr-TR" sz="1600">
                <a:latin typeface="Verdana" pitchFamily="34" charset="0"/>
                <a:ea typeface="Verdana" pitchFamily="34" charset="0"/>
                <a:cs typeface="Verdana" pitchFamily="34" charset="0"/>
              </a:rPr>
              <a:t>TL</a:t>
            </a:r>
            <a:r>
              <a:rPr lang="en-US" sz="1600">
                <a:latin typeface="Verdana" pitchFamily="34" charset="0"/>
                <a:ea typeface="Verdana" pitchFamily="34" charset="0"/>
                <a:cs typeface="Verdana" pitchFamily="34" charset="0"/>
              </a:rPr>
              <a:t>90</a:t>
            </a:r>
          </a:p>
          <a:p>
            <a:pPr lvl="2" eaLnBrk="1" hangingPunct="1">
              <a:lnSpc>
                <a:spcPct val="90000"/>
              </a:lnSpc>
              <a:spcAft>
                <a:spcPts val="600"/>
              </a:spcAft>
              <a:tabLst>
                <a:tab pos="5834063" algn="dec"/>
              </a:tabLst>
            </a:pPr>
            <a:r>
              <a:rPr lang="tr-TR" sz="1600">
                <a:latin typeface="Verdana" pitchFamily="34" charset="0"/>
                <a:ea typeface="Verdana" pitchFamily="34" charset="0"/>
                <a:cs typeface="Verdana" pitchFamily="34" charset="0"/>
              </a:rPr>
              <a:t>Benzin masrafı</a:t>
            </a:r>
            <a:r>
              <a:rPr lang="en-US" sz="1600">
                <a:latin typeface="Verdana" pitchFamily="34" charset="0"/>
                <a:ea typeface="Verdana" pitchFamily="34" charset="0"/>
                <a:cs typeface="Verdana" pitchFamily="34" charset="0"/>
              </a:rPr>
              <a:t>	</a:t>
            </a:r>
            <a:r>
              <a:rPr lang="tr-TR" sz="1600">
                <a:latin typeface="Verdana" pitchFamily="34" charset="0"/>
                <a:ea typeface="Verdana" pitchFamily="34" charset="0"/>
                <a:cs typeface="Verdana" pitchFamily="34" charset="0"/>
              </a:rPr>
              <a:t>TL</a:t>
            </a:r>
            <a:r>
              <a:rPr lang="en-US" sz="1600">
                <a:latin typeface="Verdana" pitchFamily="34" charset="0"/>
                <a:ea typeface="Verdana" pitchFamily="34" charset="0"/>
                <a:cs typeface="Verdana" pitchFamily="34" charset="0"/>
              </a:rPr>
              <a:t>110</a:t>
            </a:r>
            <a:endParaRPr lang="tr-TR" sz="1600">
              <a:latin typeface="Verdana" pitchFamily="34" charset="0"/>
              <a:ea typeface="Verdana" pitchFamily="34" charset="0"/>
              <a:cs typeface="Verdana" pitchFamily="34" charset="0"/>
            </a:endParaRPr>
          </a:p>
          <a:p>
            <a:pPr eaLnBrk="1" hangingPunct="1">
              <a:spcAft>
                <a:spcPts val="600"/>
              </a:spcAft>
              <a:tabLst>
                <a:tab pos="5834063" algn="dec"/>
              </a:tabLst>
            </a:pPr>
            <a:r>
              <a:rPr lang="tr-TR" sz="1600">
                <a:latin typeface="Verdana" pitchFamily="34" charset="0"/>
                <a:ea typeface="Verdana" pitchFamily="34" charset="0"/>
                <a:cs typeface="Verdana" pitchFamily="34" charset="0"/>
              </a:rPr>
              <a:t>Eğer trenle giderse, aylık bilet TL140:</a:t>
            </a:r>
            <a:endParaRPr lang="en-US" sz="1600">
              <a:latin typeface="Verdana" pitchFamily="34" charset="0"/>
              <a:ea typeface="Verdana" pitchFamily="34" charset="0"/>
              <a:cs typeface="Verdana" pitchFamily="34" charset="0"/>
            </a:endParaRPr>
          </a:p>
          <a:p>
            <a:pPr lvl="2" eaLnBrk="1" hangingPunct="1">
              <a:spcAft>
                <a:spcPts val="600"/>
              </a:spcAft>
              <a:tabLst>
                <a:tab pos="5834063" algn="dec"/>
              </a:tabLst>
            </a:pPr>
            <a:r>
              <a:rPr lang="tr-TR" sz="1600">
                <a:latin typeface="Verdana" pitchFamily="34" charset="0"/>
                <a:ea typeface="Verdana" pitchFamily="34" charset="0"/>
                <a:cs typeface="Verdana" pitchFamily="34" charset="0"/>
              </a:rPr>
              <a:t>Proje ile nakit akımları</a:t>
            </a:r>
            <a:r>
              <a:rPr lang="en-US" sz="1600">
                <a:latin typeface="Verdana" pitchFamily="34" charset="0"/>
                <a:ea typeface="Verdana" pitchFamily="34" charset="0"/>
                <a:cs typeface="Verdana" pitchFamily="34" charset="0"/>
              </a:rPr>
              <a:t> (</a:t>
            </a:r>
            <a:r>
              <a:rPr lang="tr-TR" sz="1600">
                <a:latin typeface="Verdana" pitchFamily="34" charset="0"/>
                <a:ea typeface="Verdana" pitchFamily="34" charset="0"/>
                <a:cs typeface="Verdana" pitchFamily="34" charset="0"/>
              </a:rPr>
              <a:t>arabayı satmadığı varsayımı ile)</a:t>
            </a:r>
            <a:endParaRPr lang="en-US" sz="1600">
              <a:latin typeface="Verdana" pitchFamily="34" charset="0"/>
              <a:ea typeface="Verdana" pitchFamily="34" charset="0"/>
              <a:cs typeface="Verdana" pitchFamily="34" charset="0"/>
            </a:endParaRPr>
          </a:p>
          <a:p>
            <a:pPr lvl="3" eaLnBrk="1" hangingPunct="1">
              <a:spcAft>
                <a:spcPts val="600"/>
              </a:spcAft>
              <a:buNone/>
              <a:tabLst>
                <a:tab pos="5834063" algn="dec"/>
              </a:tabLst>
            </a:pPr>
            <a:r>
              <a:rPr lang="en-US" sz="1600">
                <a:latin typeface="Verdana" pitchFamily="34" charset="0"/>
                <a:ea typeface="Verdana" pitchFamily="34" charset="0"/>
                <a:cs typeface="Verdana" pitchFamily="34" charset="0"/>
              </a:rPr>
              <a:t>CF(</a:t>
            </a:r>
            <a:r>
              <a:rPr lang="en-US" sz="1600" err="1">
                <a:latin typeface="Verdana" pitchFamily="34" charset="0"/>
                <a:ea typeface="Verdana" pitchFamily="34" charset="0"/>
                <a:cs typeface="Verdana" pitchFamily="34" charset="0"/>
              </a:rPr>
              <a:t>tr</a:t>
            </a:r>
            <a:r>
              <a:rPr lang="tr-TR" sz="1600">
                <a:latin typeface="Verdana" pitchFamily="34" charset="0"/>
                <a:ea typeface="Verdana" pitchFamily="34" charset="0"/>
                <a:cs typeface="Verdana" pitchFamily="34" charset="0"/>
              </a:rPr>
              <a:t>e</a:t>
            </a:r>
            <a:r>
              <a:rPr lang="en-US" sz="1600">
                <a:latin typeface="Verdana" pitchFamily="34" charset="0"/>
                <a:ea typeface="Verdana" pitchFamily="34" charset="0"/>
                <a:cs typeface="Verdana" pitchFamily="34" charset="0"/>
              </a:rPr>
              <a:t>n):  = –120 – 150 – 140 = –</a:t>
            </a:r>
            <a:r>
              <a:rPr lang="tr-TR" sz="1600">
                <a:latin typeface="Verdana" pitchFamily="34" charset="0"/>
                <a:ea typeface="Verdana" pitchFamily="34" charset="0"/>
                <a:cs typeface="Verdana" pitchFamily="34" charset="0"/>
              </a:rPr>
              <a:t>TL</a:t>
            </a:r>
            <a:r>
              <a:rPr lang="en-US" sz="1600">
                <a:latin typeface="Verdana" pitchFamily="34" charset="0"/>
                <a:ea typeface="Verdana" pitchFamily="34" charset="0"/>
                <a:cs typeface="Verdana" pitchFamily="34" charset="0"/>
              </a:rPr>
              <a:t>410</a:t>
            </a:r>
          </a:p>
          <a:p>
            <a:pPr lvl="2" eaLnBrk="1" hangingPunct="1">
              <a:spcAft>
                <a:spcPts val="600"/>
              </a:spcAft>
              <a:tabLst>
                <a:tab pos="5834063" algn="dec"/>
              </a:tabLst>
            </a:pPr>
            <a:r>
              <a:rPr lang="tr-TR" sz="1600">
                <a:latin typeface="Verdana" pitchFamily="34" charset="0"/>
                <a:ea typeface="Verdana" pitchFamily="34" charset="0"/>
                <a:cs typeface="Verdana" pitchFamily="34" charset="0"/>
              </a:rPr>
              <a:t>Proje öncesi nakit akımları</a:t>
            </a:r>
            <a:endParaRPr lang="en-US" sz="1600">
              <a:latin typeface="Verdana" pitchFamily="34" charset="0"/>
              <a:ea typeface="Verdana" pitchFamily="34" charset="0"/>
              <a:cs typeface="Verdana" pitchFamily="34" charset="0"/>
            </a:endParaRPr>
          </a:p>
          <a:p>
            <a:pPr lvl="3" eaLnBrk="1" hangingPunct="1">
              <a:spcAft>
                <a:spcPts val="600"/>
              </a:spcAft>
              <a:buNone/>
              <a:tabLst>
                <a:tab pos="5834063" algn="dec"/>
              </a:tabLst>
            </a:pPr>
            <a:r>
              <a:rPr lang="en-US" sz="1600">
                <a:latin typeface="Verdana" pitchFamily="34" charset="0"/>
                <a:ea typeface="Verdana" pitchFamily="34" charset="0"/>
                <a:cs typeface="Verdana" pitchFamily="34" charset="0"/>
              </a:rPr>
              <a:t>CF(</a:t>
            </a:r>
            <a:r>
              <a:rPr lang="tr-TR" sz="1600">
                <a:latin typeface="Verdana" pitchFamily="34" charset="0"/>
                <a:ea typeface="Verdana" pitchFamily="34" charset="0"/>
                <a:cs typeface="Verdana" pitchFamily="34" charset="0"/>
              </a:rPr>
              <a:t>araba</a:t>
            </a:r>
            <a:r>
              <a:rPr lang="en-US" sz="1600">
                <a:latin typeface="Verdana" pitchFamily="34" charset="0"/>
                <a:ea typeface="Verdana" pitchFamily="34" charset="0"/>
                <a:cs typeface="Verdana" pitchFamily="34" charset="0"/>
              </a:rPr>
              <a:t>):  = –120 – 150 – 90 – 110 = –</a:t>
            </a:r>
            <a:r>
              <a:rPr lang="tr-TR" sz="1600">
                <a:latin typeface="Verdana" pitchFamily="34" charset="0"/>
                <a:ea typeface="Verdana" pitchFamily="34" charset="0"/>
                <a:cs typeface="Verdana" pitchFamily="34" charset="0"/>
              </a:rPr>
              <a:t>TL</a:t>
            </a:r>
            <a:r>
              <a:rPr lang="en-US" sz="1600">
                <a:latin typeface="Verdana" pitchFamily="34" charset="0"/>
                <a:ea typeface="Verdana" pitchFamily="34" charset="0"/>
                <a:cs typeface="Verdana" pitchFamily="34" charset="0"/>
              </a:rPr>
              <a:t>470</a:t>
            </a:r>
          </a:p>
          <a:p>
            <a:pPr lvl="2" eaLnBrk="1" hangingPunct="1">
              <a:spcAft>
                <a:spcPts val="600"/>
              </a:spcAft>
              <a:tabLst>
                <a:tab pos="5834063" algn="dec"/>
              </a:tabLst>
            </a:pPr>
            <a:r>
              <a:rPr lang="tr-TR" sz="1600">
                <a:latin typeface="Verdana" pitchFamily="34" charset="0"/>
                <a:ea typeface="Verdana" pitchFamily="34" charset="0"/>
                <a:cs typeface="Verdana" pitchFamily="34" charset="0"/>
              </a:rPr>
              <a:t>Alakalı nakit akımları</a:t>
            </a:r>
            <a:endParaRPr lang="en-US" sz="1600">
              <a:latin typeface="Verdana" pitchFamily="34" charset="0"/>
              <a:ea typeface="Verdana" pitchFamily="34" charset="0"/>
              <a:cs typeface="Verdana" pitchFamily="34" charset="0"/>
            </a:endParaRPr>
          </a:p>
          <a:p>
            <a:pPr lvl="3" eaLnBrk="1" hangingPunct="1">
              <a:spcAft>
                <a:spcPts val="600"/>
              </a:spcAft>
              <a:buNone/>
              <a:tabLst>
                <a:tab pos="5834063" algn="dec"/>
              </a:tabLst>
            </a:pPr>
            <a:r>
              <a:rPr lang="en-US" sz="1600">
                <a:latin typeface="Verdana" pitchFamily="34" charset="0"/>
                <a:ea typeface="Verdana" pitchFamily="34" charset="0"/>
                <a:cs typeface="Verdana" pitchFamily="34" charset="0"/>
              </a:rPr>
              <a:t>CF(</a:t>
            </a:r>
            <a:r>
              <a:rPr lang="en-US" sz="1600" err="1">
                <a:latin typeface="Verdana" pitchFamily="34" charset="0"/>
                <a:ea typeface="Verdana" pitchFamily="34" charset="0"/>
                <a:cs typeface="Verdana" pitchFamily="34" charset="0"/>
              </a:rPr>
              <a:t>tr</a:t>
            </a:r>
            <a:r>
              <a:rPr lang="tr-TR" sz="1600">
                <a:latin typeface="Verdana" pitchFamily="34" charset="0"/>
                <a:ea typeface="Verdana" pitchFamily="34" charset="0"/>
                <a:cs typeface="Verdana" pitchFamily="34" charset="0"/>
              </a:rPr>
              <a:t>e</a:t>
            </a:r>
            <a:r>
              <a:rPr lang="en-US" sz="1600">
                <a:latin typeface="Verdana" pitchFamily="34" charset="0"/>
                <a:ea typeface="Verdana" pitchFamily="34" charset="0"/>
                <a:cs typeface="Verdana" pitchFamily="34" charset="0"/>
              </a:rPr>
              <a:t>n) – CF(</a:t>
            </a:r>
            <a:r>
              <a:rPr lang="tr-TR" sz="1600">
                <a:latin typeface="Verdana" pitchFamily="34" charset="0"/>
                <a:ea typeface="Verdana" pitchFamily="34" charset="0"/>
                <a:cs typeface="Verdana" pitchFamily="34" charset="0"/>
              </a:rPr>
              <a:t>araba</a:t>
            </a:r>
            <a:r>
              <a:rPr lang="en-US" sz="1600">
                <a:latin typeface="Verdana" pitchFamily="34" charset="0"/>
                <a:ea typeface="Verdana" pitchFamily="34" charset="0"/>
                <a:cs typeface="Verdana" pitchFamily="34" charset="0"/>
              </a:rPr>
              <a:t>) = [–410] – [–470] = +</a:t>
            </a:r>
            <a:r>
              <a:rPr lang="tr-TR" sz="1600">
                <a:latin typeface="Verdana" pitchFamily="34" charset="0"/>
                <a:ea typeface="Verdana" pitchFamily="34" charset="0"/>
                <a:cs typeface="Verdana" pitchFamily="34" charset="0"/>
              </a:rPr>
              <a:t>TL</a:t>
            </a:r>
            <a:r>
              <a:rPr lang="en-US" sz="1600">
                <a:latin typeface="Verdana" pitchFamily="34" charset="0"/>
                <a:ea typeface="Verdana" pitchFamily="34" charset="0"/>
                <a:cs typeface="Verdana" pitchFamily="34" charset="0"/>
              </a:rPr>
              <a:t>60</a:t>
            </a:r>
          </a:p>
          <a:p>
            <a:pPr lvl="2" eaLnBrk="1" hangingPunct="1">
              <a:lnSpc>
                <a:spcPct val="90000"/>
              </a:lnSpc>
              <a:tabLst>
                <a:tab pos="5834063" algn="dec"/>
              </a:tabLst>
            </a:pPr>
            <a:endParaRPr lang="en-US" sz="18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4230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4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4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264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264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264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264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264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264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264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264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build="p" bldLvl="5"/>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33608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F77783C6-C4A6-42AE-8F5E-0C2A982B7F44}" type="slidenum">
              <a:rPr lang="tr-TR" sz="1200">
                <a:solidFill>
                  <a:schemeClr val="tx2"/>
                </a:solidFill>
                <a:latin typeface="Verdana" pitchFamily="34" charset="0"/>
              </a:rPr>
              <a:pPr marL="0" indent="0" eaLnBrk="1" hangingPunct="1">
                <a:buNone/>
              </a:pPr>
              <a:t>157</a:t>
            </a:fld>
            <a:endParaRPr lang="tr-TR" sz="1200">
              <a:solidFill>
                <a:schemeClr val="tx2"/>
              </a:solidFill>
              <a:latin typeface="Verdana" pitchFamily="34" charset="0"/>
            </a:endParaRPr>
          </a:p>
        </p:txBody>
      </p:sp>
      <p:sp>
        <p:nvSpPr>
          <p:cNvPr id="113667" name="Rectangle 2"/>
          <p:cNvSpPr>
            <a:spLocks noGrp="1" noChangeArrowheads="1"/>
          </p:cNvSpPr>
          <p:nvPr>
            <p:ph type="title"/>
          </p:nvPr>
        </p:nvSpPr>
        <p:spPr>
          <a:xfrm>
            <a:off x="673099" y="332656"/>
            <a:ext cx="8507413" cy="486668"/>
          </a:xfrm>
        </p:spPr>
        <p:txBody>
          <a:bodyPr/>
          <a:lstStyle/>
          <a:p>
            <a:pPr eaLnBrk="1" hangingPunct="1"/>
            <a:r>
              <a:rPr lang="tr-TR" sz="2400">
                <a:latin typeface="Verdana" pitchFamily="34" charset="0"/>
                <a:ea typeface="Verdana" pitchFamily="34" charset="0"/>
                <a:cs typeface="Verdana" pitchFamily="34" charset="0"/>
              </a:rPr>
              <a:t>Proje değerlemesinde kullanılan nakit akımları</a:t>
            </a:r>
            <a:endParaRPr lang="en-US" sz="2400">
              <a:latin typeface="Verdana" pitchFamily="34" charset="0"/>
              <a:ea typeface="Verdana" pitchFamily="34" charset="0"/>
              <a:cs typeface="Verdana" pitchFamily="34" charset="0"/>
            </a:endParaRPr>
          </a:p>
        </p:txBody>
      </p:sp>
      <p:sp>
        <p:nvSpPr>
          <p:cNvPr id="113668" name="Rectangle 3"/>
          <p:cNvSpPr>
            <a:spLocks noGrp="1" noChangeArrowheads="1"/>
          </p:cNvSpPr>
          <p:nvPr>
            <p:ph type="body" idx="4294967295"/>
          </p:nvPr>
        </p:nvSpPr>
        <p:spPr>
          <a:xfrm>
            <a:off x="457200" y="1268413"/>
            <a:ext cx="8229600" cy="4862512"/>
          </a:xfrm>
          <a:prstGeom prst="rect">
            <a:avLst/>
          </a:prstGeom>
        </p:spPr>
        <p:txBody>
          <a:bodyPr/>
          <a:lstStyle/>
          <a:p>
            <a:pPr lvl="2" eaLnBrk="1" hangingPunct="1"/>
            <a:r>
              <a:rPr lang="tr-TR" sz="2000">
                <a:latin typeface="Verdana" pitchFamily="34" charset="0"/>
                <a:ea typeface="Verdana" pitchFamily="34" charset="0"/>
                <a:cs typeface="Verdana" pitchFamily="34" charset="0"/>
              </a:rPr>
              <a:t>Sigorta ve evin oradaki park ücreti proje olsa da olmasa da ödenecek ücretler</a:t>
            </a:r>
          </a:p>
          <a:p>
            <a:pPr lvl="3" eaLnBrk="1" hangingPunct="1"/>
            <a:r>
              <a:rPr lang="tr-TR" sz="1800" b="1">
                <a:solidFill>
                  <a:srgbClr val="3333CC"/>
                </a:solidFill>
                <a:latin typeface="Verdana" pitchFamily="34" charset="0"/>
                <a:ea typeface="Verdana" pitchFamily="34" charset="0"/>
                <a:cs typeface="Verdana" pitchFamily="34" charset="0"/>
              </a:rPr>
              <a:t>Alakasız, önlenemez masraflar</a:t>
            </a:r>
          </a:p>
          <a:p>
            <a:pPr lvl="2" eaLnBrk="1" hangingPunct="1"/>
            <a:endParaRPr lang="tr-TR" sz="2000">
              <a:latin typeface="Verdana" pitchFamily="34" charset="0"/>
              <a:ea typeface="Verdana" pitchFamily="34" charset="0"/>
              <a:cs typeface="Verdana" pitchFamily="34" charset="0"/>
            </a:endParaRPr>
          </a:p>
          <a:p>
            <a:pPr lvl="2" eaLnBrk="1" hangingPunct="1"/>
            <a:r>
              <a:rPr lang="tr-TR" sz="2000">
                <a:latin typeface="Verdana" pitchFamily="34" charset="0"/>
                <a:ea typeface="Verdana" pitchFamily="34" charset="0"/>
                <a:cs typeface="Verdana" pitchFamily="34" charset="0"/>
              </a:rPr>
              <a:t>Ofisin oradaki park ücreti ve benzin gideri tasarruf edilebilecek giderler</a:t>
            </a:r>
          </a:p>
          <a:p>
            <a:pPr lvl="3" eaLnBrk="1" hangingPunct="1"/>
            <a:r>
              <a:rPr lang="tr-TR" sz="1800" b="1">
                <a:solidFill>
                  <a:srgbClr val="3333CC"/>
                </a:solidFill>
                <a:latin typeface="Verdana" pitchFamily="34" charset="0"/>
                <a:ea typeface="Verdana" pitchFamily="34" charset="0"/>
                <a:cs typeface="Verdana" pitchFamily="34" charset="0"/>
              </a:rPr>
              <a:t>Alakalı, önlenebilir masraflar</a:t>
            </a:r>
            <a:r>
              <a:rPr lang="tr-TR" sz="1800">
                <a:latin typeface="Verdana" pitchFamily="34" charset="0"/>
                <a:ea typeface="Verdana" pitchFamily="34" charset="0"/>
                <a:cs typeface="Verdana" pitchFamily="34" charset="0"/>
              </a:rPr>
              <a:t> </a:t>
            </a:r>
            <a:endParaRPr lang="en-US" sz="1800">
              <a:latin typeface="Verdana" pitchFamily="34" charset="0"/>
              <a:ea typeface="Verdana" pitchFamily="34" charset="0"/>
              <a:cs typeface="Verdana" pitchFamily="34" charset="0"/>
            </a:endParaRPr>
          </a:p>
          <a:p>
            <a:pPr eaLnBrk="1" hangingPunct="1"/>
            <a:endParaRPr lang="tr-TR" sz="1800">
              <a:latin typeface="Verdana" pitchFamily="34" charset="0"/>
              <a:ea typeface="Verdana" pitchFamily="34" charset="0"/>
              <a:cs typeface="Verdana" pitchFamily="34" charset="0"/>
            </a:endParaRPr>
          </a:p>
          <a:p>
            <a:pPr lvl="2" eaLnBrk="1" hangingPunct="1"/>
            <a:r>
              <a:rPr lang="tr-TR" sz="2000">
                <a:latin typeface="Verdana" pitchFamily="34" charset="0"/>
                <a:ea typeface="Verdana" pitchFamily="34" charset="0"/>
                <a:cs typeface="Verdana" pitchFamily="34" charset="0"/>
              </a:rPr>
              <a:t>90 + 110 = 200 tasarruf</a:t>
            </a:r>
          </a:p>
          <a:p>
            <a:pPr lvl="2" eaLnBrk="1" hangingPunct="1"/>
            <a:r>
              <a:rPr lang="tr-TR" sz="2000">
                <a:latin typeface="Verdana" pitchFamily="34" charset="0"/>
                <a:ea typeface="Verdana" pitchFamily="34" charset="0"/>
                <a:cs typeface="Verdana" pitchFamily="34" charset="0"/>
              </a:rPr>
              <a:t>140 yeni gider</a:t>
            </a:r>
          </a:p>
          <a:p>
            <a:pPr lvl="2" eaLnBrk="1" hangingPunct="1"/>
            <a:r>
              <a:rPr lang="tr-TR" sz="2000">
                <a:latin typeface="Verdana" pitchFamily="34" charset="0"/>
                <a:ea typeface="Verdana" pitchFamily="34" charset="0"/>
                <a:cs typeface="Verdana" pitchFamily="34" charset="0"/>
              </a:rPr>
              <a:t>TL60 yaratılan nakit akımı</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44301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66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366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366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3668">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366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build="p" bldLvl="5"/>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7" y="6469287"/>
            <a:ext cx="518751"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B774AA01-150B-41FF-B4E7-ACE292A66B34}" type="slidenum">
              <a:rPr lang="tr-TR" sz="1200">
                <a:solidFill>
                  <a:schemeClr val="tx2"/>
                </a:solidFill>
                <a:latin typeface="Verdana" pitchFamily="34" charset="0"/>
              </a:rPr>
              <a:pPr marL="0" indent="0" eaLnBrk="1" hangingPunct="1">
                <a:buNone/>
              </a:pPr>
              <a:t>158</a:t>
            </a:fld>
            <a:endParaRPr lang="tr-TR" sz="1200">
              <a:solidFill>
                <a:schemeClr val="tx2"/>
              </a:solidFill>
              <a:latin typeface="Verdana" pitchFamily="34" charset="0"/>
            </a:endParaRPr>
          </a:p>
        </p:txBody>
      </p:sp>
      <p:sp>
        <p:nvSpPr>
          <p:cNvPr id="114691" name="Rectangle 2"/>
          <p:cNvSpPr>
            <a:spLocks noGrp="1" noChangeArrowheads="1"/>
          </p:cNvSpPr>
          <p:nvPr>
            <p:ph type="title"/>
          </p:nvPr>
        </p:nvSpPr>
        <p:spPr/>
        <p:txBody>
          <a:bodyPr/>
          <a:lstStyle/>
          <a:p>
            <a:pPr eaLnBrk="1" hangingPunct="1"/>
            <a:r>
              <a:rPr lang="tr-TR" sz="3200"/>
              <a:t>Batık gider (Sunk cost)</a:t>
            </a:r>
          </a:p>
        </p:txBody>
      </p:sp>
      <p:sp>
        <p:nvSpPr>
          <p:cNvPr id="114692" name="Rectangle 3"/>
          <p:cNvSpPr>
            <a:spLocks noGrp="1" noChangeArrowheads="1"/>
          </p:cNvSpPr>
          <p:nvPr>
            <p:ph type="body" idx="4294967295"/>
          </p:nvPr>
        </p:nvSpPr>
        <p:spPr>
          <a:xfrm>
            <a:off x="457200" y="1268413"/>
            <a:ext cx="8229600" cy="4862512"/>
          </a:xfrm>
          <a:prstGeom prst="rect">
            <a:avLst/>
          </a:prstGeom>
        </p:spPr>
        <p:txBody>
          <a:bodyPr/>
          <a:lstStyle/>
          <a:p>
            <a:pPr eaLnBrk="1" hangingPunct="1"/>
            <a:r>
              <a:rPr lang="tr-TR" sz="2400">
                <a:latin typeface="Verdana" pitchFamily="34" charset="0"/>
                <a:ea typeface="Verdana" pitchFamily="34" charset="0"/>
                <a:cs typeface="Verdana" pitchFamily="34" charset="0"/>
              </a:rPr>
              <a:t>Diyelim ki trenle gidip gidemeyeceğinizi denemek için geçen ay birisini tuttunuz, deneme yaptırdınız ve TL140 ödediniz.</a:t>
            </a:r>
          </a:p>
          <a:p>
            <a:pPr eaLnBrk="1" hangingPunct="1"/>
            <a:r>
              <a:rPr lang="tr-TR" sz="2400">
                <a:latin typeface="Verdana" pitchFamily="34" charset="0"/>
                <a:ea typeface="Verdana" pitchFamily="34" charset="0"/>
                <a:cs typeface="Verdana" pitchFamily="34" charset="0"/>
              </a:rPr>
              <a:t>Proje değerlemesinde bu masrafı düşmeli misiniz?</a:t>
            </a:r>
          </a:p>
          <a:p>
            <a:pPr eaLnBrk="1" hangingPunct="1"/>
            <a:r>
              <a:rPr lang="tr-TR" sz="2400">
                <a:latin typeface="Verdana" pitchFamily="34" charset="0"/>
                <a:ea typeface="Verdana" pitchFamily="34" charset="0"/>
                <a:cs typeface="Verdana" pitchFamily="34" charset="0"/>
              </a:rPr>
              <a:t>Hayır. Bu para harcanmıştır ve projeyi yapsanız da yapmasanız da geri gelmeyecektir.</a:t>
            </a:r>
          </a:p>
          <a:p>
            <a:pPr eaLnBrk="1" hangingPunct="1"/>
            <a:r>
              <a:rPr lang="tr-TR" sz="2400">
                <a:latin typeface="Verdana" pitchFamily="34" charset="0"/>
                <a:ea typeface="Verdana" pitchFamily="34" charset="0"/>
                <a:cs typeface="Verdana" pitchFamily="34" charset="0"/>
              </a:rPr>
              <a:t>TL140 </a:t>
            </a:r>
            <a:r>
              <a:rPr lang="tr-TR" sz="2400" b="1">
                <a:solidFill>
                  <a:srgbClr val="3333CC"/>
                </a:solidFill>
                <a:latin typeface="Verdana" pitchFamily="34" charset="0"/>
                <a:ea typeface="Verdana" pitchFamily="34" charset="0"/>
                <a:cs typeface="Verdana" pitchFamily="34" charset="0"/>
              </a:rPr>
              <a:t>batık giderdir</a:t>
            </a:r>
            <a:r>
              <a:rPr lang="tr-TR" sz="2400">
                <a:latin typeface="Verdana" pitchFamily="34" charset="0"/>
                <a:ea typeface="Verdana" pitchFamily="34" charset="0"/>
                <a:cs typeface="Verdana" pitchFamily="34" charset="0"/>
              </a:rPr>
              <a:t>. </a:t>
            </a:r>
          </a:p>
          <a:p>
            <a:pPr eaLnBrk="1" hangingPunct="1"/>
            <a:r>
              <a:rPr lang="tr-TR" sz="2400">
                <a:latin typeface="Verdana" pitchFamily="34" charset="0"/>
                <a:ea typeface="Verdana" pitchFamily="34" charset="0"/>
                <a:cs typeface="Verdana" pitchFamily="34" charset="0"/>
              </a:rPr>
              <a:t>Örneğin proje öncesi yapılan ARGE giderleri</a:t>
            </a:r>
            <a:endParaRPr lang="en-US" sz="2400">
              <a:latin typeface="Verdana" pitchFamily="34" charset="0"/>
              <a:ea typeface="Verdana" pitchFamily="34" charset="0"/>
              <a:cs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59861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6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6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46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46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build="p"/>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3056C14C-D93B-4673-9ED2-C3080356F46E}" type="slidenum">
              <a:rPr lang="tr-TR" sz="1200">
                <a:solidFill>
                  <a:schemeClr val="tx2"/>
                </a:solidFill>
                <a:latin typeface="Verdana" pitchFamily="34" charset="0"/>
              </a:rPr>
              <a:pPr marL="0" indent="0" eaLnBrk="1" hangingPunct="1">
                <a:buNone/>
              </a:pPr>
              <a:t>159</a:t>
            </a:fld>
            <a:endParaRPr lang="tr-TR" sz="1200">
              <a:solidFill>
                <a:schemeClr val="tx2"/>
              </a:solidFill>
              <a:latin typeface="Verdana" pitchFamily="34" charset="0"/>
            </a:endParaRPr>
          </a:p>
        </p:txBody>
      </p:sp>
      <p:sp>
        <p:nvSpPr>
          <p:cNvPr id="115715" name="Rectangle 2"/>
          <p:cNvSpPr>
            <a:spLocks noGrp="1" noChangeArrowheads="1"/>
          </p:cNvSpPr>
          <p:nvPr>
            <p:ph type="title"/>
          </p:nvPr>
        </p:nvSpPr>
        <p:spPr/>
        <p:txBody>
          <a:bodyPr/>
          <a:lstStyle/>
          <a:p>
            <a:pPr eaLnBrk="1" hangingPunct="1"/>
            <a:r>
              <a:rPr lang="tr-TR" sz="3600"/>
              <a:t>Fırsat maliyeti</a:t>
            </a:r>
          </a:p>
        </p:txBody>
      </p:sp>
      <p:sp>
        <p:nvSpPr>
          <p:cNvPr id="17413" name="Rectangle 3"/>
          <p:cNvSpPr>
            <a:spLocks noGrp="1" noChangeArrowheads="1"/>
          </p:cNvSpPr>
          <p:nvPr>
            <p:ph type="body" idx="4294967295"/>
          </p:nvPr>
        </p:nvSpPr>
        <p:spPr>
          <a:xfrm>
            <a:off x="457200" y="1268413"/>
            <a:ext cx="8229600" cy="4862512"/>
          </a:xfrm>
          <a:prstGeom prst="rect">
            <a:avLst/>
          </a:prstGeom>
        </p:spPr>
        <p:txBody>
          <a:bodyPr/>
          <a:lstStyle/>
          <a:p>
            <a:pPr eaLnBrk="1" hangingPunct="1">
              <a:lnSpc>
                <a:spcPct val="90000"/>
              </a:lnSpc>
            </a:pPr>
            <a:r>
              <a:rPr lang="tr-TR" sz="2400">
                <a:latin typeface="Verdana" pitchFamily="34" charset="0"/>
                <a:ea typeface="Verdana" pitchFamily="34" charset="0"/>
                <a:cs typeface="Verdana" pitchFamily="34" charset="0"/>
              </a:rPr>
              <a:t>Diyelim ki bir arkadaşınızı da işe götürüyor ve karşılığında ayda TL35 benzini ona aldırtıyordunuz.</a:t>
            </a:r>
          </a:p>
          <a:p>
            <a:pPr eaLnBrk="1" hangingPunct="1">
              <a:lnSpc>
                <a:spcPct val="90000"/>
              </a:lnSpc>
            </a:pPr>
            <a:r>
              <a:rPr lang="tr-TR" sz="2400">
                <a:latin typeface="Verdana" pitchFamily="34" charset="0"/>
                <a:ea typeface="Verdana" pitchFamily="34" charset="0"/>
                <a:cs typeface="Verdana" pitchFamily="34" charset="0"/>
              </a:rPr>
              <a:t>Bu alakalı bir masraf mıdır?</a:t>
            </a:r>
          </a:p>
          <a:p>
            <a:pPr eaLnBrk="1" hangingPunct="1">
              <a:lnSpc>
                <a:spcPct val="90000"/>
              </a:lnSpc>
            </a:pPr>
            <a:r>
              <a:rPr lang="tr-TR" sz="2400">
                <a:latin typeface="Verdana" pitchFamily="34" charset="0"/>
                <a:ea typeface="Verdana" pitchFamily="34" charset="0"/>
                <a:cs typeface="Verdana" pitchFamily="34" charset="0"/>
              </a:rPr>
              <a:t>Evet, eğer trenle giderseniz artık TL35 alamayacaksınız.</a:t>
            </a:r>
          </a:p>
          <a:p>
            <a:pPr eaLnBrk="1" hangingPunct="1">
              <a:lnSpc>
                <a:spcPct val="90000"/>
              </a:lnSpc>
            </a:pPr>
            <a:r>
              <a:rPr lang="tr-TR" sz="2400">
                <a:latin typeface="Verdana" pitchFamily="34" charset="0"/>
                <a:ea typeface="Verdana" pitchFamily="34" charset="0"/>
                <a:cs typeface="Verdana" pitchFamily="34" charset="0"/>
              </a:rPr>
              <a:t>Trenle gitmenin avantajı düştü:</a:t>
            </a:r>
          </a:p>
          <a:p>
            <a:pPr lvl="1" eaLnBrk="1" hangingPunct="1">
              <a:lnSpc>
                <a:spcPct val="90000"/>
              </a:lnSpc>
            </a:pPr>
            <a:r>
              <a:rPr lang="tr-TR" sz="2000">
                <a:latin typeface="Verdana" pitchFamily="34" charset="0"/>
                <a:ea typeface="Verdana" pitchFamily="34" charset="0"/>
                <a:cs typeface="Verdana" pitchFamily="34" charset="0"/>
              </a:rPr>
              <a:t> 60-35 = TL25</a:t>
            </a:r>
          </a:p>
          <a:p>
            <a:pPr eaLnBrk="1" hangingPunct="1">
              <a:lnSpc>
                <a:spcPct val="90000"/>
              </a:lnSpc>
            </a:pPr>
            <a:r>
              <a:rPr lang="tr-TR" sz="2400">
                <a:latin typeface="Verdana" pitchFamily="34" charset="0"/>
                <a:ea typeface="Verdana" pitchFamily="34" charset="0"/>
                <a:cs typeface="Verdana" pitchFamily="34" charset="0"/>
              </a:rPr>
              <a:t>Bu </a:t>
            </a:r>
            <a:r>
              <a:rPr lang="tr-TR" sz="2400">
                <a:solidFill>
                  <a:srgbClr val="3333CC"/>
                </a:solidFill>
                <a:latin typeface="Verdana" pitchFamily="34" charset="0"/>
                <a:ea typeface="Verdana" pitchFamily="34" charset="0"/>
                <a:cs typeface="Verdana" pitchFamily="34" charset="0"/>
              </a:rPr>
              <a:t>fırsat maliyeti</a:t>
            </a:r>
            <a:r>
              <a:rPr lang="tr-TR" sz="2400">
                <a:latin typeface="Verdana" pitchFamily="34" charset="0"/>
                <a:ea typeface="Verdana" pitchFamily="34" charset="0"/>
                <a:cs typeface="Verdana" pitchFamily="34" charset="0"/>
              </a:rPr>
              <a:t>ne (</a:t>
            </a:r>
            <a:r>
              <a:rPr lang="tr-TR" sz="2400" err="1">
                <a:solidFill>
                  <a:srgbClr val="3333CC"/>
                </a:solidFill>
                <a:latin typeface="Verdana" pitchFamily="34" charset="0"/>
                <a:ea typeface="Verdana" pitchFamily="34" charset="0"/>
                <a:cs typeface="Verdana" pitchFamily="34" charset="0"/>
              </a:rPr>
              <a:t>opportunity</a:t>
            </a:r>
            <a:r>
              <a:rPr lang="tr-TR" sz="2400">
                <a:solidFill>
                  <a:srgbClr val="3333CC"/>
                </a:solidFill>
                <a:latin typeface="Verdana" pitchFamily="34" charset="0"/>
                <a:ea typeface="Verdana" pitchFamily="34" charset="0"/>
                <a:cs typeface="Verdana" pitchFamily="34" charset="0"/>
              </a:rPr>
              <a:t> </a:t>
            </a:r>
            <a:r>
              <a:rPr lang="tr-TR" sz="2400" err="1">
                <a:solidFill>
                  <a:srgbClr val="3333CC"/>
                </a:solidFill>
                <a:latin typeface="Verdana" pitchFamily="34" charset="0"/>
                <a:ea typeface="Verdana" pitchFamily="34" charset="0"/>
                <a:cs typeface="Verdana" pitchFamily="34" charset="0"/>
              </a:rPr>
              <a:t>cost</a:t>
            </a:r>
            <a:r>
              <a:rPr lang="tr-TR" sz="2400">
                <a:solidFill>
                  <a:srgbClr val="3333CC"/>
                </a:solidFill>
                <a:latin typeface="Verdana" pitchFamily="34" charset="0"/>
                <a:ea typeface="Verdana" pitchFamily="34" charset="0"/>
                <a:cs typeface="Verdana" pitchFamily="34" charset="0"/>
              </a:rPr>
              <a:t>) </a:t>
            </a:r>
            <a:r>
              <a:rPr lang="tr-TR" sz="2400">
                <a:solidFill>
                  <a:srgbClr val="000000"/>
                </a:solidFill>
                <a:latin typeface="Verdana" pitchFamily="34" charset="0"/>
                <a:ea typeface="Verdana" pitchFamily="34" charset="0"/>
                <a:cs typeface="Verdana" pitchFamily="34" charset="0"/>
              </a:rPr>
              <a:t>örnektir.</a:t>
            </a:r>
          </a:p>
          <a:p>
            <a:pPr eaLnBrk="1" hangingPunct="1">
              <a:lnSpc>
                <a:spcPct val="90000"/>
              </a:lnSpc>
            </a:pPr>
            <a:r>
              <a:rPr lang="tr-TR" sz="2400" err="1">
                <a:latin typeface="Verdana" pitchFamily="34" charset="0"/>
                <a:ea typeface="Verdana" pitchFamily="34" charset="0"/>
                <a:cs typeface="Verdana" pitchFamily="34" charset="0"/>
              </a:rPr>
              <a:t>Farkedilmesi</a:t>
            </a:r>
            <a:r>
              <a:rPr lang="tr-TR" sz="2400">
                <a:latin typeface="Verdana" pitchFamily="34" charset="0"/>
                <a:ea typeface="Verdana" pitchFamily="34" charset="0"/>
                <a:cs typeface="Verdana" pitchFamily="34" charset="0"/>
              </a:rPr>
              <a:t> ve ölçülmesi zordur.</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247105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1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1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41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4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build="p"/>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p:cNvSpPr>
            <a:spLocks noGrp="1"/>
          </p:cNvSpPr>
          <p:nvPr>
            <p:ph type="title"/>
          </p:nvPr>
        </p:nvSpPr>
        <p:spPr>
          <a:xfrm>
            <a:off x="1112270" y="260648"/>
            <a:ext cx="8031730" cy="792088"/>
          </a:xfrm>
        </p:spPr>
        <p:txBody>
          <a:bodyPr/>
          <a:lstStyle/>
          <a:p>
            <a:r>
              <a:rPr lang="tr-TR" sz="3600"/>
              <a:t>Modern masa lambası projesi özet verileri</a:t>
            </a:r>
            <a:endParaRPr lang="en-GB" sz="3600"/>
          </a:p>
        </p:txBody>
      </p:sp>
      <p:sp>
        <p:nvSpPr>
          <p:cNvPr id="5" name="Slide Number Placeholder 4"/>
          <p:cNvSpPr>
            <a:spLocks noGrp="1"/>
          </p:cNvSpPr>
          <p:nvPr>
            <p:ph type="sldNum" sz="quarter" idx="10"/>
          </p:nvPr>
        </p:nvSpPr>
        <p:spPr>
          <a:xfrm>
            <a:off x="8532439" y="6469287"/>
            <a:ext cx="605015" cy="352296"/>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E7D8475A-E337-4DD0-A183-1E8E6CE9103F}" type="slidenum">
              <a:rPr lang="tr-TR" sz="1200">
                <a:solidFill>
                  <a:schemeClr val="tx2"/>
                </a:solidFill>
                <a:latin typeface="Verdana" pitchFamily="34" charset="0"/>
              </a:rPr>
              <a:pPr marL="0" indent="0" eaLnBrk="1" hangingPunct="1">
                <a:buNone/>
              </a:pPr>
              <a:t>160</a:t>
            </a:fld>
            <a:endParaRPr lang="tr-TR" sz="1200">
              <a:solidFill>
                <a:schemeClr val="tx2"/>
              </a:solidFill>
              <a:latin typeface="Verdana" pitchFamily="34" charset="0"/>
            </a:endParaRPr>
          </a:p>
        </p:txBody>
      </p:sp>
      <p:graphicFrame>
        <p:nvGraphicFramePr>
          <p:cNvPr id="6" name="Table 5"/>
          <p:cNvGraphicFramePr>
            <a:graphicFrameLocks noGrp="1"/>
          </p:cNvGraphicFramePr>
          <p:nvPr/>
        </p:nvGraphicFramePr>
        <p:xfrm>
          <a:off x="251520" y="1503774"/>
          <a:ext cx="8642350" cy="4301490"/>
        </p:xfrm>
        <a:graphic>
          <a:graphicData uri="http://schemas.openxmlformats.org/drawingml/2006/table">
            <a:tbl>
              <a:tblPr/>
              <a:tblGrid>
                <a:gridCol w="2581275">
                  <a:extLst>
                    <a:ext uri="{9D8B030D-6E8A-4147-A177-3AD203B41FA5}">
                      <a16:colId xmlns:a16="http://schemas.microsoft.com/office/drawing/2014/main" val="20000"/>
                    </a:ext>
                  </a:extLst>
                </a:gridCol>
                <a:gridCol w="3090862">
                  <a:extLst>
                    <a:ext uri="{9D8B030D-6E8A-4147-A177-3AD203B41FA5}">
                      <a16:colId xmlns:a16="http://schemas.microsoft.com/office/drawing/2014/main" val="20001"/>
                    </a:ext>
                  </a:extLst>
                </a:gridCol>
                <a:gridCol w="1584325">
                  <a:extLst>
                    <a:ext uri="{9D8B030D-6E8A-4147-A177-3AD203B41FA5}">
                      <a16:colId xmlns:a16="http://schemas.microsoft.com/office/drawing/2014/main" val="20002"/>
                    </a:ext>
                  </a:extLst>
                </a:gridCol>
                <a:gridCol w="1385888">
                  <a:extLst>
                    <a:ext uri="{9D8B030D-6E8A-4147-A177-3AD203B41FA5}">
                      <a16:colId xmlns:a16="http://schemas.microsoft.com/office/drawing/2014/main" val="20003"/>
                    </a:ext>
                  </a:extLst>
                </a:gridCol>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400" b="1"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00"/>
                          </a:solidFill>
                          <a:effectLst/>
                          <a:latin typeface="Verdana" pitchFamily="34" charset="0"/>
                        </a:rPr>
                        <a:t>Karşılık gelen miktar ya da değer</a:t>
                      </a:r>
                      <a:endParaRPr kumimoji="0" lang="en-GB" sz="1400" b="1"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00"/>
                          </a:solidFill>
                          <a:effectLst/>
                          <a:latin typeface="Verdana" pitchFamily="34" charset="0"/>
                        </a:rPr>
                        <a:t>Sınıf</a:t>
                      </a:r>
                      <a:endParaRPr kumimoji="0" lang="en-GB" sz="1400" b="1"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00"/>
                          </a:solidFill>
                          <a:effectLst/>
                          <a:latin typeface="Verdana" pitchFamily="34" charset="0"/>
                        </a:rPr>
                        <a:t>Zamanlama</a:t>
                      </a:r>
                      <a:endParaRPr kumimoji="0" lang="en-GB" sz="1400" b="1"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1.Tahmini yıllık satış</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45.000;40.000;30.000;20.000;10.000</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Gelir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1-5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2.Ürün Fiyatı</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İlk yıl $40, sonrasında yıllık %3 artış</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Gelir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1-5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3.Danışmanlık ücreti</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$30.000</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Gider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Yapıldı</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3"/>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4.Binanın kiralanması</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$10.000</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Gelir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1-5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4"/>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5.Teçhizat yatırımı</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$2.000.000</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Aktif</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Hemen</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5"/>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6.Amortisman gideri</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$400.000 (5 yıl)</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Gider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1-5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6"/>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7.Teçhizatın hurda değeri</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$100.000</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Gelir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7"/>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8.Ürün başına hammadde</a:t>
                      </a:r>
                    </a:p>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Masrafı</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İlk yıl $10, sonrasında yıllık %3 artış</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Gider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1-5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8"/>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9.Hammadde stoğu</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7 günlük satış kadar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Aktif</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Hemen</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9"/>
                  </a:ext>
                </a:extLst>
              </a:tr>
            </a:tbl>
          </a:graphicData>
        </a:graphic>
      </p:graphicFrame>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44888850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p:cNvSpPr>
            <a:spLocks noGrp="1"/>
          </p:cNvSpPr>
          <p:nvPr>
            <p:ph type="title"/>
          </p:nvPr>
        </p:nvSpPr>
        <p:spPr>
          <a:xfrm>
            <a:off x="1115616" y="274638"/>
            <a:ext cx="7962514" cy="778098"/>
          </a:xfrm>
        </p:spPr>
        <p:txBody>
          <a:bodyPr/>
          <a:lstStyle/>
          <a:p>
            <a:r>
              <a:rPr lang="tr-TR" sz="3600"/>
              <a:t>Modern masa lambası projesi özet verileri</a:t>
            </a:r>
            <a:endParaRPr lang="en-GB" sz="3600"/>
          </a:p>
        </p:txBody>
      </p:sp>
      <p:sp>
        <p:nvSpPr>
          <p:cNvPr id="5" name="Slide Number Placeholder 4"/>
          <p:cNvSpPr>
            <a:spLocks noGrp="1"/>
          </p:cNvSpPr>
          <p:nvPr>
            <p:ph type="sldNum" sz="quarter" idx="10"/>
          </p:nvPr>
        </p:nvSpPr>
        <p:spPr>
          <a:xfrm>
            <a:off x="8604448" y="6469287"/>
            <a:ext cx="539552" cy="407006"/>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E5D01EA0-5083-485F-96B7-3A3F5660460B}" type="slidenum">
              <a:rPr lang="tr-TR" sz="1200">
                <a:solidFill>
                  <a:schemeClr val="tx2"/>
                </a:solidFill>
                <a:latin typeface="Verdana" pitchFamily="34" charset="0"/>
              </a:rPr>
              <a:pPr marL="0" indent="0" eaLnBrk="1" hangingPunct="1">
                <a:buNone/>
              </a:pPr>
              <a:t>161</a:t>
            </a:fld>
            <a:endParaRPr lang="tr-TR" sz="1200">
              <a:solidFill>
                <a:schemeClr val="tx2"/>
              </a:solidFill>
              <a:latin typeface="Verdana" pitchFamily="34" charset="0"/>
            </a:endParaRPr>
          </a:p>
        </p:txBody>
      </p:sp>
      <p:graphicFrame>
        <p:nvGraphicFramePr>
          <p:cNvPr id="6" name="Table 5"/>
          <p:cNvGraphicFramePr>
            <a:graphicFrameLocks noGrp="1"/>
          </p:cNvGraphicFramePr>
          <p:nvPr/>
        </p:nvGraphicFramePr>
        <p:xfrm>
          <a:off x="251520" y="1429097"/>
          <a:ext cx="8642350" cy="4448175"/>
        </p:xfrm>
        <a:graphic>
          <a:graphicData uri="http://schemas.openxmlformats.org/drawingml/2006/table">
            <a:tbl>
              <a:tblPr/>
              <a:tblGrid>
                <a:gridCol w="2581275">
                  <a:extLst>
                    <a:ext uri="{9D8B030D-6E8A-4147-A177-3AD203B41FA5}">
                      <a16:colId xmlns:a16="http://schemas.microsoft.com/office/drawing/2014/main" val="20000"/>
                    </a:ext>
                  </a:extLst>
                </a:gridCol>
                <a:gridCol w="31623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603375">
                  <a:extLst>
                    <a:ext uri="{9D8B030D-6E8A-4147-A177-3AD203B41FA5}">
                      <a16:colId xmlns:a16="http://schemas.microsoft.com/office/drawing/2014/main" val="20003"/>
                    </a:ext>
                  </a:extLst>
                </a:gridCol>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400" b="1"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00"/>
                          </a:solidFill>
                          <a:effectLst/>
                          <a:latin typeface="Verdana" pitchFamily="34" charset="0"/>
                        </a:rPr>
                        <a:t>Karşılık gelen miktar ya da değer</a:t>
                      </a:r>
                      <a:endParaRPr kumimoji="0" lang="en-GB" sz="1400" b="1"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00"/>
                          </a:solidFill>
                          <a:effectLst/>
                          <a:latin typeface="Verdana" pitchFamily="34" charset="0"/>
                        </a:rPr>
                        <a:t>Sınıf</a:t>
                      </a:r>
                      <a:endParaRPr kumimoji="0" lang="en-GB" sz="1400" b="1"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1" i="0" u="none" strike="noStrike" cap="none" normalizeH="0" baseline="0">
                          <a:ln>
                            <a:noFill/>
                          </a:ln>
                          <a:solidFill>
                            <a:srgbClr val="000000"/>
                          </a:solidFill>
                          <a:effectLst/>
                          <a:latin typeface="Verdana" pitchFamily="34" charset="0"/>
                        </a:rPr>
                        <a:t>Zamanlama</a:t>
                      </a:r>
                      <a:endParaRPr kumimoji="0" lang="en-GB" sz="1400" b="1"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10. Ticari Borçlar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7 günlük ciro</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Pasif</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Hemen</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11. Ticari Alacaklar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56 günlük ciro</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Aktif</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Hemen</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12. Yarı ve mamul stok</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16 günlük ciro</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Aktif</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Hemen</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3"/>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13. İşçilik masrafı</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İlk yıl $5, sonrasında yıllık %3 artış</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Gider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1-5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4"/>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14. Enerji masrafı</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İlk yıl $1, sonrasında yıllık %3 artış</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Gider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1-5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5"/>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15. Genel giderler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Cironun %1’i</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Gider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1-5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6"/>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16. Kurumlar Vergisi</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%40</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Gider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1-5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7"/>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17. Sermaye kazancı vergisi</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%40</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Gider</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Yılsonu 5</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60000"/>
                        <a:lumOff val="40000"/>
                      </a:schemeClr>
                    </a:solidFill>
                  </a:tcPr>
                </a:tc>
                <a:extLst>
                  <a:ext uri="{0D108BD9-81ED-4DB2-BD59-A6C34878D82A}">
                    <a16:rowId xmlns:a16="http://schemas.microsoft.com/office/drawing/2014/main" val="10008"/>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18. Vergi sonrası sermaye maliyeti</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400" b="0" i="0" u="none" strike="noStrike" cap="none" normalizeH="0" baseline="0">
                          <a:ln>
                            <a:noFill/>
                          </a:ln>
                          <a:solidFill>
                            <a:srgbClr val="000000"/>
                          </a:solidFill>
                          <a:effectLst/>
                          <a:latin typeface="Verdana" pitchFamily="34" charset="0"/>
                        </a:rPr>
                        <a:t>%7.6</a:t>
                      </a: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4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3">
                        <a:lumMod val="40000"/>
                        <a:lumOff val="60000"/>
                      </a:schemeClr>
                    </a:solidFill>
                  </a:tcPr>
                </a:tc>
                <a:extLst>
                  <a:ext uri="{0D108BD9-81ED-4DB2-BD59-A6C34878D82A}">
                    <a16:rowId xmlns:a16="http://schemas.microsoft.com/office/drawing/2014/main" val="10009"/>
                  </a:ext>
                </a:extLst>
              </a:tr>
            </a:tbl>
          </a:graphicData>
        </a:graphic>
      </p:graphicFrame>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339318291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p:cNvSpPr>
            <a:spLocks noGrp="1"/>
          </p:cNvSpPr>
          <p:nvPr>
            <p:ph type="title"/>
          </p:nvPr>
        </p:nvSpPr>
        <p:spPr>
          <a:xfrm>
            <a:off x="518864" y="188640"/>
            <a:ext cx="8229600" cy="792088"/>
          </a:xfrm>
        </p:spPr>
        <p:txBody>
          <a:bodyPr/>
          <a:lstStyle/>
          <a:p>
            <a:r>
              <a:rPr lang="tr-TR" sz="3600"/>
              <a:t>İşletme Sermayesi </a:t>
            </a:r>
            <a:r>
              <a:rPr lang="en-US" sz="3600"/>
              <a:t>H</a:t>
            </a:r>
            <a:r>
              <a:rPr lang="tr-TR" sz="3600"/>
              <a:t>esabı</a:t>
            </a:r>
            <a:endParaRPr lang="en-GB" sz="3600"/>
          </a:p>
        </p:txBody>
      </p:sp>
      <p:sp>
        <p:nvSpPr>
          <p:cNvPr id="118787" name="Content Placeholder 2"/>
          <p:cNvSpPr>
            <a:spLocks noGrp="1"/>
          </p:cNvSpPr>
          <p:nvPr>
            <p:ph idx="4294967295"/>
          </p:nvPr>
        </p:nvSpPr>
        <p:spPr>
          <a:xfrm>
            <a:off x="590872" y="1196752"/>
            <a:ext cx="8229600" cy="4718496"/>
          </a:xfrm>
          <a:prstGeom prst="rect">
            <a:avLst/>
          </a:prstGeom>
        </p:spPr>
        <p:txBody>
          <a:bodyPr/>
          <a:lstStyle/>
          <a:p>
            <a:endParaRPr lang="tr-TR" sz="2800">
              <a:latin typeface="+mj-lt"/>
              <a:ea typeface="Verdana" pitchFamily="34" charset="0"/>
              <a:cs typeface="Verdana" pitchFamily="34" charset="0"/>
            </a:endParaRPr>
          </a:p>
          <a:p>
            <a:pPr>
              <a:lnSpc>
                <a:spcPct val="150000"/>
              </a:lnSpc>
            </a:pPr>
            <a:r>
              <a:rPr lang="tr-TR" sz="2800">
                <a:latin typeface="+mj-lt"/>
                <a:ea typeface="Verdana" pitchFamily="34" charset="0"/>
                <a:cs typeface="Verdana" pitchFamily="34" charset="0"/>
              </a:rPr>
              <a:t>WCR = Ticari Alacaklar + Stoklar – Ticari Borçlar</a:t>
            </a:r>
            <a:endParaRPr lang="tr-TR" sz="2400">
              <a:latin typeface="+mj-lt"/>
              <a:ea typeface="Verdana" pitchFamily="34" charset="0"/>
              <a:cs typeface="Verdana" pitchFamily="34" charset="0"/>
            </a:endParaRPr>
          </a:p>
          <a:p>
            <a:pPr>
              <a:lnSpc>
                <a:spcPct val="150000"/>
              </a:lnSpc>
            </a:pPr>
            <a:r>
              <a:rPr lang="tr-TR" sz="2800">
                <a:solidFill>
                  <a:srgbClr val="0000CC"/>
                </a:solidFill>
                <a:latin typeface="+mj-lt"/>
                <a:ea typeface="Verdana" pitchFamily="34" charset="0"/>
                <a:cs typeface="Verdana" pitchFamily="34" charset="0"/>
              </a:rPr>
              <a:t>WCR = 56 + (7+16) – 7 = 72 günlük ciro</a:t>
            </a:r>
          </a:p>
          <a:p>
            <a:pPr>
              <a:lnSpc>
                <a:spcPct val="150000"/>
              </a:lnSpc>
            </a:pPr>
            <a:r>
              <a:rPr lang="tr-TR" sz="2800">
                <a:solidFill>
                  <a:srgbClr val="0000CC"/>
                </a:solidFill>
                <a:latin typeface="+mj-lt"/>
                <a:ea typeface="Verdana" pitchFamily="34" charset="0"/>
                <a:cs typeface="Verdana" pitchFamily="34" charset="0"/>
              </a:rPr>
              <a:t>WCR = (72/360)* Ciro = 0,20 ciro</a:t>
            </a:r>
          </a:p>
          <a:p>
            <a:pPr>
              <a:lnSpc>
                <a:spcPct val="150000"/>
              </a:lnSpc>
            </a:pPr>
            <a:r>
              <a:rPr lang="tr-TR" sz="2800">
                <a:solidFill>
                  <a:srgbClr val="0000CC"/>
                </a:solidFill>
                <a:latin typeface="+mj-lt"/>
                <a:ea typeface="Verdana" pitchFamily="34" charset="0"/>
                <a:cs typeface="Verdana" pitchFamily="34" charset="0"/>
              </a:rPr>
              <a:t>WCR</a:t>
            </a:r>
            <a:r>
              <a:rPr lang="tr-TR" sz="2800" baseline="-25000">
                <a:solidFill>
                  <a:srgbClr val="0000CC"/>
                </a:solidFill>
                <a:latin typeface="+mj-lt"/>
                <a:ea typeface="Verdana" pitchFamily="34" charset="0"/>
                <a:cs typeface="Verdana" pitchFamily="34" charset="0"/>
              </a:rPr>
              <a:t>0</a:t>
            </a:r>
            <a:r>
              <a:rPr lang="tr-TR" sz="2800">
                <a:solidFill>
                  <a:srgbClr val="0000CC"/>
                </a:solidFill>
                <a:latin typeface="+mj-lt"/>
                <a:ea typeface="Verdana" pitchFamily="34" charset="0"/>
                <a:cs typeface="Verdana" pitchFamily="34" charset="0"/>
              </a:rPr>
              <a:t> = 0,20x1.800.000 = $360.000</a:t>
            </a:r>
          </a:p>
          <a:p>
            <a:pPr>
              <a:lnSpc>
                <a:spcPct val="150000"/>
              </a:lnSpc>
            </a:pPr>
            <a:r>
              <a:rPr lang="tr-TR" sz="2800">
                <a:solidFill>
                  <a:srgbClr val="0000CC"/>
                </a:solidFill>
                <a:ea typeface="Verdana" pitchFamily="34" charset="0"/>
                <a:cs typeface="Verdana" pitchFamily="34" charset="0"/>
              </a:rPr>
              <a:t>WCR</a:t>
            </a:r>
            <a:r>
              <a:rPr lang="tr-TR" sz="2800" baseline="-25000">
                <a:solidFill>
                  <a:srgbClr val="0000CC"/>
                </a:solidFill>
                <a:ea typeface="Verdana" pitchFamily="34" charset="0"/>
                <a:cs typeface="Verdana" pitchFamily="34" charset="0"/>
              </a:rPr>
              <a:t>1</a:t>
            </a:r>
            <a:r>
              <a:rPr lang="tr-TR" sz="2800">
                <a:solidFill>
                  <a:srgbClr val="0000CC"/>
                </a:solidFill>
                <a:ea typeface="Verdana" pitchFamily="34" charset="0"/>
                <a:cs typeface="Verdana" pitchFamily="34" charset="0"/>
              </a:rPr>
              <a:t> = 0,20x1.648.000 = $330.000 ….</a:t>
            </a:r>
          </a:p>
        </p:txBody>
      </p:sp>
      <p:sp>
        <p:nvSpPr>
          <p:cNvPr id="5" name="Slide Number Placeholder 4"/>
          <p:cNvSpPr>
            <a:spLocks noGrp="1"/>
          </p:cNvSpPr>
          <p:nvPr>
            <p:ph type="sldNum" sz="quarter" idx="10"/>
          </p:nvPr>
        </p:nvSpPr>
        <p:spPr>
          <a:xfrm>
            <a:off x="8515476" y="6469287"/>
            <a:ext cx="665036" cy="352295"/>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CCDF4942-78DE-48E4-A8BD-CBB0861E4DA1}" type="slidenum">
              <a:rPr lang="tr-TR" sz="1200">
                <a:solidFill>
                  <a:schemeClr val="tx2"/>
                </a:solidFill>
                <a:latin typeface="Verdana" pitchFamily="34" charset="0"/>
              </a:rPr>
              <a:pPr marL="0" indent="0" eaLnBrk="1" hangingPunct="1">
                <a:buNone/>
              </a:pPr>
              <a:t>162</a:t>
            </a:fld>
            <a:endParaRPr lang="tr-TR" sz="1200">
              <a:solidFill>
                <a:schemeClr val="tx2"/>
              </a:solidFill>
              <a:latin typeface="Verdana" pitchFamily="34"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1886923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7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7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78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78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7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bldLvl="4"/>
    </p:bldLst>
  </p:timing>
</p:sld>
</file>

<file path=ppt/slides/slide1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7" y="6469287"/>
            <a:ext cx="515931" cy="388713"/>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B546ED48-82D1-4C4F-BEB6-B1BA73F85F40}" type="slidenum">
              <a:rPr lang="tr-TR" sz="1200">
                <a:solidFill>
                  <a:schemeClr val="tx2"/>
                </a:solidFill>
                <a:latin typeface="Verdana" pitchFamily="34" charset="0"/>
              </a:rPr>
              <a:pPr marL="0" indent="0" eaLnBrk="1" hangingPunct="1">
                <a:buNone/>
              </a:pPr>
              <a:t>163</a:t>
            </a:fld>
            <a:endParaRPr lang="tr-TR" sz="1200">
              <a:solidFill>
                <a:schemeClr val="tx2"/>
              </a:solidFill>
              <a:latin typeface="Verdana" pitchFamily="34" charset="0"/>
            </a:endParaRPr>
          </a:p>
        </p:txBody>
      </p:sp>
      <p:sp>
        <p:nvSpPr>
          <p:cNvPr id="8" name="Rectangle 2"/>
          <p:cNvSpPr>
            <a:spLocks noGrp="1" noChangeArrowheads="1"/>
          </p:cNvSpPr>
          <p:nvPr>
            <p:ph type="title"/>
          </p:nvPr>
        </p:nvSpPr>
        <p:spPr>
          <a:xfrm>
            <a:off x="693738" y="0"/>
            <a:ext cx="8450262" cy="823913"/>
          </a:xfrm>
        </p:spPr>
        <p:txBody>
          <a:bodyPr/>
          <a:lstStyle/>
          <a:p>
            <a:pPr eaLnBrk="1" hangingPunct="1"/>
            <a:r>
              <a:rPr lang="tr-TR" sz="3200"/>
              <a:t>M. Masa Lambası Projesi- Nakit akımı projeksiyonu</a:t>
            </a:r>
            <a:endParaRPr lang="en-US" sz="1800"/>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graphicFrame>
        <p:nvGraphicFramePr>
          <p:cNvPr id="10" name="Table 9"/>
          <p:cNvGraphicFramePr>
            <a:graphicFrameLocks noGrp="1"/>
          </p:cNvGraphicFramePr>
          <p:nvPr/>
        </p:nvGraphicFramePr>
        <p:xfrm>
          <a:off x="395288" y="1268413"/>
          <a:ext cx="8280920" cy="5040306"/>
        </p:xfrm>
        <a:graphic>
          <a:graphicData uri="http://schemas.openxmlformats.org/drawingml/2006/table">
            <a:tbl>
              <a:tblPr/>
              <a:tblGrid>
                <a:gridCol w="2554452">
                  <a:extLst>
                    <a:ext uri="{9D8B030D-6E8A-4147-A177-3AD203B41FA5}">
                      <a16:colId xmlns:a16="http://schemas.microsoft.com/office/drawing/2014/main" val="20000"/>
                    </a:ext>
                  </a:extLst>
                </a:gridCol>
                <a:gridCol w="940376">
                  <a:extLst>
                    <a:ext uri="{9D8B030D-6E8A-4147-A177-3AD203B41FA5}">
                      <a16:colId xmlns:a16="http://schemas.microsoft.com/office/drawing/2014/main" val="20001"/>
                    </a:ext>
                  </a:extLst>
                </a:gridCol>
                <a:gridCol w="940376">
                  <a:extLst>
                    <a:ext uri="{9D8B030D-6E8A-4147-A177-3AD203B41FA5}">
                      <a16:colId xmlns:a16="http://schemas.microsoft.com/office/drawing/2014/main" val="20002"/>
                    </a:ext>
                  </a:extLst>
                </a:gridCol>
                <a:gridCol w="940376">
                  <a:extLst>
                    <a:ext uri="{9D8B030D-6E8A-4147-A177-3AD203B41FA5}">
                      <a16:colId xmlns:a16="http://schemas.microsoft.com/office/drawing/2014/main" val="20003"/>
                    </a:ext>
                  </a:extLst>
                </a:gridCol>
                <a:gridCol w="940376">
                  <a:extLst>
                    <a:ext uri="{9D8B030D-6E8A-4147-A177-3AD203B41FA5}">
                      <a16:colId xmlns:a16="http://schemas.microsoft.com/office/drawing/2014/main" val="20004"/>
                    </a:ext>
                  </a:extLst>
                </a:gridCol>
                <a:gridCol w="940376">
                  <a:extLst>
                    <a:ext uri="{9D8B030D-6E8A-4147-A177-3AD203B41FA5}">
                      <a16:colId xmlns:a16="http://schemas.microsoft.com/office/drawing/2014/main" val="20005"/>
                    </a:ext>
                  </a:extLst>
                </a:gridCol>
                <a:gridCol w="1024588">
                  <a:extLst>
                    <a:ext uri="{9D8B030D-6E8A-4147-A177-3AD203B41FA5}">
                      <a16:colId xmlns:a16="http://schemas.microsoft.com/office/drawing/2014/main" val="20006"/>
                    </a:ext>
                  </a:extLst>
                </a:gridCol>
              </a:tblGrid>
              <a:tr h="266317">
                <a:tc>
                  <a:txBody>
                    <a:bodyPr/>
                    <a:lstStyle/>
                    <a:p>
                      <a:pPr algn="l" fontAlgn="t"/>
                      <a:r>
                        <a:rPr lang="en-GB" sz="1400" b="1"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400" b="1" i="0" u="none" strike="noStrike" baseline="0">
                          <a:solidFill>
                            <a:srgbClr val="000000"/>
                          </a:solidFill>
                          <a:latin typeface="Calibri"/>
                        </a:rPr>
                        <a:t>Şimdi</a:t>
                      </a:r>
                      <a:r>
                        <a:rPr lang="en-GB" sz="1400" b="1"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400" b="1" i="0" u="none" strike="noStrike" baseline="0">
                          <a:solidFill>
                            <a:srgbClr val="000000"/>
                          </a:solidFill>
                          <a:latin typeface="Calibri"/>
                        </a:rPr>
                        <a:t>Sene</a:t>
                      </a:r>
                      <a:r>
                        <a:rPr lang="en-GB" sz="1400" b="1" i="0" u="none" strike="noStrike" baseline="0">
                          <a:solidFill>
                            <a:srgbClr val="000000"/>
                          </a:solidFill>
                          <a:latin typeface="Calibri"/>
                        </a:rPr>
                        <a:t> 1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400" b="1" i="0" u="none" strike="noStrike" baseline="0">
                          <a:solidFill>
                            <a:srgbClr val="000000"/>
                          </a:solidFill>
                          <a:latin typeface="+mn-lt"/>
                        </a:rPr>
                        <a:t>Sene</a:t>
                      </a:r>
                      <a:r>
                        <a:rPr lang="en-GB" sz="1400" b="1" i="0" u="none" strike="noStrike" baseline="0">
                          <a:solidFill>
                            <a:srgbClr val="000000"/>
                          </a:solidFill>
                          <a:latin typeface="Calibri"/>
                        </a:rPr>
                        <a:t> 2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400" b="1" i="0" u="none" strike="noStrike" baseline="0">
                          <a:solidFill>
                            <a:srgbClr val="000000"/>
                          </a:solidFill>
                          <a:latin typeface="+mn-lt"/>
                        </a:rPr>
                        <a:t>Sene</a:t>
                      </a:r>
                      <a:r>
                        <a:rPr lang="en-GB" sz="1400" b="1" i="0" u="none" strike="noStrike" baseline="0">
                          <a:solidFill>
                            <a:srgbClr val="000000"/>
                          </a:solidFill>
                          <a:latin typeface="Calibri"/>
                        </a:rPr>
                        <a:t> 3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400" b="1" i="0" u="none" strike="noStrike" baseline="0">
                          <a:solidFill>
                            <a:srgbClr val="000000"/>
                          </a:solidFill>
                          <a:latin typeface="+mn-lt"/>
                        </a:rPr>
                        <a:t>Sene</a:t>
                      </a:r>
                      <a:r>
                        <a:rPr lang="en-GB" sz="1400" b="1" i="0" u="none" strike="noStrike" baseline="0">
                          <a:solidFill>
                            <a:srgbClr val="000000"/>
                          </a:solidFill>
                          <a:latin typeface="Calibri"/>
                        </a:rPr>
                        <a:t> 4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400" b="1" i="0" u="none" strike="noStrike" baseline="0">
                          <a:solidFill>
                            <a:srgbClr val="000000"/>
                          </a:solidFill>
                          <a:latin typeface="+mn-lt"/>
                        </a:rPr>
                        <a:t>Sene</a:t>
                      </a:r>
                      <a:r>
                        <a:rPr lang="en-GB" sz="1400" b="1" i="0" u="none" strike="noStrike" baseline="0">
                          <a:solidFill>
                            <a:srgbClr val="000000"/>
                          </a:solidFill>
                          <a:latin typeface="Calibri"/>
                        </a:rPr>
                        <a:t> 5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29590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rgbClr val="000000"/>
                          </a:solidFill>
                          <a:effectLst/>
                          <a:latin typeface="Verdana" pitchFamily="34" charset="0"/>
                        </a:rPr>
                        <a:t>Satış adedi</a:t>
                      </a:r>
                      <a:endParaRPr kumimoji="0" lang="en-GB" sz="1200" b="0" i="0" u="none" strike="noStrike" cap="none" normalizeH="0" baseline="0">
                        <a:ln>
                          <a:noFill/>
                        </a:ln>
                        <a:solidFill>
                          <a:srgbClr val="000000"/>
                        </a:solidFill>
                        <a:effectLst/>
                        <a:latin typeface="Verdana" pitchFamily="34" charset="0"/>
                      </a:endParaRP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45,000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40,000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30,000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20,000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10,000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01"/>
                  </a:ext>
                </a:extLst>
              </a:tr>
              <a:tr h="29590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0" i="0" u="none" strike="noStrike" cap="none" normalizeH="0" baseline="0">
                          <a:ln>
                            <a:noFill/>
                          </a:ln>
                          <a:solidFill>
                            <a:srgbClr val="000000"/>
                          </a:solidFill>
                          <a:effectLst/>
                          <a:latin typeface="Verdana" pitchFamily="34" charset="0"/>
                        </a:rPr>
                        <a:t>Ürün fiyatı</a:t>
                      </a:r>
                      <a:endParaRPr kumimoji="0" lang="en-GB" sz="1200" b="0" i="0" u="none" strike="noStrike" cap="none" normalizeH="0" baseline="0">
                        <a:ln>
                          <a:noFill/>
                        </a:ln>
                        <a:solidFill>
                          <a:srgbClr val="000000"/>
                        </a:solidFill>
                        <a:effectLst/>
                        <a:latin typeface="Verdana" pitchFamily="34" charset="0"/>
                      </a:endParaRP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40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41.20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42.44</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43.71</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45.02</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extLst>
                  <a:ext uri="{0D108BD9-81ED-4DB2-BD59-A6C34878D82A}">
                    <a16:rowId xmlns:a16="http://schemas.microsoft.com/office/drawing/2014/main" val="10002"/>
                  </a:ext>
                </a:extLst>
              </a:tr>
              <a:tr h="29590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200" b="1" i="0" u="none" strike="noStrike" cap="none" normalizeH="0" baseline="0">
                          <a:ln>
                            <a:noFill/>
                          </a:ln>
                          <a:solidFill>
                            <a:srgbClr val="000000"/>
                          </a:solidFill>
                          <a:effectLst/>
                          <a:latin typeface="Verdana" pitchFamily="34" charset="0"/>
                        </a:rPr>
                        <a:t>Toplam satış</a:t>
                      </a:r>
                      <a:endParaRPr kumimoji="0" lang="en-GB" sz="1200" b="1" i="0" u="none" strike="noStrike" cap="none" normalizeH="0" baseline="0">
                        <a:ln>
                          <a:noFill/>
                        </a:ln>
                        <a:solidFill>
                          <a:srgbClr val="000000"/>
                        </a:solidFill>
                        <a:effectLst/>
                        <a:latin typeface="Verdana" pitchFamily="34" charset="0"/>
                      </a:endParaRP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1,800,000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1,648,000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1,273,080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874,182</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450,204</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03"/>
                  </a:ext>
                </a:extLst>
              </a:tr>
              <a:tr h="295909">
                <a:tc>
                  <a:txBody>
                    <a:bodyPr/>
                    <a:lstStyle/>
                    <a:p>
                      <a:pPr algn="l" fontAlgn="t"/>
                      <a:r>
                        <a:rPr lang="tr-TR" sz="1400" b="0" i="0" u="none" strike="noStrike" baseline="0">
                          <a:solidFill>
                            <a:srgbClr val="000000"/>
                          </a:solidFill>
                          <a:latin typeface="Calibri"/>
                        </a:rPr>
                        <a:t>Hammadde, işçilik ve enerji </a:t>
                      </a:r>
                      <a:endParaRPr lang="en-GB" sz="14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16</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16.48</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16.97</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17.48</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18.01</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extLst>
                  <a:ext uri="{0D108BD9-81ED-4DB2-BD59-A6C34878D82A}">
                    <a16:rowId xmlns:a16="http://schemas.microsoft.com/office/drawing/2014/main" val="10004"/>
                  </a:ext>
                </a:extLst>
              </a:tr>
              <a:tr h="295909">
                <a:tc>
                  <a:txBody>
                    <a:bodyPr/>
                    <a:lstStyle/>
                    <a:p>
                      <a:pPr algn="l" fontAlgn="t"/>
                      <a:r>
                        <a:rPr lang="en-GB" sz="1400" b="0" i="0" u="none" strike="noStrike" baseline="0">
                          <a:solidFill>
                            <a:srgbClr val="000000"/>
                          </a:solidFill>
                          <a:latin typeface="Calibri"/>
                        </a:rPr>
                        <a:t>To</a:t>
                      </a:r>
                      <a:r>
                        <a:rPr lang="tr-TR" sz="1400" b="0" i="0" u="none" strike="noStrike" baseline="0">
                          <a:solidFill>
                            <a:srgbClr val="000000"/>
                          </a:solidFill>
                          <a:latin typeface="Calibri"/>
                        </a:rPr>
                        <a:t>plam değişken masraflar</a:t>
                      </a:r>
                      <a:endParaRPr lang="en-GB" sz="14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720,000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659,200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509,232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349,673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180,081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05"/>
                  </a:ext>
                </a:extLst>
              </a:tr>
              <a:tr h="295909">
                <a:tc>
                  <a:txBody>
                    <a:bodyPr/>
                    <a:lstStyle/>
                    <a:p>
                      <a:pPr algn="l" fontAlgn="t"/>
                      <a:r>
                        <a:rPr lang="tr-TR" sz="1400" b="0" i="0" u="none" strike="noStrike" baseline="0">
                          <a:solidFill>
                            <a:srgbClr val="000000"/>
                          </a:solidFill>
                          <a:latin typeface="Calibri"/>
                        </a:rPr>
                        <a:t>Kira geliri kaybı</a:t>
                      </a:r>
                      <a:endParaRPr lang="en-GB" sz="14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extLst>
                  <a:ext uri="{0D108BD9-81ED-4DB2-BD59-A6C34878D82A}">
                    <a16:rowId xmlns:a16="http://schemas.microsoft.com/office/drawing/2014/main" val="10006"/>
                  </a:ext>
                </a:extLst>
              </a:tr>
              <a:tr h="295909">
                <a:tc>
                  <a:txBody>
                    <a:bodyPr/>
                    <a:lstStyle/>
                    <a:p>
                      <a:pPr algn="l" fontAlgn="t"/>
                      <a:r>
                        <a:rPr lang="tr-TR" sz="1400" b="0" i="0" u="none" strike="noStrike" baseline="0">
                          <a:solidFill>
                            <a:srgbClr val="000000"/>
                          </a:solidFill>
                          <a:latin typeface="Calibri"/>
                        </a:rPr>
                        <a:t>Amortisman</a:t>
                      </a:r>
                      <a:endParaRPr lang="en-GB" sz="14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07"/>
                  </a:ext>
                </a:extLst>
              </a:tr>
              <a:tr h="295909">
                <a:tc>
                  <a:txBody>
                    <a:bodyPr/>
                    <a:lstStyle/>
                    <a:p>
                      <a:pPr algn="l" fontAlgn="t"/>
                      <a:r>
                        <a:rPr lang="en-GB" sz="1400" b="0" i="0" u="none" strike="noStrike" baseline="0">
                          <a:solidFill>
                            <a:srgbClr val="000000"/>
                          </a:solidFill>
                          <a:latin typeface="Calibri"/>
                        </a:rPr>
                        <a:t>To</a:t>
                      </a:r>
                      <a:r>
                        <a:rPr lang="tr-TR" sz="1400" b="0" i="0" u="none" strike="noStrike" baseline="0">
                          <a:solidFill>
                            <a:srgbClr val="000000"/>
                          </a:solidFill>
                          <a:latin typeface="Calibri"/>
                        </a:rPr>
                        <a:t>plam giderler</a:t>
                      </a:r>
                      <a:endParaRPr lang="en-GB" sz="14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1,130,000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1,069,200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919,232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759,673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590,081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6E7"/>
                    </a:solidFill>
                  </a:tcPr>
                </a:tc>
                <a:extLst>
                  <a:ext uri="{0D108BD9-81ED-4DB2-BD59-A6C34878D82A}">
                    <a16:rowId xmlns:a16="http://schemas.microsoft.com/office/drawing/2014/main" val="10008"/>
                  </a:ext>
                </a:extLst>
              </a:tr>
              <a:tr h="276181">
                <a:tc>
                  <a:txBody>
                    <a:bodyPr/>
                    <a:lstStyle/>
                    <a:p>
                      <a:pPr algn="l" fontAlgn="t"/>
                      <a:r>
                        <a:rPr lang="tr-TR" sz="1400" b="0" i="0" u="none" strike="noStrike" baseline="0">
                          <a:solidFill>
                            <a:srgbClr val="000000"/>
                          </a:solidFill>
                          <a:latin typeface="Calibri"/>
                        </a:rPr>
                        <a:t>FVÖK</a:t>
                      </a:r>
                      <a:endParaRPr lang="en-GB" sz="14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l"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670,000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578,800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353,848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114,509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-139,878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09"/>
                  </a:ext>
                </a:extLst>
              </a:tr>
              <a:tr h="266317">
                <a:tc>
                  <a:txBody>
                    <a:bodyPr/>
                    <a:lstStyle/>
                    <a:p>
                      <a:pPr algn="l" fontAlgn="t"/>
                      <a:r>
                        <a:rPr lang="tr-TR" sz="1400" b="0" i="0" u="none" strike="noStrike" baseline="0">
                          <a:solidFill>
                            <a:srgbClr val="000000"/>
                          </a:solidFill>
                          <a:latin typeface="Calibri"/>
                        </a:rPr>
                        <a:t>Vergi</a:t>
                      </a:r>
                      <a:r>
                        <a:rPr lang="en-GB" sz="1400" b="0" i="0" u="none" strike="noStrike" baseline="0">
                          <a:solidFill>
                            <a:srgbClr val="000000"/>
                          </a:solidFill>
                          <a:latin typeface="Calibri"/>
                        </a:rPr>
                        <a:t> (40%)</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l"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-268,000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-231,520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-141,539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-45,804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55,951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extLst>
                  <a:ext uri="{0D108BD9-81ED-4DB2-BD59-A6C34878D82A}">
                    <a16:rowId xmlns:a16="http://schemas.microsoft.com/office/drawing/2014/main" val="10010"/>
                  </a:ext>
                </a:extLst>
              </a:tr>
              <a:tr h="266317">
                <a:tc>
                  <a:txBody>
                    <a:bodyPr/>
                    <a:lstStyle/>
                    <a:p>
                      <a:pPr algn="l" fontAlgn="t"/>
                      <a:r>
                        <a:rPr lang="tr-TR" sz="1400" b="1" i="0" u="none" strike="noStrike" baseline="0">
                          <a:solidFill>
                            <a:srgbClr val="000000"/>
                          </a:solidFill>
                          <a:latin typeface="Calibri"/>
                        </a:rPr>
                        <a:t>FVÖK – Vergi</a:t>
                      </a:r>
                      <a:endParaRPr lang="en-GB" sz="1400" b="1"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l" fontAlgn="t"/>
                      <a:r>
                        <a:rPr lang="en-GB" sz="1400" b="1"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402,000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347,280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212,309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68,705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-83,927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11"/>
                  </a:ext>
                </a:extLst>
              </a:tr>
              <a:tr h="266317">
                <a:tc>
                  <a:txBody>
                    <a:bodyPr/>
                    <a:lstStyle/>
                    <a:p>
                      <a:pPr algn="l" fontAlgn="t"/>
                      <a:r>
                        <a:rPr lang="tr-TR" sz="1400" b="0" i="0" u="none" strike="noStrike" baseline="0">
                          <a:solidFill>
                            <a:srgbClr val="000000"/>
                          </a:solidFill>
                          <a:latin typeface="Calibri"/>
                        </a:rPr>
                        <a:t>Amortisman</a:t>
                      </a:r>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l" fontAlgn="t"/>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400,000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fontAlgn="t"/>
                      <a:r>
                        <a:rPr lang="en-GB" sz="1400" b="0" i="0" u="none" strike="noStrike" baseline="0">
                          <a:solidFill>
                            <a:srgbClr val="000000"/>
                          </a:solidFill>
                          <a:latin typeface="Calibri"/>
                        </a:rPr>
                        <a:t>400,000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12"/>
                  </a:ext>
                </a:extLst>
              </a:tr>
              <a:tr h="266317">
                <a:tc>
                  <a:txBody>
                    <a:bodyPr/>
                    <a:lstStyle/>
                    <a:p>
                      <a:pPr algn="l" fontAlgn="t"/>
                      <a:r>
                        <a:rPr lang="tr-TR" sz="1400" b="0" i="0" u="none" strike="noStrike" baseline="0">
                          <a:solidFill>
                            <a:srgbClr val="000000"/>
                          </a:solidFill>
                          <a:latin typeface="Calibri"/>
                        </a:rPr>
                        <a:t>İşletme Sermayesi İhtiyacı</a:t>
                      </a:r>
                      <a:endParaRPr lang="en-GB" sz="14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    360,000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    329,600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    254,616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    174,836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      90,041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                -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13"/>
                  </a:ext>
                </a:extLst>
              </a:tr>
              <a:tr h="266317">
                <a:tc>
                  <a:txBody>
                    <a:bodyPr/>
                    <a:lstStyle/>
                    <a:p>
                      <a:pPr algn="l" fontAlgn="t"/>
                      <a:r>
                        <a:rPr lang="tr-TR" sz="1400" b="0" i="0" u="none" strike="noStrike" baseline="0">
                          <a:solidFill>
                            <a:srgbClr val="000000"/>
                          </a:solidFill>
                          <a:latin typeface="Calibri"/>
                        </a:rPr>
                        <a:t>İ.S. İhtiyacı Değişimi</a:t>
                      </a:r>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360,000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-30,400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-74,984</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-79,780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-84,796</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-90,041</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extLst>
                  <a:ext uri="{0D108BD9-81ED-4DB2-BD59-A6C34878D82A}">
                    <a16:rowId xmlns:a16="http://schemas.microsoft.com/office/drawing/2014/main" val="10014"/>
                  </a:ext>
                </a:extLst>
              </a:tr>
              <a:tr h="266317">
                <a:tc>
                  <a:txBody>
                    <a:bodyPr/>
                    <a:lstStyle/>
                    <a:p>
                      <a:pPr algn="l" fontAlgn="t"/>
                      <a:r>
                        <a:rPr lang="tr-TR" sz="1400" b="0" i="0" u="none" strike="noStrike" baseline="0">
                          <a:solidFill>
                            <a:srgbClr val="000000"/>
                          </a:solidFill>
                          <a:latin typeface="Calibri"/>
                        </a:rPr>
                        <a:t>Sabit Kıymet Yatırımı</a:t>
                      </a:r>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 2,000,000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0" i="0" u="none" strike="noStrike" baseline="0">
                          <a:solidFill>
                            <a:srgbClr val="000000"/>
                          </a:solidFill>
                          <a:latin typeface="Calibri"/>
                        </a:rPr>
                        <a:t>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15"/>
                  </a:ext>
                </a:extLst>
              </a:tr>
              <a:tr h="266317">
                <a:tc>
                  <a:txBody>
                    <a:bodyPr/>
                    <a:lstStyle/>
                    <a:p>
                      <a:pPr algn="l" fontAlgn="t"/>
                      <a:r>
                        <a:rPr lang="tr-TR" sz="1400" b="0" i="0" u="none" strike="noStrike" baseline="0">
                          <a:solidFill>
                            <a:srgbClr val="000000"/>
                          </a:solidFill>
                          <a:latin typeface="Calibri"/>
                        </a:rPr>
                        <a:t>Hurda Değeri</a:t>
                      </a:r>
                      <a:r>
                        <a:rPr lang="en-GB" sz="14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400" b="0" i="0" u="none" strike="noStrike" baseline="0">
                          <a:solidFill>
                            <a:srgbClr val="000000"/>
                          </a:solidFill>
                          <a:latin typeface="Calibri"/>
                        </a:rPr>
                        <a:t>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rtl="0" fontAlgn="t"/>
                      <a:r>
                        <a:rPr lang="en-GB" sz="1400" b="0" i="0" u="none" strike="noStrike" baseline="0">
                          <a:solidFill>
                            <a:srgbClr val="000000"/>
                          </a:solidFill>
                          <a:latin typeface="Calibri"/>
                        </a:rPr>
                        <a:t>        60,000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extLst>
                  <a:ext uri="{0D108BD9-81ED-4DB2-BD59-A6C34878D82A}">
                    <a16:rowId xmlns:a16="http://schemas.microsoft.com/office/drawing/2014/main" val="10016"/>
                  </a:ext>
                </a:extLst>
              </a:tr>
              <a:tr h="266317">
                <a:tc>
                  <a:txBody>
                    <a:bodyPr/>
                    <a:lstStyle/>
                    <a:p>
                      <a:pPr algn="l" fontAlgn="t"/>
                      <a:r>
                        <a:rPr lang="tr-TR" sz="1400" b="1" i="0" u="none" strike="noStrike" baseline="0">
                          <a:solidFill>
                            <a:srgbClr val="000000"/>
                          </a:solidFill>
                          <a:latin typeface="Calibri"/>
                        </a:rPr>
                        <a:t>Serbest Nakit Akımları</a:t>
                      </a:r>
                      <a:endParaRPr lang="en-GB" sz="1400" b="1"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-2,360,000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832,400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822,264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692,088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553,501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400" b="1" i="0" u="none" strike="noStrike" baseline="0">
                          <a:solidFill>
                            <a:srgbClr val="000000"/>
                          </a:solidFill>
                          <a:latin typeface="Calibri"/>
                        </a:rPr>
                        <a:t>      466,114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1607586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
        <p:nvSpPr>
          <p:cNvPr id="4" name="Slide Number Placeholder 4"/>
          <p:cNvSpPr txBox="1">
            <a:spLocks/>
          </p:cNvSpPr>
          <p:nvPr/>
        </p:nvSpPr>
        <p:spPr>
          <a:xfrm>
            <a:off x="8604448" y="6469287"/>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164</a:t>
            </a:fld>
            <a:endParaRPr lang="tr-TR" sz="1200">
              <a:solidFill>
                <a:schemeClr val="tx2"/>
              </a:solidFill>
              <a:latin typeface="Verdana" pitchFamily="34" charset="0"/>
            </a:endParaRPr>
          </a:p>
        </p:txBody>
      </p:sp>
      <p:sp>
        <p:nvSpPr>
          <p:cNvPr id="8" name="Rectangle 2"/>
          <p:cNvSpPr txBox="1">
            <a:spLocks noChangeArrowheads="1"/>
          </p:cNvSpPr>
          <p:nvPr/>
        </p:nvSpPr>
        <p:spPr bwMode="auto">
          <a:xfrm>
            <a:off x="1331640" y="260349"/>
            <a:ext cx="7627365" cy="823913"/>
          </a:xfrm>
          <a:prstGeom prst="rect">
            <a:avLst/>
          </a:prstGeom>
          <a:noFill/>
          <a:ln w="9525">
            <a:noFill/>
            <a:miter lim="800000"/>
            <a:headEnd/>
            <a:tailEnd/>
          </a:ln>
        </p:spPr>
        <p:txBody>
          <a:bodyPr/>
          <a:lstStyle>
            <a:lvl1pPr marL="342900" indent="-342900"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eaLnBrk="1" hangingPunct="1">
              <a:spcBef>
                <a:spcPct val="20000"/>
              </a:spcBef>
              <a:buClr>
                <a:schemeClr val="bg2"/>
              </a:buClr>
              <a:buSzPct val="75000"/>
            </a:pPr>
            <a:r>
              <a:rPr lang="tr-TR" sz="3200" b="0">
                <a:solidFill>
                  <a:srgbClr val="0C0000"/>
                </a:solidFill>
              </a:rPr>
              <a:t>M. Masa Lambası Projesi- Net bugünkü değer</a:t>
            </a:r>
            <a:endParaRPr lang="en-US" sz="1800" b="0">
              <a:solidFill>
                <a:srgbClr val="0C0000"/>
              </a:solidFill>
            </a:endParaRPr>
          </a:p>
        </p:txBody>
      </p:sp>
      <p:graphicFrame>
        <p:nvGraphicFramePr>
          <p:cNvPr id="9" name="Table 8"/>
          <p:cNvGraphicFramePr>
            <a:graphicFrameLocks noGrp="1"/>
          </p:cNvGraphicFramePr>
          <p:nvPr/>
        </p:nvGraphicFramePr>
        <p:xfrm>
          <a:off x="539750" y="2060575"/>
          <a:ext cx="7920878" cy="1676915"/>
        </p:xfrm>
        <a:graphic>
          <a:graphicData uri="http://schemas.openxmlformats.org/drawingml/2006/table">
            <a:tbl>
              <a:tblPr/>
              <a:tblGrid>
                <a:gridCol w="1944018">
                  <a:extLst>
                    <a:ext uri="{9D8B030D-6E8A-4147-A177-3AD203B41FA5}">
                      <a16:colId xmlns:a16="http://schemas.microsoft.com/office/drawing/2014/main" val="20000"/>
                    </a:ext>
                  </a:extLst>
                </a:gridCol>
                <a:gridCol w="1398860">
                  <a:extLst>
                    <a:ext uri="{9D8B030D-6E8A-4147-A177-3AD203B41FA5}">
                      <a16:colId xmlns:a16="http://schemas.microsoft.com/office/drawing/2014/main" val="20001"/>
                    </a:ext>
                  </a:extLst>
                </a:gridCol>
                <a:gridCol w="899490">
                  <a:extLst>
                    <a:ext uri="{9D8B030D-6E8A-4147-A177-3AD203B41FA5}">
                      <a16:colId xmlns:a16="http://schemas.microsoft.com/office/drawing/2014/main" val="20002"/>
                    </a:ext>
                  </a:extLst>
                </a:gridCol>
                <a:gridCol w="899490">
                  <a:extLst>
                    <a:ext uri="{9D8B030D-6E8A-4147-A177-3AD203B41FA5}">
                      <a16:colId xmlns:a16="http://schemas.microsoft.com/office/drawing/2014/main" val="20003"/>
                    </a:ext>
                  </a:extLst>
                </a:gridCol>
                <a:gridCol w="899490">
                  <a:extLst>
                    <a:ext uri="{9D8B030D-6E8A-4147-A177-3AD203B41FA5}">
                      <a16:colId xmlns:a16="http://schemas.microsoft.com/office/drawing/2014/main" val="20004"/>
                    </a:ext>
                  </a:extLst>
                </a:gridCol>
                <a:gridCol w="899490">
                  <a:extLst>
                    <a:ext uri="{9D8B030D-6E8A-4147-A177-3AD203B41FA5}">
                      <a16:colId xmlns:a16="http://schemas.microsoft.com/office/drawing/2014/main" val="20005"/>
                    </a:ext>
                  </a:extLst>
                </a:gridCol>
                <a:gridCol w="980040">
                  <a:extLst>
                    <a:ext uri="{9D8B030D-6E8A-4147-A177-3AD203B41FA5}">
                      <a16:colId xmlns:a16="http://schemas.microsoft.com/office/drawing/2014/main" val="20006"/>
                    </a:ext>
                  </a:extLst>
                </a:gridCol>
              </a:tblGrid>
              <a:tr h="167382">
                <a:tc>
                  <a:txBody>
                    <a:bodyPr/>
                    <a:lstStyle/>
                    <a:p>
                      <a:pPr algn="l"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800" b="1" i="0" u="none" strike="noStrike" baseline="0">
                          <a:solidFill>
                            <a:schemeClr val="bg1"/>
                          </a:solidFill>
                          <a:latin typeface="Calibri"/>
                        </a:rPr>
                        <a:t>Şimdi</a:t>
                      </a:r>
                      <a:r>
                        <a:rPr lang="en-GB" sz="1800" b="1" i="0" u="none" strike="noStrike" baseline="0">
                          <a:solidFill>
                            <a:schemeClr val="bg1"/>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800" b="1" i="0" u="none" strike="noStrike" baseline="0">
                          <a:solidFill>
                            <a:schemeClr val="bg1"/>
                          </a:solidFill>
                          <a:latin typeface="Calibri"/>
                        </a:rPr>
                        <a:t>Sene</a:t>
                      </a:r>
                      <a:r>
                        <a:rPr lang="en-GB" sz="1800" b="1" i="0" u="none" strike="noStrike" baseline="0">
                          <a:solidFill>
                            <a:schemeClr val="bg1"/>
                          </a:solidFill>
                          <a:latin typeface="Calibri"/>
                        </a:rPr>
                        <a:t> 1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800" b="1" i="0" u="none" strike="noStrike" baseline="0">
                          <a:solidFill>
                            <a:schemeClr val="bg1"/>
                          </a:solidFill>
                          <a:latin typeface="+mn-lt"/>
                        </a:rPr>
                        <a:t>Sene</a:t>
                      </a:r>
                      <a:r>
                        <a:rPr lang="en-GB" sz="1800" b="1" i="0" u="none" strike="noStrike" baseline="0">
                          <a:solidFill>
                            <a:schemeClr val="bg1"/>
                          </a:solidFill>
                          <a:latin typeface="Calibri"/>
                        </a:rPr>
                        <a:t> 2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800" b="1" i="0" u="none" strike="noStrike" baseline="0">
                          <a:solidFill>
                            <a:schemeClr val="bg1"/>
                          </a:solidFill>
                          <a:latin typeface="+mn-lt"/>
                        </a:rPr>
                        <a:t>Sene</a:t>
                      </a:r>
                      <a:r>
                        <a:rPr lang="en-GB" sz="1800" b="1" i="0" u="none" strike="noStrike" baseline="0">
                          <a:solidFill>
                            <a:schemeClr val="bg1"/>
                          </a:solidFill>
                          <a:latin typeface="Calibri"/>
                        </a:rPr>
                        <a:t> 3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800" b="1" i="0" u="none" strike="noStrike" baseline="0">
                          <a:solidFill>
                            <a:schemeClr val="bg1"/>
                          </a:solidFill>
                          <a:latin typeface="+mn-lt"/>
                        </a:rPr>
                        <a:t>Sene</a:t>
                      </a:r>
                      <a:r>
                        <a:rPr lang="en-GB" sz="1800" b="1" i="0" u="none" strike="noStrike" baseline="0">
                          <a:solidFill>
                            <a:schemeClr val="bg1"/>
                          </a:solidFill>
                          <a:latin typeface="Calibri"/>
                        </a:rPr>
                        <a:t> 4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a:txBody>
                    <a:bodyPr/>
                    <a:lstStyle/>
                    <a:p>
                      <a:pPr algn="r" fontAlgn="t"/>
                      <a:r>
                        <a:rPr lang="tr-TR" sz="1800" b="1" i="0" u="none" strike="noStrike" baseline="0">
                          <a:solidFill>
                            <a:schemeClr val="bg1"/>
                          </a:solidFill>
                          <a:latin typeface="+mn-lt"/>
                        </a:rPr>
                        <a:t>Sene</a:t>
                      </a:r>
                      <a:r>
                        <a:rPr lang="en-GB" sz="1800" b="1" i="0" u="none" strike="noStrike" baseline="0">
                          <a:solidFill>
                            <a:schemeClr val="bg1"/>
                          </a:solidFill>
                          <a:latin typeface="Calibri"/>
                        </a:rPr>
                        <a:t> 5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extLst>
                  <a:ext uri="{0D108BD9-81ED-4DB2-BD59-A6C34878D82A}">
                    <a16:rowId xmlns:a16="http://schemas.microsoft.com/office/drawing/2014/main" val="10000"/>
                  </a:ext>
                </a:extLst>
              </a:tr>
              <a:tr h="173581">
                <a:tc>
                  <a:txBody>
                    <a:bodyPr/>
                    <a:lstStyle/>
                    <a:p>
                      <a:pPr algn="r" fontAlgn="t"/>
                      <a:r>
                        <a:rPr lang="tr-TR" sz="1800" b="0" i="0" u="none" strike="noStrike" baseline="0">
                          <a:solidFill>
                            <a:srgbClr val="000000"/>
                          </a:solidFill>
                          <a:latin typeface="Calibri"/>
                        </a:rPr>
                        <a:t>Serbest Nakit Akımları</a:t>
                      </a:r>
                      <a:endParaRPr lang="en-GB" sz="18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-2,360,000</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832,400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822,264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692,088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553,501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  466,114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01"/>
                  </a:ext>
                </a:extLst>
              </a:tr>
              <a:tr h="167382">
                <a:tc>
                  <a:txBody>
                    <a:bodyPr/>
                    <a:lstStyle/>
                    <a:p>
                      <a:pPr algn="r" fontAlgn="t"/>
                      <a:r>
                        <a:rPr lang="tr-TR" sz="1800" b="0" i="0" u="none" strike="noStrike" baseline="0">
                          <a:solidFill>
                            <a:srgbClr val="000000"/>
                          </a:solidFill>
                          <a:latin typeface="Calibri"/>
                        </a:rPr>
                        <a:t>Sermaye Maliyeti</a:t>
                      </a:r>
                      <a:endParaRPr lang="en-GB" sz="18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7.6%</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extLst>
                  <a:ext uri="{0D108BD9-81ED-4DB2-BD59-A6C34878D82A}">
                    <a16:rowId xmlns:a16="http://schemas.microsoft.com/office/drawing/2014/main" val="10002"/>
                  </a:ext>
                </a:extLst>
              </a:tr>
              <a:tr h="167382">
                <a:tc>
                  <a:txBody>
                    <a:bodyPr/>
                    <a:lstStyle/>
                    <a:p>
                      <a:pPr algn="r" fontAlgn="t"/>
                      <a:r>
                        <a:rPr lang="en-GB" sz="1800" b="0" i="0" u="none" strike="noStrike" baseline="0">
                          <a:solidFill>
                            <a:srgbClr val="000000"/>
                          </a:solidFill>
                          <a:latin typeface="Calibri"/>
                        </a:rPr>
                        <a:t>N</a:t>
                      </a:r>
                      <a:r>
                        <a:rPr lang="tr-TR" sz="1800" b="0" i="0" u="none" strike="noStrike" baseline="0">
                          <a:solidFill>
                            <a:srgbClr val="000000"/>
                          </a:solidFill>
                          <a:latin typeface="Calibri"/>
                        </a:rPr>
                        <a:t>et Bugünkü Değer</a:t>
                      </a:r>
                      <a:endParaRPr lang="en-GB" sz="18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tr-TR" sz="1800" b="0" i="0" u="none" strike="noStrike" baseline="0">
                          <a:solidFill>
                            <a:srgbClr val="000000"/>
                          </a:solidFill>
                          <a:latin typeface="Calibri"/>
                        </a:rPr>
                        <a:t>$ </a:t>
                      </a:r>
                      <a:r>
                        <a:rPr lang="en-GB" sz="1800" b="0" i="0" u="none" strike="noStrike" baseline="0">
                          <a:solidFill>
                            <a:srgbClr val="000000"/>
                          </a:solidFill>
                          <a:latin typeface="Calibri"/>
                        </a:rPr>
                        <a:t>415,461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tc>
                  <a:txBody>
                    <a:bodyPr/>
                    <a:lstStyle/>
                    <a:p>
                      <a:pPr algn="r" rtl="0" fontAlgn="t"/>
                      <a:r>
                        <a:rPr lang="en-GB" sz="1800" b="0" i="0" u="none" strike="noStrike" baseline="0">
                          <a:solidFill>
                            <a:srgbClr val="000000"/>
                          </a:solidFill>
                          <a:latin typeface="Calibri"/>
                        </a:rPr>
                        <a:t> </a:t>
                      </a:r>
                    </a:p>
                  </a:txBody>
                  <a:tcPr marL="6199" marR="74392"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CCB"/>
                    </a:solidFill>
                  </a:tcPr>
                </a:tc>
                <a:extLst>
                  <a:ext uri="{0D108BD9-81ED-4DB2-BD59-A6C34878D82A}">
                    <a16:rowId xmlns:a16="http://schemas.microsoft.com/office/drawing/2014/main" val="10003"/>
                  </a:ext>
                </a:extLst>
              </a:tr>
              <a:tr h="167382">
                <a:tc>
                  <a:txBody>
                    <a:bodyPr/>
                    <a:lstStyle/>
                    <a:p>
                      <a:pPr algn="r" fontAlgn="t"/>
                      <a:r>
                        <a:rPr lang="tr-TR" sz="1800" b="0" i="0" u="none" strike="noStrike" baseline="0">
                          <a:solidFill>
                            <a:srgbClr val="000000"/>
                          </a:solidFill>
                          <a:latin typeface="Calibri"/>
                        </a:rPr>
                        <a:t>İçverim Oranı</a:t>
                      </a:r>
                      <a:endParaRPr lang="en-GB" sz="1800" b="0" i="0" u="none" strike="noStrike" baseline="0">
                        <a:solidFill>
                          <a:srgbClr val="000000"/>
                        </a:solidFill>
                        <a:latin typeface="Calibri"/>
                      </a:endParaRP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14.8%</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tc>
                  <a:txBody>
                    <a:bodyPr/>
                    <a:lstStyle/>
                    <a:p>
                      <a:pPr algn="r" fontAlgn="t"/>
                      <a:r>
                        <a:rPr lang="en-GB" sz="1800" b="0" i="0" u="none" strike="noStrike" baseline="0">
                          <a:solidFill>
                            <a:srgbClr val="000000"/>
                          </a:solidFill>
                          <a:latin typeface="Calibri"/>
                        </a:rPr>
                        <a:t> </a:t>
                      </a:r>
                    </a:p>
                  </a:txBody>
                  <a:tcPr marL="6199" marR="6199" marT="619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F6E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78820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lstStyle/>
          <a:p>
            <a:r>
              <a:rPr lang="tr-TR" b="0">
                <a:solidFill>
                  <a:schemeClr val="tx1"/>
                </a:solidFill>
                <a:latin typeface="+mj-lt"/>
              </a:rPr>
              <a:t>FAVÖK marjı varsayımınızı 10 pps indirirseniz, NBD ne olur?</a:t>
            </a:r>
            <a:endParaRPr lang="en-GB" b="0">
              <a:solidFill>
                <a:schemeClr val="tx1"/>
              </a:solidFill>
              <a:latin typeface="+mj-lt"/>
            </a:endParaRPr>
          </a:p>
        </p:txBody>
      </p:sp>
      <p:sp>
        <p:nvSpPr>
          <p:cNvPr id="3" name="Title 2"/>
          <p:cNvSpPr>
            <a:spLocks noGrp="1"/>
          </p:cNvSpPr>
          <p:nvPr>
            <p:ph type="title"/>
          </p:nvPr>
        </p:nvSpPr>
        <p:spPr/>
        <p:txBody>
          <a:bodyPr/>
          <a:lstStyle/>
          <a:p>
            <a:r>
              <a:rPr lang="tr-TR"/>
              <a:t>Konsept Çalışması</a:t>
            </a:r>
            <a:endParaRPr lang="en-GB"/>
          </a:p>
        </p:txBody>
      </p:sp>
      <p:graphicFrame>
        <p:nvGraphicFramePr>
          <p:cNvPr id="4" name="Table 3"/>
          <p:cNvGraphicFramePr>
            <a:graphicFrameLocks noGrp="1"/>
          </p:cNvGraphicFramePr>
          <p:nvPr/>
        </p:nvGraphicFramePr>
        <p:xfrm>
          <a:off x="684213" y="3775075"/>
          <a:ext cx="7848873" cy="841557"/>
        </p:xfrm>
        <a:graphic>
          <a:graphicData uri="http://schemas.openxmlformats.org/drawingml/2006/table">
            <a:tbl>
              <a:tblPr/>
              <a:tblGrid>
                <a:gridCol w="1800202">
                  <a:extLst>
                    <a:ext uri="{9D8B030D-6E8A-4147-A177-3AD203B41FA5}">
                      <a16:colId xmlns:a16="http://schemas.microsoft.com/office/drawing/2014/main" val="20000"/>
                    </a:ext>
                  </a:extLst>
                </a:gridCol>
                <a:gridCol w="1512287">
                  <a:extLst>
                    <a:ext uri="{9D8B030D-6E8A-4147-A177-3AD203B41FA5}">
                      <a16:colId xmlns:a16="http://schemas.microsoft.com/office/drawing/2014/main" val="20001"/>
                    </a:ext>
                  </a:extLst>
                </a:gridCol>
                <a:gridCol w="891313">
                  <a:extLst>
                    <a:ext uri="{9D8B030D-6E8A-4147-A177-3AD203B41FA5}">
                      <a16:colId xmlns:a16="http://schemas.microsoft.com/office/drawing/2014/main" val="20002"/>
                    </a:ext>
                  </a:extLst>
                </a:gridCol>
                <a:gridCol w="891313">
                  <a:extLst>
                    <a:ext uri="{9D8B030D-6E8A-4147-A177-3AD203B41FA5}">
                      <a16:colId xmlns:a16="http://schemas.microsoft.com/office/drawing/2014/main" val="20003"/>
                    </a:ext>
                  </a:extLst>
                </a:gridCol>
                <a:gridCol w="891313">
                  <a:extLst>
                    <a:ext uri="{9D8B030D-6E8A-4147-A177-3AD203B41FA5}">
                      <a16:colId xmlns:a16="http://schemas.microsoft.com/office/drawing/2014/main" val="20004"/>
                    </a:ext>
                  </a:extLst>
                </a:gridCol>
                <a:gridCol w="891313">
                  <a:extLst>
                    <a:ext uri="{9D8B030D-6E8A-4147-A177-3AD203B41FA5}">
                      <a16:colId xmlns:a16="http://schemas.microsoft.com/office/drawing/2014/main" val="20005"/>
                    </a:ext>
                  </a:extLst>
                </a:gridCol>
                <a:gridCol w="971132">
                  <a:extLst>
                    <a:ext uri="{9D8B030D-6E8A-4147-A177-3AD203B41FA5}">
                      <a16:colId xmlns:a16="http://schemas.microsoft.com/office/drawing/2014/main" val="20006"/>
                    </a:ext>
                  </a:extLst>
                </a:gridCol>
              </a:tblGrid>
              <a:tr h="148784">
                <a:tc>
                  <a:txBody>
                    <a:bodyPr/>
                    <a:lstStyle/>
                    <a:p>
                      <a:pPr algn="l" fontAlgn="b"/>
                      <a:r>
                        <a:rPr lang="tr-TR" sz="1800" b="0" i="0" u="none" strike="noStrike" baseline="0">
                          <a:solidFill>
                            <a:srgbClr val="000000"/>
                          </a:solidFill>
                          <a:latin typeface="Calibri"/>
                        </a:rPr>
                        <a:t>Yeni SNA</a:t>
                      </a:r>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-2,360,000</a:t>
                      </a:r>
                    </a:p>
                  </a:txBody>
                  <a:tcPr marL="6199" marR="6199" marT="6199"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724,400</a:t>
                      </a:r>
                    </a:p>
                  </a:txBody>
                  <a:tcPr marL="6199" marR="6199" marT="6199"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723,384</a:t>
                      </a:r>
                    </a:p>
                  </a:txBody>
                  <a:tcPr marL="6199" marR="6199" marT="6199"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615,704</a:t>
                      </a:r>
                    </a:p>
                  </a:txBody>
                  <a:tcPr marL="6199" marR="6199" marT="6199"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501,050</a:t>
                      </a:r>
                    </a:p>
                  </a:txBody>
                  <a:tcPr marL="6199" marR="6199" marT="6199" marB="0" anchor="b">
                    <a:lnL>
                      <a:noFill/>
                    </a:lnL>
                    <a:lnR>
                      <a:noFill/>
                    </a:lnR>
                    <a:lnT>
                      <a:noFill/>
                    </a:lnT>
                    <a:lnB>
                      <a:noFill/>
                    </a:lnB>
                  </a:tcPr>
                </a:tc>
                <a:tc>
                  <a:txBody>
                    <a:bodyPr/>
                    <a:lstStyle/>
                    <a:p>
                      <a:pPr algn="r" fontAlgn="b"/>
                      <a:r>
                        <a:rPr lang="en-GB" sz="1800" b="0" i="0" u="none" strike="noStrike" baseline="0">
                          <a:solidFill>
                            <a:srgbClr val="000000"/>
                          </a:solidFill>
                          <a:latin typeface="Calibri"/>
                        </a:rPr>
                        <a:t>439,102</a:t>
                      </a:r>
                    </a:p>
                  </a:txBody>
                  <a:tcPr marL="6199" marR="6199" marT="6199" marB="0" anchor="b">
                    <a:lnL>
                      <a:noFill/>
                    </a:lnL>
                    <a:lnR>
                      <a:noFill/>
                    </a:lnR>
                    <a:lnT>
                      <a:noFill/>
                    </a:lnT>
                    <a:lnB>
                      <a:noFill/>
                    </a:lnB>
                  </a:tcPr>
                </a:tc>
                <a:extLst>
                  <a:ext uri="{0D108BD9-81ED-4DB2-BD59-A6C34878D82A}">
                    <a16:rowId xmlns:a16="http://schemas.microsoft.com/office/drawing/2014/main" val="10000"/>
                  </a:ext>
                </a:extLst>
              </a:tr>
              <a:tr h="148784">
                <a:tc>
                  <a:txBody>
                    <a:bodyPr/>
                    <a:lstStyle/>
                    <a:p>
                      <a:pPr algn="l" fontAlgn="b"/>
                      <a:r>
                        <a:rPr lang="en-GB" sz="1800" b="0" i="0" u="none" strike="noStrike" baseline="0">
                          <a:solidFill>
                            <a:srgbClr val="000000"/>
                          </a:solidFill>
                          <a:latin typeface="Calibri"/>
                        </a:rPr>
                        <a:t>N</a:t>
                      </a:r>
                      <a:r>
                        <a:rPr lang="tr-TR" sz="1800" b="0" i="0" u="none" strike="noStrike" baseline="0">
                          <a:solidFill>
                            <a:srgbClr val="000000"/>
                          </a:solidFill>
                          <a:latin typeface="Calibri"/>
                        </a:rPr>
                        <a:t>BD</a:t>
                      </a:r>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tc>
                  <a:txBody>
                    <a:bodyPr/>
                    <a:lstStyle/>
                    <a:p>
                      <a:pPr algn="r" fontAlgn="b"/>
                      <a:r>
                        <a:rPr lang="en-GB" sz="1800" b="0" i="0" u="none" strike="noStrike" baseline="0">
                          <a:solidFill>
                            <a:srgbClr val="0000FF"/>
                          </a:solidFill>
                          <a:latin typeface="Calibri"/>
                        </a:rPr>
                        <a:t>110,511</a:t>
                      </a:r>
                    </a:p>
                  </a:txBody>
                  <a:tcPr marL="6199" marR="6199" marT="6199" marB="0" anchor="b">
                    <a:lnL>
                      <a:noFill/>
                    </a:lnL>
                    <a:lnR>
                      <a:noFill/>
                    </a:lnR>
                    <a:lnT>
                      <a:noFill/>
                    </a:lnT>
                    <a:lnB>
                      <a:noFill/>
                    </a:lnB>
                  </a:tcPr>
                </a:tc>
                <a:tc>
                  <a:txBody>
                    <a:bodyPr/>
                    <a:lstStyle/>
                    <a:p>
                      <a:pPr algn="l" fontAlgn="b"/>
                      <a:endParaRPr lang="en-GB" sz="1800" b="0" i="0" u="none" strike="noStrike" baseline="0">
                        <a:solidFill>
                          <a:srgbClr val="0000FF"/>
                        </a:solidFill>
                        <a:latin typeface="Calibri"/>
                      </a:endParaRPr>
                    </a:p>
                  </a:txBody>
                  <a:tcPr marL="6199" marR="6199" marT="6199" marB="0" anchor="b">
                    <a:lnL>
                      <a:noFill/>
                    </a:lnL>
                    <a:lnR>
                      <a:noFill/>
                    </a:lnR>
                    <a:lnT>
                      <a:noFill/>
                    </a:lnT>
                    <a:lnB>
                      <a:noFill/>
                    </a:lnB>
                  </a:tcPr>
                </a:tc>
                <a:tc>
                  <a:txBody>
                    <a:bodyPr/>
                    <a:lstStyle/>
                    <a:p>
                      <a:pPr algn="l" fontAlgn="b"/>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tc>
                  <a:txBody>
                    <a:bodyPr/>
                    <a:lstStyle/>
                    <a:p>
                      <a:pPr algn="l" fontAlgn="b"/>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tc>
                  <a:txBody>
                    <a:bodyPr/>
                    <a:lstStyle/>
                    <a:p>
                      <a:pPr algn="l" fontAlgn="b"/>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tc>
                  <a:txBody>
                    <a:bodyPr/>
                    <a:lstStyle/>
                    <a:p>
                      <a:pPr algn="l" fontAlgn="b"/>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extLst>
                  <a:ext uri="{0D108BD9-81ED-4DB2-BD59-A6C34878D82A}">
                    <a16:rowId xmlns:a16="http://schemas.microsoft.com/office/drawing/2014/main" val="10001"/>
                  </a:ext>
                </a:extLst>
              </a:tr>
              <a:tr h="148784">
                <a:tc>
                  <a:txBody>
                    <a:bodyPr/>
                    <a:lstStyle/>
                    <a:p>
                      <a:pPr algn="l" fontAlgn="b"/>
                      <a:r>
                        <a:rPr lang="tr-TR" sz="1800" b="0" i="0" u="none" strike="noStrike" baseline="0">
                          <a:solidFill>
                            <a:srgbClr val="000000"/>
                          </a:solidFill>
                          <a:latin typeface="Calibri"/>
                        </a:rPr>
                        <a:t>İçverim Oranı</a:t>
                      </a:r>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tc>
                  <a:txBody>
                    <a:bodyPr/>
                    <a:lstStyle/>
                    <a:p>
                      <a:pPr algn="r" fontAlgn="b"/>
                      <a:r>
                        <a:rPr lang="en-GB" sz="1800" b="0" i="0" u="none" strike="noStrike" baseline="0">
                          <a:solidFill>
                            <a:srgbClr val="0000FF"/>
                          </a:solidFill>
                          <a:latin typeface="Calibri"/>
                        </a:rPr>
                        <a:t>10%</a:t>
                      </a:r>
                    </a:p>
                  </a:txBody>
                  <a:tcPr marL="6199" marR="6199" marT="6199" marB="0" anchor="b">
                    <a:lnL>
                      <a:noFill/>
                    </a:lnL>
                    <a:lnR>
                      <a:noFill/>
                    </a:lnR>
                    <a:lnT>
                      <a:noFill/>
                    </a:lnT>
                    <a:lnB>
                      <a:noFill/>
                    </a:lnB>
                  </a:tcPr>
                </a:tc>
                <a:tc>
                  <a:txBody>
                    <a:bodyPr/>
                    <a:lstStyle/>
                    <a:p>
                      <a:pPr algn="l" fontAlgn="b"/>
                      <a:endParaRPr lang="en-GB" sz="1800" b="0" i="0" u="none" strike="noStrike" baseline="0">
                        <a:solidFill>
                          <a:srgbClr val="0000FF"/>
                        </a:solidFill>
                        <a:latin typeface="Calibri"/>
                      </a:endParaRPr>
                    </a:p>
                  </a:txBody>
                  <a:tcPr marL="6199" marR="6199" marT="6199" marB="0" anchor="b">
                    <a:lnL>
                      <a:noFill/>
                    </a:lnL>
                    <a:lnR>
                      <a:noFill/>
                    </a:lnR>
                    <a:lnT>
                      <a:noFill/>
                    </a:lnT>
                    <a:lnB>
                      <a:noFill/>
                    </a:lnB>
                  </a:tcPr>
                </a:tc>
                <a:tc>
                  <a:txBody>
                    <a:bodyPr/>
                    <a:lstStyle/>
                    <a:p>
                      <a:pPr algn="l" fontAlgn="b"/>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tc>
                  <a:txBody>
                    <a:bodyPr/>
                    <a:lstStyle/>
                    <a:p>
                      <a:pPr algn="l" fontAlgn="b"/>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tc>
                  <a:txBody>
                    <a:bodyPr/>
                    <a:lstStyle/>
                    <a:p>
                      <a:pPr algn="l" fontAlgn="b"/>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tc>
                  <a:txBody>
                    <a:bodyPr/>
                    <a:lstStyle/>
                    <a:p>
                      <a:pPr algn="l" fontAlgn="b"/>
                      <a:endParaRPr lang="en-GB" sz="1800" b="0" i="0" u="none" strike="noStrike" baseline="0">
                        <a:solidFill>
                          <a:srgbClr val="000000"/>
                        </a:solidFill>
                        <a:latin typeface="Calibri"/>
                      </a:endParaRPr>
                    </a:p>
                  </a:txBody>
                  <a:tcPr marL="6199" marR="6199" marT="6199" marB="0" anchor="b">
                    <a:lnL>
                      <a:noFill/>
                    </a:lnL>
                    <a:lnR>
                      <a:noFill/>
                    </a:lnR>
                    <a:lnT>
                      <a:noFill/>
                    </a:lnT>
                    <a:lnB>
                      <a:noFill/>
                    </a:lnB>
                  </a:tcPr>
                </a:tc>
                <a:extLst>
                  <a:ext uri="{0D108BD9-81ED-4DB2-BD59-A6C34878D82A}">
                    <a16:rowId xmlns:a16="http://schemas.microsoft.com/office/drawing/2014/main" val="10002"/>
                  </a:ext>
                </a:extLst>
              </a:tr>
            </a:tbl>
          </a:graphicData>
        </a:graphic>
      </p:graphicFrame>
      <p:sp>
        <p:nvSpPr>
          <p:cNvPr id="5" name="Slide Number Placeholder 4">
            <a:extLst>
              <a:ext uri="{FF2B5EF4-FFF2-40B4-BE49-F238E27FC236}">
                <a16:creationId xmlns:a16="http://schemas.microsoft.com/office/drawing/2014/main" id="{7FA10E87-FD98-4325-8218-F33A742CD443}"/>
              </a:ext>
            </a:extLst>
          </p:cNvPr>
          <p:cNvSpPr txBox="1">
            <a:spLocks/>
          </p:cNvSpPr>
          <p:nvPr/>
        </p:nvSpPr>
        <p:spPr>
          <a:xfrm>
            <a:off x="8604448" y="6509044"/>
            <a:ext cx="539552" cy="388713"/>
          </a:xfrm>
          <a:prstGeom prst="rect">
            <a:avLst/>
          </a:prstGeom>
        </p:spPr>
        <p:txBody>
          <a:bodyPr/>
          <a:lstStyle>
            <a:lvl1pPr marL="342900" indent="-3429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1pPr>
            <a:lvl2pPr marL="742950" indent="-28575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2pPr>
            <a:lvl3pPr marL="11430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3pPr>
            <a:lvl4pPr marL="1600200" indent="-228600" algn="l" rtl="0" eaLnBrk="0" fontAlgn="base" hangingPunct="0">
              <a:spcBef>
                <a:spcPct val="20000"/>
              </a:spcBef>
              <a:spcAft>
                <a:spcPct val="0"/>
              </a:spcAft>
              <a:buFont typeface="Wingdings" pitchFamily="2" charset="2"/>
              <a:buChar char="§"/>
              <a:defRPr sz="1600" b="1" kern="1200">
                <a:solidFill>
                  <a:schemeClr val="tx1"/>
                </a:solidFill>
                <a:latin typeface="Garamond" pitchFamily="18"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600" b="1" kern="1200">
                <a:solidFill>
                  <a:schemeClr val="tx1"/>
                </a:solidFill>
                <a:latin typeface="Garamond" pitchFamily="18" charset="0"/>
                <a:ea typeface="+mn-ea"/>
                <a:cs typeface="Arial" pitchFamily="34" charset="0"/>
              </a:defRPr>
            </a:lvl5pPr>
            <a:lvl6pPr marL="25146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6pPr>
            <a:lvl7pPr marL="29718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7pPr>
            <a:lvl8pPr marL="34290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8pPr>
            <a:lvl9pPr marL="3886200" indent="-228600" algn="l" defTabSz="914400" rtl="0" eaLnBrk="0" fontAlgn="base" latinLnBrk="0" hangingPunct="0">
              <a:spcBef>
                <a:spcPct val="0"/>
              </a:spcBef>
              <a:spcAft>
                <a:spcPct val="0"/>
              </a:spcAft>
              <a:buFont typeface="Arial" pitchFamily="34" charset="0"/>
              <a:buChar char="•"/>
              <a:defRPr sz="1600" b="1" kern="1200">
                <a:solidFill>
                  <a:schemeClr val="tx1"/>
                </a:solidFill>
                <a:latin typeface="Garamond" pitchFamily="18" charset="0"/>
                <a:ea typeface="+mn-ea"/>
                <a:cs typeface="+mn-cs"/>
              </a:defRPr>
            </a:lvl9pPr>
          </a:lstStyle>
          <a:p>
            <a:pPr marL="0" indent="0" eaLnBrk="1" hangingPunct="1">
              <a:buFont typeface="Wingdings" pitchFamily="2" charset="2"/>
              <a:buNone/>
            </a:pPr>
            <a:fld id="{E4E2BCE2-E330-4F68-8A1D-F8B8626BBBF7}" type="slidenum">
              <a:rPr lang="tr-TR" sz="1200" smtClean="0">
                <a:solidFill>
                  <a:schemeClr val="tx2"/>
                </a:solidFill>
                <a:latin typeface="Verdana" pitchFamily="34" charset="0"/>
              </a:rPr>
              <a:pPr marL="0" indent="0" eaLnBrk="1" hangingPunct="1">
                <a:buFont typeface="Wingdings" pitchFamily="2" charset="2"/>
                <a:buNone/>
              </a:pPr>
              <a:t>165</a:t>
            </a:fld>
            <a:endParaRPr lang="tr-TR" sz="1200">
              <a:solidFill>
                <a:schemeClr val="tx2"/>
              </a:solidFill>
              <a:latin typeface="Verdana" pitchFamily="34" charset="0"/>
            </a:endParaRPr>
          </a:p>
        </p:txBody>
      </p:sp>
    </p:spTree>
    <p:extLst>
      <p:ext uri="{BB962C8B-B14F-4D97-AF65-F5344CB8AC3E}">
        <p14:creationId xmlns:p14="http://schemas.microsoft.com/office/powerpoint/2010/main" val="4103377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lstStyle/>
          <a:p>
            <a:pPr algn="just"/>
            <a:r>
              <a:rPr lang="en-GB" sz="2400" b="0" dirty="0">
                <a:solidFill>
                  <a:schemeClr val="tx1"/>
                </a:solidFill>
                <a:latin typeface="+mn-lt"/>
              </a:rPr>
              <a:t>İstanbul </a:t>
            </a:r>
            <a:r>
              <a:rPr lang="en-GB" sz="2400" b="0" dirty="0" err="1">
                <a:solidFill>
                  <a:schemeClr val="tx1"/>
                </a:solidFill>
                <a:latin typeface="+mn-lt"/>
              </a:rPr>
              <a:t>Belediyesi’nin</a:t>
            </a:r>
            <a:r>
              <a:rPr lang="en-GB" sz="2400" b="0" dirty="0">
                <a:solidFill>
                  <a:schemeClr val="tx1"/>
                </a:solidFill>
                <a:latin typeface="+mn-lt"/>
              </a:rPr>
              <a:t> </a:t>
            </a:r>
            <a:r>
              <a:rPr lang="en-GB" sz="2400" b="0" dirty="0" err="1">
                <a:solidFill>
                  <a:schemeClr val="tx1"/>
                </a:solidFill>
                <a:latin typeface="+mn-lt"/>
              </a:rPr>
              <a:t>açtığı</a:t>
            </a:r>
            <a:r>
              <a:rPr lang="en-GB" sz="2400" b="0" dirty="0">
                <a:solidFill>
                  <a:schemeClr val="tx1"/>
                </a:solidFill>
                <a:latin typeface="+mn-lt"/>
              </a:rPr>
              <a:t> 5 </a:t>
            </a:r>
            <a:r>
              <a:rPr lang="en-GB" sz="2400" b="0" dirty="0" err="1">
                <a:solidFill>
                  <a:schemeClr val="tx1"/>
                </a:solidFill>
                <a:latin typeface="+mn-lt"/>
              </a:rPr>
              <a:t>yıllık</a:t>
            </a:r>
            <a:r>
              <a:rPr lang="en-GB" sz="2400" b="0" dirty="0">
                <a:solidFill>
                  <a:schemeClr val="tx1"/>
                </a:solidFill>
                <a:latin typeface="+mn-lt"/>
              </a:rPr>
              <a:t> </a:t>
            </a:r>
            <a:r>
              <a:rPr lang="en-GB" sz="2400" b="0" dirty="0" err="1">
                <a:solidFill>
                  <a:schemeClr val="tx1"/>
                </a:solidFill>
                <a:latin typeface="+mn-lt"/>
              </a:rPr>
              <a:t>ağaç</a:t>
            </a:r>
            <a:r>
              <a:rPr lang="en-GB" sz="2400" b="0" dirty="0">
                <a:solidFill>
                  <a:schemeClr val="tx1"/>
                </a:solidFill>
                <a:latin typeface="+mn-lt"/>
              </a:rPr>
              <a:t> </a:t>
            </a:r>
            <a:r>
              <a:rPr lang="en-GB" sz="2400" b="0" dirty="0" err="1">
                <a:solidFill>
                  <a:schemeClr val="tx1"/>
                </a:solidFill>
                <a:latin typeface="+mn-lt"/>
              </a:rPr>
              <a:t>sulama</a:t>
            </a:r>
            <a:r>
              <a:rPr lang="en-GB" sz="2400" b="0" dirty="0">
                <a:solidFill>
                  <a:schemeClr val="tx1"/>
                </a:solidFill>
                <a:latin typeface="+mn-lt"/>
              </a:rPr>
              <a:t> </a:t>
            </a:r>
            <a:r>
              <a:rPr lang="en-GB" sz="2400" b="0" dirty="0" err="1">
                <a:solidFill>
                  <a:schemeClr val="tx1"/>
                </a:solidFill>
                <a:latin typeface="+mn-lt"/>
              </a:rPr>
              <a:t>işine</a:t>
            </a:r>
            <a:r>
              <a:rPr lang="en-GB" sz="2400" b="0" dirty="0">
                <a:solidFill>
                  <a:schemeClr val="tx1"/>
                </a:solidFill>
                <a:latin typeface="+mn-lt"/>
              </a:rPr>
              <a:t> </a:t>
            </a:r>
            <a:r>
              <a:rPr lang="en-GB" sz="2400" b="0" dirty="0" err="1">
                <a:solidFill>
                  <a:schemeClr val="tx1"/>
                </a:solidFill>
                <a:latin typeface="+mn-lt"/>
              </a:rPr>
              <a:t>teklif</a:t>
            </a:r>
            <a:r>
              <a:rPr lang="en-GB" sz="2400" b="0" dirty="0">
                <a:solidFill>
                  <a:schemeClr val="tx1"/>
                </a:solidFill>
                <a:latin typeface="+mn-lt"/>
              </a:rPr>
              <a:t> </a:t>
            </a:r>
            <a:r>
              <a:rPr lang="en-GB" sz="2400" b="0" dirty="0" err="1">
                <a:solidFill>
                  <a:schemeClr val="tx1"/>
                </a:solidFill>
                <a:latin typeface="+mn-lt"/>
              </a:rPr>
              <a:t>vereceksiniz</a:t>
            </a:r>
            <a:r>
              <a:rPr lang="en-GB" sz="2400" b="0" dirty="0">
                <a:solidFill>
                  <a:schemeClr val="tx1"/>
                </a:solidFill>
                <a:latin typeface="+mn-lt"/>
              </a:rPr>
              <a:t>. </a:t>
            </a:r>
            <a:r>
              <a:rPr lang="en-GB" sz="2400" b="0" dirty="0" err="1">
                <a:solidFill>
                  <a:schemeClr val="tx1"/>
                </a:solidFill>
                <a:latin typeface="+mn-lt"/>
              </a:rPr>
              <a:t>Önümüzdeki</a:t>
            </a:r>
            <a:r>
              <a:rPr lang="en-GB" sz="2400" b="0" dirty="0">
                <a:solidFill>
                  <a:schemeClr val="tx1"/>
                </a:solidFill>
                <a:latin typeface="+mn-lt"/>
              </a:rPr>
              <a:t> 5 </a:t>
            </a:r>
            <a:r>
              <a:rPr lang="en-GB" sz="2400" b="0" dirty="0" err="1">
                <a:solidFill>
                  <a:schemeClr val="tx1"/>
                </a:solidFill>
                <a:latin typeface="+mn-lt"/>
              </a:rPr>
              <a:t>sene</a:t>
            </a:r>
            <a:r>
              <a:rPr lang="en-GB" sz="2400" b="0" dirty="0">
                <a:solidFill>
                  <a:schemeClr val="tx1"/>
                </a:solidFill>
                <a:latin typeface="+mn-lt"/>
              </a:rPr>
              <a:t> </a:t>
            </a:r>
            <a:r>
              <a:rPr lang="en-GB" sz="2400" b="0" dirty="0" err="1">
                <a:solidFill>
                  <a:schemeClr val="tx1"/>
                </a:solidFill>
                <a:latin typeface="+mn-lt"/>
              </a:rPr>
              <a:t>boyunca</a:t>
            </a:r>
            <a:r>
              <a:rPr lang="en-GB" sz="2400" b="0" dirty="0">
                <a:solidFill>
                  <a:schemeClr val="tx1"/>
                </a:solidFill>
                <a:latin typeface="+mn-lt"/>
              </a:rPr>
              <a:t> </a:t>
            </a:r>
            <a:r>
              <a:rPr lang="en-GB" sz="2400" b="0" dirty="0" err="1">
                <a:solidFill>
                  <a:schemeClr val="tx1"/>
                </a:solidFill>
                <a:latin typeface="+mn-lt"/>
              </a:rPr>
              <a:t>bu</a:t>
            </a:r>
            <a:r>
              <a:rPr lang="en-GB" sz="2400" b="0" dirty="0">
                <a:solidFill>
                  <a:schemeClr val="tx1"/>
                </a:solidFill>
                <a:latin typeface="+mn-lt"/>
              </a:rPr>
              <a:t> </a:t>
            </a:r>
            <a:r>
              <a:rPr lang="en-GB" sz="2400" b="0" dirty="0" err="1">
                <a:solidFill>
                  <a:schemeClr val="tx1"/>
                </a:solidFill>
                <a:latin typeface="+mn-lt"/>
              </a:rPr>
              <a:t>verdiğiniz</a:t>
            </a:r>
            <a:r>
              <a:rPr lang="en-GB" sz="2400" b="0" dirty="0">
                <a:solidFill>
                  <a:schemeClr val="tx1"/>
                </a:solidFill>
                <a:latin typeface="+mn-lt"/>
              </a:rPr>
              <a:t> </a:t>
            </a:r>
            <a:r>
              <a:rPr lang="en-GB" sz="2400" b="0" dirty="0" err="1">
                <a:solidFill>
                  <a:schemeClr val="tx1"/>
                </a:solidFill>
                <a:latin typeface="+mn-lt"/>
              </a:rPr>
              <a:t>teklif</a:t>
            </a:r>
            <a:r>
              <a:rPr lang="en-GB" sz="2400" b="0" dirty="0">
                <a:solidFill>
                  <a:schemeClr val="tx1"/>
                </a:solidFill>
                <a:latin typeface="+mn-lt"/>
              </a:rPr>
              <a:t> </a:t>
            </a:r>
            <a:r>
              <a:rPr lang="en-GB" sz="2400" b="0" dirty="0" err="1">
                <a:solidFill>
                  <a:schemeClr val="tx1"/>
                </a:solidFill>
                <a:latin typeface="+mn-lt"/>
              </a:rPr>
              <a:t>kadar</a:t>
            </a:r>
            <a:r>
              <a:rPr lang="en-GB" sz="2400" b="0" dirty="0">
                <a:solidFill>
                  <a:schemeClr val="tx1"/>
                </a:solidFill>
                <a:latin typeface="+mn-lt"/>
              </a:rPr>
              <a:t> </a:t>
            </a:r>
            <a:r>
              <a:rPr lang="tr-TR" sz="2400" b="0" dirty="0">
                <a:solidFill>
                  <a:schemeClr val="tx1"/>
                </a:solidFill>
                <a:latin typeface="+mn-lt"/>
              </a:rPr>
              <a:t>sabit </a:t>
            </a:r>
            <a:r>
              <a:rPr lang="en-GB" sz="2400" b="0" dirty="0" err="1">
                <a:solidFill>
                  <a:schemeClr val="tx1"/>
                </a:solidFill>
                <a:latin typeface="+mn-lt"/>
              </a:rPr>
              <a:t>yıllık</a:t>
            </a:r>
            <a:r>
              <a:rPr lang="en-GB" sz="2400" b="0" dirty="0">
                <a:solidFill>
                  <a:schemeClr val="tx1"/>
                </a:solidFill>
                <a:latin typeface="+mn-lt"/>
              </a:rPr>
              <a:t> </a:t>
            </a:r>
            <a:r>
              <a:rPr lang="en-GB" sz="2400" b="0" dirty="0" err="1">
                <a:solidFill>
                  <a:schemeClr val="tx1"/>
                </a:solidFill>
                <a:latin typeface="+mn-lt"/>
              </a:rPr>
              <a:t>gelir</a:t>
            </a:r>
            <a:r>
              <a:rPr lang="en-GB" sz="2400" b="0" dirty="0">
                <a:solidFill>
                  <a:schemeClr val="tx1"/>
                </a:solidFill>
                <a:latin typeface="+mn-lt"/>
              </a:rPr>
              <a:t> </a:t>
            </a:r>
            <a:r>
              <a:rPr lang="en-GB" sz="2400" b="0" dirty="0" err="1">
                <a:solidFill>
                  <a:schemeClr val="tx1"/>
                </a:solidFill>
                <a:latin typeface="+mn-lt"/>
              </a:rPr>
              <a:t>sağlayacaksınız</a:t>
            </a:r>
            <a:r>
              <a:rPr lang="en-GB" sz="2400" b="0" dirty="0">
                <a:solidFill>
                  <a:schemeClr val="tx1"/>
                </a:solidFill>
                <a:latin typeface="+mn-lt"/>
              </a:rPr>
              <a:t>. </a:t>
            </a:r>
            <a:endParaRPr lang="tr-TR" sz="2400" b="0" dirty="0">
              <a:solidFill>
                <a:schemeClr val="tx1"/>
              </a:solidFill>
              <a:latin typeface="+mn-lt"/>
            </a:endParaRPr>
          </a:p>
          <a:p>
            <a:pPr algn="just"/>
            <a:r>
              <a:rPr lang="en-GB" sz="2400" b="0" dirty="0">
                <a:solidFill>
                  <a:schemeClr val="tx1"/>
                </a:solidFill>
                <a:latin typeface="+mn-lt"/>
              </a:rPr>
              <a:t>Bu </a:t>
            </a:r>
            <a:r>
              <a:rPr lang="en-GB" sz="2400" b="0" dirty="0" err="1">
                <a:solidFill>
                  <a:schemeClr val="tx1"/>
                </a:solidFill>
                <a:latin typeface="+mn-lt"/>
              </a:rPr>
              <a:t>işi</a:t>
            </a:r>
            <a:r>
              <a:rPr lang="en-GB" sz="2400" b="0" dirty="0">
                <a:solidFill>
                  <a:schemeClr val="tx1"/>
                </a:solidFill>
                <a:latin typeface="+mn-lt"/>
              </a:rPr>
              <a:t> </a:t>
            </a:r>
            <a:r>
              <a:rPr lang="en-GB" sz="2400" b="0" dirty="0" err="1">
                <a:solidFill>
                  <a:schemeClr val="tx1"/>
                </a:solidFill>
                <a:latin typeface="+mn-lt"/>
              </a:rPr>
              <a:t>yapabilmek</a:t>
            </a:r>
            <a:r>
              <a:rPr lang="en-GB" sz="2400" b="0" dirty="0">
                <a:solidFill>
                  <a:schemeClr val="tx1"/>
                </a:solidFill>
                <a:latin typeface="+mn-lt"/>
              </a:rPr>
              <a:t> </a:t>
            </a:r>
            <a:r>
              <a:rPr lang="en-GB" sz="2400" b="0" dirty="0" err="1">
                <a:solidFill>
                  <a:schemeClr val="tx1"/>
                </a:solidFill>
                <a:latin typeface="+mn-lt"/>
              </a:rPr>
              <a:t>için</a:t>
            </a:r>
            <a:r>
              <a:rPr lang="en-GB" sz="2400" b="0" dirty="0">
                <a:solidFill>
                  <a:schemeClr val="tx1"/>
                </a:solidFill>
                <a:latin typeface="+mn-lt"/>
              </a:rPr>
              <a:t> </a:t>
            </a:r>
            <a:r>
              <a:rPr lang="en-GB" sz="2400" b="0" dirty="0" err="1">
                <a:solidFill>
                  <a:schemeClr val="tx1"/>
                </a:solidFill>
                <a:latin typeface="+mn-lt"/>
              </a:rPr>
              <a:t>başlangıç</a:t>
            </a:r>
            <a:r>
              <a:rPr lang="en-GB" sz="2400" b="0" dirty="0">
                <a:solidFill>
                  <a:schemeClr val="tx1"/>
                </a:solidFill>
                <a:latin typeface="+mn-lt"/>
              </a:rPr>
              <a:t> </a:t>
            </a:r>
            <a:r>
              <a:rPr lang="en-GB" sz="2400" b="0" dirty="0" err="1">
                <a:solidFill>
                  <a:schemeClr val="tx1"/>
                </a:solidFill>
                <a:latin typeface="+mn-lt"/>
              </a:rPr>
              <a:t>itibarı</a:t>
            </a:r>
            <a:r>
              <a:rPr lang="en-GB" sz="2400" b="0" dirty="0">
                <a:solidFill>
                  <a:schemeClr val="tx1"/>
                </a:solidFill>
                <a:latin typeface="+mn-lt"/>
              </a:rPr>
              <a:t> </a:t>
            </a:r>
            <a:r>
              <a:rPr lang="en-GB" sz="2400" b="0" dirty="0" err="1">
                <a:solidFill>
                  <a:schemeClr val="tx1"/>
                </a:solidFill>
                <a:latin typeface="+mn-lt"/>
              </a:rPr>
              <a:t>ile</a:t>
            </a:r>
            <a:r>
              <a:rPr lang="en-GB" sz="2400" b="0" dirty="0">
                <a:solidFill>
                  <a:schemeClr val="tx1"/>
                </a:solidFill>
                <a:latin typeface="+mn-lt"/>
              </a:rPr>
              <a:t> TL300,000 </a:t>
            </a:r>
            <a:r>
              <a:rPr lang="en-GB" sz="2400" b="0" dirty="0" err="1">
                <a:solidFill>
                  <a:schemeClr val="tx1"/>
                </a:solidFill>
                <a:latin typeface="+mn-lt"/>
              </a:rPr>
              <a:t>makine</a:t>
            </a:r>
            <a:r>
              <a:rPr lang="en-GB" sz="2400" b="0" dirty="0">
                <a:solidFill>
                  <a:schemeClr val="tx1"/>
                </a:solidFill>
                <a:latin typeface="+mn-lt"/>
              </a:rPr>
              <a:t> </a:t>
            </a:r>
            <a:r>
              <a:rPr lang="en-GB" sz="2400" b="0" dirty="0" err="1">
                <a:solidFill>
                  <a:schemeClr val="tx1"/>
                </a:solidFill>
                <a:latin typeface="+mn-lt"/>
              </a:rPr>
              <a:t>ve</a:t>
            </a:r>
            <a:r>
              <a:rPr lang="en-GB" sz="2400" b="0" dirty="0">
                <a:solidFill>
                  <a:schemeClr val="tx1"/>
                </a:solidFill>
                <a:latin typeface="+mn-lt"/>
              </a:rPr>
              <a:t> </a:t>
            </a:r>
            <a:r>
              <a:rPr lang="en-GB" sz="2400" b="0" dirty="0" err="1">
                <a:solidFill>
                  <a:schemeClr val="tx1"/>
                </a:solidFill>
                <a:latin typeface="+mn-lt"/>
              </a:rPr>
              <a:t>teçhizat</a:t>
            </a:r>
            <a:r>
              <a:rPr lang="en-GB" sz="2400" b="0" dirty="0">
                <a:solidFill>
                  <a:schemeClr val="tx1"/>
                </a:solidFill>
                <a:latin typeface="+mn-lt"/>
              </a:rPr>
              <a:t> </a:t>
            </a:r>
            <a:r>
              <a:rPr lang="en-GB" sz="2400" b="0" dirty="0" err="1">
                <a:solidFill>
                  <a:schemeClr val="tx1"/>
                </a:solidFill>
                <a:latin typeface="+mn-lt"/>
              </a:rPr>
              <a:t>ile</a:t>
            </a:r>
            <a:r>
              <a:rPr lang="en-GB" sz="2400" b="0" dirty="0">
                <a:solidFill>
                  <a:schemeClr val="tx1"/>
                </a:solidFill>
                <a:latin typeface="+mn-lt"/>
              </a:rPr>
              <a:t> TL50,000 </a:t>
            </a:r>
            <a:r>
              <a:rPr lang="en-GB" sz="2400" b="0" dirty="0" err="1">
                <a:solidFill>
                  <a:schemeClr val="tx1"/>
                </a:solidFill>
                <a:latin typeface="+mn-lt"/>
              </a:rPr>
              <a:t>işletme</a:t>
            </a:r>
            <a:r>
              <a:rPr lang="en-GB" sz="2400" b="0" dirty="0">
                <a:solidFill>
                  <a:schemeClr val="tx1"/>
                </a:solidFill>
                <a:latin typeface="+mn-lt"/>
              </a:rPr>
              <a:t> </a:t>
            </a:r>
            <a:r>
              <a:rPr lang="en-GB" sz="2400" b="0" dirty="0" err="1">
                <a:solidFill>
                  <a:schemeClr val="tx1"/>
                </a:solidFill>
                <a:latin typeface="+mn-lt"/>
              </a:rPr>
              <a:t>sermayesi</a:t>
            </a:r>
            <a:r>
              <a:rPr lang="en-GB" sz="2400" b="0" dirty="0">
                <a:solidFill>
                  <a:schemeClr val="tx1"/>
                </a:solidFill>
                <a:latin typeface="+mn-lt"/>
              </a:rPr>
              <a:t> </a:t>
            </a:r>
            <a:r>
              <a:rPr lang="en-GB" sz="2400" b="0" dirty="0" err="1">
                <a:solidFill>
                  <a:schemeClr val="tx1"/>
                </a:solidFill>
                <a:latin typeface="+mn-lt"/>
              </a:rPr>
              <a:t>yatırımı</a:t>
            </a:r>
            <a:r>
              <a:rPr lang="en-GB" sz="2400" b="0" dirty="0">
                <a:solidFill>
                  <a:schemeClr val="tx1"/>
                </a:solidFill>
                <a:latin typeface="+mn-lt"/>
              </a:rPr>
              <a:t> </a:t>
            </a:r>
            <a:r>
              <a:rPr lang="en-GB" sz="2400" b="0" dirty="0" err="1">
                <a:solidFill>
                  <a:schemeClr val="tx1"/>
                </a:solidFill>
                <a:latin typeface="+mn-lt"/>
              </a:rPr>
              <a:t>yapmanız</a:t>
            </a:r>
            <a:r>
              <a:rPr lang="en-GB" sz="2400" b="0" dirty="0">
                <a:solidFill>
                  <a:schemeClr val="tx1"/>
                </a:solidFill>
                <a:latin typeface="+mn-lt"/>
              </a:rPr>
              <a:t> </a:t>
            </a:r>
            <a:r>
              <a:rPr lang="en-GB" sz="2400" b="0" dirty="0" err="1">
                <a:solidFill>
                  <a:schemeClr val="tx1"/>
                </a:solidFill>
                <a:latin typeface="+mn-lt"/>
              </a:rPr>
              <a:t>gerekmektedir</a:t>
            </a:r>
            <a:r>
              <a:rPr lang="en-GB" sz="2400" b="0" dirty="0">
                <a:solidFill>
                  <a:schemeClr val="tx1"/>
                </a:solidFill>
                <a:latin typeface="+mn-lt"/>
              </a:rPr>
              <a:t>. </a:t>
            </a:r>
            <a:r>
              <a:rPr lang="tr-TR" sz="2400" b="0" dirty="0">
                <a:solidFill>
                  <a:schemeClr val="tx1"/>
                </a:solidFill>
                <a:latin typeface="+mn-lt"/>
              </a:rPr>
              <a:t>WCR yatırımı proje sonunda geri dönecektir. </a:t>
            </a:r>
            <a:r>
              <a:rPr lang="en-GB" sz="2400" b="0" dirty="0" err="1">
                <a:solidFill>
                  <a:schemeClr val="tx1"/>
                </a:solidFill>
                <a:latin typeface="+mn-lt"/>
              </a:rPr>
              <a:t>Yaptığınız</a:t>
            </a:r>
            <a:r>
              <a:rPr lang="en-GB" sz="2400" b="0" dirty="0">
                <a:solidFill>
                  <a:schemeClr val="tx1"/>
                </a:solidFill>
                <a:latin typeface="+mn-lt"/>
              </a:rPr>
              <a:t> </a:t>
            </a:r>
            <a:r>
              <a:rPr lang="en-GB" sz="2400" b="0" dirty="0" err="1">
                <a:solidFill>
                  <a:schemeClr val="tx1"/>
                </a:solidFill>
                <a:latin typeface="+mn-lt"/>
              </a:rPr>
              <a:t>sabit</a:t>
            </a:r>
            <a:r>
              <a:rPr lang="en-GB" sz="2400" b="0" dirty="0">
                <a:solidFill>
                  <a:schemeClr val="tx1"/>
                </a:solidFill>
                <a:latin typeface="+mn-lt"/>
              </a:rPr>
              <a:t> </a:t>
            </a:r>
            <a:r>
              <a:rPr lang="en-GB" sz="2400" b="0" dirty="0" err="1">
                <a:solidFill>
                  <a:schemeClr val="tx1"/>
                </a:solidFill>
                <a:latin typeface="+mn-lt"/>
              </a:rPr>
              <a:t>kıymet</a:t>
            </a:r>
            <a:r>
              <a:rPr lang="en-GB" sz="2400" b="0" dirty="0">
                <a:solidFill>
                  <a:schemeClr val="tx1"/>
                </a:solidFill>
                <a:latin typeface="+mn-lt"/>
              </a:rPr>
              <a:t> </a:t>
            </a:r>
            <a:r>
              <a:rPr lang="en-GB" sz="2400" b="0" dirty="0" err="1">
                <a:solidFill>
                  <a:schemeClr val="tx1"/>
                </a:solidFill>
                <a:latin typeface="+mn-lt"/>
              </a:rPr>
              <a:t>yatırımını</a:t>
            </a:r>
            <a:r>
              <a:rPr lang="en-GB" sz="2400" b="0" dirty="0">
                <a:solidFill>
                  <a:schemeClr val="tx1"/>
                </a:solidFill>
                <a:latin typeface="+mn-lt"/>
              </a:rPr>
              <a:t> 5 </a:t>
            </a:r>
            <a:r>
              <a:rPr lang="en-GB" sz="2400" b="0" dirty="0" err="1">
                <a:solidFill>
                  <a:schemeClr val="tx1"/>
                </a:solidFill>
                <a:latin typeface="+mn-lt"/>
              </a:rPr>
              <a:t>senede</a:t>
            </a:r>
            <a:r>
              <a:rPr lang="en-GB" sz="2400" b="0" dirty="0">
                <a:solidFill>
                  <a:schemeClr val="tx1"/>
                </a:solidFill>
                <a:latin typeface="+mn-lt"/>
              </a:rPr>
              <a:t> </a:t>
            </a:r>
            <a:r>
              <a:rPr lang="en-GB" sz="2400" b="0" dirty="0" err="1">
                <a:solidFill>
                  <a:schemeClr val="tx1"/>
                </a:solidFill>
                <a:latin typeface="+mn-lt"/>
              </a:rPr>
              <a:t>eşit</a:t>
            </a:r>
            <a:r>
              <a:rPr lang="en-GB" sz="2400" b="0" dirty="0">
                <a:solidFill>
                  <a:schemeClr val="tx1"/>
                </a:solidFill>
                <a:latin typeface="+mn-lt"/>
              </a:rPr>
              <a:t> </a:t>
            </a:r>
            <a:r>
              <a:rPr lang="en-GB" sz="2400" b="0" dirty="0" err="1">
                <a:solidFill>
                  <a:schemeClr val="tx1"/>
                </a:solidFill>
                <a:latin typeface="+mn-lt"/>
              </a:rPr>
              <a:t>taksitlerle</a:t>
            </a:r>
            <a:r>
              <a:rPr lang="en-GB" sz="2400" b="0" dirty="0">
                <a:solidFill>
                  <a:schemeClr val="tx1"/>
                </a:solidFill>
                <a:latin typeface="+mn-lt"/>
              </a:rPr>
              <a:t> </a:t>
            </a:r>
            <a:r>
              <a:rPr lang="en-GB" sz="2400" b="0" dirty="0" err="1">
                <a:solidFill>
                  <a:schemeClr val="tx1"/>
                </a:solidFill>
                <a:latin typeface="+mn-lt"/>
              </a:rPr>
              <a:t>sıfır</a:t>
            </a:r>
            <a:r>
              <a:rPr lang="en-GB" sz="2400" b="0" dirty="0">
                <a:solidFill>
                  <a:schemeClr val="tx1"/>
                </a:solidFill>
                <a:latin typeface="+mn-lt"/>
              </a:rPr>
              <a:t> defter </a:t>
            </a:r>
            <a:r>
              <a:rPr lang="en-GB" sz="2400" b="0" dirty="0" err="1">
                <a:solidFill>
                  <a:schemeClr val="tx1"/>
                </a:solidFill>
                <a:latin typeface="+mn-lt"/>
              </a:rPr>
              <a:t>değerine</a:t>
            </a:r>
            <a:r>
              <a:rPr lang="en-GB" sz="2400" b="0" dirty="0">
                <a:solidFill>
                  <a:schemeClr val="tx1"/>
                </a:solidFill>
                <a:latin typeface="+mn-lt"/>
              </a:rPr>
              <a:t> </a:t>
            </a:r>
            <a:r>
              <a:rPr lang="en-GB" sz="2400" b="0" dirty="0" err="1">
                <a:solidFill>
                  <a:schemeClr val="tx1"/>
                </a:solidFill>
                <a:latin typeface="+mn-lt"/>
              </a:rPr>
              <a:t>indireceksiniz</a:t>
            </a:r>
            <a:r>
              <a:rPr lang="en-GB" sz="2400" b="0" dirty="0">
                <a:solidFill>
                  <a:schemeClr val="tx1"/>
                </a:solidFill>
                <a:latin typeface="+mn-lt"/>
              </a:rPr>
              <a:t>. </a:t>
            </a:r>
            <a:r>
              <a:rPr lang="en-GB" sz="2400" b="0" dirty="0" err="1">
                <a:solidFill>
                  <a:schemeClr val="tx1"/>
                </a:solidFill>
                <a:latin typeface="+mn-lt"/>
              </a:rPr>
              <a:t>Toplam</a:t>
            </a:r>
            <a:r>
              <a:rPr lang="en-GB" sz="2400" b="0" dirty="0">
                <a:solidFill>
                  <a:schemeClr val="tx1"/>
                </a:solidFill>
                <a:latin typeface="+mn-lt"/>
              </a:rPr>
              <a:t> </a:t>
            </a:r>
            <a:r>
              <a:rPr lang="en-GB" sz="2400" b="0" dirty="0" err="1">
                <a:solidFill>
                  <a:schemeClr val="tx1"/>
                </a:solidFill>
                <a:latin typeface="+mn-lt"/>
              </a:rPr>
              <a:t>işçilik</a:t>
            </a:r>
            <a:r>
              <a:rPr lang="en-GB" sz="2400" b="0" dirty="0">
                <a:solidFill>
                  <a:schemeClr val="tx1"/>
                </a:solidFill>
                <a:latin typeface="+mn-lt"/>
              </a:rPr>
              <a:t> </a:t>
            </a:r>
            <a:r>
              <a:rPr lang="en-GB" sz="2400" b="0" dirty="0" err="1">
                <a:solidFill>
                  <a:schemeClr val="tx1"/>
                </a:solidFill>
                <a:latin typeface="+mn-lt"/>
              </a:rPr>
              <a:t>ve</a:t>
            </a:r>
            <a:r>
              <a:rPr lang="en-GB" sz="2400" b="0" dirty="0">
                <a:solidFill>
                  <a:schemeClr val="tx1"/>
                </a:solidFill>
                <a:latin typeface="+mn-lt"/>
              </a:rPr>
              <a:t> </a:t>
            </a:r>
            <a:r>
              <a:rPr lang="en-GB" sz="2400" b="0" dirty="0" err="1">
                <a:solidFill>
                  <a:schemeClr val="tx1"/>
                </a:solidFill>
                <a:latin typeface="+mn-lt"/>
              </a:rPr>
              <a:t>diğer</a:t>
            </a:r>
            <a:r>
              <a:rPr lang="en-GB" sz="2400" b="0" dirty="0">
                <a:solidFill>
                  <a:schemeClr val="tx1"/>
                </a:solidFill>
                <a:latin typeface="+mn-lt"/>
              </a:rPr>
              <a:t> </a:t>
            </a:r>
            <a:r>
              <a:rPr lang="en-GB" sz="2400" b="0" dirty="0" err="1">
                <a:solidFill>
                  <a:schemeClr val="tx1"/>
                </a:solidFill>
                <a:latin typeface="+mn-lt"/>
              </a:rPr>
              <a:t>masraflarınız</a:t>
            </a:r>
            <a:r>
              <a:rPr lang="en-GB" sz="2400" b="0" dirty="0">
                <a:solidFill>
                  <a:schemeClr val="tx1"/>
                </a:solidFill>
                <a:latin typeface="+mn-lt"/>
              </a:rPr>
              <a:t> </a:t>
            </a:r>
            <a:r>
              <a:rPr lang="en-GB" sz="2400" b="0" dirty="0" err="1">
                <a:solidFill>
                  <a:schemeClr val="tx1"/>
                </a:solidFill>
                <a:latin typeface="+mn-lt"/>
              </a:rPr>
              <a:t>yılda</a:t>
            </a:r>
            <a:r>
              <a:rPr lang="en-GB" sz="2400" b="0" dirty="0">
                <a:solidFill>
                  <a:schemeClr val="tx1"/>
                </a:solidFill>
                <a:latin typeface="+mn-lt"/>
              </a:rPr>
              <a:t> TL70,000 </a:t>
            </a:r>
            <a:r>
              <a:rPr lang="en-GB" sz="2400" b="0" dirty="0" err="1">
                <a:solidFill>
                  <a:schemeClr val="tx1"/>
                </a:solidFill>
                <a:latin typeface="+mn-lt"/>
              </a:rPr>
              <a:t>olacaktır</a:t>
            </a:r>
            <a:r>
              <a:rPr lang="en-GB" sz="2400" b="0" dirty="0">
                <a:solidFill>
                  <a:schemeClr val="tx1"/>
                </a:solidFill>
                <a:latin typeface="+mn-lt"/>
              </a:rPr>
              <a:t>. </a:t>
            </a:r>
            <a:r>
              <a:rPr lang="en-GB" sz="2400" b="0" dirty="0" err="1">
                <a:solidFill>
                  <a:schemeClr val="tx1"/>
                </a:solidFill>
                <a:latin typeface="+mn-lt"/>
              </a:rPr>
              <a:t>Vergi</a:t>
            </a:r>
            <a:r>
              <a:rPr lang="en-GB" sz="2400" b="0" dirty="0">
                <a:solidFill>
                  <a:schemeClr val="tx1"/>
                </a:solidFill>
                <a:latin typeface="+mn-lt"/>
              </a:rPr>
              <a:t> </a:t>
            </a:r>
            <a:r>
              <a:rPr lang="en-GB" sz="2400" b="0" dirty="0" err="1">
                <a:solidFill>
                  <a:schemeClr val="tx1"/>
                </a:solidFill>
                <a:latin typeface="+mn-lt"/>
              </a:rPr>
              <a:t>oranı</a:t>
            </a:r>
            <a:r>
              <a:rPr lang="en-GB" sz="2400" b="0" dirty="0">
                <a:solidFill>
                  <a:schemeClr val="tx1"/>
                </a:solidFill>
                <a:latin typeface="+mn-lt"/>
              </a:rPr>
              <a:t> %20 </a:t>
            </a:r>
            <a:r>
              <a:rPr lang="en-GB" sz="2400" b="0" dirty="0" err="1">
                <a:solidFill>
                  <a:schemeClr val="tx1"/>
                </a:solidFill>
                <a:latin typeface="+mn-lt"/>
              </a:rPr>
              <a:t>ve</a:t>
            </a:r>
            <a:r>
              <a:rPr lang="en-GB" sz="2400" b="0" dirty="0">
                <a:solidFill>
                  <a:schemeClr val="tx1"/>
                </a:solidFill>
                <a:latin typeface="+mn-lt"/>
              </a:rPr>
              <a:t> </a:t>
            </a:r>
            <a:r>
              <a:rPr lang="en-GB" sz="2400" b="0" dirty="0" err="1">
                <a:solidFill>
                  <a:schemeClr val="tx1"/>
                </a:solidFill>
                <a:latin typeface="+mn-lt"/>
              </a:rPr>
              <a:t>sermaye</a:t>
            </a:r>
            <a:r>
              <a:rPr lang="en-GB" sz="2400" b="0" dirty="0">
                <a:solidFill>
                  <a:schemeClr val="tx1"/>
                </a:solidFill>
                <a:latin typeface="+mn-lt"/>
              </a:rPr>
              <a:t> </a:t>
            </a:r>
            <a:r>
              <a:rPr lang="en-GB" sz="2400" b="0" dirty="0" err="1">
                <a:solidFill>
                  <a:schemeClr val="tx1"/>
                </a:solidFill>
                <a:latin typeface="+mn-lt"/>
              </a:rPr>
              <a:t>maliyetiniz</a:t>
            </a:r>
            <a:r>
              <a:rPr lang="en-GB" sz="2400" b="0" dirty="0">
                <a:solidFill>
                  <a:schemeClr val="tx1"/>
                </a:solidFill>
                <a:latin typeface="+mn-lt"/>
              </a:rPr>
              <a:t> %14’tür. </a:t>
            </a:r>
            <a:endParaRPr lang="tr-TR" sz="2400" b="0" dirty="0">
              <a:solidFill>
                <a:schemeClr val="tx1"/>
              </a:solidFill>
              <a:latin typeface="+mn-lt"/>
            </a:endParaRPr>
          </a:p>
          <a:p>
            <a:pPr algn="just"/>
            <a:r>
              <a:rPr lang="en-GB" sz="2400" b="0" dirty="0" err="1">
                <a:solidFill>
                  <a:schemeClr val="tx1"/>
                </a:solidFill>
                <a:latin typeface="+mn-lt"/>
              </a:rPr>
              <a:t>Vermeniz</a:t>
            </a:r>
            <a:r>
              <a:rPr lang="en-GB" sz="2400" b="0" dirty="0">
                <a:solidFill>
                  <a:schemeClr val="tx1"/>
                </a:solidFill>
                <a:latin typeface="+mn-lt"/>
              </a:rPr>
              <a:t> </a:t>
            </a:r>
            <a:r>
              <a:rPr lang="en-GB" sz="2400" b="0" dirty="0" err="1">
                <a:solidFill>
                  <a:schemeClr val="tx1"/>
                </a:solidFill>
                <a:latin typeface="+mn-lt"/>
              </a:rPr>
              <a:t>gereken</a:t>
            </a:r>
            <a:r>
              <a:rPr lang="en-GB" sz="2400" b="0" dirty="0">
                <a:solidFill>
                  <a:schemeClr val="tx1"/>
                </a:solidFill>
                <a:latin typeface="+mn-lt"/>
              </a:rPr>
              <a:t> minimum (</a:t>
            </a:r>
            <a:r>
              <a:rPr lang="en-GB" sz="2400" b="0" dirty="0" err="1">
                <a:solidFill>
                  <a:schemeClr val="tx1"/>
                </a:solidFill>
                <a:latin typeface="+mn-lt"/>
              </a:rPr>
              <a:t>başabaş</a:t>
            </a:r>
            <a:r>
              <a:rPr lang="en-GB" sz="2400" b="0" dirty="0">
                <a:solidFill>
                  <a:schemeClr val="tx1"/>
                </a:solidFill>
                <a:latin typeface="+mn-lt"/>
              </a:rPr>
              <a:t>) </a:t>
            </a:r>
            <a:r>
              <a:rPr lang="en-GB" sz="2400" b="0" dirty="0" err="1">
                <a:solidFill>
                  <a:schemeClr val="tx1"/>
                </a:solidFill>
                <a:latin typeface="+mn-lt"/>
              </a:rPr>
              <a:t>yıllık</a:t>
            </a:r>
            <a:r>
              <a:rPr lang="en-GB" sz="2400" b="0" dirty="0">
                <a:solidFill>
                  <a:schemeClr val="tx1"/>
                </a:solidFill>
                <a:latin typeface="+mn-lt"/>
              </a:rPr>
              <a:t> </a:t>
            </a:r>
            <a:r>
              <a:rPr lang="en-GB" sz="2400" b="0" dirty="0" err="1">
                <a:solidFill>
                  <a:schemeClr val="tx1"/>
                </a:solidFill>
                <a:latin typeface="+mn-lt"/>
              </a:rPr>
              <a:t>teklif</a:t>
            </a:r>
            <a:r>
              <a:rPr lang="en-GB" sz="2400" b="0" dirty="0">
                <a:solidFill>
                  <a:schemeClr val="tx1"/>
                </a:solidFill>
                <a:latin typeface="+mn-lt"/>
              </a:rPr>
              <a:t> </a:t>
            </a:r>
            <a:r>
              <a:rPr lang="en-GB" sz="2400" b="0" dirty="0" err="1">
                <a:solidFill>
                  <a:schemeClr val="tx1"/>
                </a:solidFill>
                <a:latin typeface="+mn-lt"/>
              </a:rPr>
              <a:t>nedir</a:t>
            </a:r>
            <a:r>
              <a:rPr lang="en-GB" sz="2400" b="0" dirty="0">
                <a:solidFill>
                  <a:schemeClr val="tx1"/>
                </a:solidFill>
                <a:latin typeface="+mn-lt"/>
              </a:rPr>
              <a:t>?</a:t>
            </a:r>
            <a:endParaRPr lang="en-US" sz="2400" b="0" dirty="0">
              <a:solidFill>
                <a:schemeClr val="tx1"/>
              </a:solidFill>
              <a:latin typeface="+mn-lt"/>
            </a:endParaRPr>
          </a:p>
        </p:txBody>
      </p:sp>
      <p:sp>
        <p:nvSpPr>
          <p:cNvPr id="3" name="Title 2"/>
          <p:cNvSpPr>
            <a:spLocks noGrp="1"/>
          </p:cNvSpPr>
          <p:nvPr>
            <p:ph type="title"/>
          </p:nvPr>
        </p:nvSpPr>
        <p:spPr/>
        <p:txBody>
          <a:bodyPr/>
          <a:lstStyle/>
          <a:p>
            <a:r>
              <a:rPr lang="tr-TR" dirty="0"/>
              <a:t>Konsept Çalışması</a:t>
            </a:r>
            <a:endParaRPr lang="en-GB" dirty="0"/>
          </a:p>
        </p:txBody>
      </p:sp>
    </p:spTree>
    <p:extLst>
      <p:ext uri="{BB962C8B-B14F-4D97-AF65-F5344CB8AC3E}">
        <p14:creationId xmlns:p14="http://schemas.microsoft.com/office/powerpoint/2010/main" val="115119579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a:xfrm>
            <a:off x="8604448" y="6469287"/>
            <a:ext cx="539552" cy="389754"/>
          </a:xfrm>
        </p:spPr>
        <p:txBody>
          <a:bodyPr/>
          <a:lstStyle>
            <a:lvl1pPr eaLnBrk="0" hangingPunct="0">
              <a:defRPr sz="1600" b="1">
                <a:solidFill>
                  <a:schemeClr val="tx1"/>
                </a:solidFill>
                <a:latin typeface="Garamond" pitchFamily="18" charset="0"/>
              </a:defRPr>
            </a:lvl1pPr>
            <a:lvl2pPr marL="742950" indent="-285750" eaLnBrk="0" hangingPunct="0">
              <a:defRPr sz="1600" b="1">
                <a:solidFill>
                  <a:schemeClr val="tx1"/>
                </a:solidFill>
                <a:latin typeface="Garamond" pitchFamily="18" charset="0"/>
              </a:defRPr>
            </a:lvl2pPr>
            <a:lvl3pPr marL="1143000" indent="-228600" eaLnBrk="0" hangingPunct="0">
              <a:defRPr sz="1600" b="1">
                <a:solidFill>
                  <a:schemeClr val="tx1"/>
                </a:solidFill>
                <a:latin typeface="Garamond" pitchFamily="18" charset="0"/>
              </a:defRPr>
            </a:lvl3pPr>
            <a:lvl4pPr marL="1600200" indent="-228600" eaLnBrk="0" hangingPunct="0">
              <a:defRPr sz="1600" b="1">
                <a:solidFill>
                  <a:schemeClr val="tx1"/>
                </a:solidFill>
                <a:latin typeface="Garamond" pitchFamily="18" charset="0"/>
              </a:defRPr>
            </a:lvl4pPr>
            <a:lvl5pPr marL="2057400" indent="-228600" eaLnBrk="0" hangingPunct="0">
              <a:defRPr sz="1600" b="1">
                <a:solidFill>
                  <a:schemeClr val="tx1"/>
                </a:solidFill>
                <a:latin typeface="Garamond" pitchFamily="18" charset="0"/>
              </a:defRPr>
            </a:lvl5pPr>
            <a:lvl6pPr marL="2514600" indent="-228600" eaLnBrk="0" fontAlgn="base" hangingPunct="0">
              <a:spcBef>
                <a:spcPct val="0"/>
              </a:spcBef>
              <a:spcAft>
                <a:spcPct val="0"/>
              </a:spcAft>
              <a:defRPr sz="1600" b="1">
                <a:solidFill>
                  <a:schemeClr val="tx1"/>
                </a:solidFill>
                <a:latin typeface="Garamond" pitchFamily="18" charset="0"/>
              </a:defRPr>
            </a:lvl6pPr>
            <a:lvl7pPr marL="2971800" indent="-228600" eaLnBrk="0" fontAlgn="base" hangingPunct="0">
              <a:spcBef>
                <a:spcPct val="0"/>
              </a:spcBef>
              <a:spcAft>
                <a:spcPct val="0"/>
              </a:spcAft>
              <a:defRPr sz="1600" b="1">
                <a:solidFill>
                  <a:schemeClr val="tx1"/>
                </a:solidFill>
                <a:latin typeface="Garamond" pitchFamily="18" charset="0"/>
              </a:defRPr>
            </a:lvl7pPr>
            <a:lvl8pPr marL="3429000" indent="-228600" eaLnBrk="0" fontAlgn="base" hangingPunct="0">
              <a:spcBef>
                <a:spcPct val="0"/>
              </a:spcBef>
              <a:spcAft>
                <a:spcPct val="0"/>
              </a:spcAft>
              <a:defRPr sz="1600" b="1">
                <a:solidFill>
                  <a:schemeClr val="tx1"/>
                </a:solidFill>
                <a:latin typeface="Garamond" pitchFamily="18" charset="0"/>
              </a:defRPr>
            </a:lvl8pPr>
            <a:lvl9pPr marL="3886200" indent="-228600" eaLnBrk="0" fontAlgn="base" hangingPunct="0">
              <a:spcBef>
                <a:spcPct val="0"/>
              </a:spcBef>
              <a:spcAft>
                <a:spcPct val="0"/>
              </a:spcAft>
              <a:defRPr sz="1600" b="1">
                <a:solidFill>
                  <a:schemeClr val="tx1"/>
                </a:solidFill>
                <a:latin typeface="Garamond" pitchFamily="18" charset="0"/>
              </a:defRPr>
            </a:lvl9pPr>
          </a:lstStyle>
          <a:p>
            <a:pPr marL="0" indent="0" eaLnBrk="1" hangingPunct="1">
              <a:buNone/>
            </a:pPr>
            <a:fld id="{3801D015-B4C3-427E-9948-FED91537982F}" type="slidenum">
              <a:rPr lang="tr-TR" sz="1200">
                <a:solidFill>
                  <a:schemeClr val="tx2"/>
                </a:solidFill>
                <a:latin typeface="Verdana" pitchFamily="34" charset="0"/>
              </a:rPr>
              <a:pPr marL="0" indent="0" eaLnBrk="1" hangingPunct="1">
                <a:buNone/>
              </a:pPr>
              <a:t>167</a:t>
            </a:fld>
            <a:endParaRPr lang="tr-TR" sz="1200" dirty="0">
              <a:solidFill>
                <a:schemeClr val="tx2"/>
              </a:solidFill>
              <a:latin typeface="Verdana" pitchFamily="34" charset="0"/>
            </a:endParaRPr>
          </a:p>
        </p:txBody>
      </p:sp>
      <p:sp>
        <p:nvSpPr>
          <p:cNvPr id="140291" name="Rectangle 2"/>
          <p:cNvSpPr>
            <a:spLocks noGrp="1" noChangeArrowheads="1"/>
          </p:cNvSpPr>
          <p:nvPr>
            <p:ph type="title"/>
          </p:nvPr>
        </p:nvSpPr>
        <p:spPr>
          <a:xfrm>
            <a:off x="518864" y="116632"/>
            <a:ext cx="8229600" cy="774700"/>
          </a:xfrm>
        </p:spPr>
        <p:txBody>
          <a:bodyPr/>
          <a:lstStyle/>
          <a:p>
            <a:pPr eaLnBrk="1" hangingPunct="1"/>
            <a:r>
              <a:rPr lang="tr-TR" dirty="0"/>
              <a:t>Kaynakça</a:t>
            </a:r>
          </a:p>
        </p:txBody>
      </p:sp>
      <p:sp>
        <p:nvSpPr>
          <p:cNvPr id="140292" name="Rectangle 3"/>
          <p:cNvSpPr>
            <a:spLocks noGrp="1" noChangeArrowheads="1"/>
          </p:cNvSpPr>
          <p:nvPr>
            <p:ph type="body" idx="4294967295"/>
          </p:nvPr>
        </p:nvSpPr>
        <p:spPr>
          <a:xfrm>
            <a:off x="395536" y="1629470"/>
            <a:ext cx="8496300" cy="4175794"/>
          </a:xfrm>
          <a:prstGeom prst="rect">
            <a:avLst/>
          </a:prstGeom>
        </p:spPr>
        <p:txBody>
          <a:bodyPr/>
          <a:lstStyle/>
          <a:p>
            <a:pPr eaLnBrk="1" hangingPunct="1"/>
            <a:r>
              <a:rPr lang="tr-TR" sz="1800" dirty="0">
                <a:latin typeface="Verdana" pitchFamily="34" charset="0"/>
                <a:ea typeface="Verdana" pitchFamily="34" charset="0"/>
                <a:cs typeface="Verdana" pitchFamily="34" charset="0"/>
              </a:rPr>
              <a:t>Corporate Finance, Theory and Practice</a:t>
            </a:r>
          </a:p>
          <a:p>
            <a:pPr marL="762000" lvl="1" indent="-304800" eaLnBrk="1" hangingPunct="1"/>
            <a:r>
              <a:rPr lang="it-IT" sz="1800" dirty="0" err="1">
                <a:latin typeface="Verdana" pitchFamily="34" charset="0"/>
                <a:ea typeface="Verdana" pitchFamily="34" charset="0"/>
                <a:cs typeface="Verdana" pitchFamily="34" charset="0"/>
              </a:rPr>
              <a:t>Quiry</a:t>
            </a:r>
            <a:r>
              <a:rPr lang="it-IT" sz="1800" dirty="0">
                <a:latin typeface="Verdana" pitchFamily="34" charset="0"/>
                <a:ea typeface="Verdana" pitchFamily="34" charset="0"/>
                <a:cs typeface="Verdana" pitchFamily="34" charset="0"/>
              </a:rPr>
              <a:t>, </a:t>
            </a:r>
            <a:r>
              <a:rPr lang="it-IT" sz="1800" dirty="0" err="1">
                <a:latin typeface="Verdana" pitchFamily="34" charset="0"/>
                <a:ea typeface="Verdana" pitchFamily="34" charset="0"/>
                <a:cs typeface="Verdana" pitchFamily="34" charset="0"/>
              </a:rPr>
              <a:t>Dallocchio</a:t>
            </a:r>
            <a:r>
              <a:rPr lang="it-IT" sz="1800" dirty="0">
                <a:latin typeface="Verdana" pitchFamily="34" charset="0"/>
                <a:ea typeface="Verdana" pitchFamily="34" charset="0"/>
                <a:cs typeface="Verdana" pitchFamily="34" charset="0"/>
              </a:rPr>
              <a:t>, Le </a:t>
            </a:r>
            <a:r>
              <a:rPr lang="it-IT" sz="1800" dirty="0" err="1">
                <a:latin typeface="Verdana" pitchFamily="34" charset="0"/>
                <a:ea typeface="Verdana" pitchFamily="34" charset="0"/>
                <a:cs typeface="Verdana" pitchFamily="34" charset="0"/>
              </a:rPr>
              <a:t>Fur</a:t>
            </a:r>
            <a:r>
              <a:rPr lang="it-IT" sz="1800" dirty="0">
                <a:latin typeface="Verdana" pitchFamily="34" charset="0"/>
                <a:ea typeface="Verdana" pitchFamily="34" charset="0"/>
                <a:cs typeface="Verdana" pitchFamily="34" charset="0"/>
              </a:rPr>
              <a:t>, Salvi</a:t>
            </a:r>
            <a:r>
              <a:rPr lang="tr-TR" sz="1800" dirty="0">
                <a:latin typeface="Verdana" pitchFamily="34" charset="0"/>
                <a:ea typeface="Verdana" pitchFamily="34" charset="0"/>
                <a:cs typeface="Verdana" pitchFamily="34" charset="0"/>
              </a:rPr>
              <a:t> – 2005, John </a:t>
            </a:r>
            <a:r>
              <a:rPr lang="tr-TR" sz="1800" dirty="0" err="1">
                <a:latin typeface="Verdana" pitchFamily="34" charset="0"/>
                <a:ea typeface="Verdana" pitchFamily="34" charset="0"/>
                <a:cs typeface="Verdana" pitchFamily="34" charset="0"/>
              </a:rPr>
              <a:t>Wiley</a:t>
            </a:r>
            <a:r>
              <a:rPr lang="tr-TR" sz="1800" dirty="0">
                <a:latin typeface="Verdana" pitchFamily="34" charset="0"/>
                <a:ea typeface="Verdana" pitchFamily="34" charset="0"/>
                <a:cs typeface="Verdana" pitchFamily="34" charset="0"/>
              </a:rPr>
              <a:t> </a:t>
            </a:r>
            <a:r>
              <a:rPr lang="tr-TR" sz="1800" dirty="0" err="1">
                <a:latin typeface="Verdana" pitchFamily="34" charset="0"/>
                <a:ea typeface="Verdana" pitchFamily="34" charset="0"/>
                <a:cs typeface="Verdana" pitchFamily="34" charset="0"/>
              </a:rPr>
              <a:t>and</a:t>
            </a:r>
            <a:r>
              <a:rPr lang="tr-TR" sz="1800" dirty="0">
                <a:latin typeface="Verdana" pitchFamily="34" charset="0"/>
                <a:ea typeface="Verdana" pitchFamily="34" charset="0"/>
                <a:cs typeface="Verdana" pitchFamily="34" charset="0"/>
              </a:rPr>
              <a:t> </a:t>
            </a:r>
            <a:r>
              <a:rPr lang="tr-TR" sz="1800" dirty="0" err="1">
                <a:latin typeface="Verdana" pitchFamily="34" charset="0"/>
                <a:ea typeface="Verdana" pitchFamily="34" charset="0"/>
                <a:cs typeface="Verdana" pitchFamily="34" charset="0"/>
              </a:rPr>
              <a:t>Sons</a:t>
            </a:r>
            <a:endParaRPr lang="tr-TR" sz="1800" dirty="0">
              <a:latin typeface="Verdana" pitchFamily="34" charset="0"/>
              <a:ea typeface="Verdana" pitchFamily="34" charset="0"/>
              <a:cs typeface="Verdana" pitchFamily="34" charset="0"/>
            </a:endParaRPr>
          </a:p>
          <a:p>
            <a:pPr eaLnBrk="1" hangingPunct="1"/>
            <a:r>
              <a:rPr lang="tr-TR" sz="1800" dirty="0">
                <a:latin typeface="Verdana" pitchFamily="34" charset="0"/>
                <a:ea typeface="Verdana" pitchFamily="34" charset="0"/>
                <a:cs typeface="Verdana" pitchFamily="34" charset="0"/>
              </a:rPr>
              <a:t>Finance </a:t>
            </a:r>
            <a:r>
              <a:rPr lang="tr-TR" sz="1800" dirty="0" err="1">
                <a:latin typeface="Verdana" pitchFamily="34" charset="0"/>
                <a:ea typeface="Verdana" pitchFamily="34" charset="0"/>
                <a:cs typeface="Verdana" pitchFamily="34" charset="0"/>
              </a:rPr>
              <a:t>for</a:t>
            </a:r>
            <a:r>
              <a:rPr lang="tr-TR" sz="1800" dirty="0">
                <a:latin typeface="Verdana" pitchFamily="34" charset="0"/>
                <a:ea typeface="Verdana" pitchFamily="34" charset="0"/>
                <a:cs typeface="Verdana" pitchFamily="34" charset="0"/>
              </a:rPr>
              <a:t> </a:t>
            </a:r>
            <a:r>
              <a:rPr lang="tr-TR" sz="1800" dirty="0" err="1">
                <a:latin typeface="Verdana" pitchFamily="34" charset="0"/>
                <a:ea typeface="Verdana" pitchFamily="34" charset="0"/>
                <a:cs typeface="Verdana" pitchFamily="34" charset="0"/>
              </a:rPr>
              <a:t>Executives</a:t>
            </a:r>
            <a:r>
              <a:rPr lang="tr-TR" sz="1800" dirty="0">
                <a:latin typeface="Verdana" pitchFamily="34" charset="0"/>
                <a:ea typeface="Verdana" pitchFamily="34" charset="0"/>
                <a:cs typeface="Verdana" pitchFamily="34" charset="0"/>
              </a:rPr>
              <a:t>, </a:t>
            </a:r>
            <a:r>
              <a:rPr lang="tr-TR" sz="1800" dirty="0" err="1">
                <a:latin typeface="Verdana" pitchFamily="34" charset="0"/>
                <a:ea typeface="Verdana" pitchFamily="34" charset="0"/>
                <a:cs typeface="Verdana" pitchFamily="34" charset="0"/>
              </a:rPr>
              <a:t>Managing</a:t>
            </a:r>
            <a:r>
              <a:rPr lang="tr-TR" sz="1800" dirty="0">
                <a:latin typeface="Verdana" pitchFamily="34" charset="0"/>
                <a:ea typeface="Verdana" pitchFamily="34" charset="0"/>
                <a:cs typeface="Verdana" pitchFamily="34" charset="0"/>
              </a:rPr>
              <a:t> </a:t>
            </a:r>
            <a:r>
              <a:rPr lang="tr-TR" sz="1800" dirty="0" err="1">
                <a:latin typeface="Verdana" pitchFamily="34" charset="0"/>
                <a:ea typeface="Verdana" pitchFamily="34" charset="0"/>
                <a:cs typeface="Verdana" pitchFamily="34" charset="0"/>
              </a:rPr>
              <a:t>For</a:t>
            </a:r>
            <a:r>
              <a:rPr lang="tr-TR" sz="1800" dirty="0">
                <a:latin typeface="Verdana" pitchFamily="34" charset="0"/>
                <a:ea typeface="Verdana" pitchFamily="34" charset="0"/>
                <a:cs typeface="Verdana" pitchFamily="34" charset="0"/>
              </a:rPr>
              <a:t> Value </a:t>
            </a:r>
            <a:r>
              <a:rPr lang="tr-TR" sz="1800" dirty="0" err="1">
                <a:latin typeface="Verdana" pitchFamily="34" charset="0"/>
                <a:ea typeface="Verdana" pitchFamily="34" charset="0"/>
                <a:cs typeface="Verdana" pitchFamily="34" charset="0"/>
              </a:rPr>
              <a:t>Creation</a:t>
            </a:r>
            <a:endParaRPr lang="tr-TR" sz="1800" dirty="0">
              <a:latin typeface="Verdana" pitchFamily="34" charset="0"/>
              <a:ea typeface="Verdana" pitchFamily="34" charset="0"/>
              <a:cs typeface="Verdana" pitchFamily="34" charset="0"/>
            </a:endParaRPr>
          </a:p>
          <a:p>
            <a:pPr marL="762000" lvl="1" indent="-304800" eaLnBrk="1" hangingPunct="1"/>
            <a:r>
              <a:rPr lang="tr-TR" sz="1800" dirty="0">
                <a:latin typeface="Verdana" pitchFamily="34" charset="0"/>
                <a:ea typeface="Verdana" pitchFamily="34" charset="0"/>
                <a:cs typeface="Verdana" pitchFamily="34" charset="0"/>
              </a:rPr>
              <a:t>Hawanini, Viallet -201</a:t>
            </a:r>
            <a:r>
              <a:rPr lang="en-US" sz="1800">
                <a:latin typeface="Verdana" pitchFamily="34" charset="0"/>
                <a:ea typeface="Verdana" pitchFamily="34" charset="0"/>
                <a:cs typeface="Verdana" pitchFamily="34" charset="0"/>
              </a:rPr>
              <a:t>9</a:t>
            </a:r>
            <a:r>
              <a:rPr lang="tr-TR" sz="1800">
                <a:latin typeface="Verdana" pitchFamily="34" charset="0"/>
                <a:ea typeface="Verdana" pitchFamily="34" charset="0"/>
                <a:cs typeface="Verdana" pitchFamily="34" charset="0"/>
              </a:rPr>
              <a:t>, </a:t>
            </a:r>
            <a:r>
              <a:rPr lang="tr-TR" sz="1800" dirty="0">
                <a:latin typeface="Verdana" pitchFamily="34" charset="0"/>
                <a:ea typeface="Verdana" pitchFamily="34" charset="0"/>
                <a:cs typeface="Verdana" pitchFamily="34" charset="0"/>
              </a:rPr>
              <a:t>Thompson</a:t>
            </a:r>
          </a:p>
          <a:p>
            <a:pPr eaLnBrk="1" hangingPunct="1"/>
            <a:r>
              <a:rPr lang="tr-TR" sz="1800" dirty="0" err="1">
                <a:latin typeface="Verdana" pitchFamily="34" charset="0"/>
                <a:ea typeface="Verdana" pitchFamily="34" charset="0"/>
                <a:cs typeface="Verdana" pitchFamily="34" charset="0"/>
              </a:rPr>
              <a:t>Corporate</a:t>
            </a:r>
            <a:r>
              <a:rPr lang="tr-TR" sz="1800" dirty="0">
                <a:latin typeface="Verdana" pitchFamily="34" charset="0"/>
                <a:ea typeface="Verdana" pitchFamily="34" charset="0"/>
                <a:cs typeface="Verdana" pitchFamily="34" charset="0"/>
              </a:rPr>
              <a:t> Finance</a:t>
            </a:r>
          </a:p>
          <a:p>
            <a:pPr marL="762000" lvl="1" indent="-304800" eaLnBrk="1" hangingPunct="1"/>
            <a:r>
              <a:rPr lang="tr-TR" sz="1800" dirty="0">
                <a:latin typeface="Verdana" pitchFamily="34" charset="0"/>
                <a:ea typeface="Verdana" pitchFamily="34" charset="0"/>
                <a:cs typeface="Verdana" pitchFamily="34" charset="0"/>
              </a:rPr>
              <a:t>Brealey, Myers, Allen – 20</a:t>
            </a:r>
            <a:r>
              <a:rPr lang="en-US" sz="1800" dirty="0">
                <a:latin typeface="Verdana" pitchFamily="34" charset="0"/>
                <a:ea typeface="Verdana" pitchFamily="34" charset="0"/>
                <a:cs typeface="Verdana" pitchFamily="34" charset="0"/>
              </a:rPr>
              <a:t>20</a:t>
            </a:r>
            <a:r>
              <a:rPr lang="tr-TR" sz="1800" dirty="0">
                <a:latin typeface="Verdana" pitchFamily="34" charset="0"/>
                <a:ea typeface="Verdana" pitchFamily="34" charset="0"/>
                <a:cs typeface="Verdana" pitchFamily="34" charset="0"/>
              </a:rPr>
              <a:t>, McGraw-Hill</a:t>
            </a: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1642" y="6165305"/>
            <a:ext cx="648072" cy="656278"/>
          </a:xfrm>
          <a:prstGeom prst="rect">
            <a:avLst/>
          </a:prstGeom>
          <a:noFill/>
          <a:ln>
            <a:noFill/>
          </a:ln>
        </p:spPr>
      </p:pic>
    </p:spTree>
    <p:extLst>
      <p:ext uri="{BB962C8B-B14F-4D97-AF65-F5344CB8AC3E}">
        <p14:creationId xmlns:p14="http://schemas.microsoft.com/office/powerpoint/2010/main" val="682847049"/>
      </p:ext>
    </p:extLst>
  </p:cSld>
  <p:clrMapOvr>
    <a:masterClrMapping/>
  </p:clrMapOvr>
</p:sld>
</file>

<file path=ppt/theme/theme1.xml><?xml version="1.0" encoding="utf-8"?>
<a:theme xmlns:a="http://schemas.openxmlformats.org/drawingml/2006/main" name="KU Sunum 20.05.2011_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KU Sunum 20.05.2011_Theme</Template>
  <TotalTime>13112</TotalTime>
  <Words>9666</Words>
  <Application>Microsoft Office PowerPoint</Application>
  <PresentationFormat>On-screen Show (4:3)</PresentationFormat>
  <Paragraphs>2714</Paragraphs>
  <Slides>167</Slides>
  <Notes>10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167</vt:i4>
      </vt:variant>
    </vt:vector>
  </HeadingPairs>
  <TitlesOfParts>
    <vt:vector size="176" baseType="lpstr">
      <vt:lpstr>Arial</vt:lpstr>
      <vt:lpstr>Calibri</vt:lpstr>
      <vt:lpstr>Symbol</vt:lpstr>
      <vt:lpstr>Times New Roman</vt:lpstr>
      <vt:lpstr>Verdana</vt:lpstr>
      <vt:lpstr>Wingdings</vt:lpstr>
      <vt:lpstr>KU Sunum 20.05.2011_Theme</vt:lpstr>
      <vt:lpstr>Chart</vt:lpstr>
      <vt:lpstr>Equation</vt:lpstr>
      <vt:lpstr>PowerPoint Presentation</vt:lpstr>
      <vt:lpstr>PowerPoint Presentation</vt:lpstr>
      <vt:lpstr>İletişim</vt:lpstr>
      <vt:lpstr>Yöneticiler için Finans</vt:lpstr>
      <vt:lpstr>Finansal Yönetime Genel Bir Bakış</vt:lpstr>
      <vt:lpstr>https://fortune.com/2019/08/22/ge-stock-buybacks-financials/</vt:lpstr>
      <vt:lpstr>PowerPoint Presentation</vt:lpstr>
      <vt:lpstr>PowerPoint Presentation</vt:lpstr>
      <vt:lpstr>Değer Yaratmak</vt:lpstr>
      <vt:lpstr>Getiriler (ABD)</vt:lpstr>
      <vt:lpstr>Hisse Senedi Risk Primi</vt:lpstr>
      <vt:lpstr>Hisse Senedi Risk Primi</vt:lpstr>
      <vt:lpstr>Finansal Yönetime Genel Bir Bakış</vt:lpstr>
      <vt:lpstr>Fortune Most Admired Companies</vt:lpstr>
      <vt:lpstr>FİNANSAL ANALİZ   BİLANÇO &amp; GELİR TABLOSU</vt:lpstr>
      <vt:lpstr>Finansal Analiz</vt:lpstr>
      <vt:lpstr>Bilanço</vt:lpstr>
      <vt:lpstr>????? A.Ş.</vt:lpstr>
      <vt:lpstr>????? A.Ş.</vt:lpstr>
      <vt:lpstr>Pide A.Ş.</vt:lpstr>
      <vt:lpstr>Özsermaye</vt:lpstr>
      <vt:lpstr>Dönen Varlıklar  </vt:lpstr>
      <vt:lpstr>Duran Varlıklar</vt:lpstr>
      <vt:lpstr>Maddi Duran Varlıklar</vt:lpstr>
      <vt:lpstr>Maddi Olmayan Duran Varlıklar</vt:lpstr>
      <vt:lpstr>Finansal Duran Değerler</vt:lpstr>
      <vt:lpstr>Pide A.Ş.</vt:lpstr>
      <vt:lpstr>Kısa Vadeli Borçlar</vt:lpstr>
      <vt:lpstr>Pide A.Ş.</vt:lpstr>
      <vt:lpstr>Uzun Vadeli Borçlar</vt:lpstr>
      <vt:lpstr>Pide A.Ş.</vt:lpstr>
      <vt:lpstr>Gelir Tablosu</vt:lpstr>
      <vt:lpstr>Gelir Tablosu</vt:lpstr>
      <vt:lpstr>Pide A.Ş.</vt:lpstr>
      <vt:lpstr>Pide A.Ş.</vt:lpstr>
      <vt:lpstr>Pide A.Ş.</vt:lpstr>
      <vt:lpstr>Pide A.Ş.</vt:lpstr>
      <vt:lpstr>Pide A.Ş.</vt:lpstr>
      <vt:lpstr>Konsept Çalışması</vt:lpstr>
      <vt:lpstr>Konsept Çalışması</vt:lpstr>
      <vt:lpstr>İŞLETME SERMAYESİ  &amp; YÖNETİCİ BİLANÇOSU</vt:lpstr>
      <vt:lpstr>Brisa A.Ş. Bilanço (TL mn)</vt:lpstr>
      <vt:lpstr>Brisa A.Ş. Özet Bilanço (Milyon TL)</vt:lpstr>
      <vt:lpstr>İşletme Sermayesi</vt:lpstr>
      <vt:lpstr>Yönetici Bilançosu</vt:lpstr>
      <vt:lpstr>Brisa A.Ş. Yönetici Bilançosu</vt:lpstr>
      <vt:lpstr>Örnek – Pide A.Ş.  - Bilanço   (Milyon TL)</vt:lpstr>
      <vt:lpstr>Konsept Çalışması:  Pide A.Ş. - Yönetici Bilançosu</vt:lpstr>
      <vt:lpstr>PowerPoint Presentation</vt:lpstr>
      <vt:lpstr>Tüm Firmalar</vt:lpstr>
      <vt:lpstr>Borçluluk Rasyoları</vt:lpstr>
      <vt:lpstr>Borçluluk Rasyoları</vt:lpstr>
      <vt:lpstr>Finansal Durum Analizi</vt:lpstr>
      <vt:lpstr>Finansal Durum Analizi</vt:lpstr>
      <vt:lpstr>Reel Sektör Açık Pozisyonu (Milyar $)</vt:lpstr>
      <vt:lpstr>Finansal Durum: Likidite Analizi</vt:lpstr>
      <vt:lpstr>Likidite Analizi</vt:lpstr>
      <vt:lpstr>Konsept Çalışması:  Pide A.Ş. Likidite Analizi</vt:lpstr>
      <vt:lpstr>Likidite rasyosu</vt:lpstr>
      <vt:lpstr>Diğer Likidite Rasyoları</vt:lpstr>
      <vt:lpstr>Asit Test Oranı</vt:lpstr>
      <vt:lpstr>Türkiye ortalaması (Kaynak: TCMB)</vt:lpstr>
      <vt:lpstr>Brisa Finansal Durum Analizi</vt:lpstr>
      <vt:lpstr>Goodyear Finansal Durum Analizi</vt:lpstr>
      <vt:lpstr>Konsept Çalışması:  Finansal Durum Analizi</vt:lpstr>
      <vt:lpstr>Konsept Çalışması:  Finansal Durum Analizi</vt:lpstr>
      <vt:lpstr>Konsept Çalışması:  Finansal Durum Analizi</vt:lpstr>
      <vt:lpstr>Konsept Çalışması:  Finansal Durum Analizi</vt:lpstr>
      <vt:lpstr>Konsept Çalışması:  Finansal Durum Analizi</vt:lpstr>
      <vt:lpstr>OPERASYONEL VERİMLİLİK ANALİZİ  &amp;   NAKİT DÖNGÜSÜ </vt:lpstr>
      <vt:lpstr>Operasyonel Verimlilik</vt:lpstr>
      <vt:lpstr>Operasyonel Verimlilik (ABD, 2020)</vt:lpstr>
      <vt:lpstr>İşletme sermayesi gereksinimini belirleyen etmenler</vt:lpstr>
      <vt:lpstr>Brisa - Operasyonel Verimlilik</vt:lpstr>
      <vt:lpstr>Operasyonel Verimlilik</vt:lpstr>
      <vt:lpstr>Nakit Döngüsü</vt:lpstr>
      <vt:lpstr>Alacak Tahsil Süresi</vt:lpstr>
      <vt:lpstr>Stok Taşıma Süresi</vt:lpstr>
      <vt:lpstr>Ticari Borç Ödeme Süresi</vt:lpstr>
      <vt:lpstr>Nakit Döngüsü</vt:lpstr>
      <vt:lpstr>Nakit Döngüsü</vt:lpstr>
      <vt:lpstr>Konsept Çalışması:  Operasyonel Verimlilik Analizi</vt:lpstr>
      <vt:lpstr>Konsept Çalışması:  Operasyonel Verimlilik Analizi</vt:lpstr>
      <vt:lpstr>Sektör Etkisi          </vt:lpstr>
      <vt:lpstr>NAKİT AKIM ANALİZİ</vt:lpstr>
      <vt:lpstr>Nakit Akım Analizi</vt:lpstr>
      <vt:lpstr>Faaliyetlerden nakit akımı</vt:lpstr>
      <vt:lpstr>Yatırımlardan nakit akımı</vt:lpstr>
      <vt:lpstr>Finansman faaliyetlerinden nakit akımı</vt:lpstr>
      <vt:lpstr>Pide A.Ş. Nakit Akım Tablosu</vt:lpstr>
      <vt:lpstr>Örnek – Pide A.Ş.  - Bilanço   (Milyon TL)</vt:lpstr>
      <vt:lpstr>Pide A.Ş.  - Gelir Tablosu  (Milyon TL)</vt:lpstr>
      <vt:lpstr>Pide A.Ş. - Nakit Akım Tablosu (TL)</vt:lpstr>
      <vt:lpstr>Yönetimsel Bakış</vt:lpstr>
      <vt:lpstr>Pide A.Ş. - Nakit Akım Tablosu (TL)</vt:lpstr>
      <vt:lpstr>Brisa – Yönetimsel Bakış (Ön çalışma)</vt:lpstr>
      <vt:lpstr>Brisa – Nakit Akım Tablosu (önçalışma)</vt:lpstr>
      <vt:lpstr>Brisa – Nakit Akım Tablosu</vt:lpstr>
      <vt:lpstr>Brisa – Nakit Akım Tablosu</vt:lpstr>
      <vt:lpstr>En önemli finans formüllerinden biri!!!</vt:lpstr>
      <vt:lpstr>KARLILIK ANALİZİ</vt:lpstr>
      <vt:lpstr>Karlılık Analizi</vt:lpstr>
      <vt:lpstr>Yatırılan Kaynak Karlılığı</vt:lpstr>
      <vt:lpstr>Özsermaye Karlılığı</vt:lpstr>
      <vt:lpstr>Karlılığın 5 belirleyicisi</vt:lpstr>
      <vt:lpstr>Karlılık Analizi</vt:lpstr>
      <vt:lpstr>Karlılık Analizi</vt:lpstr>
      <vt:lpstr>Finansal kaldıraç ve risk</vt:lpstr>
      <vt:lpstr>PowerPoint Presentation</vt:lpstr>
      <vt:lpstr>Karlılık Analizi</vt:lpstr>
      <vt:lpstr>Karlılık Analizi</vt:lpstr>
      <vt:lpstr>Konsept Çalışması</vt:lpstr>
      <vt:lpstr>Ford’s Value Proposition</vt:lpstr>
      <vt:lpstr>Konsept Çalışması – Verimsiz A.Ş.</vt:lpstr>
      <vt:lpstr>SERMAYE MALİYETİ</vt:lpstr>
      <vt:lpstr>PowerPoint Presentation</vt:lpstr>
      <vt:lpstr>PowerPoint Presentation</vt:lpstr>
      <vt:lpstr>Beta Katsayısı</vt:lpstr>
      <vt:lpstr>Beta Katsayısı</vt:lpstr>
      <vt:lpstr>PowerPoint Presentation</vt:lpstr>
      <vt:lpstr>Finansal Risk &amp; Beta Katsayısı</vt:lpstr>
      <vt:lpstr>PARANIN ZAMAN DEĞERİ</vt:lpstr>
      <vt:lpstr>Paranın Zaman Değeri </vt:lpstr>
      <vt:lpstr>Gelecekteki Değer (GD) </vt:lpstr>
      <vt:lpstr>Gelecekteki Değer</vt:lpstr>
      <vt:lpstr>Gelecekteki Değer</vt:lpstr>
      <vt:lpstr>Bileşik Faizin Gücü</vt:lpstr>
      <vt:lpstr>Bileşik Faiz</vt:lpstr>
      <vt:lpstr>Seneye satmak üzere 1 dönüm arazi satın alalım</vt:lpstr>
      <vt:lpstr>Sermayenin Fırsat Maliyeti</vt:lpstr>
      <vt:lpstr>Net bugünkü değer (NPV:Net Present Value)</vt:lpstr>
      <vt:lpstr>Eğer satış bundan iki yıl sonra olacaksa?</vt:lpstr>
      <vt:lpstr>NBD</vt:lpstr>
      <vt:lpstr>Satış 2 yıl sonra, ancak arada kira geliri kazanırsak?</vt:lpstr>
      <vt:lpstr>NBD</vt:lpstr>
      <vt:lpstr>Eşit ödemeler serisi</vt:lpstr>
      <vt:lpstr>Annuite</vt:lpstr>
      <vt:lpstr>Konsept Çalışması - Mortgage</vt:lpstr>
      <vt:lpstr>YATIRIM KARARI YÖNTEMLERİ</vt:lpstr>
      <vt:lpstr>Yatırım Kararı Yöntemleri</vt:lpstr>
      <vt:lpstr>Yatırım Kararı Yöntemleri</vt:lpstr>
      <vt:lpstr>Özetle NBD kuralı</vt:lpstr>
      <vt:lpstr>Yatırım Kararı Yöntemleri</vt:lpstr>
      <vt:lpstr>Yatırım Kararı Yöntemleri</vt:lpstr>
      <vt:lpstr>Yatırım Kararı Yöntemleri</vt:lpstr>
      <vt:lpstr>Geri dönüm süresi neden iyi bir metod değil</vt:lpstr>
      <vt:lpstr> Başlangıç yatırımı $1 milyon  ve uygun iskonto oranı %10 olan 2 yatırımın kıyaslanması</vt:lpstr>
      <vt:lpstr>Risklilikleri  farklı iki projenin kıyaslanması</vt:lpstr>
      <vt:lpstr>İçverim oranı (IRR)</vt:lpstr>
      <vt:lpstr>İçverim Oranı (IRR)</vt:lpstr>
      <vt:lpstr>Getiri mi Risk mi? Yatırım = $1 milyon; k = 0.10.</vt:lpstr>
      <vt:lpstr>Getiri mi Risk mi?</vt:lpstr>
      <vt:lpstr>Yöneticiler neden içverim oranı kullanmayı seviyor?</vt:lpstr>
      <vt:lpstr>PROJE DEĞERLEMESİ</vt:lpstr>
      <vt:lpstr>Proje değerlemesi</vt:lpstr>
      <vt:lpstr>Örnek</vt:lpstr>
      <vt:lpstr>Proje değerlemesinde kullanılan nakit akımları</vt:lpstr>
      <vt:lpstr>Batık gider (Sunk cost)</vt:lpstr>
      <vt:lpstr>Fırsat maliyeti</vt:lpstr>
      <vt:lpstr>Modern masa lambası projesi özet verileri</vt:lpstr>
      <vt:lpstr>Modern masa lambası projesi özet verileri</vt:lpstr>
      <vt:lpstr>İşletme Sermayesi Hesabı</vt:lpstr>
      <vt:lpstr>M. Masa Lambası Projesi- Nakit akımı projeksiyonu</vt:lpstr>
      <vt:lpstr>PowerPoint Presentation</vt:lpstr>
      <vt:lpstr>Konsept Çalışması</vt:lpstr>
      <vt:lpstr>Konsept Çalışması</vt:lpstr>
      <vt:lpstr>Kaynakça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C.Demirgures</dc:creator>
  <cp:lastModifiedBy>Cüneyt Demirgüreş</cp:lastModifiedBy>
  <cp:revision>175</cp:revision>
  <cp:lastPrinted>2013-01-18T09:51:59Z</cp:lastPrinted>
  <dcterms:created xsi:type="dcterms:W3CDTF">2013-01-18T09:46:30Z</dcterms:created>
  <dcterms:modified xsi:type="dcterms:W3CDTF">2025-02-18T09:19:26Z</dcterms:modified>
</cp:coreProperties>
</file>